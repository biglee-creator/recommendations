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1.xml" ContentType="application/vnd.openxmlformats-officedocument.presentationml.slide+xml"/>
  <Override PartName="/ppt/notesSlides/notesSlide21.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6" r:id="rId27"/>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  <Relationship Id="rId27" Type="http://schemas.openxmlformats.org/officeDocument/2006/relationships/slide" Target="slides/slide2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This proposal compares the resort's current tool, Nessus, with the CrowdStrike Falcon platform and recommends adding real-time endpoint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Nessus tells us where we are exposed; Falcon stops attacks in real time. Walk through the situation, the gap, and the proposal, then point to the independent proof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a 24/7 resort with a lean IT team. Nessus is useful, but it only produces findings; the resort needs protection that acts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threat has changed. Breakout time is measured in seconds, and zero-days are exploited before any scanner can check for them. Scanning alone cannot keep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to Nessus: it is a good vulnerability scanner. But its job ends with a report. Prevention, detection, response and remediation are all left to the IT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non-technical stakeholders: Nessus is the scheduled fire-safety inspection. Falcon is the smoke detectors, sprinklers and security team that act when a fire actually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timeline. Attacks do not wait for the next scan. Falcon runs continuously, so each of these events is blocked or contained when it happens. Event examples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Falcon is one lightweight sensor and one cloud console. There is no on-site server. The same sensor can later extend to identities, mobile and cloud workloads.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Prevention starts on the sensor with machine learning and behavioral Indicators of Attack, and continues in the cloud with larger models, threat intelligence and AI triage. The result is automatic blocking and fast containment.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scope is Prevent, Insight XDR, Device Control and Firewall Management. Add-ons can be switched on later on the same sensor. Final module selection will be confirmed after the scoping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resort without a security operations team, the optional managed service is the practical way to get 24/7 coverage. CrowdStrike analysts and Charlotte AI monitor, triage, contain and remediate.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intrusion documented by CrowdStrike. The first step used a device without a Falcon sensor; from lateral movement onward, Falcon detected or blocked every step. A scanner would at best have flagged the VPN vulnerability.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Side-by-side summary. Nessus remains strong at periodic vulnerability discovery; Falcon adds everything needed to actually stop attacks, with lower day-to-day workload.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Independent evidence: perfect MITRE ATT&amp;CK 2025 result, Gartner Magic Quadrant leadership, SE Labs ransomware testing, Forrester ROI and Gartner Peer Insights customer ratings.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customer outcomes: speed of deployment in hospitality, faster incident resolution with managed service, and far fewer, more accurate alerts in a distributed multi-brand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low-risk path: add Falcon now without changing existing Nessus processes, then review consolidation after 90 days. External vulnerability scans required for audits can continue as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Indicative schedule. A short pilot in detect-only mode protects hotel operations before prevention is switched on. Sensor updates are staged so the pilot group always receives them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the before and after, then the four business outcomes that matter to hotel management: guest trust, continuity, IT workload and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concrete, low-effort first step: a short scoping workshop, followed by a pilot so the resort can see Falcon working on its own endpoints before deciding on full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open for questions. Offer to schedule the scoping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SECUKOREA is the first line of support: 24/7 remote technical support tailored to overseas sites, and a dedicated engineer matched to the resort for stable day-to-day operation. When deeper help is needed, CrowdStrike partner SK shieldus provides escalation support: 24/7 incident response specialists, a 30-minute call and 2-hour initial response SLA for critical events, investigation across network devices and servers, correlation with other security logs, and malware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slideLayout" Target="../slideLayouts/slideLayout1.xml"/><Relationship Id="rId1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jp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slideLayout" Target="../slideLayouts/slideLayout1.xml"/><Relationship Id="rId1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slideLayout" Target="../slideLayouts/slideLayout1.xml"/><Relationship Id="rId2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image" Target="../media/image-17-18.png"/><Relationship Id="rId19" Type="http://schemas.openxmlformats.org/officeDocument/2006/relationships/image" Target="../media/image-17-19.png"/><Relationship Id="rId20" Type="http://schemas.openxmlformats.org/officeDocument/2006/relationships/image" Target="../media/image-17-20.png"/><Relationship Id="rId21" Type="http://schemas.openxmlformats.org/officeDocument/2006/relationships/image" Target="../media/image-17-21.png"/><Relationship Id="rId22" Type="http://schemas.openxmlformats.org/officeDocument/2006/relationships/slideLayout" Target="../slideLayouts/slideLayout1.xml"/><Relationship Id="rId2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png"/><Relationship Id="rId15" Type="http://schemas.openxmlformats.org/officeDocument/2006/relationships/image" Target="../media/image-18-15.png"/><Relationship Id="rId16" Type="http://schemas.openxmlformats.org/officeDocument/2006/relationships/image" Target="../media/image-18-16.png"/><Relationship Id="rId17" Type="http://schemas.openxmlformats.org/officeDocument/2006/relationships/image" Target="../media/image-18-17.png"/><Relationship Id="rId18" Type="http://schemas.openxmlformats.org/officeDocument/2006/relationships/slideLayout" Target="../slideLayouts/slideLayout1.xml"/><Relationship Id="rId1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jp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private/tmp/claude-501/-Users-jihanvin-Desktop-NIVNAH-AI/16a96446-d9b3-40e2-af9e-a3011ae3db84/scratchpad/assets/bg_lines.jpg">    </p:cNvPr>
          <p:cNvPicPr>
            <a:picLocks noChangeAspect="1"/>
          </p:cNvPicPr>
          <p:nvPr/>
        </p:nvPicPr>
        <p:blipFill>
          <a:blip r:embed="rId1"/>
          <a:stretch>
            <a:fillRect/>
          </a:stretch>
        </p:blipFill>
        <p:spPr>
          <a:xfrm>
            <a:off x="4428439" y="0"/>
            <a:ext cx="7763256" cy="6858000"/>
          </a:xfrm>
          <a:prstGeom prst="rect">
            <a:avLst/>
          </a:prstGeom>
        </p:spPr>
      </p:pic>
      <p:pic>
        <p:nvPicPr>
          <p:cNvPr id="3" name="Image 1" descr="/private/tmp/claude-501/-Users-jihanvin-Desktop-NIVNAH-AI/16a96446-d9b3-40e2-af9e-a3011ae3db84/scratchpad/assets/westin_white.png">    </p:cNvPr>
          <p:cNvPicPr>
            <a:picLocks noChangeAspect="1"/>
          </p:cNvPicPr>
          <p:nvPr/>
        </p:nvPicPr>
        <p:blipFill>
          <a:blip r:embed="rId2"/>
          <a:stretch>
            <a:fillRect/>
          </a:stretch>
        </p:blipFill>
        <p:spPr>
          <a:xfrm>
            <a:off x="548640" y="502920"/>
            <a:ext cx="1371600" cy="411480"/>
          </a:xfrm>
          <a:prstGeom prst="rect">
            <a:avLst/>
          </a:prstGeom>
        </p:spPr>
      </p:pic>
      <p:sp>
        <p:nvSpPr>
          <p:cNvPr id="4" name="Text 0"/>
          <p:cNvSpPr txBox="1"/>
          <p:nvPr/>
        </p:nvSpPr>
        <p:spPr>
          <a:xfrm>
            <a:off x="548640" y="1783080"/>
            <a:ext cx="8229600" cy="292608"/>
          </a:xfrm>
          <a:prstGeom prst="rect">
            <a:avLst/>
          </a:prstGeom>
          <a:noFill/>
          <a:ln/>
        </p:spPr>
        <p:txBody>
          <a:bodyPr wrap="square" lIns="0" tIns="0" rIns="0" bIns="0" rtlCol="0" anchor="t"/>
          <a:lstStyle/>
          <a:p>
            <a:pPr indent="0" marL="0">
              <a:buNone/>
            </a:pPr>
            <a:r>
              <a:rPr lang="en-US" sz="1200" b="1" spc="300" kern="0" dirty="0">
                <a:solidFill>
                  <a:srgbClr val="E3202A"/>
                </a:solidFill>
                <a:latin typeface="Arial" pitchFamily="34" charset="0"/>
                <a:ea typeface="Arial" pitchFamily="34" charset="-122"/>
                <a:cs typeface="Arial" pitchFamily="34" charset="-120"/>
              </a:rPr>
              <a:t>BUSINESS PROPOSAL   |   ENDPOINT SECURITY</a:t>
            </a:r>
            <a:endParaRPr lang="en-US" sz="1200" dirty="0"/>
          </a:p>
        </p:txBody>
      </p:sp>
      <p:sp>
        <p:nvSpPr>
          <p:cNvPr id="5" name="Text 1"/>
          <p:cNvSpPr txBox="1"/>
          <p:nvPr/>
        </p:nvSpPr>
        <p:spPr>
          <a:xfrm>
            <a:off x="548640" y="2148840"/>
            <a:ext cx="8778240" cy="150876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From Vulnerability Scanning to Real-Time Endpoint Protection</a:t>
            </a:r>
            <a:endParaRPr lang="en-US" sz="4000" dirty="0"/>
          </a:p>
        </p:txBody>
      </p:sp>
      <p:sp>
        <p:nvSpPr>
          <p:cNvPr id="6" name="Text 2"/>
          <p:cNvSpPr txBox="1"/>
          <p:nvPr/>
        </p:nvSpPr>
        <p:spPr>
          <a:xfrm>
            <a:off x="548640" y="3794760"/>
            <a:ext cx="8778240" cy="731520"/>
          </a:xfrm>
          <a:prstGeom prst="rect">
            <a:avLst/>
          </a:prstGeom>
          <a:noFill/>
          <a:ln/>
        </p:spPr>
        <p:txBody>
          <a:bodyPr wrap="square" lIns="0" tIns="0" rIns="0" bIns="0" rtlCol="0" anchor="t"/>
          <a:lstStyle/>
          <a:p>
            <a:pPr indent="0" marL="0">
              <a:spcAft>
                <a:spcPts val="400"/>
              </a:spcAft>
              <a:buNone/>
            </a:pPr>
            <a:r>
              <a:rPr lang="en-US" sz="1800" b="1" dirty="0">
                <a:solidFill>
                  <a:srgbClr val="FFFFFF"/>
                </a:solidFill>
                <a:latin typeface="Calibri" pitchFamily="34" charset="0"/>
                <a:ea typeface="Calibri" pitchFamily="34" charset="-122"/>
                <a:cs typeface="Calibri" pitchFamily="34" charset="-120"/>
              </a:rPr>
              <a:t>Nessus vs. CrowdStrike Falcon® Platform (EPP / EDR)</a:t>
            </a:r>
            <a:endParaRPr lang="en-US" sz="1800" dirty="0"/>
          </a:p>
          <a:p>
            <a:pPr indent="0" marL="0">
              <a:spcAft>
                <a:spcPts val="400"/>
              </a:spcAft>
              <a:buNone/>
            </a:pPr>
            <a:r>
              <a:rPr lang="en-US" sz="1800" dirty="0">
                <a:solidFill>
                  <a:srgbClr val="C9CED6"/>
                </a:solidFill>
                <a:latin typeface="Calibri" pitchFamily="34" charset="0"/>
                <a:ea typeface="Calibri" pitchFamily="34" charset="-122"/>
                <a:cs typeface="Calibri" pitchFamily="34" charset="-120"/>
              </a:rPr>
              <a:t>A comparative proposal for The Westin Resort Guam</a:t>
            </a:r>
            <a:endParaRPr lang="en-US" sz="1800" dirty="0"/>
          </a:p>
        </p:txBody>
      </p:sp>
      <p:sp>
        <p:nvSpPr>
          <p:cNvPr id="7" name="Text 3"/>
          <p:cNvSpPr txBox="1"/>
          <p:nvPr/>
        </p:nvSpPr>
        <p:spPr>
          <a:xfrm>
            <a:off x="548640" y="4983480"/>
            <a:ext cx="2560320" cy="219456"/>
          </a:xfrm>
          <a:prstGeom prst="rect">
            <a:avLst/>
          </a:prstGeom>
          <a:noFill/>
          <a:ln/>
        </p:spPr>
        <p:txBody>
          <a:bodyPr wrap="square" lIns="0" tIns="0" rIns="0" bIns="0" rtlCol="0" anchor="t"/>
          <a:lstStyle/>
          <a:p>
            <a:pPr indent="0" marL="0">
              <a:buNone/>
            </a:pPr>
            <a:r>
              <a:rPr lang="en-US" sz="1000" b="1" spc="200" kern="0" dirty="0">
                <a:solidFill>
                  <a:srgbClr val="E3202A"/>
                </a:solidFill>
                <a:latin typeface="Calibri" pitchFamily="34" charset="0"/>
                <a:ea typeface="Calibri" pitchFamily="34" charset="-122"/>
                <a:cs typeface="Calibri" pitchFamily="34" charset="-120"/>
              </a:rPr>
              <a:t>PROPOSER</a:t>
            </a:r>
            <a:endParaRPr lang="en-US" sz="1000" dirty="0"/>
          </a:p>
        </p:txBody>
      </p:sp>
      <p:sp>
        <p:nvSpPr>
          <p:cNvPr id="8" name="Text 4"/>
          <p:cNvSpPr txBox="1"/>
          <p:nvPr/>
        </p:nvSpPr>
        <p:spPr>
          <a:xfrm>
            <a:off x="548640" y="5230368"/>
            <a:ext cx="2560320" cy="310896"/>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SECUKOREA Inc.</a:t>
            </a:r>
            <a:endParaRPr lang="en-US" sz="1500" dirty="0"/>
          </a:p>
        </p:txBody>
      </p:sp>
      <p:sp>
        <p:nvSpPr>
          <p:cNvPr id="9" name="Text 5"/>
          <p:cNvSpPr txBox="1"/>
          <p:nvPr/>
        </p:nvSpPr>
        <p:spPr>
          <a:xfrm>
            <a:off x="3291840" y="4983480"/>
            <a:ext cx="2560320" cy="219456"/>
          </a:xfrm>
          <a:prstGeom prst="rect">
            <a:avLst/>
          </a:prstGeom>
          <a:noFill/>
          <a:ln/>
        </p:spPr>
        <p:txBody>
          <a:bodyPr wrap="square" lIns="0" tIns="0" rIns="0" bIns="0" rtlCol="0" anchor="t"/>
          <a:lstStyle/>
          <a:p>
            <a:pPr indent="0" marL="0">
              <a:buNone/>
            </a:pPr>
            <a:r>
              <a:rPr lang="en-US" sz="1000" b="1" spc="200" kern="0" dirty="0">
                <a:solidFill>
                  <a:srgbClr val="E3202A"/>
                </a:solidFill>
                <a:latin typeface="Calibri" pitchFamily="34" charset="0"/>
                <a:ea typeface="Calibri" pitchFamily="34" charset="-122"/>
                <a:cs typeface="Calibri" pitchFamily="34" charset="-120"/>
              </a:rPr>
              <a:t>CLIENT</a:t>
            </a:r>
            <a:endParaRPr lang="en-US" sz="1000" dirty="0"/>
          </a:p>
        </p:txBody>
      </p:sp>
      <p:sp>
        <p:nvSpPr>
          <p:cNvPr id="10" name="Text 6"/>
          <p:cNvSpPr txBox="1"/>
          <p:nvPr/>
        </p:nvSpPr>
        <p:spPr>
          <a:xfrm>
            <a:off x="3291840" y="5230368"/>
            <a:ext cx="2560320" cy="310896"/>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The Westin Resort Guam</a:t>
            </a:r>
            <a:endParaRPr lang="en-US" sz="1500" dirty="0"/>
          </a:p>
        </p:txBody>
      </p:sp>
      <p:sp>
        <p:nvSpPr>
          <p:cNvPr id="11" name="Text 7"/>
          <p:cNvSpPr txBox="1"/>
          <p:nvPr/>
        </p:nvSpPr>
        <p:spPr>
          <a:xfrm>
            <a:off x="6035040" y="4983480"/>
            <a:ext cx="2560320" cy="219456"/>
          </a:xfrm>
          <a:prstGeom prst="rect">
            <a:avLst/>
          </a:prstGeom>
          <a:noFill/>
          <a:ln/>
        </p:spPr>
        <p:txBody>
          <a:bodyPr wrap="square" lIns="0" tIns="0" rIns="0" bIns="0" rtlCol="0" anchor="t"/>
          <a:lstStyle/>
          <a:p>
            <a:pPr indent="0" marL="0">
              <a:buNone/>
            </a:pPr>
            <a:r>
              <a:rPr lang="en-US" sz="1000" b="1" spc="200" kern="0" dirty="0">
                <a:solidFill>
                  <a:srgbClr val="E3202A"/>
                </a:solidFill>
                <a:latin typeface="Calibri" pitchFamily="34" charset="0"/>
                <a:ea typeface="Calibri" pitchFamily="34" charset="-122"/>
                <a:cs typeface="Calibri" pitchFamily="34" charset="-120"/>
              </a:rPr>
              <a:t>DATE</a:t>
            </a:r>
            <a:endParaRPr lang="en-US" sz="1000" dirty="0"/>
          </a:p>
        </p:txBody>
      </p:sp>
      <p:sp>
        <p:nvSpPr>
          <p:cNvPr id="12" name="Text 8"/>
          <p:cNvSpPr txBox="1"/>
          <p:nvPr/>
        </p:nvSpPr>
        <p:spPr>
          <a:xfrm>
            <a:off x="6035040" y="5230368"/>
            <a:ext cx="2560320" cy="310896"/>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September 2026</a:t>
            </a:r>
            <a:endParaRPr lang="en-US" sz="1500" dirty="0"/>
          </a:p>
        </p:txBody>
      </p:sp>
      <p:sp>
        <p:nvSpPr>
          <p:cNvPr id="13" name="Text 9"/>
          <p:cNvSpPr txBox="1"/>
          <p:nvPr/>
        </p:nvSpPr>
        <p:spPr>
          <a:xfrm>
            <a:off x="7589520" y="6217920"/>
            <a:ext cx="822960" cy="219456"/>
          </a:xfrm>
          <a:prstGeom prst="rect">
            <a:avLst/>
          </a:prstGeom>
          <a:noFill/>
          <a:ln/>
        </p:spPr>
        <p:txBody>
          <a:bodyPr wrap="square" lIns="0" tIns="0" rIns="0" bIns="0" rtlCol="0" anchor="ctr"/>
          <a:lstStyle/>
          <a:p>
            <a:pPr indent="0" marL="0">
              <a:buNone/>
            </a:pPr>
            <a:r>
              <a:rPr lang="en-US" sz="900" dirty="0">
                <a:solidFill>
                  <a:srgbClr val="8A93A0"/>
                </a:solidFill>
                <a:latin typeface="Calibri" pitchFamily="34" charset="0"/>
                <a:ea typeface="Calibri" pitchFamily="34" charset="-122"/>
                <a:cs typeface="Calibri" pitchFamily="34" charset="-120"/>
              </a:rPr>
              <a:t>Solution</a:t>
            </a:r>
            <a:endParaRPr lang="en-US" sz="900" dirty="0"/>
          </a:p>
        </p:txBody>
      </p:sp>
      <p:pic>
        <p:nvPicPr>
          <p:cNvPr id="14" name="Image 2" descr="/private/tmp/claude-501/-Users-jihanvin-Desktop-NIVNAH-AI/16a96446-d9b3-40e2-af9e-a3011ae3db84/scratchpad/assets/cs_logo_white.png">    </p:cNvPr>
          <p:cNvPicPr>
            <a:picLocks noChangeAspect="1"/>
          </p:cNvPicPr>
          <p:nvPr/>
        </p:nvPicPr>
        <p:blipFill>
          <a:blip r:embed="rId3"/>
          <a:stretch>
            <a:fillRect/>
          </a:stretch>
        </p:blipFill>
        <p:spPr>
          <a:xfrm>
            <a:off x="8275320" y="6236208"/>
            <a:ext cx="1600200" cy="182880"/>
          </a:xfrm>
          <a:prstGeom prst="rect">
            <a:avLst/>
          </a:prstGeom>
        </p:spPr>
      </p:pic>
      <p:pic>
        <p:nvPicPr>
          <p:cNvPr id="15" name="Image 3" descr="/private/tmp/claude-501/-Users-jihanvin-Desktop-NIVNAH-AI/16a96446-d9b3-40e2-af9e-a3011ae3db84/scratchpad/assets/secukorea_light.png">    </p:cNvPr>
          <p:cNvPicPr>
            <a:picLocks noChangeAspect="1"/>
          </p:cNvPicPr>
          <p:nvPr/>
        </p:nvPicPr>
        <p:blipFill>
          <a:blip r:embed="rId4"/>
          <a:stretch>
            <a:fillRect/>
          </a:stretch>
        </p:blipFill>
        <p:spPr>
          <a:xfrm>
            <a:off x="10314432" y="6163056"/>
            <a:ext cx="1325880" cy="3154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EXECUTIVE SUMMARY</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Nessus Finds Weaknesses. Falcon Stops Attacks.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417320"/>
            <a:ext cx="11094415" cy="566928"/>
          </a:xfrm>
          <a:prstGeom prst="rect">
            <a:avLst/>
          </a:prstGeom>
          <a:noFill/>
          <a:ln/>
        </p:spPr>
        <p:txBody>
          <a:bodyPr wrap="square" lIns="0" tIns="0" rIns="0" bIns="0" rtlCol="0" anchor="t"/>
          <a:lstStyle/>
          <a:p>
            <a:pPr indent="0" marL="0">
              <a:buNone/>
            </a:pPr>
            <a:r>
              <a:rPr lang="en-US" sz="1400" dirty="0">
                <a:solidFill>
                  <a:srgbClr val="5E6978"/>
                </a:solidFill>
                <a:latin typeface="Calibri" pitchFamily="34" charset="0"/>
                <a:ea typeface="Calibri" pitchFamily="34" charset="-122"/>
                <a:cs typeface="Calibri" pitchFamily="34" charset="-120"/>
              </a:rPr>
              <a:t>The Westin Resort Guam already scans for vulnerabilities with Nessus. This proposal adds what scanning cannot provide: real-time prevention, detection and response on every endpoint — delivered from the cloud and backed by 24/7 experts.</a:t>
            </a:r>
            <a:endParaRPr lang="en-US" sz="1400" dirty="0"/>
          </a:p>
        </p:txBody>
      </p:sp>
      <p:sp>
        <p:nvSpPr>
          <p:cNvPr id="6" name="Shape 3"/>
          <p:cNvSpPr/>
          <p:nvPr/>
        </p:nvSpPr>
        <p:spPr>
          <a:xfrm>
            <a:off x="548640" y="2148840"/>
            <a:ext cx="3515258" cy="2487168"/>
          </a:xfrm>
          <a:prstGeom prst="roundRect">
            <a:avLst>
              <a:gd name="adj" fmla="val 2941"/>
            </a:avLst>
          </a:prstGeom>
          <a:solidFill>
            <a:srgbClr val="F3F5F8"/>
          </a:solidFill>
          <a:ln w="9525">
            <a:solidFill>
              <a:srgbClr val="DCE1E7"/>
            </a:solidFill>
            <a:prstDash val="solid"/>
          </a:ln>
        </p:spPr>
      </p:sp>
      <p:sp>
        <p:nvSpPr>
          <p:cNvPr id="7" name="Shape 4"/>
          <p:cNvSpPr/>
          <p:nvPr/>
        </p:nvSpPr>
        <p:spPr>
          <a:xfrm>
            <a:off x="822960" y="2423160"/>
            <a:ext cx="502920" cy="502920"/>
          </a:xfrm>
          <a:prstGeom prst="roundRect">
            <a:avLst>
              <a:gd name="adj" fmla="val 18182"/>
            </a:avLst>
          </a:prstGeom>
          <a:solidFill>
            <a:srgbClr val="EAEEF3"/>
          </a:solidFill>
          <a:ln w="12700">
            <a:solidFill>
              <a:srgbClr val="EAEEF3"/>
            </a:solidFill>
            <a:prstDash val="solid"/>
          </a:ln>
        </p:spPr>
      </p:sp>
      <p:pic>
        <p:nvPicPr>
          <p:cNvPr id="8" name="Image 1" descr="preencoded.png">    </p:cNvPr>
          <p:cNvPicPr>
            <a:picLocks noChangeAspect="1"/>
          </p:cNvPicPr>
          <p:nvPr/>
        </p:nvPicPr>
        <p:blipFill>
          <a:blip r:embed="rId2"/>
          <a:stretch>
            <a:fillRect/>
          </a:stretch>
        </p:blipFill>
        <p:spPr>
          <a:xfrm>
            <a:off x="933602" y="2533802"/>
            <a:ext cx="281635" cy="281635"/>
          </a:xfrm>
          <a:prstGeom prst="rect">
            <a:avLst/>
          </a:prstGeom>
        </p:spPr>
      </p:pic>
      <p:sp>
        <p:nvSpPr>
          <p:cNvPr id="9" name="Text 5"/>
          <p:cNvSpPr txBox="1"/>
          <p:nvPr/>
        </p:nvSpPr>
        <p:spPr>
          <a:xfrm>
            <a:off x="1463040" y="2532888"/>
            <a:ext cx="2417978" cy="274320"/>
          </a:xfrm>
          <a:prstGeom prst="rect">
            <a:avLst/>
          </a:prstGeom>
          <a:noFill/>
          <a:ln/>
        </p:spPr>
        <p:txBody>
          <a:bodyPr wrap="square" lIns="0" tIns="0" rIns="0" bIns="0" rtlCol="0" anchor="ctr"/>
          <a:lstStyle/>
          <a:p>
            <a:pPr indent="0" marL="0">
              <a:buNone/>
            </a:pPr>
            <a:r>
              <a:rPr lang="en-US" sz="1050" b="1" spc="150" kern="0" dirty="0">
                <a:solidFill>
                  <a:srgbClr val="5D6B7E"/>
                </a:solidFill>
                <a:latin typeface="Calibri" pitchFamily="34" charset="0"/>
                <a:ea typeface="Calibri" pitchFamily="34" charset="-122"/>
                <a:cs typeface="Calibri" pitchFamily="34" charset="-120"/>
              </a:rPr>
              <a:t>WHERE WE ARE</a:t>
            </a:r>
            <a:endParaRPr lang="en-US" sz="1050" dirty="0"/>
          </a:p>
        </p:txBody>
      </p:sp>
      <p:sp>
        <p:nvSpPr>
          <p:cNvPr id="10" name="Text 6"/>
          <p:cNvSpPr txBox="1"/>
          <p:nvPr/>
        </p:nvSpPr>
        <p:spPr>
          <a:xfrm>
            <a:off x="822960" y="3063240"/>
            <a:ext cx="2966618" cy="566928"/>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24/7 resort, lean IT team, scan-only security</a:t>
            </a:r>
            <a:endParaRPr lang="en-US" sz="1500" dirty="0"/>
          </a:p>
        </p:txBody>
      </p:sp>
      <p:sp>
        <p:nvSpPr>
          <p:cNvPr id="11" name="Text 7"/>
          <p:cNvSpPr txBox="1"/>
          <p:nvPr/>
        </p:nvSpPr>
        <p:spPr>
          <a:xfrm>
            <a:off x="822960" y="3657600"/>
            <a:ext cx="2966618" cy="960120"/>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Guest data, payments and front-desk systems must stay protected around the clock. Today Nessus reports vulnerabilities, but every fix and every incident depends on staff effort.</a:t>
            </a:r>
            <a:endParaRPr lang="en-US" sz="1200" dirty="0"/>
          </a:p>
        </p:txBody>
      </p:sp>
      <p:sp>
        <p:nvSpPr>
          <p:cNvPr id="12" name="Shape 8"/>
          <p:cNvSpPr/>
          <p:nvPr/>
        </p:nvSpPr>
        <p:spPr>
          <a:xfrm>
            <a:off x="4338218" y="2148840"/>
            <a:ext cx="3515258" cy="2487168"/>
          </a:xfrm>
          <a:prstGeom prst="roundRect">
            <a:avLst>
              <a:gd name="adj" fmla="val 2941"/>
            </a:avLst>
          </a:prstGeom>
          <a:solidFill>
            <a:srgbClr val="F3F5F8"/>
          </a:solidFill>
          <a:ln w="9525">
            <a:solidFill>
              <a:srgbClr val="DCE1E7"/>
            </a:solidFill>
            <a:prstDash val="solid"/>
          </a:ln>
        </p:spPr>
      </p:sp>
      <p:sp>
        <p:nvSpPr>
          <p:cNvPr id="13" name="Shape 9"/>
          <p:cNvSpPr/>
          <p:nvPr/>
        </p:nvSpPr>
        <p:spPr>
          <a:xfrm>
            <a:off x="4612538" y="2423160"/>
            <a:ext cx="502920" cy="502920"/>
          </a:xfrm>
          <a:prstGeom prst="roundRect">
            <a:avLst>
              <a:gd name="adj" fmla="val 18182"/>
            </a:avLst>
          </a:prstGeom>
          <a:solidFill>
            <a:srgbClr val="EAEEF3"/>
          </a:solidFill>
          <a:ln w="12700">
            <a:solidFill>
              <a:srgbClr val="EAEEF3"/>
            </a:solidFill>
            <a:prstDash val="solid"/>
          </a:ln>
        </p:spPr>
      </p:sp>
      <p:pic>
        <p:nvPicPr>
          <p:cNvPr id="14" name="Image 2" descr="preencoded.png">    </p:cNvPr>
          <p:cNvPicPr>
            <a:picLocks noChangeAspect="1"/>
          </p:cNvPicPr>
          <p:nvPr/>
        </p:nvPicPr>
        <p:blipFill>
          <a:blip r:embed="rId3"/>
          <a:stretch>
            <a:fillRect/>
          </a:stretch>
        </p:blipFill>
        <p:spPr>
          <a:xfrm>
            <a:off x="4723181" y="2533802"/>
            <a:ext cx="281635" cy="281635"/>
          </a:xfrm>
          <a:prstGeom prst="rect">
            <a:avLst/>
          </a:prstGeom>
        </p:spPr>
      </p:pic>
      <p:sp>
        <p:nvSpPr>
          <p:cNvPr id="15" name="Text 10"/>
          <p:cNvSpPr txBox="1"/>
          <p:nvPr/>
        </p:nvSpPr>
        <p:spPr>
          <a:xfrm>
            <a:off x="5252618" y="2532888"/>
            <a:ext cx="2417978" cy="274320"/>
          </a:xfrm>
          <a:prstGeom prst="rect">
            <a:avLst/>
          </a:prstGeom>
          <a:noFill/>
          <a:ln/>
        </p:spPr>
        <p:txBody>
          <a:bodyPr wrap="square" lIns="0" tIns="0" rIns="0" bIns="0" rtlCol="0" anchor="ctr"/>
          <a:lstStyle/>
          <a:p>
            <a:pPr indent="0" marL="0">
              <a:buNone/>
            </a:pPr>
            <a:r>
              <a:rPr lang="en-US" sz="1050" b="1" spc="150" kern="0" dirty="0">
                <a:solidFill>
                  <a:srgbClr val="5D6B7E"/>
                </a:solidFill>
                <a:latin typeface="Calibri" pitchFamily="34" charset="0"/>
                <a:ea typeface="Calibri" pitchFamily="34" charset="-122"/>
                <a:cs typeface="Calibri" pitchFamily="34" charset="-120"/>
              </a:rPr>
              <a:t>THE GAP</a:t>
            </a:r>
            <a:endParaRPr lang="en-US" sz="1050" dirty="0"/>
          </a:p>
        </p:txBody>
      </p:sp>
      <p:sp>
        <p:nvSpPr>
          <p:cNvPr id="16" name="Text 11"/>
          <p:cNvSpPr txBox="1"/>
          <p:nvPr/>
        </p:nvSpPr>
        <p:spPr>
          <a:xfrm>
            <a:off x="4612538" y="3063240"/>
            <a:ext cx="2966618" cy="566928"/>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Attacks move faster than scan cycles</a:t>
            </a:r>
            <a:endParaRPr lang="en-US" sz="1500" dirty="0"/>
          </a:p>
        </p:txBody>
      </p:sp>
      <p:sp>
        <p:nvSpPr>
          <p:cNvPr id="17" name="Text 12"/>
          <p:cNvSpPr txBox="1"/>
          <p:nvPr/>
        </p:nvSpPr>
        <p:spPr>
          <a:xfrm>
            <a:off x="4612538" y="3657600"/>
            <a:ext cx="2966618" cy="960120"/>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The fastest attackers now move from first access to other systems in 27 seconds. Between scans, a scanner cannot see or stop what happens on endpoints.</a:t>
            </a:r>
            <a:endParaRPr lang="en-US" sz="1200" dirty="0"/>
          </a:p>
        </p:txBody>
      </p:sp>
      <p:sp>
        <p:nvSpPr>
          <p:cNvPr id="18" name="Shape 13"/>
          <p:cNvSpPr/>
          <p:nvPr/>
        </p:nvSpPr>
        <p:spPr>
          <a:xfrm>
            <a:off x="8127797" y="2148840"/>
            <a:ext cx="3515258" cy="2487168"/>
          </a:xfrm>
          <a:prstGeom prst="roundRect">
            <a:avLst>
              <a:gd name="adj" fmla="val 2941"/>
            </a:avLst>
          </a:prstGeom>
          <a:solidFill>
            <a:srgbClr val="FDECEC"/>
          </a:solidFill>
          <a:ln w="9525">
            <a:solidFill>
              <a:srgbClr val="F6C9CB"/>
            </a:solidFill>
            <a:prstDash val="solid"/>
          </a:ln>
        </p:spPr>
      </p:sp>
      <p:sp>
        <p:nvSpPr>
          <p:cNvPr id="19" name="Shape 14"/>
          <p:cNvSpPr/>
          <p:nvPr/>
        </p:nvSpPr>
        <p:spPr>
          <a:xfrm>
            <a:off x="8402117" y="2423160"/>
            <a:ext cx="502920" cy="502920"/>
          </a:xfrm>
          <a:prstGeom prst="roundRect">
            <a:avLst>
              <a:gd name="adj" fmla="val 18182"/>
            </a:avLst>
          </a:prstGeom>
          <a:solidFill>
            <a:srgbClr val="E3202A"/>
          </a:solidFill>
          <a:ln w="12700">
            <a:solidFill>
              <a:srgbClr val="E3202A"/>
            </a:solidFill>
            <a:prstDash val="solid"/>
          </a:ln>
        </p:spPr>
      </p:sp>
      <p:pic>
        <p:nvPicPr>
          <p:cNvPr id="20" name="Image 3" descr="preencoded.png">    </p:cNvPr>
          <p:cNvPicPr>
            <a:picLocks noChangeAspect="1"/>
          </p:cNvPicPr>
          <p:nvPr/>
        </p:nvPicPr>
        <p:blipFill>
          <a:blip r:embed="rId4"/>
          <a:stretch>
            <a:fillRect/>
          </a:stretch>
        </p:blipFill>
        <p:spPr>
          <a:xfrm>
            <a:off x="8512759" y="2533802"/>
            <a:ext cx="281635" cy="281635"/>
          </a:xfrm>
          <a:prstGeom prst="rect">
            <a:avLst/>
          </a:prstGeom>
        </p:spPr>
      </p:pic>
      <p:sp>
        <p:nvSpPr>
          <p:cNvPr id="21" name="Text 15"/>
          <p:cNvSpPr txBox="1"/>
          <p:nvPr/>
        </p:nvSpPr>
        <p:spPr>
          <a:xfrm>
            <a:off x="9042197" y="2532888"/>
            <a:ext cx="2417978" cy="274320"/>
          </a:xfrm>
          <a:prstGeom prst="rect">
            <a:avLst/>
          </a:prstGeom>
          <a:noFill/>
          <a:ln/>
        </p:spPr>
        <p:txBody>
          <a:bodyPr wrap="square" lIns="0" tIns="0" rIns="0" bIns="0" rtlCol="0" anchor="ctr"/>
          <a:lstStyle/>
          <a:p>
            <a:pPr indent="0" marL="0">
              <a:buNone/>
            </a:pPr>
            <a:r>
              <a:rPr lang="en-US" sz="1050" b="1" spc="150" kern="0" dirty="0">
                <a:solidFill>
                  <a:srgbClr val="E3202A"/>
                </a:solidFill>
                <a:latin typeface="Calibri" pitchFamily="34" charset="0"/>
                <a:ea typeface="Calibri" pitchFamily="34" charset="-122"/>
                <a:cs typeface="Calibri" pitchFamily="34" charset="-120"/>
              </a:rPr>
              <a:t>OUR PROPOSAL</a:t>
            </a:r>
            <a:endParaRPr lang="en-US" sz="1050" dirty="0"/>
          </a:p>
        </p:txBody>
      </p:sp>
      <p:sp>
        <p:nvSpPr>
          <p:cNvPr id="22" name="Text 16"/>
          <p:cNvSpPr txBox="1"/>
          <p:nvPr/>
        </p:nvSpPr>
        <p:spPr>
          <a:xfrm>
            <a:off x="8402117" y="3063240"/>
            <a:ext cx="2966618" cy="566928"/>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CrowdStrike Falcon on every endpoint</a:t>
            </a:r>
            <a:endParaRPr lang="en-US" sz="1500" dirty="0"/>
          </a:p>
        </p:txBody>
      </p:sp>
      <p:sp>
        <p:nvSpPr>
          <p:cNvPr id="23" name="Text 17"/>
          <p:cNvSpPr txBox="1"/>
          <p:nvPr/>
        </p:nvSpPr>
        <p:spPr>
          <a:xfrm>
            <a:off x="8402117" y="3657600"/>
            <a:ext cx="2966618" cy="960120"/>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One lightweight sensor delivers next-gen antivirus (EPP) and EDR from a cloud console — no on-site servers. Optional 24/7 managed detection and response covers the staffing gap.</a:t>
            </a:r>
            <a:endParaRPr lang="en-US" sz="1200" dirty="0"/>
          </a:p>
        </p:txBody>
      </p:sp>
      <p:sp>
        <p:nvSpPr>
          <p:cNvPr id="24" name="Shape 18"/>
          <p:cNvSpPr/>
          <p:nvPr/>
        </p:nvSpPr>
        <p:spPr>
          <a:xfrm>
            <a:off x="548640" y="4846320"/>
            <a:ext cx="11094415" cy="1115568"/>
          </a:xfrm>
          <a:prstGeom prst="roundRect">
            <a:avLst>
              <a:gd name="adj" fmla="val 6557"/>
            </a:avLst>
          </a:prstGeom>
          <a:solidFill>
            <a:srgbClr val="0B0D12"/>
          </a:solidFill>
          <a:ln w="12700">
            <a:solidFill>
              <a:srgbClr val="0B0D12"/>
            </a:solidFill>
            <a:prstDash val="solid"/>
          </a:ln>
        </p:spPr>
      </p:sp>
      <p:sp>
        <p:nvSpPr>
          <p:cNvPr id="25" name="Text 19"/>
          <p:cNvSpPr txBox="1"/>
          <p:nvPr/>
        </p:nvSpPr>
        <p:spPr>
          <a:xfrm>
            <a:off x="868680" y="4974336"/>
            <a:ext cx="2224964" cy="457200"/>
          </a:xfrm>
          <a:prstGeom prst="rect">
            <a:avLst/>
          </a:prstGeom>
          <a:noFill/>
          <a:ln/>
        </p:spPr>
        <p:txBody>
          <a:bodyPr wrap="square" lIns="0" tIns="0" rIns="0" bIns="0" rtlCol="0" anchor="ctr"/>
          <a:lstStyle/>
          <a:p>
            <a:pPr indent="0" marL="0">
              <a:buNone/>
            </a:pPr>
            <a:r>
              <a:rPr lang="en-US" sz="2400" b="1" dirty="0">
                <a:solidFill>
                  <a:srgbClr val="E3202A"/>
                </a:solidFill>
                <a:latin typeface="Arial" pitchFamily="34" charset="0"/>
                <a:ea typeface="Arial" pitchFamily="34" charset="-122"/>
                <a:cs typeface="Arial" pitchFamily="34" charset="-120"/>
              </a:rPr>
              <a:t>100%</a:t>
            </a:r>
            <a:endParaRPr lang="en-US" sz="2400" dirty="0"/>
          </a:p>
        </p:txBody>
      </p:sp>
      <p:sp>
        <p:nvSpPr>
          <p:cNvPr id="26" name="Text 20"/>
          <p:cNvSpPr txBox="1"/>
          <p:nvPr/>
        </p:nvSpPr>
        <p:spPr>
          <a:xfrm>
            <a:off x="868680" y="5449824"/>
            <a:ext cx="2224964" cy="402336"/>
          </a:xfrm>
          <a:prstGeom prst="rect">
            <a:avLst/>
          </a:prstGeom>
          <a:noFill/>
          <a:ln/>
        </p:spPr>
        <p:txBody>
          <a:bodyPr wrap="square" lIns="0" tIns="0" rIns="0" bIns="0" rtlCol="0" anchor="t"/>
          <a:lstStyle/>
          <a:p>
            <a:pPr indent="0" marL="0">
              <a:buNone/>
            </a:pPr>
            <a:r>
              <a:rPr lang="en-US" sz="1050" dirty="0">
                <a:solidFill>
                  <a:srgbClr val="C9CED6"/>
                </a:solidFill>
                <a:latin typeface="Calibri" pitchFamily="34" charset="0"/>
                <a:ea typeface="Calibri" pitchFamily="34" charset="-122"/>
                <a:cs typeface="Calibri" pitchFamily="34" charset="-120"/>
              </a:rPr>
              <a:t>Detection &amp; protection, zero false positives (MITRE ATT&amp;CK® 2025)</a:t>
            </a:r>
            <a:endParaRPr lang="en-US" sz="1050" dirty="0"/>
          </a:p>
        </p:txBody>
      </p:sp>
      <p:sp>
        <p:nvSpPr>
          <p:cNvPr id="27" name="Text 21"/>
          <p:cNvSpPr txBox="1"/>
          <p:nvPr/>
        </p:nvSpPr>
        <p:spPr>
          <a:xfrm>
            <a:off x="3642284" y="4974336"/>
            <a:ext cx="2224964" cy="457200"/>
          </a:xfrm>
          <a:prstGeom prst="rect">
            <a:avLst/>
          </a:prstGeom>
          <a:noFill/>
          <a:ln/>
        </p:spPr>
        <p:txBody>
          <a:bodyPr wrap="square" lIns="0" tIns="0" rIns="0" bIns="0" rtlCol="0" anchor="ctr"/>
          <a:lstStyle/>
          <a:p>
            <a:pPr indent="0" marL="0">
              <a:buNone/>
            </a:pPr>
            <a:r>
              <a:rPr lang="en-US" sz="2400" b="1" dirty="0">
                <a:solidFill>
                  <a:srgbClr val="E3202A"/>
                </a:solidFill>
                <a:latin typeface="Arial" pitchFamily="34" charset="0"/>
                <a:ea typeface="Arial" pitchFamily="34" charset="-122"/>
                <a:cs typeface="Arial" pitchFamily="34" charset="-120"/>
              </a:rPr>
              <a:t>273%</a:t>
            </a:r>
            <a:endParaRPr lang="en-US" sz="2400" dirty="0"/>
          </a:p>
        </p:txBody>
      </p:sp>
      <p:sp>
        <p:nvSpPr>
          <p:cNvPr id="28" name="Text 22"/>
          <p:cNvSpPr txBox="1"/>
          <p:nvPr/>
        </p:nvSpPr>
        <p:spPr>
          <a:xfrm>
            <a:off x="3642284" y="5449824"/>
            <a:ext cx="2224964" cy="402336"/>
          </a:xfrm>
          <a:prstGeom prst="rect">
            <a:avLst/>
          </a:prstGeom>
          <a:noFill/>
          <a:ln/>
        </p:spPr>
        <p:txBody>
          <a:bodyPr wrap="square" lIns="0" tIns="0" rIns="0" bIns="0" rtlCol="0" anchor="t"/>
          <a:lstStyle/>
          <a:p>
            <a:pPr indent="0" marL="0">
              <a:buNone/>
            </a:pPr>
            <a:r>
              <a:rPr lang="en-US" sz="1050" dirty="0">
                <a:solidFill>
                  <a:srgbClr val="C9CED6"/>
                </a:solidFill>
                <a:latin typeface="Calibri" pitchFamily="34" charset="0"/>
                <a:ea typeface="Calibri" pitchFamily="34" charset="-122"/>
                <a:cs typeface="Calibri" pitchFamily="34" charset="-120"/>
              </a:rPr>
              <a:t>Three-year ROI (Forrester Total Economic Impact™ study)</a:t>
            </a:r>
            <a:endParaRPr lang="en-US" sz="1050" dirty="0"/>
          </a:p>
        </p:txBody>
      </p:sp>
      <p:sp>
        <p:nvSpPr>
          <p:cNvPr id="29" name="Text 23"/>
          <p:cNvSpPr txBox="1"/>
          <p:nvPr/>
        </p:nvSpPr>
        <p:spPr>
          <a:xfrm>
            <a:off x="6415888" y="4974336"/>
            <a:ext cx="2224964" cy="457200"/>
          </a:xfrm>
          <a:prstGeom prst="rect">
            <a:avLst/>
          </a:prstGeom>
          <a:noFill/>
          <a:ln/>
        </p:spPr>
        <p:txBody>
          <a:bodyPr wrap="square" lIns="0" tIns="0" rIns="0" bIns="0" rtlCol="0" anchor="ctr"/>
          <a:lstStyle/>
          <a:p>
            <a:pPr indent="0" marL="0">
              <a:buNone/>
            </a:pPr>
            <a:r>
              <a:rPr lang="en-US" sz="2400" b="1" dirty="0">
                <a:solidFill>
                  <a:srgbClr val="E3202A"/>
                </a:solidFill>
                <a:latin typeface="Arial" pitchFamily="34" charset="0"/>
                <a:ea typeface="Arial" pitchFamily="34" charset="-122"/>
                <a:cs typeface="Arial" pitchFamily="34" charset="-120"/>
              </a:rPr>
              <a:t>7×</a:t>
            </a:r>
            <a:endParaRPr lang="en-US" sz="2400" dirty="0"/>
          </a:p>
        </p:txBody>
      </p:sp>
      <p:sp>
        <p:nvSpPr>
          <p:cNvPr id="30" name="Text 24"/>
          <p:cNvSpPr txBox="1"/>
          <p:nvPr/>
        </p:nvSpPr>
        <p:spPr>
          <a:xfrm>
            <a:off x="6415888" y="5449824"/>
            <a:ext cx="2224964" cy="402336"/>
          </a:xfrm>
          <a:prstGeom prst="rect">
            <a:avLst/>
          </a:prstGeom>
          <a:noFill/>
          <a:ln/>
        </p:spPr>
        <p:txBody>
          <a:bodyPr wrap="square" lIns="0" tIns="0" rIns="0" bIns="0" rtlCol="0" anchor="t"/>
          <a:lstStyle/>
          <a:p>
            <a:pPr indent="0" marL="0">
              <a:buNone/>
            </a:pPr>
            <a:r>
              <a:rPr lang="en-US" sz="1050" dirty="0">
                <a:solidFill>
                  <a:srgbClr val="C9CED6"/>
                </a:solidFill>
                <a:latin typeface="Calibri" pitchFamily="34" charset="0"/>
                <a:ea typeface="Calibri" pitchFamily="34" charset="-122"/>
                <a:cs typeface="Calibri" pitchFamily="34" charset="-120"/>
              </a:rPr>
              <a:t>Named a Leader in the Gartner® Magic Quadrant™ for EPP</a:t>
            </a:r>
            <a:endParaRPr lang="en-US" sz="1050" dirty="0"/>
          </a:p>
        </p:txBody>
      </p:sp>
      <p:sp>
        <p:nvSpPr>
          <p:cNvPr id="31" name="Text 25"/>
          <p:cNvSpPr txBox="1"/>
          <p:nvPr/>
        </p:nvSpPr>
        <p:spPr>
          <a:xfrm>
            <a:off x="9189491" y="4974336"/>
            <a:ext cx="2224964" cy="457200"/>
          </a:xfrm>
          <a:prstGeom prst="rect">
            <a:avLst/>
          </a:prstGeom>
          <a:noFill/>
          <a:ln/>
        </p:spPr>
        <p:txBody>
          <a:bodyPr wrap="square" lIns="0" tIns="0" rIns="0" bIns="0" rtlCol="0" anchor="ctr"/>
          <a:lstStyle/>
          <a:p>
            <a:pPr indent="0" marL="0">
              <a:buNone/>
            </a:pPr>
            <a:r>
              <a:rPr lang="en-US" sz="2400" b="1" dirty="0">
                <a:solidFill>
                  <a:srgbClr val="E3202A"/>
                </a:solidFill>
                <a:latin typeface="Arial" pitchFamily="34" charset="0"/>
                <a:ea typeface="Arial" pitchFamily="34" charset="-122"/>
                <a:cs typeface="Arial" pitchFamily="34" charset="-120"/>
              </a:rPr>
              <a:t>4 min</a:t>
            </a:r>
            <a:endParaRPr lang="en-US" sz="2400" dirty="0"/>
          </a:p>
        </p:txBody>
      </p:sp>
      <p:sp>
        <p:nvSpPr>
          <p:cNvPr id="32" name="Text 26"/>
          <p:cNvSpPr txBox="1"/>
          <p:nvPr/>
        </p:nvSpPr>
        <p:spPr>
          <a:xfrm>
            <a:off x="9189491" y="5449824"/>
            <a:ext cx="2224964" cy="402336"/>
          </a:xfrm>
          <a:prstGeom prst="rect">
            <a:avLst/>
          </a:prstGeom>
          <a:noFill/>
          <a:ln/>
        </p:spPr>
        <p:txBody>
          <a:bodyPr wrap="square" lIns="0" tIns="0" rIns="0" bIns="0" rtlCol="0" anchor="t"/>
          <a:lstStyle/>
          <a:p>
            <a:pPr indent="0" marL="0">
              <a:buNone/>
            </a:pPr>
            <a:r>
              <a:rPr lang="en-US" sz="1050" dirty="0">
                <a:solidFill>
                  <a:srgbClr val="C9CED6"/>
                </a:solidFill>
                <a:latin typeface="Calibri" pitchFamily="34" charset="0"/>
                <a:ea typeface="Calibri" pitchFamily="34" charset="-122"/>
                <a:cs typeface="Calibri" pitchFamily="34" charset="-120"/>
              </a:rPr>
              <a:t>Mean time to detect (MITRE managed services evaluation)</a:t>
            </a:r>
            <a:endParaRPr lang="en-US" sz="1050" dirty="0"/>
          </a:p>
        </p:txBody>
      </p:sp>
      <p:sp>
        <p:nvSpPr>
          <p:cNvPr id="33" name="Text 27"/>
          <p:cNvSpPr txBox="1"/>
          <p:nvPr/>
        </p:nvSpPr>
        <p:spPr>
          <a:xfrm>
            <a:off x="548640" y="6108192"/>
            <a:ext cx="11094415" cy="237744"/>
          </a:xfrm>
          <a:prstGeom prst="rect">
            <a:avLst/>
          </a:prstGeom>
          <a:noFill/>
          <a:ln/>
        </p:spPr>
        <p:txBody>
          <a:bodyPr wrap="square" lIns="0" tIns="0" rIns="0" bIns="0" rtlCol="0" anchor="b"/>
          <a:lstStyle/>
          <a:p>
            <a:pPr indent="0" marL="0">
              <a:buNone/>
            </a:pPr>
            <a:r>
              <a:rPr lang="en-US" sz="800" i="1" dirty="0">
                <a:solidFill>
                  <a:srgbClr val="8A94A1"/>
                </a:solidFill>
                <a:latin typeface="Calibri" pitchFamily="34" charset="0"/>
                <a:ea typeface="Calibri" pitchFamily="34" charset="-122"/>
                <a:cs typeface="Calibri" pitchFamily="34" charset="-120"/>
              </a:rPr>
              <a:t>Sources: CrowdStrike 2026 Global Threat Report; 2025 MITRE ATT&amp;CK® Enterprise Evaluations; Forrester TEI of CrowdStrike Endpoint Security (commissioned, Nov 2025); Gartner® MQ for EPP (May 2026); 2024 MITRE Engenuity ATT&amp;CK® Evaluations: Managed Services.</a:t>
            </a:r>
            <a:endParaRPr lang="en-US" sz="800" dirty="0"/>
          </a:p>
        </p:txBody>
      </p:sp>
      <p:sp>
        <p:nvSpPr>
          <p:cNvPr id="34" name="Text 28"/>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02   |   Nessus vs. CrowdStrike Falcon Platform  ·  Proposal for The Westin Resort Guam</a:t>
            </a:r>
            <a:endParaRPr lang="en-US" sz="900" dirty="0"/>
          </a:p>
        </p:txBody>
      </p:sp>
      <p:pic>
        <p:nvPicPr>
          <p:cNvPr id="35" name="Image 4" descr="/private/tmp/claude-501/-Users-jihanvin-Desktop-NIVNAH-AI/16a96446-d9b3-40e2-af9e-a3011ae3db84/scratchpad/assets/secukorea_dark.png">    </p:cNvPr>
          <p:cNvPicPr>
            <a:picLocks noChangeAspect="1"/>
          </p:cNvPicPr>
          <p:nvPr/>
        </p:nvPicPr>
        <p:blipFill>
          <a:blip r:embed="rId5"/>
          <a:stretch>
            <a:fillRect/>
          </a:stretch>
        </p:blipFill>
        <p:spPr>
          <a:xfrm>
            <a:off x="10661904" y="6400800"/>
            <a:ext cx="978408" cy="2331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01   CURRENT STATE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Current Environment &amp; Security Challenges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600200"/>
            <a:ext cx="566928" cy="566928"/>
          </a:xfrm>
          <a:prstGeom prst="roundRect">
            <a:avLst>
              <a:gd name="adj" fmla="val 16129"/>
            </a:avLst>
          </a:prstGeom>
          <a:solidFill>
            <a:srgbClr val="EAEEF3"/>
          </a:solidFill>
          <a:ln w="12700">
            <a:solidFill>
              <a:srgbClr val="EAEEF3"/>
            </a:solidFill>
            <a:prstDash val="solid"/>
          </a:ln>
        </p:spPr>
      </p:sp>
      <p:pic>
        <p:nvPicPr>
          <p:cNvPr id="6" name="Image 1" descr="preencoded.png">    </p:cNvPr>
          <p:cNvPicPr>
            <a:picLocks noChangeAspect="1"/>
          </p:cNvPicPr>
          <p:nvPr/>
        </p:nvPicPr>
        <p:blipFill>
          <a:blip r:embed="rId2"/>
          <a:stretch>
            <a:fillRect/>
          </a:stretch>
        </p:blipFill>
        <p:spPr>
          <a:xfrm>
            <a:off x="673364" y="1724924"/>
            <a:ext cx="317480" cy="317480"/>
          </a:xfrm>
          <a:prstGeom prst="rect">
            <a:avLst/>
          </a:prstGeom>
        </p:spPr>
      </p:pic>
      <p:sp>
        <p:nvSpPr>
          <p:cNvPr id="7" name="Text 3"/>
          <p:cNvSpPr txBox="1"/>
          <p:nvPr/>
        </p:nvSpPr>
        <p:spPr>
          <a:xfrm>
            <a:off x="1325880" y="158191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24/7 Non-Stop Hospitality Operations</a:t>
            </a:r>
            <a:endParaRPr lang="en-US" sz="1500" dirty="0"/>
          </a:p>
        </p:txBody>
      </p:sp>
      <p:sp>
        <p:nvSpPr>
          <p:cNvPr id="8" name="Text 4"/>
          <p:cNvSpPr txBox="1"/>
          <p:nvPr/>
        </p:nvSpPr>
        <p:spPr>
          <a:xfrm>
            <a:off x="1325880" y="192938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Guest personal data, payment processing, and front-desk and back-office systems must stay available and protected around the clock.</a:t>
            </a:r>
            <a:endParaRPr lang="en-US" sz="1200" dirty="0"/>
          </a:p>
        </p:txBody>
      </p:sp>
      <p:sp>
        <p:nvSpPr>
          <p:cNvPr id="9" name="Shape 5"/>
          <p:cNvSpPr/>
          <p:nvPr/>
        </p:nvSpPr>
        <p:spPr>
          <a:xfrm>
            <a:off x="548640" y="2697480"/>
            <a:ext cx="566928" cy="566928"/>
          </a:xfrm>
          <a:prstGeom prst="roundRect">
            <a:avLst>
              <a:gd name="adj" fmla="val 16129"/>
            </a:avLst>
          </a:prstGeom>
          <a:solidFill>
            <a:srgbClr val="EAEEF3"/>
          </a:solidFill>
          <a:ln w="12700">
            <a:solidFill>
              <a:srgbClr val="EAEEF3"/>
            </a:solidFill>
            <a:prstDash val="solid"/>
          </a:ln>
        </p:spPr>
      </p:sp>
      <p:pic>
        <p:nvPicPr>
          <p:cNvPr id="10" name="Image 2" descr="preencoded.png">    </p:cNvPr>
          <p:cNvPicPr>
            <a:picLocks noChangeAspect="1"/>
          </p:cNvPicPr>
          <p:nvPr/>
        </p:nvPicPr>
        <p:blipFill>
          <a:blip r:embed="rId3"/>
          <a:stretch>
            <a:fillRect/>
          </a:stretch>
        </p:blipFill>
        <p:spPr>
          <a:xfrm>
            <a:off x="673364" y="2822204"/>
            <a:ext cx="317480" cy="317480"/>
          </a:xfrm>
          <a:prstGeom prst="rect">
            <a:avLst/>
          </a:prstGeom>
        </p:spPr>
      </p:pic>
      <p:sp>
        <p:nvSpPr>
          <p:cNvPr id="11" name="Text 6"/>
          <p:cNvSpPr txBox="1"/>
          <p:nvPr/>
        </p:nvSpPr>
        <p:spPr>
          <a:xfrm>
            <a:off x="1325880" y="267919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Limited On-Site Security Staffing</a:t>
            </a:r>
            <a:endParaRPr lang="en-US" sz="1500" dirty="0"/>
          </a:p>
        </p:txBody>
      </p:sp>
      <p:sp>
        <p:nvSpPr>
          <p:cNvPr id="12" name="Text 7"/>
          <p:cNvSpPr txBox="1"/>
          <p:nvPr/>
        </p:nvSpPr>
        <p:spPr>
          <a:xfrm>
            <a:off x="1325880" y="302666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Without a dedicated security operations team, manual patching and case-by-case incident investigation are hard to sustain.</a:t>
            </a:r>
            <a:endParaRPr lang="en-US" sz="1200" dirty="0"/>
          </a:p>
        </p:txBody>
      </p:sp>
      <p:sp>
        <p:nvSpPr>
          <p:cNvPr id="13" name="Shape 8"/>
          <p:cNvSpPr/>
          <p:nvPr/>
        </p:nvSpPr>
        <p:spPr>
          <a:xfrm>
            <a:off x="548640" y="3794760"/>
            <a:ext cx="566928" cy="566928"/>
          </a:xfrm>
          <a:prstGeom prst="roundRect">
            <a:avLst>
              <a:gd name="adj" fmla="val 16129"/>
            </a:avLst>
          </a:prstGeom>
          <a:solidFill>
            <a:srgbClr val="EAEEF3"/>
          </a:solidFill>
          <a:ln w="12700">
            <a:solidFill>
              <a:srgbClr val="EAEEF3"/>
            </a:solidFill>
            <a:prstDash val="solid"/>
          </a:ln>
        </p:spPr>
      </p:sp>
      <p:pic>
        <p:nvPicPr>
          <p:cNvPr id="14" name="Image 3" descr="preencoded.png">    </p:cNvPr>
          <p:cNvPicPr>
            <a:picLocks noChangeAspect="1"/>
          </p:cNvPicPr>
          <p:nvPr/>
        </p:nvPicPr>
        <p:blipFill>
          <a:blip r:embed="rId4"/>
          <a:stretch>
            <a:fillRect/>
          </a:stretch>
        </p:blipFill>
        <p:spPr>
          <a:xfrm>
            <a:off x="673364" y="3919484"/>
            <a:ext cx="317480" cy="317480"/>
          </a:xfrm>
          <a:prstGeom prst="rect">
            <a:avLst/>
          </a:prstGeom>
        </p:spPr>
      </p:pic>
      <p:sp>
        <p:nvSpPr>
          <p:cNvPr id="15" name="Text 9"/>
          <p:cNvSpPr txBox="1"/>
          <p:nvPr/>
        </p:nvSpPr>
        <p:spPr>
          <a:xfrm>
            <a:off x="1325880" y="377647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Scan-Only Protection Today</a:t>
            </a:r>
            <a:endParaRPr lang="en-US" sz="1500" dirty="0"/>
          </a:p>
        </p:txBody>
      </p:sp>
      <p:sp>
        <p:nvSpPr>
          <p:cNvPr id="16" name="Text 10"/>
          <p:cNvSpPr txBox="1"/>
          <p:nvPr/>
        </p:nvSpPr>
        <p:spPr>
          <a:xfrm>
            <a:off x="1325880" y="412394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Nessus identifies vulnerabilities, but it does not block malware or stop an attack in progress. Every follow-up action is manual.</a:t>
            </a:r>
            <a:endParaRPr lang="en-US" sz="1200" dirty="0"/>
          </a:p>
        </p:txBody>
      </p:sp>
      <p:sp>
        <p:nvSpPr>
          <p:cNvPr id="17" name="Shape 11"/>
          <p:cNvSpPr/>
          <p:nvPr/>
        </p:nvSpPr>
        <p:spPr>
          <a:xfrm>
            <a:off x="548640" y="4892040"/>
            <a:ext cx="566928" cy="566928"/>
          </a:xfrm>
          <a:prstGeom prst="roundRect">
            <a:avLst>
              <a:gd name="adj" fmla="val 16129"/>
            </a:avLst>
          </a:prstGeom>
          <a:solidFill>
            <a:srgbClr val="EAEEF3"/>
          </a:solidFill>
          <a:ln w="12700">
            <a:solidFill>
              <a:srgbClr val="EAEEF3"/>
            </a:solidFill>
            <a:prstDash val="solid"/>
          </a:ln>
        </p:spPr>
      </p:sp>
      <p:pic>
        <p:nvPicPr>
          <p:cNvPr id="18" name="Image 4" descr="preencoded.png">    </p:cNvPr>
          <p:cNvPicPr>
            <a:picLocks noChangeAspect="1"/>
          </p:cNvPicPr>
          <p:nvPr/>
        </p:nvPicPr>
        <p:blipFill>
          <a:blip r:embed="rId5"/>
          <a:stretch>
            <a:fillRect/>
          </a:stretch>
        </p:blipFill>
        <p:spPr>
          <a:xfrm>
            <a:off x="673364" y="5016764"/>
            <a:ext cx="317480" cy="317480"/>
          </a:xfrm>
          <a:prstGeom prst="rect">
            <a:avLst/>
          </a:prstGeom>
        </p:spPr>
      </p:pic>
      <p:sp>
        <p:nvSpPr>
          <p:cNvPr id="19" name="Text 12"/>
          <p:cNvSpPr txBox="1"/>
          <p:nvPr/>
        </p:nvSpPr>
        <p:spPr>
          <a:xfrm>
            <a:off x="1325880" y="487375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A High-Value Target</a:t>
            </a:r>
            <a:endParaRPr lang="en-US" sz="1500" dirty="0"/>
          </a:p>
        </p:txBody>
      </p:sp>
      <p:sp>
        <p:nvSpPr>
          <p:cNvPr id="20" name="Text 13"/>
          <p:cNvSpPr txBox="1"/>
          <p:nvPr/>
        </p:nvSpPr>
        <p:spPr>
          <a:xfrm>
            <a:off x="1325880" y="522122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Hotels hold payment card data and guest identities — a frequent target for ransomware and data theft, with direct impact on brand trust.</a:t>
            </a:r>
            <a:endParaRPr lang="en-US" sz="1200" dirty="0"/>
          </a:p>
        </p:txBody>
      </p:sp>
      <p:sp>
        <p:nvSpPr>
          <p:cNvPr id="21" name="Shape 14"/>
          <p:cNvSpPr/>
          <p:nvPr/>
        </p:nvSpPr>
        <p:spPr>
          <a:xfrm>
            <a:off x="7452360" y="1554480"/>
            <a:ext cx="4190695" cy="4434840"/>
          </a:xfrm>
          <a:prstGeom prst="roundRect">
            <a:avLst>
              <a:gd name="adj" fmla="val 2182"/>
            </a:avLst>
          </a:prstGeom>
          <a:solidFill>
            <a:srgbClr val="0B0D12"/>
          </a:solidFill>
          <a:ln w="12700">
            <a:solidFill>
              <a:srgbClr val="0B0D12"/>
            </a:solidFill>
            <a:prstDash val="solid"/>
          </a:ln>
        </p:spPr>
      </p:sp>
      <p:sp>
        <p:nvSpPr>
          <p:cNvPr id="22" name="Text 15"/>
          <p:cNvSpPr txBox="1"/>
          <p:nvPr/>
        </p:nvSpPr>
        <p:spPr>
          <a:xfrm>
            <a:off x="7818120" y="1828800"/>
            <a:ext cx="3459175" cy="274320"/>
          </a:xfrm>
          <a:prstGeom prst="rect">
            <a:avLst/>
          </a:prstGeom>
          <a:noFill/>
          <a:ln/>
        </p:spPr>
        <p:txBody>
          <a:bodyPr wrap="square" lIns="0" tIns="0" rIns="0" bIns="0" rtlCol="0" anchor="t"/>
          <a:lstStyle/>
          <a:p>
            <a:pPr indent="0" marL="0">
              <a:buNone/>
            </a:pPr>
            <a:r>
              <a:rPr lang="en-US" sz="1100" b="1" spc="200" kern="0" dirty="0">
                <a:solidFill>
                  <a:srgbClr val="E3202A"/>
                </a:solidFill>
                <a:latin typeface="Calibri" pitchFamily="34" charset="0"/>
                <a:ea typeface="Calibri" pitchFamily="34" charset="-122"/>
                <a:cs typeface="Calibri" pitchFamily="34" charset="-120"/>
              </a:rPr>
              <a:t>WHAT THE RESORT NEEDS</a:t>
            </a:r>
            <a:endParaRPr lang="en-US" sz="1100" dirty="0"/>
          </a:p>
        </p:txBody>
      </p:sp>
      <p:pic>
        <p:nvPicPr>
          <p:cNvPr id="23" name="Image 5" descr="preencoded.png">    </p:cNvPr>
          <p:cNvPicPr>
            <a:picLocks noChangeAspect="1"/>
          </p:cNvPicPr>
          <p:nvPr/>
        </p:nvPicPr>
        <p:blipFill>
          <a:blip r:embed="rId6"/>
          <a:stretch>
            <a:fillRect/>
          </a:stretch>
        </p:blipFill>
        <p:spPr>
          <a:xfrm>
            <a:off x="7818120" y="2322576"/>
            <a:ext cx="237744" cy="237744"/>
          </a:xfrm>
          <a:prstGeom prst="rect">
            <a:avLst/>
          </a:prstGeom>
        </p:spPr>
      </p:pic>
      <p:sp>
        <p:nvSpPr>
          <p:cNvPr id="24" name="Text 16"/>
          <p:cNvSpPr txBox="1"/>
          <p:nvPr/>
        </p:nvSpPr>
        <p:spPr>
          <a:xfrm>
            <a:off x="8183880" y="2286000"/>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Automatic prevention of malware and ransomware</a:t>
            </a:r>
            <a:endParaRPr lang="en-US" sz="1300" dirty="0"/>
          </a:p>
        </p:txBody>
      </p:sp>
      <p:pic>
        <p:nvPicPr>
          <p:cNvPr id="25" name="Image 6" descr="preencoded.png">    </p:cNvPr>
          <p:cNvPicPr>
            <a:picLocks noChangeAspect="1"/>
          </p:cNvPicPr>
          <p:nvPr/>
        </p:nvPicPr>
        <p:blipFill>
          <a:blip r:embed="rId7"/>
          <a:stretch>
            <a:fillRect/>
          </a:stretch>
        </p:blipFill>
        <p:spPr>
          <a:xfrm>
            <a:off x="7818120" y="2852928"/>
            <a:ext cx="237744" cy="237744"/>
          </a:xfrm>
          <a:prstGeom prst="rect">
            <a:avLst/>
          </a:prstGeom>
        </p:spPr>
      </p:pic>
      <p:sp>
        <p:nvSpPr>
          <p:cNvPr id="26" name="Text 17"/>
          <p:cNvSpPr txBox="1"/>
          <p:nvPr/>
        </p:nvSpPr>
        <p:spPr>
          <a:xfrm>
            <a:off x="8183880" y="2816352"/>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Real-time detection and containment of attacks</a:t>
            </a:r>
            <a:endParaRPr lang="en-US" sz="1300" dirty="0"/>
          </a:p>
        </p:txBody>
      </p:sp>
      <p:pic>
        <p:nvPicPr>
          <p:cNvPr id="27" name="Image 7" descr="preencoded.png">    </p:cNvPr>
          <p:cNvPicPr>
            <a:picLocks noChangeAspect="1"/>
          </p:cNvPicPr>
          <p:nvPr/>
        </p:nvPicPr>
        <p:blipFill>
          <a:blip r:embed="rId8"/>
          <a:stretch>
            <a:fillRect/>
          </a:stretch>
        </p:blipFill>
        <p:spPr>
          <a:xfrm>
            <a:off x="7818120" y="3383280"/>
            <a:ext cx="237744" cy="237744"/>
          </a:xfrm>
          <a:prstGeom prst="rect">
            <a:avLst/>
          </a:prstGeom>
        </p:spPr>
      </p:pic>
      <p:sp>
        <p:nvSpPr>
          <p:cNvPr id="28" name="Text 18"/>
          <p:cNvSpPr txBox="1"/>
          <p:nvPr/>
        </p:nvSpPr>
        <p:spPr>
          <a:xfrm>
            <a:off x="8183880" y="3346704"/>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Low day-to-day workload for the IT team</a:t>
            </a:r>
            <a:endParaRPr lang="en-US" sz="1300" dirty="0"/>
          </a:p>
        </p:txBody>
      </p:sp>
      <p:pic>
        <p:nvPicPr>
          <p:cNvPr id="29" name="Image 8" descr="preencoded.png">    </p:cNvPr>
          <p:cNvPicPr>
            <a:picLocks noChangeAspect="1"/>
          </p:cNvPicPr>
          <p:nvPr/>
        </p:nvPicPr>
        <p:blipFill>
          <a:blip r:embed="rId9"/>
          <a:stretch>
            <a:fillRect/>
          </a:stretch>
        </p:blipFill>
        <p:spPr>
          <a:xfrm>
            <a:off x="7818120" y="3913632"/>
            <a:ext cx="237744" cy="237744"/>
          </a:xfrm>
          <a:prstGeom prst="rect">
            <a:avLst/>
          </a:prstGeom>
        </p:spPr>
      </p:pic>
      <p:sp>
        <p:nvSpPr>
          <p:cNvPr id="30" name="Text 19"/>
          <p:cNvSpPr txBox="1"/>
          <p:nvPr/>
        </p:nvSpPr>
        <p:spPr>
          <a:xfrm>
            <a:off x="8183880" y="3877056"/>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Expert help available 24/7</a:t>
            </a:r>
            <a:endParaRPr lang="en-US" sz="1300" dirty="0"/>
          </a:p>
        </p:txBody>
      </p:sp>
      <p:pic>
        <p:nvPicPr>
          <p:cNvPr id="31" name="Image 9" descr="preencoded.png">    </p:cNvPr>
          <p:cNvPicPr>
            <a:picLocks noChangeAspect="1"/>
          </p:cNvPicPr>
          <p:nvPr/>
        </p:nvPicPr>
        <p:blipFill>
          <a:blip r:embed="rId10"/>
          <a:stretch>
            <a:fillRect/>
          </a:stretch>
        </p:blipFill>
        <p:spPr>
          <a:xfrm>
            <a:off x="7818120" y="4443984"/>
            <a:ext cx="237744" cy="237744"/>
          </a:xfrm>
          <a:prstGeom prst="rect">
            <a:avLst/>
          </a:prstGeom>
        </p:spPr>
      </p:pic>
      <p:sp>
        <p:nvSpPr>
          <p:cNvPr id="32" name="Text 20"/>
          <p:cNvSpPr txBox="1"/>
          <p:nvPr/>
        </p:nvSpPr>
        <p:spPr>
          <a:xfrm>
            <a:off x="8183880" y="4407408"/>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Clear reporting for management and audits</a:t>
            </a:r>
            <a:endParaRPr lang="en-US" sz="1300" dirty="0"/>
          </a:p>
        </p:txBody>
      </p:sp>
      <p:sp>
        <p:nvSpPr>
          <p:cNvPr id="33" name="Text 21"/>
          <p:cNvSpPr txBox="1"/>
          <p:nvPr/>
        </p:nvSpPr>
        <p:spPr>
          <a:xfrm>
            <a:off x="7818120" y="5120640"/>
            <a:ext cx="3459175" cy="548640"/>
          </a:xfrm>
          <a:prstGeom prst="rect">
            <a:avLst/>
          </a:prstGeom>
          <a:noFill/>
          <a:ln/>
        </p:spPr>
        <p:txBody>
          <a:bodyPr wrap="square" lIns="0" tIns="0" rIns="0" bIns="0" rtlCol="0" anchor="ctr"/>
          <a:lstStyle/>
          <a:p>
            <a:pPr indent="0" marL="0">
              <a:buNone/>
            </a:pPr>
            <a:r>
              <a:rPr lang="en-US" sz="1400" b="1" i="1" dirty="0">
                <a:solidFill>
                  <a:srgbClr val="FFFFFF"/>
                </a:solidFill>
                <a:latin typeface="Calibri" pitchFamily="34" charset="0"/>
                <a:ea typeface="Calibri" pitchFamily="34" charset="-122"/>
                <a:cs typeface="Calibri" pitchFamily="34" charset="-120"/>
              </a:rPr>
              <a:t>The goal is not more reports — it is fewer incidents.</a:t>
            </a:r>
            <a:endParaRPr lang="en-US" sz="1400" dirty="0"/>
          </a:p>
        </p:txBody>
      </p:sp>
      <p:sp>
        <p:nvSpPr>
          <p:cNvPr id="34" name="Text 2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03   |   Nessus vs. CrowdStrike Falcon Platform  ·  Proposal for The Westin Resort Guam</a:t>
            </a:r>
            <a:endParaRPr lang="en-US" sz="900" dirty="0"/>
          </a:p>
        </p:txBody>
      </p:sp>
      <p:pic>
        <p:nvPicPr>
          <p:cNvPr id="35" name="Image 10" descr="/private/tmp/claude-501/-Users-jihanvin-Desktop-NIVNAH-AI/16a96446-d9b3-40e2-af9e-a3011ae3db84/scratchpad/assets/secukorea_dark.png">    </p:cNvPr>
          <p:cNvPicPr>
            <a:picLocks noChangeAspect="1"/>
          </p:cNvPicPr>
          <p:nvPr/>
        </p:nvPicPr>
        <p:blipFill>
          <a:blip r:embed="rId11"/>
          <a:stretch>
            <a:fillRect/>
          </a:stretch>
        </p:blipFill>
        <p:spPr>
          <a:xfrm>
            <a:off x="10661904" y="6400800"/>
            <a:ext cx="978408" cy="23317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02   THREAT LANDSCAPE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Attackers Now Move Faster Than Any Scan Cycle</a:t>
            </a:r>
            <a:endParaRPr lang="en-US" sz="2800" dirty="0"/>
          </a:p>
        </p:txBody>
      </p:sp>
      <p:pic>
        <p:nvPicPr>
          <p:cNvPr id="4" name="Image 0" descr="/private/tmp/claude-501/-Users-jihanvin-Desktop-NIVNAH-AI/16a96446-d9b3-40e2-af9e-a3011ae3db84/scratchpad/assets/westin_white.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600200"/>
            <a:ext cx="2567864" cy="2148840"/>
          </a:xfrm>
          <a:prstGeom prst="roundRect">
            <a:avLst>
              <a:gd name="adj" fmla="val 3404"/>
            </a:avLst>
          </a:prstGeom>
          <a:solidFill>
            <a:srgbClr val="171B22"/>
          </a:solidFill>
          <a:ln w="9525">
            <a:solidFill>
              <a:srgbClr val="2A303A"/>
            </a:solidFill>
            <a:prstDash val="solid"/>
          </a:ln>
        </p:spPr>
      </p:sp>
      <p:sp>
        <p:nvSpPr>
          <p:cNvPr id="6" name="Text 3"/>
          <p:cNvSpPr txBox="1"/>
          <p:nvPr/>
        </p:nvSpPr>
        <p:spPr>
          <a:xfrm>
            <a:off x="822960" y="1874520"/>
            <a:ext cx="2019224" cy="777240"/>
          </a:xfrm>
          <a:prstGeom prst="rect">
            <a:avLst/>
          </a:prstGeom>
          <a:noFill/>
          <a:ln/>
        </p:spPr>
        <p:txBody>
          <a:bodyPr wrap="square" lIns="0" tIns="0" rIns="0" bIns="0" rtlCol="0" anchor="ctr"/>
          <a:lstStyle/>
          <a:p>
            <a:pPr indent="0" marL="0">
              <a:buNone/>
            </a:pPr>
            <a:r>
              <a:rPr lang="en-US" sz="4000" b="1" dirty="0">
                <a:solidFill>
                  <a:srgbClr val="E3202A"/>
                </a:solidFill>
                <a:latin typeface="Arial" pitchFamily="34" charset="0"/>
                <a:ea typeface="Arial" pitchFamily="34" charset="-122"/>
                <a:cs typeface="Arial" pitchFamily="34" charset="-120"/>
              </a:rPr>
              <a:t>27 sec</a:t>
            </a:r>
            <a:endParaRPr lang="en-US" sz="4000" dirty="0"/>
          </a:p>
        </p:txBody>
      </p:sp>
      <p:sp>
        <p:nvSpPr>
          <p:cNvPr id="7" name="Text 4"/>
          <p:cNvSpPr txBox="1"/>
          <p:nvPr/>
        </p:nvSpPr>
        <p:spPr>
          <a:xfrm>
            <a:off x="822960" y="2715768"/>
            <a:ext cx="2019224"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Fastest eCrime breakout time on record — from first foothold to other systems</a:t>
            </a:r>
            <a:endParaRPr lang="en-US" sz="1200" dirty="0"/>
          </a:p>
        </p:txBody>
      </p:sp>
      <p:sp>
        <p:nvSpPr>
          <p:cNvPr id="8" name="Shape 5"/>
          <p:cNvSpPr/>
          <p:nvPr/>
        </p:nvSpPr>
        <p:spPr>
          <a:xfrm>
            <a:off x="3390824" y="1600200"/>
            <a:ext cx="2567864" cy="2148840"/>
          </a:xfrm>
          <a:prstGeom prst="roundRect">
            <a:avLst>
              <a:gd name="adj" fmla="val 3404"/>
            </a:avLst>
          </a:prstGeom>
          <a:solidFill>
            <a:srgbClr val="171B22"/>
          </a:solidFill>
          <a:ln w="9525">
            <a:solidFill>
              <a:srgbClr val="2A303A"/>
            </a:solidFill>
            <a:prstDash val="solid"/>
          </a:ln>
        </p:spPr>
      </p:sp>
      <p:sp>
        <p:nvSpPr>
          <p:cNvPr id="9" name="Text 6"/>
          <p:cNvSpPr txBox="1"/>
          <p:nvPr/>
        </p:nvSpPr>
        <p:spPr>
          <a:xfrm>
            <a:off x="3665144" y="1874520"/>
            <a:ext cx="2019224" cy="777240"/>
          </a:xfrm>
          <a:prstGeom prst="rect">
            <a:avLst/>
          </a:prstGeom>
          <a:noFill/>
          <a:ln/>
        </p:spPr>
        <p:txBody>
          <a:bodyPr wrap="square" lIns="0" tIns="0" rIns="0" bIns="0" rtlCol="0" anchor="ctr"/>
          <a:lstStyle/>
          <a:p>
            <a:pPr indent="0" marL="0">
              <a:buNone/>
            </a:pPr>
            <a:r>
              <a:rPr lang="en-US" sz="4000" b="1" dirty="0">
                <a:solidFill>
                  <a:srgbClr val="E3202A"/>
                </a:solidFill>
                <a:latin typeface="Arial" pitchFamily="34" charset="0"/>
                <a:ea typeface="Arial" pitchFamily="34" charset="-122"/>
                <a:cs typeface="Arial" pitchFamily="34" charset="-120"/>
              </a:rPr>
              <a:t>89%</a:t>
            </a:r>
            <a:endParaRPr lang="en-US" sz="4000" dirty="0"/>
          </a:p>
        </p:txBody>
      </p:sp>
      <p:sp>
        <p:nvSpPr>
          <p:cNvPr id="10" name="Text 7"/>
          <p:cNvSpPr txBox="1"/>
          <p:nvPr/>
        </p:nvSpPr>
        <p:spPr>
          <a:xfrm>
            <a:off x="3665144" y="2715768"/>
            <a:ext cx="2019224"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Increase in attacks by AI-enabled adversaries in 2025</a:t>
            </a:r>
            <a:endParaRPr lang="en-US" sz="1200" dirty="0"/>
          </a:p>
        </p:txBody>
      </p:sp>
      <p:sp>
        <p:nvSpPr>
          <p:cNvPr id="11" name="Shape 8"/>
          <p:cNvSpPr/>
          <p:nvPr/>
        </p:nvSpPr>
        <p:spPr>
          <a:xfrm>
            <a:off x="6233008" y="1600200"/>
            <a:ext cx="2567864" cy="2148840"/>
          </a:xfrm>
          <a:prstGeom prst="roundRect">
            <a:avLst>
              <a:gd name="adj" fmla="val 3404"/>
            </a:avLst>
          </a:prstGeom>
          <a:solidFill>
            <a:srgbClr val="171B22"/>
          </a:solidFill>
          <a:ln w="9525">
            <a:solidFill>
              <a:srgbClr val="2A303A"/>
            </a:solidFill>
            <a:prstDash val="solid"/>
          </a:ln>
        </p:spPr>
      </p:sp>
      <p:sp>
        <p:nvSpPr>
          <p:cNvPr id="12" name="Text 9"/>
          <p:cNvSpPr txBox="1"/>
          <p:nvPr/>
        </p:nvSpPr>
        <p:spPr>
          <a:xfrm>
            <a:off x="6507328" y="1874520"/>
            <a:ext cx="2019224" cy="777240"/>
          </a:xfrm>
          <a:prstGeom prst="rect">
            <a:avLst/>
          </a:prstGeom>
          <a:noFill/>
          <a:ln/>
        </p:spPr>
        <p:txBody>
          <a:bodyPr wrap="square" lIns="0" tIns="0" rIns="0" bIns="0" rtlCol="0" anchor="ctr"/>
          <a:lstStyle/>
          <a:p>
            <a:pPr indent="0" marL="0">
              <a:buNone/>
            </a:pPr>
            <a:r>
              <a:rPr lang="en-US" sz="4000" b="1" dirty="0">
                <a:solidFill>
                  <a:srgbClr val="E3202A"/>
                </a:solidFill>
                <a:latin typeface="Arial" pitchFamily="34" charset="0"/>
                <a:ea typeface="Arial" pitchFamily="34" charset="-122"/>
                <a:cs typeface="Arial" pitchFamily="34" charset="-120"/>
              </a:rPr>
              <a:t>42%</a:t>
            </a:r>
            <a:endParaRPr lang="en-US" sz="4000" dirty="0"/>
          </a:p>
        </p:txBody>
      </p:sp>
      <p:sp>
        <p:nvSpPr>
          <p:cNvPr id="13" name="Text 10"/>
          <p:cNvSpPr txBox="1"/>
          <p:nvPr/>
        </p:nvSpPr>
        <p:spPr>
          <a:xfrm>
            <a:off x="6507328" y="2715768"/>
            <a:ext cx="2019224"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Increase in zero-day vulnerabilities exploited before public disclosure</a:t>
            </a:r>
            <a:endParaRPr lang="en-US" sz="1200" dirty="0"/>
          </a:p>
        </p:txBody>
      </p:sp>
      <p:sp>
        <p:nvSpPr>
          <p:cNvPr id="14" name="Shape 11"/>
          <p:cNvSpPr/>
          <p:nvPr/>
        </p:nvSpPr>
        <p:spPr>
          <a:xfrm>
            <a:off x="9075191" y="1600200"/>
            <a:ext cx="2567864" cy="2148840"/>
          </a:xfrm>
          <a:prstGeom prst="roundRect">
            <a:avLst>
              <a:gd name="adj" fmla="val 3404"/>
            </a:avLst>
          </a:prstGeom>
          <a:solidFill>
            <a:srgbClr val="171B22"/>
          </a:solidFill>
          <a:ln w="9525">
            <a:solidFill>
              <a:srgbClr val="2A303A"/>
            </a:solidFill>
            <a:prstDash val="solid"/>
          </a:ln>
        </p:spPr>
      </p:sp>
      <p:sp>
        <p:nvSpPr>
          <p:cNvPr id="15" name="Text 12"/>
          <p:cNvSpPr txBox="1"/>
          <p:nvPr/>
        </p:nvSpPr>
        <p:spPr>
          <a:xfrm>
            <a:off x="9349511" y="1874520"/>
            <a:ext cx="2019224" cy="777240"/>
          </a:xfrm>
          <a:prstGeom prst="rect">
            <a:avLst/>
          </a:prstGeom>
          <a:noFill/>
          <a:ln/>
        </p:spPr>
        <p:txBody>
          <a:bodyPr wrap="square" lIns="0" tIns="0" rIns="0" bIns="0" rtlCol="0" anchor="ctr"/>
          <a:lstStyle/>
          <a:p>
            <a:pPr indent="0" marL="0">
              <a:buNone/>
            </a:pPr>
            <a:r>
              <a:rPr lang="en-US" sz="4000" b="1" dirty="0">
                <a:solidFill>
                  <a:srgbClr val="E3202A"/>
                </a:solidFill>
                <a:latin typeface="Arial" pitchFamily="34" charset="0"/>
                <a:ea typeface="Arial" pitchFamily="34" charset="-122"/>
                <a:cs typeface="Arial" pitchFamily="34" charset="-120"/>
              </a:rPr>
              <a:t>78%</a:t>
            </a:r>
            <a:endParaRPr lang="en-US" sz="4000" dirty="0"/>
          </a:p>
        </p:txBody>
      </p:sp>
      <p:sp>
        <p:nvSpPr>
          <p:cNvPr id="16" name="Text 13"/>
          <p:cNvSpPr txBox="1"/>
          <p:nvPr/>
        </p:nvSpPr>
        <p:spPr>
          <a:xfrm>
            <a:off x="9349511" y="2715768"/>
            <a:ext cx="2019224"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Of surveyed organizations were hit by ransomware in the past year</a:t>
            </a:r>
            <a:endParaRPr lang="en-US" sz="1200" dirty="0"/>
          </a:p>
        </p:txBody>
      </p:sp>
      <p:sp>
        <p:nvSpPr>
          <p:cNvPr id="17" name="Text 14"/>
          <p:cNvSpPr txBox="1"/>
          <p:nvPr/>
        </p:nvSpPr>
        <p:spPr>
          <a:xfrm>
            <a:off x="548640" y="4114800"/>
            <a:ext cx="11094415" cy="274320"/>
          </a:xfrm>
          <a:prstGeom prst="rect">
            <a:avLst/>
          </a:prstGeom>
          <a:noFill/>
          <a:ln/>
        </p:spPr>
        <p:txBody>
          <a:bodyPr wrap="square" lIns="0" tIns="0" rIns="0" bIns="0" rtlCol="0" anchor="t"/>
          <a:lstStyle/>
          <a:p>
            <a:pPr indent="0" marL="0">
              <a:buNone/>
            </a:pPr>
            <a:r>
              <a:rPr lang="en-US" sz="1100" b="1" spc="200" kern="0" dirty="0">
                <a:solidFill>
                  <a:srgbClr val="FFFFFF"/>
                </a:solidFill>
                <a:latin typeface="Calibri" pitchFamily="34" charset="0"/>
                <a:ea typeface="Calibri" pitchFamily="34" charset="-122"/>
                <a:cs typeface="Calibri" pitchFamily="34" charset="-120"/>
              </a:rPr>
              <a:t>WHAT THIS MEANS FOR A SCAN-BASED APPROACH</a:t>
            </a:r>
            <a:endParaRPr lang="en-US" sz="1100" dirty="0"/>
          </a:p>
        </p:txBody>
      </p:sp>
      <p:sp>
        <p:nvSpPr>
          <p:cNvPr id="18" name="Shape 15"/>
          <p:cNvSpPr/>
          <p:nvPr/>
        </p:nvSpPr>
        <p:spPr>
          <a:xfrm>
            <a:off x="548640" y="4572000"/>
            <a:ext cx="502920" cy="502920"/>
          </a:xfrm>
          <a:prstGeom prst="roundRect">
            <a:avLst>
              <a:gd name="adj" fmla="val 18182"/>
            </a:avLst>
          </a:prstGeom>
          <a:solidFill>
            <a:srgbClr val="E3202A"/>
          </a:solidFill>
          <a:ln w="12700">
            <a:solidFill>
              <a:srgbClr val="E3202A"/>
            </a:solidFill>
            <a:prstDash val="solid"/>
          </a:ln>
        </p:spPr>
      </p:sp>
      <p:pic>
        <p:nvPicPr>
          <p:cNvPr id="19" name="Image 1" descr="preencoded.png">    </p:cNvPr>
          <p:cNvPicPr>
            <a:picLocks noChangeAspect="1"/>
          </p:cNvPicPr>
          <p:nvPr/>
        </p:nvPicPr>
        <p:blipFill>
          <a:blip r:embed="rId2"/>
          <a:stretch>
            <a:fillRect/>
          </a:stretch>
        </p:blipFill>
        <p:spPr>
          <a:xfrm>
            <a:off x="659282" y="4682642"/>
            <a:ext cx="281635" cy="281635"/>
          </a:xfrm>
          <a:prstGeom prst="rect">
            <a:avLst/>
          </a:prstGeom>
        </p:spPr>
      </p:pic>
      <p:sp>
        <p:nvSpPr>
          <p:cNvPr id="20" name="Text 16"/>
          <p:cNvSpPr txBox="1"/>
          <p:nvPr/>
        </p:nvSpPr>
        <p:spPr>
          <a:xfrm>
            <a:off x="1234440" y="4553712"/>
            <a:ext cx="2783738"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Nothing to scan for</a:t>
            </a:r>
            <a:endParaRPr lang="en-US" sz="1400" dirty="0"/>
          </a:p>
        </p:txBody>
      </p:sp>
      <p:sp>
        <p:nvSpPr>
          <p:cNvPr id="21" name="Text 17"/>
          <p:cNvSpPr txBox="1"/>
          <p:nvPr/>
        </p:nvSpPr>
        <p:spPr>
          <a:xfrm>
            <a:off x="1234440" y="4882896"/>
            <a:ext cx="2783738" cy="86868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A zero-day exploited before disclosure has no scanner check yet — a scan cannot find what is not yet known.</a:t>
            </a:r>
            <a:endParaRPr lang="en-US" sz="1200" dirty="0"/>
          </a:p>
        </p:txBody>
      </p:sp>
      <p:sp>
        <p:nvSpPr>
          <p:cNvPr id="22" name="Shape 18"/>
          <p:cNvSpPr/>
          <p:nvPr/>
        </p:nvSpPr>
        <p:spPr>
          <a:xfrm>
            <a:off x="4338218" y="4572000"/>
            <a:ext cx="502920" cy="502920"/>
          </a:xfrm>
          <a:prstGeom prst="roundRect">
            <a:avLst>
              <a:gd name="adj" fmla="val 18182"/>
            </a:avLst>
          </a:prstGeom>
          <a:solidFill>
            <a:srgbClr val="E3202A"/>
          </a:solidFill>
          <a:ln w="12700">
            <a:solidFill>
              <a:srgbClr val="E3202A"/>
            </a:solidFill>
            <a:prstDash val="solid"/>
          </a:ln>
        </p:spPr>
      </p:sp>
      <p:pic>
        <p:nvPicPr>
          <p:cNvPr id="23" name="Image 2" descr="preencoded.png">    </p:cNvPr>
          <p:cNvPicPr>
            <a:picLocks noChangeAspect="1"/>
          </p:cNvPicPr>
          <p:nvPr/>
        </p:nvPicPr>
        <p:blipFill>
          <a:blip r:embed="rId3"/>
          <a:stretch>
            <a:fillRect/>
          </a:stretch>
        </p:blipFill>
        <p:spPr>
          <a:xfrm>
            <a:off x="4448861" y="4682642"/>
            <a:ext cx="281635" cy="281635"/>
          </a:xfrm>
          <a:prstGeom prst="rect">
            <a:avLst/>
          </a:prstGeom>
        </p:spPr>
      </p:pic>
      <p:sp>
        <p:nvSpPr>
          <p:cNvPr id="24" name="Text 19"/>
          <p:cNvSpPr txBox="1"/>
          <p:nvPr/>
        </p:nvSpPr>
        <p:spPr>
          <a:xfrm>
            <a:off x="5024018" y="4553712"/>
            <a:ext cx="2783738"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Seconds, not weeks</a:t>
            </a:r>
            <a:endParaRPr lang="en-US" sz="1400" dirty="0"/>
          </a:p>
        </p:txBody>
      </p:sp>
      <p:sp>
        <p:nvSpPr>
          <p:cNvPr id="25" name="Text 20"/>
          <p:cNvSpPr txBox="1"/>
          <p:nvPr/>
        </p:nvSpPr>
        <p:spPr>
          <a:xfrm>
            <a:off x="5024018" y="4882896"/>
            <a:ext cx="2783738" cy="86868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A weekly or monthly scan cannot catch an intrusion that spreads to other systems within seconds.</a:t>
            </a:r>
            <a:endParaRPr lang="en-US" sz="1200" dirty="0"/>
          </a:p>
        </p:txBody>
      </p:sp>
      <p:sp>
        <p:nvSpPr>
          <p:cNvPr id="26" name="Shape 21"/>
          <p:cNvSpPr/>
          <p:nvPr/>
        </p:nvSpPr>
        <p:spPr>
          <a:xfrm>
            <a:off x="8127797" y="4572000"/>
            <a:ext cx="502920" cy="502920"/>
          </a:xfrm>
          <a:prstGeom prst="roundRect">
            <a:avLst>
              <a:gd name="adj" fmla="val 18182"/>
            </a:avLst>
          </a:prstGeom>
          <a:solidFill>
            <a:srgbClr val="E3202A"/>
          </a:solidFill>
          <a:ln w="12700">
            <a:solidFill>
              <a:srgbClr val="E3202A"/>
            </a:solidFill>
            <a:prstDash val="solid"/>
          </a:ln>
        </p:spPr>
      </p:sp>
      <p:pic>
        <p:nvPicPr>
          <p:cNvPr id="27" name="Image 3" descr="preencoded.png">    </p:cNvPr>
          <p:cNvPicPr>
            <a:picLocks noChangeAspect="1"/>
          </p:cNvPicPr>
          <p:nvPr/>
        </p:nvPicPr>
        <p:blipFill>
          <a:blip r:embed="rId4"/>
          <a:stretch>
            <a:fillRect/>
          </a:stretch>
        </p:blipFill>
        <p:spPr>
          <a:xfrm>
            <a:off x="8238439" y="4682642"/>
            <a:ext cx="281635" cy="281635"/>
          </a:xfrm>
          <a:prstGeom prst="rect">
            <a:avLst/>
          </a:prstGeom>
        </p:spPr>
      </p:pic>
      <p:sp>
        <p:nvSpPr>
          <p:cNvPr id="28" name="Text 22"/>
          <p:cNvSpPr txBox="1"/>
          <p:nvPr/>
        </p:nvSpPr>
        <p:spPr>
          <a:xfrm>
            <a:off x="8813597" y="4553712"/>
            <a:ext cx="2783738"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Paying is no safety net</a:t>
            </a:r>
            <a:endParaRPr lang="en-US" sz="1400" dirty="0"/>
          </a:p>
        </p:txBody>
      </p:sp>
      <p:sp>
        <p:nvSpPr>
          <p:cNvPr id="29" name="Text 23"/>
          <p:cNvSpPr txBox="1"/>
          <p:nvPr/>
        </p:nvSpPr>
        <p:spPr>
          <a:xfrm>
            <a:off x="8813597" y="4882896"/>
            <a:ext cx="2783738" cy="86868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83% of victims who paid a ransom were attacked again, and 93% had data stolen anyway.</a:t>
            </a:r>
            <a:endParaRPr lang="en-US" sz="1200" dirty="0"/>
          </a:p>
        </p:txBody>
      </p:sp>
      <p:sp>
        <p:nvSpPr>
          <p:cNvPr id="30" name="Text 24"/>
          <p:cNvSpPr txBox="1"/>
          <p:nvPr/>
        </p:nvSpPr>
        <p:spPr>
          <a:xfrm>
            <a:off x="548640" y="6108192"/>
            <a:ext cx="11094415" cy="237744"/>
          </a:xfrm>
          <a:prstGeom prst="rect">
            <a:avLst/>
          </a:prstGeom>
          <a:noFill/>
          <a:ln/>
        </p:spPr>
        <p:txBody>
          <a:bodyPr wrap="square" lIns="0" tIns="0" rIns="0" bIns="0" rtlCol="0" anchor="b"/>
          <a:lstStyle/>
          <a:p>
            <a:pPr indent="0" marL="0">
              <a:buNone/>
            </a:pPr>
            <a:r>
              <a:rPr lang="en-US" sz="800" i="1" dirty="0">
                <a:solidFill>
                  <a:srgbClr val="7D8794"/>
                </a:solidFill>
                <a:latin typeface="Calibri" pitchFamily="34" charset="0"/>
                <a:ea typeface="Calibri" pitchFamily="34" charset="-122"/>
                <a:cs typeface="Calibri" pitchFamily="34" charset="-120"/>
              </a:rPr>
              <a:t>Sources: CrowdStrike 2026 Global Threat Report; CrowdStrike State of Ransomware Survey.</a:t>
            </a:r>
            <a:endParaRPr lang="en-US" sz="800" dirty="0"/>
          </a:p>
        </p:txBody>
      </p:sp>
      <p:sp>
        <p:nvSpPr>
          <p:cNvPr id="31" name="Text 25"/>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8A93A0"/>
                </a:solidFill>
                <a:latin typeface="Calibri" pitchFamily="34" charset="0"/>
                <a:ea typeface="Calibri" pitchFamily="34" charset="-122"/>
                <a:cs typeface="Calibri" pitchFamily="34" charset="-120"/>
              </a:rPr>
              <a:t>04   |   Nessus vs. CrowdStrike Falcon Platform  ·  Proposal for The Westin Resort Guam</a:t>
            </a:r>
            <a:endParaRPr lang="en-US" sz="900" dirty="0"/>
          </a:p>
        </p:txBody>
      </p:sp>
      <p:pic>
        <p:nvPicPr>
          <p:cNvPr id="32" name="Image 4" descr="/private/tmp/claude-501/-Users-jihanvin-Desktop-NIVNAH-AI/16a96446-d9b3-40e2-af9e-a3011ae3db84/scratchpad/assets/secukorea_light.png">    </p:cNvPr>
          <p:cNvPicPr>
            <a:picLocks noChangeAspect="1"/>
          </p:cNvPicPr>
          <p:nvPr/>
        </p:nvPicPr>
        <p:blipFill>
          <a:blip r:embed="rId5"/>
          <a:stretch>
            <a:fillRect/>
          </a:stretch>
        </p:blipFill>
        <p:spPr>
          <a:xfrm>
            <a:off x="10661904" y="6400800"/>
            <a:ext cx="978408" cy="23317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03   EXISTING TOOL</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What Nessus Does — and Where It Stops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600200"/>
            <a:ext cx="2487168" cy="1417320"/>
          </a:xfrm>
          <a:prstGeom prst="roundRect">
            <a:avLst>
              <a:gd name="adj" fmla="val 5161"/>
            </a:avLst>
          </a:prstGeom>
          <a:solidFill>
            <a:srgbClr val="EAEEF3"/>
          </a:solidFill>
          <a:ln w="12700">
            <a:solidFill>
              <a:srgbClr val="EAEEF3"/>
            </a:solidFill>
            <a:prstDash val="solid"/>
          </a:ln>
        </p:spPr>
      </p:sp>
      <p:pic>
        <p:nvPicPr>
          <p:cNvPr id="6" name="Image 1" descr="preencoded.png">    </p:cNvPr>
          <p:cNvPicPr>
            <a:picLocks noChangeAspect="1"/>
          </p:cNvPicPr>
          <p:nvPr/>
        </p:nvPicPr>
        <p:blipFill>
          <a:blip r:embed="rId2"/>
          <a:stretch>
            <a:fillRect/>
          </a:stretch>
        </p:blipFill>
        <p:spPr>
          <a:xfrm>
            <a:off x="777240" y="1828800"/>
            <a:ext cx="292608" cy="292608"/>
          </a:xfrm>
          <a:prstGeom prst="rect">
            <a:avLst/>
          </a:prstGeom>
        </p:spPr>
      </p:pic>
      <p:sp>
        <p:nvSpPr>
          <p:cNvPr id="7" name="Text 3"/>
          <p:cNvSpPr txBox="1"/>
          <p:nvPr/>
        </p:nvSpPr>
        <p:spPr>
          <a:xfrm>
            <a:off x="1188720" y="1828800"/>
            <a:ext cx="1709928" cy="292608"/>
          </a:xfrm>
          <a:prstGeom prst="rect">
            <a:avLst/>
          </a:prstGeom>
          <a:noFill/>
          <a:ln/>
        </p:spPr>
        <p:txBody>
          <a:bodyPr wrap="square" lIns="0" tIns="0" rIns="0" bIns="0" rtlCol="0" anchor="ctr"/>
          <a:lstStyle/>
          <a:p>
            <a:pPr indent="0" marL="0">
              <a:buNone/>
            </a:pPr>
            <a:r>
              <a:rPr lang="en-US" sz="1150" b="1" spc="100" kern="0" dirty="0">
                <a:solidFill>
                  <a:srgbClr val="5D6B7E"/>
                </a:solidFill>
                <a:latin typeface="Calibri" pitchFamily="34" charset="0"/>
                <a:ea typeface="Calibri" pitchFamily="34" charset="-122"/>
                <a:cs typeface="Calibri" pitchFamily="34" charset="-120"/>
              </a:rPr>
              <a:t>1  SCAN</a:t>
            </a:r>
            <a:endParaRPr lang="en-US" sz="1150" dirty="0"/>
          </a:p>
        </p:txBody>
      </p:sp>
      <p:sp>
        <p:nvSpPr>
          <p:cNvPr id="8" name="Text 4"/>
          <p:cNvSpPr txBox="1"/>
          <p:nvPr/>
        </p:nvSpPr>
        <p:spPr>
          <a:xfrm>
            <a:off x="777240" y="2240280"/>
            <a:ext cx="2075688" cy="685800"/>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Periodic network and credentialed scans find vulnerabilities and misconfigurations</a:t>
            </a:r>
            <a:endParaRPr lang="en-US" sz="1150" dirty="0"/>
          </a:p>
        </p:txBody>
      </p:sp>
      <p:pic>
        <p:nvPicPr>
          <p:cNvPr id="9" name="Image 2" descr="preencoded.png">    </p:cNvPr>
          <p:cNvPicPr>
            <a:picLocks noChangeAspect="1"/>
          </p:cNvPicPr>
          <p:nvPr/>
        </p:nvPicPr>
        <p:blipFill>
          <a:blip r:embed="rId3"/>
          <a:stretch>
            <a:fillRect/>
          </a:stretch>
        </p:blipFill>
        <p:spPr>
          <a:xfrm>
            <a:off x="3127248" y="2208276"/>
            <a:ext cx="201168" cy="201168"/>
          </a:xfrm>
          <a:prstGeom prst="rect">
            <a:avLst/>
          </a:prstGeom>
        </p:spPr>
      </p:pic>
      <p:sp>
        <p:nvSpPr>
          <p:cNvPr id="10" name="Shape 5"/>
          <p:cNvSpPr/>
          <p:nvPr/>
        </p:nvSpPr>
        <p:spPr>
          <a:xfrm>
            <a:off x="3419856" y="1600200"/>
            <a:ext cx="2487168" cy="1417320"/>
          </a:xfrm>
          <a:prstGeom prst="roundRect">
            <a:avLst>
              <a:gd name="adj" fmla="val 5161"/>
            </a:avLst>
          </a:prstGeom>
          <a:solidFill>
            <a:srgbClr val="EAEEF3"/>
          </a:solidFill>
          <a:ln w="12700">
            <a:solidFill>
              <a:srgbClr val="EAEEF3"/>
            </a:solidFill>
            <a:prstDash val="solid"/>
          </a:ln>
        </p:spPr>
      </p:sp>
      <p:pic>
        <p:nvPicPr>
          <p:cNvPr id="11" name="Image 3" descr="preencoded.png">    </p:cNvPr>
          <p:cNvPicPr>
            <a:picLocks noChangeAspect="1"/>
          </p:cNvPicPr>
          <p:nvPr/>
        </p:nvPicPr>
        <p:blipFill>
          <a:blip r:embed="rId4"/>
          <a:stretch>
            <a:fillRect/>
          </a:stretch>
        </p:blipFill>
        <p:spPr>
          <a:xfrm>
            <a:off x="3648456" y="1828800"/>
            <a:ext cx="292608" cy="292608"/>
          </a:xfrm>
          <a:prstGeom prst="rect">
            <a:avLst/>
          </a:prstGeom>
        </p:spPr>
      </p:pic>
      <p:sp>
        <p:nvSpPr>
          <p:cNvPr id="12" name="Text 6"/>
          <p:cNvSpPr txBox="1"/>
          <p:nvPr/>
        </p:nvSpPr>
        <p:spPr>
          <a:xfrm>
            <a:off x="4059936" y="1828800"/>
            <a:ext cx="1709928" cy="292608"/>
          </a:xfrm>
          <a:prstGeom prst="rect">
            <a:avLst/>
          </a:prstGeom>
          <a:noFill/>
          <a:ln/>
        </p:spPr>
        <p:txBody>
          <a:bodyPr wrap="square" lIns="0" tIns="0" rIns="0" bIns="0" rtlCol="0" anchor="ctr"/>
          <a:lstStyle/>
          <a:p>
            <a:pPr indent="0" marL="0">
              <a:buNone/>
            </a:pPr>
            <a:r>
              <a:rPr lang="en-US" sz="1150" b="1" spc="100" kern="0" dirty="0">
                <a:solidFill>
                  <a:srgbClr val="5D6B7E"/>
                </a:solidFill>
                <a:latin typeface="Calibri" pitchFamily="34" charset="0"/>
                <a:ea typeface="Calibri" pitchFamily="34" charset="-122"/>
                <a:cs typeface="Calibri" pitchFamily="34" charset="-120"/>
              </a:rPr>
              <a:t>2  REPORT</a:t>
            </a:r>
            <a:endParaRPr lang="en-US" sz="1150" dirty="0"/>
          </a:p>
        </p:txBody>
      </p:sp>
      <p:sp>
        <p:nvSpPr>
          <p:cNvPr id="13" name="Text 7"/>
          <p:cNvSpPr txBox="1"/>
          <p:nvPr/>
        </p:nvSpPr>
        <p:spPr>
          <a:xfrm>
            <a:off x="3648456" y="2240280"/>
            <a:ext cx="2075688" cy="685800"/>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Findings are listed with severity ratings to help prioritize</a:t>
            </a:r>
            <a:endParaRPr lang="en-US" sz="1150" dirty="0"/>
          </a:p>
        </p:txBody>
      </p:sp>
      <p:pic>
        <p:nvPicPr>
          <p:cNvPr id="14" name="Image 4" descr="preencoded.png">    </p:cNvPr>
          <p:cNvPicPr>
            <a:picLocks noChangeAspect="1"/>
          </p:cNvPicPr>
          <p:nvPr/>
        </p:nvPicPr>
        <p:blipFill>
          <a:blip r:embed="rId5"/>
          <a:stretch>
            <a:fillRect/>
          </a:stretch>
        </p:blipFill>
        <p:spPr>
          <a:xfrm>
            <a:off x="5998464" y="2208276"/>
            <a:ext cx="201168" cy="201168"/>
          </a:xfrm>
          <a:prstGeom prst="rect">
            <a:avLst/>
          </a:prstGeom>
        </p:spPr>
      </p:pic>
      <p:sp>
        <p:nvSpPr>
          <p:cNvPr id="15" name="Shape 8"/>
          <p:cNvSpPr/>
          <p:nvPr/>
        </p:nvSpPr>
        <p:spPr>
          <a:xfrm>
            <a:off x="6291072" y="1600200"/>
            <a:ext cx="2487168" cy="1417320"/>
          </a:xfrm>
          <a:prstGeom prst="roundRect">
            <a:avLst>
              <a:gd name="adj" fmla="val 5161"/>
            </a:avLst>
          </a:prstGeom>
          <a:solidFill>
            <a:srgbClr val="EAEEF3"/>
          </a:solidFill>
          <a:ln w="12700">
            <a:solidFill>
              <a:srgbClr val="EAEEF3"/>
            </a:solidFill>
            <a:prstDash val="solid"/>
          </a:ln>
        </p:spPr>
      </p:sp>
      <p:pic>
        <p:nvPicPr>
          <p:cNvPr id="16" name="Image 5" descr="preencoded.png">    </p:cNvPr>
          <p:cNvPicPr>
            <a:picLocks noChangeAspect="1"/>
          </p:cNvPicPr>
          <p:nvPr/>
        </p:nvPicPr>
        <p:blipFill>
          <a:blip r:embed="rId6"/>
          <a:stretch>
            <a:fillRect/>
          </a:stretch>
        </p:blipFill>
        <p:spPr>
          <a:xfrm>
            <a:off x="6519672" y="1828800"/>
            <a:ext cx="292608" cy="292608"/>
          </a:xfrm>
          <a:prstGeom prst="rect">
            <a:avLst/>
          </a:prstGeom>
        </p:spPr>
      </p:pic>
      <p:sp>
        <p:nvSpPr>
          <p:cNvPr id="17" name="Text 9"/>
          <p:cNvSpPr txBox="1"/>
          <p:nvPr/>
        </p:nvSpPr>
        <p:spPr>
          <a:xfrm>
            <a:off x="6931152" y="1828800"/>
            <a:ext cx="1709928" cy="292608"/>
          </a:xfrm>
          <a:prstGeom prst="rect">
            <a:avLst/>
          </a:prstGeom>
          <a:noFill/>
          <a:ln/>
        </p:spPr>
        <p:txBody>
          <a:bodyPr wrap="square" lIns="0" tIns="0" rIns="0" bIns="0" rtlCol="0" anchor="ctr"/>
          <a:lstStyle/>
          <a:p>
            <a:pPr indent="0" marL="0">
              <a:buNone/>
            </a:pPr>
            <a:r>
              <a:rPr lang="en-US" sz="1150" b="1" spc="100" kern="0" dirty="0">
                <a:solidFill>
                  <a:srgbClr val="5D6B7E"/>
                </a:solidFill>
                <a:latin typeface="Calibri" pitchFamily="34" charset="0"/>
                <a:ea typeface="Calibri" pitchFamily="34" charset="-122"/>
                <a:cs typeface="Calibri" pitchFamily="34" charset="-120"/>
              </a:rPr>
              <a:t>3  MANUAL FOLLOW-UP</a:t>
            </a:r>
            <a:endParaRPr lang="en-US" sz="1150" dirty="0"/>
          </a:p>
        </p:txBody>
      </p:sp>
      <p:sp>
        <p:nvSpPr>
          <p:cNvPr id="18" name="Text 10"/>
          <p:cNvSpPr txBox="1"/>
          <p:nvPr/>
        </p:nvSpPr>
        <p:spPr>
          <a:xfrm>
            <a:off x="6519672" y="2240280"/>
            <a:ext cx="2075688" cy="685800"/>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IT staff research, patch and verify each finding by hand</a:t>
            </a:r>
            <a:endParaRPr lang="en-US" sz="1150" dirty="0"/>
          </a:p>
        </p:txBody>
      </p:sp>
      <p:pic>
        <p:nvPicPr>
          <p:cNvPr id="19" name="Image 6" descr="preencoded.png">    </p:cNvPr>
          <p:cNvPicPr>
            <a:picLocks noChangeAspect="1"/>
          </p:cNvPicPr>
          <p:nvPr/>
        </p:nvPicPr>
        <p:blipFill>
          <a:blip r:embed="rId7"/>
          <a:stretch>
            <a:fillRect/>
          </a:stretch>
        </p:blipFill>
        <p:spPr>
          <a:xfrm>
            <a:off x="8869680" y="2208276"/>
            <a:ext cx="201168" cy="201168"/>
          </a:xfrm>
          <a:prstGeom prst="rect">
            <a:avLst/>
          </a:prstGeom>
        </p:spPr>
      </p:pic>
      <p:sp>
        <p:nvSpPr>
          <p:cNvPr id="20" name="Shape 11"/>
          <p:cNvSpPr/>
          <p:nvPr/>
        </p:nvSpPr>
        <p:spPr>
          <a:xfrm>
            <a:off x="9162288" y="1600200"/>
            <a:ext cx="2480767" cy="1417320"/>
          </a:xfrm>
          <a:prstGeom prst="roundRect">
            <a:avLst>
              <a:gd name="adj" fmla="val 5161"/>
            </a:avLst>
          </a:prstGeom>
          <a:solidFill>
            <a:srgbClr val="FDECEC"/>
          </a:solidFill>
          <a:ln w="15875">
            <a:solidFill>
              <a:srgbClr val="E3202A"/>
            </a:solidFill>
            <a:prstDash val="solid"/>
          </a:ln>
        </p:spPr>
      </p:sp>
      <p:pic>
        <p:nvPicPr>
          <p:cNvPr id="21" name="Image 7" descr="preencoded.png">    </p:cNvPr>
          <p:cNvPicPr>
            <a:picLocks noChangeAspect="1"/>
          </p:cNvPicPr>
          <p:nvPr/>
        </p:nvPicPr>
        <p:blipFill>
          <a:blip r:embed="rId8"/>
          <a:stretch>
            <a:fillRect/>
          </a:stretch>
        </p:blipFill>
        <p:spPr>
          <a:xfrm>
            <a:off x="9390888" y="1828800"/>
            <a:ext cx="292608" cy="292608"/>
          </a:xfrm>
          <a:prstGeom prst="rect">
            <a:avLst/>
          </a:prstGeom>
        </p:spPr>
      </p:pic>
      <p:sp>
        <p:nvSpPr>
          <p:cNvPr id="22" name="Text 12"/>
          <p:cNvSpPr txBox="1"/>
          <p:nvPr/>
        </p:nvSpPr>
        <p:spPr>
          <a:xfrm>
            <a:off x="9802368" y="1828800"/>
            <a:ext cx="1703527" cy="292608"/>
          </a:xfrm>
          <a:prstGeom prst="rect">
            <a:avLst/>
          </a:prstGeom>
          <a:noFill/>
          <a:ln/>
        </p:spPr>
        <p:txBody>
          <a:bodyPr wrap="square" lIns="0" tIns="0" rIns="0" bIns="0" rtlCol="0" anchor="ctr"/>
          <a:lstStyle/>
          <a:p>
            <a:pPr indent="0" marL="0">
              <a:buNone/>
            </a:pPr>
            <a:r>
              <a:rPr lang="en-US" sz="1150" b="1" spc="100" kern="0" dirty="0">
                <a:solidFill>
                  <a:srgbClr val="E3202A"/>
                </a:solidFill>
                <a:latin typeface="Calibri" pitchFamily="34" charset="0"/>
                <a:ea typeface="Calibri" pitchFamily="34" charset="-122"/>
                <a:cs typeface="Calibri" pitchFamily="34" charset="-120"/>
              </a:rPr>
              <a:t>ENDS HERE</a:t>
            </a:r>
            <a:endParaRPr lang="en-US" sz="1150" dirty="0"/>
          </a:p>
        </p:txBody>
      </p:sp>
      <p:sp>
        <p:nvSpPr>
          <p:cNvPr id="23" name="Text 13"/>
          <p:cNvSpPr txBox="1"/>
          <p:nvPr/>
        </p:nvSpPr>
        <p:spPr>
          <a:xfrm>
            <a:off x="9390888" y="2240280"/>
            <a:ext cx="2069287" cy="685800"/>
          </a:xfrm>
          <a:prstGeom prst="rect">
            <a:avLst/>
          </a:prstGeom>
          <a:noFill/>
          <a:ln/>
        </p:spPr>
        <p:txBody>
          <a:bodyPr wrap="square" lIns="0" tIns="0" rIns="0" bIns="0" rtlCol="0" anchor="t"/>
          <a:lstStyle/>
          <a:p>
            <a:pPr indent="0" marL="0">
              <a:buNone/>
            </a:pPr>
            <a:r>
              <a:rPr lang="en-US" sz="1150" b="1" dirty="0">
                <a:solidFill>
                  <a:srgbClr val="B0141C"/>
                </a:solidFill>
                <a:latin typeface="Calibri" pitchFamily="34" charset="0"/>
                <a:ea typeface="Calibri" pitchFamily="34" charset="-122"/>
                <a:cs typeface="Calibri" pitchFamily="34" charset="-120"/>
              </a:rPr>
              <a:t>No prevention · No detection · No response to live attacks</a:t>
            </a:r>
            <a:endParaRPr lang="en-US" sz="1150" dirty="0"/>
          </a:p>
        </p:txBody>
      </p:sp>
      <p:sp>
        <p:nvSpPr>
          <p:cNvPr id="24" name="Shape 14"/>
          <p:cNvSpPr/>
          <p:nvPr/>
        </p:nvSpPr>
        <p:spPr>
          <a:xfrm>
            <a:off x="548640" y="3310128"/>
            <a:ext cx="4297680" cy="2697480"/>
          </a:xfrm>
          <a:prstGeom prst="roundRect">
            <a:avLst>
              <a:gd name="adj" fmla="val 2712"/>
            </a:avLst>
          </a:prstGeom>
          <a:solidFill>
            <a:srgbClr val="F3F5F8"/>
          </a:solidFill>
          <a:ln w="9525">
            <a:solidFill>
              <a:srgbClr val="DCE1E7"/>
            </a:solidFill>
            <a:prstDash val="solid"/>
          </a:ln>
        </p:spPr>
      </p:sp>
      <p:sp>
        <p:nvSpPr>
          <p:cNvPr id="25" name="Text 15"/>
          <p:cNvSpPr txBox="1"/>
          <p:nvPr/>
        </p:nvSpPr>
        <p:spPr>
          <a:xfrm>
            <a:off x="822960" y="3538728"/>
            <a:ext cx="374904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Where Nessus adds value</a:t>
            </a:r>
            <a:endParaRPr lang="en-US" sz="1500" dirty="0"/>
          </a:p>
        </p:txBody>
      </p:sp>
      <p:pic>
        <p:nvPicPr>
          <p:cNvPr id="26" name="Image 8" descr="preencoded.png">    </p:cNvPr>
          <p:cNvPicPr>
            <a:picLocks noChangeAspect="1"/>
          </p:cNvPicPr>
          <p:nvPr/>
        </p:nvPicPr>
        <p:blipFill>
          <a:blip r:embed="rId9"/>
          <a:stretch>
            <a:fillRect/>
          </a:stretch>
        </p:blipFill>
        <p:spPr>
          <a:xfrm>
            <a:off x="822960" y="4069080"/>
            <a:ext cx="219456" cy="219456"/>
          </a:xfrm>
          <a:prstGeom prst="rect">
            <a:avLst/>
          </a:prstGeom>
        </p:spPr>
      </p:pic>
      <p:sp>
        <p:nvSpPr>
          <p:cNvPr id="27" name="Text 16"/>
          <p:cNvSpPr txBox="1"/>
          <p:nvPr/>
        </p:nvSpPr>
        <p:spPr>
          <a:xfrm>
            <a:off x="1170432" y="4041648"/>
            <a:ext cx="3383280" cy="512064"/>
          </a:xfrm>
          <a:prstGeom prst="rect">
            <a:avLst/>
          </a:prstGeom>
          <a:noFill/>
          <a:ln/>
        </p:spPr>
        <p:txBody>
          <a:bodyPr wrap="square" lIns="0" tIns="0" rIns="0" bIns="0" rtlCol="0" anchor="t"/>
          <a:lstStyle/>
          <a:p>
            <a:pPr indent="0" marL="0">
              <a:buNone/>
            </a:pPr>
            <a:r>
              <a:rPr lang="en-US" sz="1200" dirty="0">
                <a:solidFill>
                  <a:srgbClr val="151A21"/>
                </a:solidFill>
                <a:latin typeface="Calibri" pitchFamily="34" charset="0"/>
                <a:ea typeface="Calibri" pitchFamily="34" charset="-122"/>
                <a:cs typeface="Calibri" pitchFamily="34" charset="-120"/>
              </a:rPr>
              <a:t>Broad discovery of known vulnerabilities and misconfigurations</a:t>
            </a:r>
            <a:endParaRPr lang="en-US" sz="1200" dirty="0"/>
          </a:p>
        </p:txBody>
      </p:sp>
      <p:pic>
        <p:nvPicPr>
          <p:cNvPr id="28" name="Image 9" descr="preencoded.png">    </p:cNvPr>
          <p:cNvPicPr>
            <a:picLocks noChangeAspect="1"/>
          </p:cNvPicPr>
          <p:nvPr/>
        </p:nvPicPr>
        <p:blipFill>
          <a:blip r:embed="rId10"/>
          <a:stretch>
            <a:fillRect/>
          </a:stretch>
        </p:blipFill>
        <p:spPr>
          <a:xfrm>
            <a:off x="822960" y="4672584"/>
            <a:ext cx="219456" cy="219456"/>
          </a:xfrm>
          <a:prstGeom prst="rect">
            <a:avLst/>
          </a:prstGeom>
        </p:spPr>
      </p:pic>
      <p:sp>
        <p:nvSpPr>
          <p:cNvPr id="29" name="Text 17"/>
          <p:cNvSpPr txBox="1"/>
          <p:nvPr/>
        </p:nvSpPr>
        <p:spPr>
          <a:xfrm>
            <a:off x="1170432" y="4645152"/>
            <a:ext cx="3383280" cy="512064"/>
          </a:xfrm>
          <a:prstGeom prst="rect">
            <a:avLst/>
          </a:prstGeom>
          <a:noFill/>
          <a:ln/>
        </p:spPr>
        <p:txBody>
          <a:bodyPr wrap="square" lIns="0" tIns="0" rIns="0" bIns="0" rtlCol="0" anchor="t"/>
          <a:lstStyle/>
          <a:p>
            <a:pPr indent="0" marL="0">
              <a:buNone/>
            </a:pPr>
            <a:r>
              <a:rPr lang="en-US" sz="1200" dirty="0">
                <a:solidFill>
                  <a:srgbClr val="151A21"/>
                </a:solidFill>
                <a:latin typeface="Calibri" pitchFamily="34" charset="0"/>
                <a:ea typeface="Calibri" pitchFamily="34" charset="-122"/>
                <a:cs typeface="Calibri" pitchFamily="34" charset="-120"/>
              </a:rPr>
              <a:t>Risk-rated findings that help set priorities</a:t>
            </a:r>
            <a:endParaRPr lang="en-US" sz="1200" dirty="0"/>
          </a:p>
        </p:txBody>
      </p:sp>
      <p:pic>
        <p:nvPicPr>
          <p:cNvPr id="30" name="Image 10" descr="preencoded.png">    </p:cNvPr>
          <p:cNvPicPr>
            <a:picLocks noChangeAspect="1"/>
          </p:cNvPicPr>
          <p:nvPr/>
        </p:nvPicPr>
        <p:blipFill>
          <a:blip r:embed="rId11"/>
          <a:stretch>
            <a:fillRect/>
          </a:stretch>
        </p:blipFill>
        <p:spPr>
          <a:xfrm>
            <a:off x="822960" y="5276088"/>
            <a:ext cx="219456" cy="219456"/>
          </a:xfrm>
          <a:prstGeom prst="rect">
            <a:avLst/>
          </a:prstGeom>
        </p:spPr>
      </p:pic>
      <p:sp>
        <p:nvSpPr>
          <p:cNvPr id="31" name="Text 18"/>
          <p:cNvSpPr txBox="1"/>
          <p:nvPr/>
        </p:nvSpPr>
        <p:spPr>
          <a:xfrm>
            <a:off x="1170432" y="5248656"/>
            <a:ext cx="3383280" cy="512064"/>
          </a:xfrm>
          <a:prstGeom prst="rect">
            <a:avLst/>
          </a:prstGeom>
          <a:noFill/>
          <a:ln/>
        </p:spPr>
        <p:txBody>
          <a:bodyPr wrap="square" lIns="0" tIns="0" rIns="0" bIns="0" rtlCol="0" anchor="t"/>
          <a:lstStyle/>
          <a:p>
            <a:pPr indent="0" marL="0">
              <a:buNone/>
            </a:pPr>
            <a:r>
              <a:rPr lang="en-US" sz="1200" dirty="0">
                <a:solidFill>
                  <a:srgbClr val="151A21"/>
                </a:solidFill>
                <a:latin typeface="Calibri" pitchFamily="34" charset="0"/>
                <a:ea typeface="Calibri" pitchFamily="34" charset="-122"/>
                <a:cs typeface="Calibri" pitchFamily="34" charset="-120"/>
              </a:rPr>
              <a:t>Useful for periodic audits and compliance checks</a:t>
            </a:r>
            <a:endParaRPr lang="en-US" sz="1200" dirty="0"/>
          </a:p>
        </p:txBody>
      </p:sp>
      <p:sp>
        <p:nvSpPr>
          <p:cNvPr id="32" name="Shape 19"/>
          <p:cNvSpPr/>
          <p:nvPr/>
        </p:nvSpPr>
        <p:spPr>
          <a:xfrm>
            <a:off x="5120640" y="3310128"/>
            <a:ext cx="6522415" cy="2697480"/>
          </a:xfrm>
          <a:prstGeom prst="roundRect">
            <a:avLst>
              <a:gd name="adj" fmla="val 2712"/>
            </a:avLst>
          </a:prstGeom>
          <a:solidFill>
            <a:srgbClr val="FFFFFF"/>
          </a:solidFill>
          <a:ln w="9525">
            <a:solidFill>
              <a:srgbClr val="DCE1E7"/>
            </a:solidFill>
            <a:prstDash val="solid"/>
          </a:ln>
        </p:spPr>
      </p:sp>
      <p:sp>
        <p:nvSpPr>
          <p:cNvPr id="33" name="Text 20"/>
          <p:cNvSpPr txBox="1"/>
          <p:nvPr/>
        </p:nvSpPr>
        <p:spPr>
          <a:xfrm>
            <a:off x="5394960" y="3538728"/>
            <a:ext cx="5973775"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Where it falls short for the resort</a:t>
            </a:r>
            <a:endParaRPr lang="en-US" sz="1500" dirty="0"/>
          </a:p>
        </p:txBody>
      </p:sp>
      <p:pic>
        <p:nvPicPr>
          <p:cNvPr id="34" name="Image 11" descr="preencoded.png">    </p:cNvPr>
          <p:cNvPicPr>
            <a:picLocks noChangeAspect="1"/>
          </p:cNvPicPr>
          <p:nvPr/>
        </p:nvPicPr>
        <p:blipFill>
          <a:blip r:embed="rId12"/>
          <a:stretch>
            <a:fillRect/>
          </a:stretch>
        </p:blipFill>
        <p:spPr>
          <a:xfrm>
            <a:off x="5394960" y="4059936"/>
            <a:ext cx="201168" cy="201168"/>
          </a:xfrm>
          <a:prstGeom prst="rect">
            <a:avLst/>
          </a:prstGeom>
        </p:spPr>
      </p:pic>
      <p:sp>
        <p:nvSpPr>
          <p:cNvPr id="35" name="Text 21"/>
          <p:cNvSpPr txBox="1"/>
          <p:nvPr/>
        </p:nvSpPr>
        <p:spPr>
          <a:xfrm>
            <a:off x="5715000" y="4023360"/>
            <a:ext cx="5653735" cy="292608"/>
          </a:xfrm>
          <a:prstGeom prst="rect">
            <a:avLst/>
          </a:prstGeom>
          <a:noFill/>
          <a:ln/>
        </p:spPr>
        <p:txBody>
          <a:bodyPr wrap="square" lIns="0" tIns="0" rIns="0" bIns="0" rtlCol="0" anchor="ctr"/>
          <a:lstStyle/>
          <a:p>
            <a:pPr indent="0" marL="0">
              <a:buNone/>
            </a:pPr>
            <a:r>
              <a:rPr lang="en-US" sz="1200" b="1" dirty="0">
                <a:solidFill>
                  <a:srgbClr val="151A21"/>
                </a:solidFill>
                <a:latin typeface="Calibri" pitchFamily="34" charset="0"/>
                <a:ea typeface="Calibri" pitchFamily="34" charset="-122"/>
                <a:cs typeface="Calibri" pitchFamily="34" charset="-120"/>
              </a:rPr>
              <a:t>Point-in-time only</a:t>
            </a:r>
            <a:pPr indent="0" marL="0">
              <a:buNone/>
            </a:pPr>
            <a:r>
              <a:rPr lang="en-US" sz="1200" dirty="0">
                <a:solidFill>
                  <a:srgbClr val="5E6978"/>
                </a:solidFill>
                <a:latin typeface="Calibri" pitchFamily="34" charset="0"/>
                <a:ea typeface="Calibri" pitchFamily="34" charset="-122"/>
                <a:cs typeface="Calibri" pitchFamily="34" charset="-120"/>
              </a:rPr>
              <a:t>  —  no visibility between scans</a:t>
            </a:r>
            <a:endParaRPr lang="en-US" sz="1200" dirty="0"/>
          </a:p>
        </p:txBody>
      </p:sp>
      <p:pic>
        <p:nvPicPr>
          <p:cNvPr id="36" name="Image 12" descr="preencoded.png">    </p:cNvPr>
          <p:cNvPicPr>
            <a:picLocks noChangeAspect="1"/>
          </p:cNvPicPr>
          <p:nvPr/>
        </p:nvPicPr>
        <p:blipFill>
          <a:blip r:embed="rId13"/>
          <a:stretch>
            <a:fillRect/>
          </a:stretch>
        </p:blipFill>
        <p:spPr>
          <a:xfrm>
            <a:off x="5394960" y="4434840"/>
            <a:ext cx="201168" cy="201168"/>
          </a:xfrm>
          <a:prstGeom prst="rect">
            <a:avLst/>
          </a:prstGeom>
        </p:spPr>
      </p:pic>
      <p:sp>
        <p:nvSpPr>
          <p:cNvPr id="37" name="Text 22"/>
          <p:cNvSpPr txBox="1"/>
          <p:nvPr/>
        </p:nvSpPr>
        <p:spPr>
          <a:xfrm>
            <a:off x="5715000" y="4398264"/>
            <a:ext cx="5653735" cy="292608"/>
          </a:xfrm>
          <a:prstGeom prst="rect">
            <a:avLst/>
          </a:prstGeom>
          <a:noFill/>
          <a:ln/>
        </p:spPr>
        <p:txBody>
          <a:bodyPr wrap="square" lIns="0" tIns="0" rIns="0" bIns="0" rtlCol="0" anchor="ctr"/>
          <a:lstStyle/>
          <a:p>
            <a:pPr indent="0" marL="0">
              <a:buNone/>
            </a:pPr>
            <a:r>
              <a:rPr lang="en-US" sz="1200" b="1" dirty="0">
                <a:solidFill>
                  <a:srgbClr val="151A21"/>
                </a:solidFill>
                <a:latin typeface="Calibri" pitchFamily="34" charset="0"/>
                <a:ea typeface="Calibri" pitchFamily="34" charset="-122"/>
                <a:cs typeface="Calibri" pitchFamily="34" charset="-120"/>
              </a:rPr>
              <a:t>No malware or ransomware prevention</a:t>
            </a:r>
            <a:pPr indent="0" marL="0">
              <a:buNone/>
            </a:pPr>
            <a:r>
              <a:rPr lang="en-US" sz="1200" dirty="0">
                <a:solidFill>
                  <a:srgbClr val="5E6978"/>
                </a:solidFill>
                <a:latin typeface="Calibri" pitchFamily="34" charset="0"/>
                <a:ea typeface="Calibri" pitchFamily="34" charset="-122"/>
                <a:cs typeface="Calibri" pitchFamily="34" charset="-120"/>
              </a:rPr>
              <a:t>  —  a separate antivirus is still needed (EPP)</a:t>
            </a:r>
            <a:endParaRPr lang="en-US" sz="1200" dirty="0"/>
          </a:p>
        </p:txBody>
      </p:sp>
      <p:pic>
        <p:nvPicPr>
          <p:cNvPr id="38" name="Image 13" descr="preencoded.png">    </p:cNvPr>
          <p:cNvPicPr>
            <a:picLocks noChangeAspect="1"/>
          </p:cNvPicPr>
          <p:nvPr/>
        </p:nvPicPr>
        <p:blipFill>
          <a:blip r:embed="rId14"/>
          <a:stretch>
            <a:fillRect/>
          </a:stretch>
        </p:blipFill>
        <p:spPr>
          <a:xfrm>
            <a:off x="5394960" y="4809744"/>
            <a:ext cx="201168" cy="201168"/>
          </a:xfrm>
          <a:prstGeom prst="rect">
            <a:avLst/>
          </a:prstGeom>
        </p:spPr>
      </p:pic>
      <p:sp>
        <p:nvSpPr>
          <p:cNvPr id="39" name="Text 23"/>
          <p:cNvSpPr txBox="1"/>
          <p:nvPr/>
        </p:nvSpPr>
        <p:spPr>
          <a:xfrm>
            <a:off x="5715000" y="4773168"/>
            <a:ext cx="5653735" cy="292608"/>
          </a:xfrm>
          <a:prstGeom prst="rect">
            <a:avLst/>
          </a:prstGeom>
          <a:noFill/>
          <a:ln/>
        </p:spPr>
        <p:txBody>
          <a:bodyPr wrap="square" lIns="0" tIns="0" rIns="0" bIns="0" rtlCol="0" anchor="ctr"/>
          <a:lstStyle/>
          <a:p>
            <a:pPr indent="0" marL="0">
              <a:buNone/>
            </a:pPr>
            <a:r>
              <a:rPr lang="en-US" sz="1200" b="1" dirty="0">
                <a:solidFill>
                  <a:srgbClr val="151A21"/>
                </a:solidFill>
                <a:latin typeface="Calibri" pitchFamily="34" charset="0"/>
                <a:ea typeface="Calibri" pitchFamily="34" charset="-122"/>
                <a:cs typeface="Calibri" pitchFamily="34" charset="-120"/>
              </a:rPr>
              <a:t>No detection or response to active attacks</a:t>
            </a:r>
            <a:pPr indent="0" marL="0">
              <a:buNone/>
            </a:pPr>
            <a:r>
              <a:rPr lang="en-US" sz="1200" dirty="0">
                <a:solidFill>
                  <a:srgbClr val="5E6978"/>
                </a:solidFill>
                <a:latin typeface="Calibri" pitchFamily="34" charset="0"/>
                <a:ea typeface="Calibri" pitchFamily="34" charset="-122"/>
                <a:cs typeface="Calibri" pitchFamily="34" charset="-120"/>
              </a:rPr>
              <a:t>  —  no EDR capability</a:t>
            </a:r>
            <a:endParaRPr lang="en-US" sz="1200" dirty="0"/>
          </a:p>
        </p:txBody>
      </p:sp>
      <p:pic>
        <p:nvPicPr>
          <p:cNvPr id="40" name="Image 14" descr="preencoded.png">    </p:cNvPr>
          <p:cNvPicPr>
            <a:picLocks noChangeAspect="1"/>
          </p:cNvPicPr>
          <p:nvPr/>
        </p:nvPicPr>
        <p:blipFill>
          <a:blip r:embed="rId15"/>
          <a:stretch>
            <a:fillRect/>
          </a:stretch>
        </p:blipFill>
        <p:spPr>
          <a:xfrm>
            <a:off x="5394960" y="5184648"/>
            <a:ext cx="201168" cy="201168"/>
          </a:xfrm>
          <a:prstGeom prst="rect">
            <a:avLst/>
          </a:prstGeom>
        </p:spPr>
      </p:pic>
      <p:sp>
        <p:nvSpPr>
          <p:cNvPr id="41" name="Text 24"/>
          <p:cNvSpPr txBox="1"/>
          <p:nvPr/>
        </p:nvSpPr>
        <p:spPr>
          <a:xfrm>
            <a:off x="5715000" y="5148072"/>
            <a:ext cx="5653735" cy="292608"/>
          </a:xfrm>
          <a:prstGeom prst="rect">
            <a:avLst/>
          </a:prstGeom>
          <a:noFill/>
          <a:ln/>
        </p:spPr>
        <p:txBody>
          <a:bodyPr wrap="square" lIns="0" tIns="0" rIns="0" bIns="0" rtlCol="0" anchor="ctr"/>
          <a:lstStyle/>
          <a:p>
            <a:pPr indent="0" marL="0">
              <a:buNone/>
            </a:pPr>
            <a:r>
              <a:rPr lang="en-US" sz="1200" b="1" dirty="0">
                <a:solidFill>
                  <a:srgbClr val="151A21"/>
                </a:solidFill>
                <a:latin typeface="Calibri" pitchFamily="34" charset="0"/>
                <a:ea typeface="Calibri" pitchFamily="34" charset="-122"/>
                <a:cs typeface="Calibri" pitchFamily="34" charset="-120"/>
              </a:rPr>
              <a:t>Remediation is fully manual</a:t>
            </a:r>
            <a:pPr indent="0" marL="0">
              <a:buNone/>
            </a:pPr>
            <a:r>
              <a:rPr lang="en-US" sz="1200" dirty="0">
                <a:solidFill>
                  <a:srgbClr val="5E6978"/>
                </a:solidFill>
                <a:latin typeface="Calibri" pitchFamily="34" charset="0"/>
                <a:ea typeface="Calibri" pitchFamily="34" charset="-122"/>
                <a:cs typeface="Calibri" pitchFamily="34" charset="-120"/>
              </a:rPr>
              <a:t>  —  every finding adds IT workload</a:t>
            </a:r>
            <a:endParaRPr lang="en-US" sz="1200" dirty="0"/>
          </a:p>
        </p:txBody>
      </p:sp>
      <p:pic>
        <p:nvPicPr>
          <p:cNvPr id="42" name="Image 15" descr="preencoded.png">    </p:cNvPr>
          <p:cNvPicPr>
            <a:picLocks noChangeAspect="1"/>
          </p:cNvPicPr>
          <p:nvPr/>
        </p:nvPicPr>
        <p:blipFill>
          <a:blip r:embed="rId16"/>
          <a:stretch>
            <a:fillRect/>
          </a:stretch>
        </p:blipFill>
        <p:spPr>
          <a:xfrm>
            <a:off x="5394960" y="5559552"/>
            <a:ext cx="201168" cy="201168"/>
          </a:xfrm>
          <a:prstGeom prst="rect">
            <a:avLst/>
          </a:prstGeom>
        </p:spPr>
      </p:pic>
      <p:sp>
        <p:nvSpPr>
          <p:cNvPr id="43" name="Text 25"/>
          <p:cNvSpPr txBox="1"/>
          <p:nvPr/>
        </p:nvSpPr>
        <p:spPr>
          <a:xfrm>
            <a:off x="5715000" y="5522976"/>
            <a:ext cx="5653735" cy="292608"/>
          </a:xfrm>
          <a:prstGeom prst="rect">
            <a:avLst/>
          </a:prstGeom>
          <a:noFill/>
          <a:ln/>
        </p:spPr>
        <p:txBody>
          <a:bodyPr wrap="square" lIns="0" tIns="0" rIns="0" bIns="0" rtlCol="0" anchor="ctr"/>
          <a:lstStyle/>
          <a:p>
            <a:pPr indent="0" marL="0">
              <a:buNone/>
            </a:pPr>
            <a:r>
              <a:rPr lang="en-US" sz="1200" b="1" dirty="0">
                <a:solidFill>
                  <a:srgbClr val="151A21"/>
                </a:solidFill>
                <a:latin typeface="Calibri" pitchFamily="34" charset="0"/>
                <a:ea typeface="Calibri" pitchFamily="34" charset="-122"/>
                <a:cs typeface="Calibri" pitchFamily="34" charset="-120"/>
              </a:rPr>
              <a:t>Sees known weaknesses, not attacker behavior</a:t>
            </a:r>
            <a:pPr indent="0" marL="0">
              <a:buNone/>
            </a:pPr>
            <a:r>
              <a:rPr lang="en-US" sz="1200" dirty="0">
                <a:solidFill>
                  <a:srgbClr val="5E6978"/>
                </a:solidFill>
                <a:latin typeface="Calibri" pitchFamily="34" charset="0"/>
                <a:ea typeface="Calibri" pitchFamily="34" charset="-122"/>
                <a:cs typeface="Calibri" pitchFamily="34" charset="-120"/>
              </a:rPr>
              <a:t>  —  stealthy or new attacks go unnoticed</a:t>
            </a:r>
            <a:endParaRPr lang="en-US" sz="1200" dirty="0"/>
          </a:p>
        </p:txBody>
      </p:sp>
      <p:sp>
        <p:nvSpPr>
          <p:cNvPr id="44" name="Text 26"/>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05   |   Nessus vs. CrowdStrike Falcon Platform  ·  Proposal for The Westin Resort Guam</a:t>
            </a:r>
            <a:endParaRPr lang="en-US" sz="900" dirty="0"/>
          </a:p>
        </p:txBody>
      </p:sp>
      <p:pic>
        <p:nvPicPr>
          <p:cNvPr id="45" name="Image 16" descr="/private/tmp/claude-501/-Users-jihanvin-Desktop-NIVNAH-AI/16a96446-d9b3-40e2-af9e-a3011ae3db84/scratchpad/assets/secukorea_dark.png">    </p:cNvPr>
          <p:cNvPicPr>
            <a:picLocks noChangeAspect="1"/>
          </p:cNvPicPr>
          <p:nvPr/>
        </p:nvPicPr>
        <p:blipFill>
          <a:blip r:embed="rId17"/>
          <a:stretch>
            <a:fillRect/>
          </a:stretch>
        </p:blipFill>
        <p:spPr>
          <a:xfrm>
            <a:off x="10661904" y="6400800"/>
            <a:ext cx="978408" cy="2331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04   A SIMPLE WAY TO SEE IT</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A Safety Inspection vs. a 24/7 Security Team</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5074920" cy="3611880"/>
          </a:xfrm>
          <a:prstGeom prst="roundRect">
            <a:avLst>
              <a:gd name="adj" fmla="val 2532"/>
            </a:avLst>
          </a:prstGeom>
          <a:solidFill>
            <a:srgbClr val="F3F5F8"/>
          </a:solidFill>
          <a:ln w="9525">
            <a:solidFill>
              <a:srgbClr val="DCE1E7"/>
            </a:solidFill>
            <a:prstDash val="solid"/>
          </a:ln>
        </p:spPr>
      </p:sp>
      <p:sp>
        <p:nvSpPr>
          <p:cNvPr id="6" name="Shape 3"/>
          <p:cNvSpPr/>
          <p:nvPr/>
        </p:nvSpPr>
        <p:spPr>
          <a:xfrm>
            <a:off x="868680" y="1874520"/>
            <a:ext cx="640080" cy="640080"/>
          </a:xfrm>
          <a:prstGeom prst="roundRect">
            <a:avLst>
              <a:gd name="adj" fmla="val 14286"/>
            </a:avLst>
          </a:prstGeom>
          <a:solidFill>
            <a:srgbClr val="EAEEF3"/>
          </a:solidFill>
          <a:ln w="12700">
            <a:solidFill>
              <a:srgbClr val="EAEEF3"/>
            </a:solidFill>
            <a:prstDash val="solid"/>
          </a:ln>
        </p:spPr>
      </p:sp>
      <p:pic>
        <p:nvPicPr>
          <p:cNvPr id="7" name="Image 1" descr="preencoded.png">    </p:cNvPr>
          <p:cNvPicPr>
            <a:picLocks noChangeAspect="1"/>
          </p:cNvPicPr>
          <p:nvPr/>
        </p:nvPicPr>
        <p:blipFill>
          <a:blip r:embed="rId2"/>
          <a:stretch>
            <a:fillRect/>
          </a:stretch>
        </p:blipFill>
        <p:spPr>
          <a:xfrm>
            <a:off x="1009498" y="2015338"/>
            <a:ext cx="358445" cy="358445"/>
          </a:xfrm>
          <a:prstGeom prst="rect">
            <a:avLst/>
          </a:prstGeom>
        </p:spPr>
      </p:pic>
      <p:sp>
        <p:nvSpPr>
          <p:cNvPr id="8" name="Text 4"/>
          <p:cNvSpPr txBox="1"/>
          <p:nvPr/>
        </p:nvSpPr>
        <p:spPr>
          <a:xfrm>
            <a:off x="1691640" y="1901952"/>
            <a:ext cx="3703320" cy="237744"/>
          </a:xfrm>
          <a:prstGeom prst="rect">
            <a:avLst/>
          </a:prstGeom>
          <a:noFill/>
          <a:ln/>
        </p:spPr>
        <p:txBody>
          <a:bodyPr wrap="square" lIns="0" tIns="0" rIns="0" bIns="0" rtlCol="0" anchor="t"/>
          <a:lstStyle/>
          <a:p>
            <a:pPr indent="0" marL="0">
              <a:buNone/>
            </a:pPr>
            <a:r>
              <a:rPr lang="en-US" sz="1100" b="1" spc="200" kern="0" dirty="0">
                <a:solidFill>
                  <a:srgbClr val="5D6B7E"/>
                </a:solidFill>
                <a:latin typeface="Calibri" pitchFamily="34" charset="0"/>
                <a:ea typeface="Calibri" pitchFamily="34" charset="-122"/>
                <a:cs typeface="Calibri" pitchFamily="34" charset="-120"/>
              </a:rPr>
              <a:t>NESSUS</a:t>
            </a:r>
            <a:endParaRPr lang="en-US" sz="1100" dirty="0"/>
          </a:p>
        </p:txBody>
      </p:sp>
      <p:sp>
        <p:nvSpPr>
          <p:cNvPr id="9" name="Text 5"/>
          <p:cNvSpPr txBox="1"/>
          <p:nvPr/>
        </p:nvSpPr>
        <p:spPr>
          <a:xfrm>
            <a:off x="1691640" y="2157984"/>
            <a:ext cx="3703320" cy="566928"/>
          </a:xfrm>
          <a:prstGeom prst="rect">
            <a:avLst/>
          </a:prstGeom>
          <a:noFill/>
          <a:ln/>
        </p:spPr>
        <p:txBody>
          <a:bodyPr wrap="square" lIns="0" tIns="0" rIns="0" bIns="0" rtlCol="0" anchor="t"/>
          <a:lstStyle/>
          <a:p>
            <a:pPr indent="0" marL="0">
              <a:buNone/>
            </a:pPr>
            <a:r>
              <a:rPr lang="en-US" sz="1700" b="1" dirty="0">
                <a:solidFill>
                  <a:srgbClr val="151A21"/>
                </a:solidFill>
                <a:latin typeface="Arial" pitchFamily="34" charset="0"/>
                <a:ea typeface="Arial" pitchFamily="34" charset="-122"/>
                <a:cs typeface="Arial" pitchFamily="34" charset="-120"/>
              </a:rPr>
              <a:t>The Fire-Safety Inspection</a:t>
            </a:r>
            <a:endParaRPr lang="en-US" sz="1700" dirty="0"/>
          </a:p>
        </p:txBody>
      </p:sp>
      <p:sp>
        <p:nvSpPr>
          <p:cNvPr id="10" name="Text 6"/>
          <p:cNvSpPr txBox="1"/>
          <p:nvPr/>
        </p:nvSpPr>
        <p:spPr>
          <a:xfrm>
            <a:off x="868680" y="2880360"/>
            <a:ext cx="4434840" cy="960120"/>
          </a:xfrm>
          <a:prstGeom prst="rect">
            <a:avLst/>
          </a:prstGeom>
          <a:noFill/>
          <a:ln/>
        </p:spPr>
        <p:txBody>
          <a:bodyPr wrap="square" lIns="0" tIns="0" rIns="0" bIns="0" rtlCol="0" anchor="t"/>
          <a:lstStyle/>
          <a:p>
            <a:pPr indent="0" marL="0">
              <a:buNone/>
            </a:pPr>
            <a:r>
              <a:rPr lang="en-US" sz="1250" dirty="0">
                <a:solidFill>
                  <a:srgbClr val="5E6978"/>
                </a:solidFill>
                <a:latin typeface="Calibri" pitchFamily="34" charset="0"/>
                <a:ea typeface="Calibri" pitchFamily="34" charset="-122"/>
                <a:cs typeface="Calibri" pitchFamily="34" charset="-120"/>
              </a:rPr>
              <a:t>An inspector walks the building on a schedule, lists what needs fixing, and hands over a report. Valuable — but the inspector is gone when a fire actually starts.</a:t>
            </a:r>
            <a:endParaRPr lang="en-US" sz="1250" dirty="0"/>
          </a:p>
        </p:txBody>
      </p:sp>
      <p:pic>
        <p:nvPicPr>
          <p:cNvPr id="11" name="Image 2" descr="preencoded.png">    </p:cNvPr>
          <p:cNvPicPr>
            <a:picLocks noChangeAspect="1"/>
          </p:cNvPicPr>
          <p:nvPr/>
        </p:nvPicPr>
        <p:blipFill>
          <a:blip r:embed="rId3"/>
          <a:stretch>
            <a:fillRect/>
          </a:stretch>
        </p:blipFill>
        <p:spPr>
          <a:xfrm>
            <a:off x="868680" y="4023360"/>
            <a:ext cx="182880" cy="182880"/>
          </a:xfrm>
          <a:prstGeom prst="rect">
            <a:avLst/>
          </a:prstGeom>
        </p:spPr>
      </p:pic>
      <p:sp>
        <p:nvSpPr>
          <p:cNvPr id="12" name="Text 7"/>
          <p:cNvSpPr txBox="1"/>
          <p:nvPr/>
        </p:nvSpPr>
        <p:spPr>
          <a:xfrm>
            <a:off x="1188720" y="3977640"/>
            <a:ext cx="4160520" cy="274320"/>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Finds known issues</a:t>
            </a:r>
            <a:endParaRPr lang="en-US" sz="1250" dirty="0"/>
          </a:p>
        </p:txBody>
      </p:sp>
      <p:pic>
        <p:nvPicPr>
          <p:cNvPr id="13" name="Image 3" descr="preencoded.png">    </p:cNvPr>
          <p:cNvPicPr>
            <a:picLocks noChangeAspect="1"/>
          </p:cNvPicPr>
          <p:nvPr/>
        </p:nvPicPr>
        <p:blipFill>
          <a:blip r:embed="rId4"/>
          <a:stretch>
            <a:fillRect/>
          </a:stretch>
        </p:blipFill>
        <p:spPr>
          <a:xfrm>
            <a:off x="868680" y="4389120"/>
            <a:ext cx="182880" cy="182880"/>
          </a:xfrm>
          <a:prstGeom prst="rect">
            <a:avLst/>
          </a:prstGeom>
        </p:spPr>
      </p:pic>
      <p:sp>
        <p:nvSpPr>
          <p:cNvPr id="14" name="Text 8"/>
          <p:cNvSpPr txBox="1"/>
          <p:nvPr/>
        </p:nvSpPr>
        <p:spPr>
          <a:xfrm>
            <a:off x="1188720" y="4343400"/>
            <a:ext cx="4160520" cy="274320"/>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Reports on a schedule</a:t>
            </a:r>
            <a:endParaRPr lang="en-US" sz="1250" dirty="0"/>
          </a:p>
        </p:txBody>
      </p:sp>
      <p:pic>
        <p:nvPicPr>
          <p:cNvPr id="15" name="Image 4" descr="preencoded.png">    </p:cNvPr>
          <p:cNvPicPr>
            <a:picLocks noChangeAspect="1"/>
          </p:cNvPicPr>
          <p:nvPr/>
        </p:nvPicPr>
        <p:blipFill>
          <a:blip r:embed="rId5"/>
          <a:stretch>
            <a:fillRect/>
          </a:stretch>
        </p:blipFill>
        <p:spPr>
          <a:xfrm>
            <a:off x="868680" y="4754880"/>
            <a:ext cx="182880" cy="182880"/>
          </a:xfrm>
          <a:prstGeom prst="rect">
            <a:avLst/>
          </a:prstGeom>
        </p:spPr>
      </p:pic>
      <p:sp>
        <p:nvSpPr>
          <p:cNvPr id="16" name="Text 9"/>
          <p:cNvSpPr txBox="1"/>
          <p:nvPr/>
        </p:nvSpPr>
        <p:spPr>
          <a:xfrm>
            <a:off x="1188720" y="4709160"/>
            <a:ext cx="4160520" cy="274320"/>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Leaves the fixing to you</a:t>
            </a:r>
            <a:endParaRPr lang="en-US" sz="1250" dirty="0"/>
          </a:p>
        </p:txBody>
      </p:sp>
      <p:sp>
        <p:nvSpPr>
          <p:cNvPr id="17" name="Shape 10"/>
          <p:cNvSpPr/>
          <p:nvPr/>
        </p:nvSpPr>
        <p:spPr>
          <a:xfrm>
            <a:off x="6568135" y="1554480"/>
            <a:ext cx="5074920" cy="3611880"/>
          </a:xfrm>
          <a:prstGeom prst="roundRect">
            <a:avLst>
              <a:gd name="adj" fmla="val 2532"/>
            </a:avLst>
          </a:prstGeom>
          <a:solidFill>
            <a:srgbClr val="FDECEC"/>
          </a:solidFill>
          <a:ln w="9525">
            <a:solidFill>
              <a:srgbClr val="F6C9CB"/>
            </a:solidFill>
            <a:prstDash val="solid"/>
          </a:ln>
        </p:spPr>
      </p:sp>
      <p:sp>
        <p:nvSpPr>
          <p:cNvPr id="18" name="Shape 11"/>
          <p:cNvSpPr/>
          <p:nvPr/>
        </p:nvSpPr>
        <p:spPr>
          <a:xfrm>
            <a:off x="6888175" y="1874520"/>
            <a:ext cx="640080" cy="640080"/>
          </a:xfrm>
          <a:prstGeom prst="roundRect">
            <a:avLst>
              <a:gd name="adj" fmla="val 14286"/>
            </a:avLst>
          </a:prstGeom>
          <a:solidFill>
            <a:srgbClr val="E3202A"/>
          </a:solidFill>
          <a:ln w="12700">
            <a:solidFill>
              <a:srgbClr val="E3202A"/>
            </a:solidFill>
            <a:prstDash val="solid"/>
          </a:ln>
        </p:spPr>
      </p:sp>
      <p:pic>
        <p:nvPicPr>
          <p:cNvPr id="19" name="Image 5" descr="preencoded.png">    </p:cNvPr>
          <p:cNvPicPr>
            <a:picLocks noChangeAspect="1"/>
          </p:cNvPicPr>
          <p:nvPr/>
        </p:nvPicPr>
        <p:blipFill>
          <a:blip r:embed="rId6"/>
          <a:stretch>
            <a:fillRect/>
          </a:stretch>
        </p:blipFill>
        <p:spPr>
          <a:xfrm>
            <a:off x="7028993" y="2015338"/>
            <a:ext cx="358445" cy="358445"/>
          </a:xfrm>
          <a:prstGeom prst="rect">
            <a:avLst/>
          </a:prstGeom>
        </p:spPr>
      </p:pic>
      <p:sp>
        <p:nvSpPr>
          <p:cNvPr id="20" name="Text 12"/>
          <p:cNvSpPr txBox="1"/>
          <p:nvPr/>
        </p:nvSpPr>
        <p:spPr>
          <a:xfrm>
            <a:off x="7711135" y="1901952"/>
            <a:ext cx="3703320" cy="237744"/>
          </a:xfrm>
          <a:prstGeom prst="rect">
            <a:avLst/>
          </a:prstGeom>
          <a:noFill/>
          <a:ln/>
        </p:spPr>
        <p:txBody>
          <a:bodyPr wrap="square" lIns="0" tIns="0" rIns="0" bIns="0" rtlCol="0" anchor="t"/>
          <a:lstStyle/>
          <a:p>
            <a:pPr indent="0" marL="0">
              <a:buNone/>
            </a:pPr>
            <a:r>
              <a:rPr lang="en-US" sz="1100" b="1" spc="200" kern="0" dirty="0">
                <a:solidFill>
                  <a:srgbClr val="E3202A"/>
                </a:solidFill>
                <a:latin typeface="Calibri" pitchFamily="34" charset="0"/>
                <a:ea typeface="Calibri" pitchFamily="34" charset="-122"/>
                <a:cs typeface="Calibri" pitchFamily="34" charset="-120"/>
              </a:rPr>
              <a:t>CROWDSTRIKE FALCON</a:t>
            </a:r>
            <a:endParaRPr lang="en-US" sz="1100" dirty="0"/>
          </a:p>
        </p:txBody>
      </p:sp>
      <p:sp>
        <p:nvSpPr>
          <p:cNvPr id="21" name="Text 13"/>
          <p:cNvSpPr txBox="1"/>
          <p:nvPr/>
        </p:nvSpPr>
        <p:spPr>
          <a:xfrm>
            <a:off x="7711135" y="2157984"/>
            <a:ext cx="3703320" cy="566928"/>
          </a:xfrm>
          <a:prstGeom prst="rect">
            <a:avLst/>
          </a:prstGeom>
          <a:noFill/>
          <a:ln/>
        </p:spPr>
        <p:txBody>
          <a:bodyPr wrap="square" lIns="0" tIns="0" rIns="0" bIns="0" rtlCol="0" anchor="t"/>
          <a:lstStyle/>
          <a:p>
            <a:pPr indent="0" marL="0">
              <a:buNone/>
            </a:pPr>
            <a:r>
              <a:rPr lang="en-US" sz="1700" b="1" dirty="0">
                <a:solidFill>
                  <a:srgbClr val="151A21"/>
                </a:solidFill>
                <a:latin typeface="Arial" pitchFamily="34" charset="0"/>
                <a:ea typeface="Arial" pitchFamily="34" charset="-122"/>
                <a:cs typeface="Arial" pitchFamily="34" charset="-120"/>
              </a:rPr>
              <a:t>Smoke Detectors, Sprinklers &amp; a 24/7 Security Team</a:t>
            </a:r>
            <a:endParaRPr lang="en-US" sz="1700" dirty="0"/>
          </a:p>
        </p:txBody>
      </p:sp>
      <p:sp>
        <p:nvSpPr>
          <p:cNvPr id="22" name="Text 14"/>
          <p:cNvSpPr txBox="1"/>
          <p:nvPr/>
        </p:nvSpPr>
        <p:spPr>
          <a:xfrm>
            <a:off x="6888175" y="2880360"/>
            <a:ext cx="4434840" cy="960120"/>
          </a:xfrm>
          <a:prstGeom prst="rect">
            <a:avLst/>
          </a:prstGeom>
          <a:noFill/>
          <a:ln/>
        </p:spPr>
        <p:txBody>
          <a:bodyPr wrap="square" lIns="0" tIns="0" rIns="0" bIns="0" rtlCol="0" anchor="t"/>
          <a:lstStyle/>
          <a:p>
            <a:pPr indent="0" marL="0">
              <a:buNone/>
            </a:pPr>
            <a:r>
              <a:rPr lang="en-US" sz="1250" dirty="0">
                <a:solidFill>
                  <a:srgbClr val="5E6978"/>
                </a:solidFill>
                <a:latin typeface="Calibri" pitchFamily="34" charset="0"/>
                <a:ea typeface="Calibri" pitchFamily="34" charset="-122"/>
                <a:cs typeface="Calibri" pitchFamily="34" charset="-120"/>
              </a:rPr>
              <a:t>Sensors on every endpoint spot danger the moment it appears, stop it automatically, and escalate to experts who are on duty around the clock.</a:t>
            </a:r>
            <a:endParaRPr lang="en-US" sz="1250" dirty="0"/>
          </a:p>
        </p:txBody>
      </p:sp>
      <p:pic>
        <p:nvPicPr>
          <p:cNvPr id="23" name="Image 6" descr="preencoded.png">    </p:cNvPr>
          <p:cNvPicPr>
            <a:picLocks noChangeAspect="1"/>
          </p:cNvPicPr>
          <p:nvPr/>
        </p:nvPicPr>
        <p:blipFill>
          <a:blip r:embed="rId7"/>
          <a:stretch>
            <a:fillRect/>
          </a:stretch>
        </p:blipFill>
        <p:spPr>
          <a:xfrm>
            <a:off x="6888175" y="4023360"/>
            <a:ext cx="182880" cy="182880"/>
          </a:xfrm>
          <a:prstGeom prst="rect">
            <a:avLst/>
          </a:prstGeom>
        </p:spPr>
      </p:pic>
      <p:sp>
        <p:nvSpPr>
          <p:cNvPr id="24" name="Text 15"/>
          <p:cNvSpPr txBox="1"/>
          <p:nvPr/>
        </p:nvSpPr>
        <p:spPr>
          <a:xfrm>
            <a:off x="7208215" y="3977640"/>
            <a:ext cx="4160520" cy="274320"/>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Detects threats instantly</a:t>
            </a:r>
            <a:endParaRPr lang="en-US" sz="1250" dirty="0"/>
          </a:p>
        </p:txBody>
      </p:sp>
      <p:pic>
        <p:nvPicPr>
          <p:cNvPr id="25" name="Image 7" descr="preencoded.png">    </p:cNvPr>
          <p:cNvPicPr>
            <a:picLocks noChangeAspect="1"/>
          </p:cNvPicPr>
          <p:nvPr/>
        </p:nvPicPr>
        <p:blipFill>
          <a:blip r:embed="rId8"/>
          <a:stretch>
            <a:fillRect/>
          </a:stretch>
        </p:blipFill>
        <p:spPr>
          <a:xfrm>
            <a:off x="6888175" y="4389120"/>
            <a:ext cx="182880" cy="182880"/>
          </a:xfrm>
          <a:prstGeom prst="rect">
            <a:avLst/>
          </a:prstGeom>
        </p:spPr>
      </p:pic>
      <p:sp>
        <p:nvSpPr>
          <p:cNvPr id="26" name="Text 16"/>
          <p:cNvSpPr txBox="1"/>
          <p:nvPr/>
        </p:nvSpPr>
        <p:spPr>
          <a:xfrm>
            <a:off x="7208215" y="4343400"/>
            <a:ext cx="4160520" cy="274320"/>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Stops attacks automatically</a:t>
            </a:r>
            <a:endParaRPr lang="en-US" sz="1250" dirty="0"/>
          </a:p>
        </p:txBody>
      </p:sp>
      <p:pic>
        <p:nvPicPr>
          <p:cNvPr id="27" name="Image 8" descr="preencoded.png">    </p:cNvPr>
          <p:cNvPicPr>
            <a:picLocks noChangeAspect="1"/>
          </p:cNvPicPr>
          <p:nvPr/>
        </p:nvPicPr>
        <p:blipFill>
          <a:blip r:embed="rId9"/>
          <a:stretch>
            <a:fillRect/>
          </a:stretch>
        </p:blipFill>
        <p:spPr>
          <a:xfrm>
            <a:off x="6888175" y="4754880"/>
            <a:ext cx="182880" cy="182880"/>
          </a:xfrm>
          <a:prstGeom prst="rect">
            <a:avLst/>
          </a:prstGeom>
        </p:spPr>
      </p:pic>
      <p:sp>
        <p:nvSpPr>
          <p:cNvPr id="28" name="Text 17"/>
          <p:cNvSpPr txBox="1"/>
          <p:nvPr/>
        </p:nvSpPr>
        <p:spPr>
          <a:xfrm>
            <a:off x="7208215" y="4709160"/>
            <a:ext cx="4160520" cy="274320"/>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Experts respond 24/7</a:t>
            </a:r>
            <a:endParaRPr lang="en-US" sz="1250" dirty="0"/>
          </a:p>
        </p:txBody>
      </p:sp>
      <p:sp>
        <p:nvSpPr>
          <p:cNvPr id="29" name="Shape 18"/>
          <p:cNvSpPr/>
          <p:nvPr/>
        </p:nvSpPr>
        <p:spPr>
          <a:xfrm>
            <a:off x="5775808" y="3040380"/>
            <a:ext cx="640080" cy="640080"/>
          </a:xfrm>
          <a:prstGeom prst="ellipse">
            <a:avLst/>
          </a:prstGeom>
          <a:solidFill>
            <a:srgbClr val="0B0D12"/>
          </a:solidFill>
          <a:ln w="25400">
            <a:solidFill>
              <a:srgbClr val="FFFFFF"/>
            </a:solidFill>
            <a:prstDash val="solid"/>
          </a:ln>
        </p:spPr>
      </p:sp>
      <p:sp>
        <p:nvSpPr>
          <p:cNvPr id="30" name="Text 19"/>
          <p:cNvSpPr txBox="1"/>
          <p:nvPr/>
        </p:nvSpPr>
        <p:spPr>
          <a:xfrm>
            <a:off x="5775808" y="3040380"/>
            <a:ext cx="6400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VS</a:t>
            </a:r>
            <a:endParaRPr lang="en-US" sz="1500" dirty="0"/>
          </a:p>
        </p:txBody>
      </p:sp>
      <p:sp>
        <p:nvSpPr>
          <p:cNvPr id="31" name="Text 20"/>
          <p:cNvSpPr txBox="1"/>
          <p:nvPr/>
        </p:nvSpPr>
        <p:spPr>
          <a:xfrm>
            <a:off x="548640" y="5532120"/>
            <a:ext cx="1828800" cy="274320"/>
          </a:xfrm>
          <a:prstGeom prst="rect">
            <a:avLst/>
          </a:prstGeom>
          <a:noFill/>
          <a:ln/>
        </p:spPr>
        <p:txBody>
          <a:bodyPr wrap="square" lIns="0" tIns="0" rIns="0" bIns="0" rtlCol="0" anchor="ctr"/>
          <a:lstStyle/>
          <a:p>
            <a:pPr indent="0" marL="0">
              <a:buNone/>
            </a:pPr>
            <a:r>
              <a:rPr lang="en-US" sz="1000" b="1" spc="150" kern="0" dirty="0">
                <a:solidFill>
                  <a:srgbClr val="5E6978"/>
                </a:solidFill>
                <a:latin typeface="Calibri" pitchFamily="34" charset="0"/>
                <a:ea typeface="Calibri" pitchFamily="34" charset="-122"/>
                <a:cs typeface="Calibri" pitchFamily="34" charset="-120"/>
              </a:rPr>
              <a:t>SECURITY LIFECYCLE</a:t>
            </a:r>
            <a:endParaRPr lang="en-US" sz="1000" dirty="0"/>
          </a:p>
        </p:txBody>
      </p:sp>
      <p:sp>
        <p:nvSpPr>
          <p:cNvPr id="32" name="Shape 21"/>
          <p:cNvSpPr/>
          <p:nvPr/>
        </p:nvSpPr>
        <p:spPr>
          <a:xfrm>
            <a:off x="2468880" y="5440680"/>
            <a:ext cx="1234440" cy="457200"/>
          </a:xfrm>
          <a:prstGeom prst="roundRect">
            <a:avLst>
              <a:gd name="adj" fmla="val 50000"/>
            </a:avLst>
          </a:prstGeom>
          <a:solidFill>
            <a:srgbClr val="5D6B7E"/>
          </a:solidFill>
          <a:ln w="12700">
            <a:solidFill>
              <a:srgbClr val="5D6B7E"/>
            </a:solidFill>
            <a:prstDash val="solid"/>
          </a:ln>
        </p:spPr>
      </p:sp>
      <p:sp>
        <p:nvSpPr>
          <p:cNvPr id="33" name="Text 22"/>
          <p:cNvSpPr txBox="1"/>
          <p:nvPr/>
        </p:nvSpPr>
        <p:spPr>
          <a:xfrm>
            <a:off x="2468880"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Discover</a:t>
            </a:r>
            <a:endParaRPr lang="en-US" sz="1250" dirty="0"/>
          </a:p>
        </p:txBody>
      </p:sp>
      <p:sp>
        <p:nvSpPr>
          <p:cNvPr id="34" name="Shape 23"/>
          <p:cNvSpPr/>
          <p:nvPr/>
        </p:nvSpPr>
        <p:spPr>
          <a:xfrm>
            <a:off x="3867912" y="5440680"/>
            <a:ext cx="1234440" cy="457200"/>
          </a:xfrm>
          <a:prstGeom prst="roundRect">
            <a:avLst>
              <a:gd name="adj" fmla="val 50000"/>
            </a:avLst>
          </a:prstGeom>
          <a:solidFill>
            <a:srgbClr val="E3202A"/>
          </a:solidFill>
          <a:ln w="12700">
            <a:solidFill>
              <a:srgbClr val="E3202A"/>
            </a:solidFill>
            <a:prstDash val="solid"/>
          </a:ln>
        </p:spPr>
      </p:sp>
      <p:sp>
        <p:nvSpPr>
          <p:cNvPr id="35" name="Text 24"/>
          <p:cNvSpPr txBox="1"/>
          <p:nvPr/>
        </p:nvSpPr>
        <p:spPr>
          <a:xfrm>
            <a:off x="3867912"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Prevent</a:t>
            </a:r>
            <a:endParaRPr lang="en-US" sz="1250" dirty="0"/>
          </a:p>
        </p:txBody>
      </p:sp>
      <p:sp>
        <p:nvSpPr>
          <p:cNvPr id="36" name="Shape 25"/>
          <p:cNvSpPr/>
          <p:nvPr/>
        </p:nvSpPr>
        <p:spPr>
          <a:xfrm>
            <a:off x="5266944" y="5440680"/>
            <a:ext cx="1234440" cy="457200"/>
          </a:xfrm>
          <a:prstGeom prst="roundRect">
            <a:avLst>
              <a:gd name="adj" fmla="val 50000"/>
            </a:avLst>
          </a:prstGeom>
          <a:solidFill>
            <a:srgbClr val="E3202A"/>
          </a:solidFill>
          <a:ln w="12700">
            <a:solidFill>
              <a:srgbClr val="E3202A"/>
            </a:solidFill>
            <a:prstDash val="solid"/>
          </a:ln>
        </p:spPr>
      </p:sp>
      <p:sp>
        <p:nvSpPr>
          <p:cNvPr id="37" name="Text 26"/>
          <p:cNvSpPr txBox="1"/>
          <p:nvPr/>
        </p:nvSpPr>
        <p:spPr>
          <a:xfrm>
            <a:off x="5266944"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Detect</a:t>
            </a:r>
            <a:endParaRPr lang="en-US" sz="1250" dirty="0"/>
          </a:p>
        </p:txBody>
      </p:sp>
      <p:sp>
        <p:nvSpPr>
          <p:cNvPr id="38" name="Shape 27"/>
          <p:cNvSpPr/>
          <p:nvPr/>
        </p:nvSpPr>
        <p:spPr>
          <a:xfrm>
            <a:off x="6665976" y="5440680"/>
            <a:ext cx="1234440" cy="457200"/>
          </a:xfrm>
          <a:prstGeom prst="roundRect">
            <a:avLst>
              <a:gd name="adj" fmla="val 50000"/>
            </a:avLst>
          </a:prstGeom>
          <a:solidFill>
            <a:srgbClr val="E3202A"/>
          </a:solidFill>
          <a:ln w="12700">
            <a:solidFill>
              <a:srgbClr val="E3202A"/>
            </a:solidFill>
            <a:prstDash val="solid"/>
          </a:ln>
        </p:spPr>
      </p:sp>
      <p:sp>
        <p:nvSpPr>
          <p:cNvPr id="39" name="Text 28"/>
          <p:cNvSpPr txBox="1"/>
          <p:nvPr/>
        </p:nvSpPr>
        <p:spPr>
          <a:xfrm>
            <a:off x="6665976"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Respond</a:t>
            </a:r>
            <a:endParaRPr lang="en-US" sz="1250" dirty="0"/>
          </a:p>
        </p:txBody>
      </p:sp>
      <p:sp>
        <p:nvSpPr>
          <p:cNvPr id="40" name="Shape 29"/>
          <p:cNvSpPr/>
          <p:nvPr/>
        </p:nvSpPr>
        <p:spPr>
          <a:xfrm>
            <a:off x="8065008" y="5440680"/>
            <a:ext cx="1234440" cy="457200"/>
          </a:xfrm>
          <a:prstGeom prst="roundRect">
            <a:avLst>
              <a:gd name="adj" fmla="val 50000"/>
            </a:avLst>
          </a:prstGeom>
          <a:solidFill>
            <a:srgbClr val="E3202A"/>
          </a:solidFill>
          <a:ln w="12700">
            <a:solidFill>
              <a:srgbClr val="E3202A"/>
            </a:solidFill>
            <a:prstDash val="solid"/>
          </a:ln>
        </p:spPr>
      </p:sp>
      <p:sp>
        <p:nvSpPr>
          <p:cNvPr id="41" name="Text 30"/>
          <p:cNvSpPr txBox="1"/>
          <p:nvPr/>
        </p:nvSpPr>
        <p:spPr>
          <a:xfrm>
            <a:off x="8065008"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Recover</a:t>
            </a:r>
            <a:endParaRPr lang="en-US" sz="1250" dirty="0"/>
          </a:p>
        </p:txBody>
      </p:sp>
      <p:sp>
        <p:nvSpPr>
          <p:cNvPr id="42" name="Text 31"/>
          <p:cNvSpPr txBox="1"/>
          <p:nvPr/>
        </p:nvSpPr>
        <p:spPr>
          <a:xfrm>
            <a:off x="9555480" y="5440680"/>
            <a:ext cx="2087575" cy="457200"/>
          </a:xfrm>
          <a:prstGeom prst="rect">
            <a:avLst/>
          </a:prstGeom>
          <a:noFill/>
          <a:ln/>
        </p:spPr>
        <p:txBody>
          <a:bodyPr wrap="square" lIns="0" tIns="0" rIns="0" bIns="0" rtlCol="0" anchor="ctr"/>
          <a:lstStyle/>
          <a:p>
            <a:pPr indent="0" marL="0">
              <a:buNone/>
            </a:pPr>
            <a:r>
              <a:rPr lang="en-US" sz="1150" b="1" dirty="0">
                <a:solidFill>
                  <a:srgbClr val="5D6B7E"/>
                </a:solidFill>
                <a:latin typeface="Calibri" pitchFamily="34" charset="0"/>
                <a:ea typeface="Calibri" pitchFamily="34" charset="-122"/>
                <a:cs typeface="Calibri" pitchFamily="34" charset="-120"/>
              </a:rPr>
              <a:t>Nessus</a:t>
            </a:r>
            <a:pPr indent="0" marL="0">
              <a:buNone/>
            </a:pPr>
            <a:r>
              <a:rPr lang="en-US" sz="1150" dirty="0">
                <a:solidFill>
                  <a:srgbClr val="5E6978"/>
                </a:solidFill>
                <a:latin typeface="Calibri" pitchFamily="34" charset="0"/>
                <a:ea typeface="Calibri" pitchFamily="34" charset="-122"/>
                <a:cs typeface="Calibri" pitchFamily="34" charset="-120"/>
              </a:rPr>
              <a:t> covers Discover.  </a:t>
            </a:r>
            <a:pPr indent="0" marL="0">
              <a:buNone/>
            </a:pPr>
            <a:r>
              <a:rPr lang="en-US" sz="1150" b="1" dirty="0">
                <a:solidFill>
                  <a:srgbClr val="E3202A"/>
                </a:solidFill>
                <a:latin typeface="Calibri" pitchFamily="34" charset="0"/>
                <a:ea typeface="Calibri" pitchFamily="34" charset="-122"/>
                <a:cs typeface="Calibri" pitchFamily="34" charset="-120"/>
              </a:rPr>
              <a:t>Falcon</a:t>
            </a:r>
            <a:pPr indent="0" marL="0">
              <a:buNone/>
            </a:pPr>
            <a:r>
              <a:rPr lang="en-US" sz="1150" dirty="0">
                <a:solidFill>
                  <a:srgbClr val="5E6978"/>
                </a:solidFill>
                <a:latin typeface="Calibri" pitchFamily="34" charset="0"/>
                <a:ea typeface="Calibri" pitchFamily="34" charset="-122"/>
                <a:cs typeface="Calibri" pitchFamily="34" charset="-120"/>
              </a:rPr>
              <a:t> covers the rest.</a:t>
            </a:r>
            <a:endParaRPr lang="en-US" sz="1150" dirty="0"/>
          </a:p>
        </p:txBody>
      </p:sp>
      <p:sp>
        <p:nvSpPr>
          <p:cNvPr id="43" name="Text 3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06   |   Nessus vs. CrowdStrike Falcon Platform  ·  Proposal for The Westin Resort Guam</a:t>
            </a:r>
            <a:endParaRPr lang="en-US" sz="900" dirty="0"/>
          </a:p>
        </p:txBody>
      </p:sp>
      <p:pic>
        <p:nvPicPr>
          <p:cNvPr id="44" name="Image 9" descr="/private/tmp/claude-501/-Users-jihanvin-Desktop-NIVNAH-AI/16a96446-d9b3-40e2-af9e-a3011ae3db84/scratchpad/assets/secukorea_dark.png">    </p:cNvPr>
          <p:cNvPicPr>
            <a:picLocks noChangeAspect="1"/>
          </p:cNvPicPr>
          <p:nvPr/>
        </p:nvPicPr>
        <p:blipFill>
          <a:blip r:embed="rId10"/>
          <a:stretch>
            <a:fillRect/>
          </a:stretch>
        </p:blipFill>
        <p:spPr>
          <a:xfrm>
            <a:off x="10661904" y="6400800"/>
            <a:ext cx="978408" cy="2331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05   THE VISIBILITY GAP</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Between Scans, Endpoints Are Unwatched</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3063240"/>
            <a:ext cx="1371600" cy="365760"/>
          </a:xfrm>
          <a:prstGeom prst="rect">
            <a:avLst/>
          </a:prstGeom>
          <a:noFill/>
          <a:ln/>
        </p:spPr>
        <p:txBody>
          <a:bodyPr wrap="square" lIns="0" tIns="0" rIns="0" bIns="0" rtlCol="0" anchor="ctr"/>
          <a:lstStyle/>
          <a:p>
            <a:pPr indent="0" marL="0">
              <a:buNone/>
            </a:pPr>
            <a:r>
              <a:rPr lang="en-US" sz="1500" b="1" dirty="0">
                <a:solidFill>
                  <a:srgbClr val="5D6B7E"/>
                </a:solidFill>
                <a:latin typeface="Arial" pitchFamily="34" charset="0"/>
                <a:ea typeface="Arial" pitchFamily="34" charset="-122"/>
                <a:cs typeface="Arial" pitchFamily="34" charset="-120"/>
              </a:rPr>
              <a:t>Nessus</a:t>
            </a:r>
            <a:endParaRPr lang="en-US" sz="1500" dirty="0"/>
          </a:p>
        </p:txBody>
      </p:sp>
      <p:sp>
        <p:nvSpPr>
          <p:cNvPr id="6" name="Text 3"/>
          <p:cNvSpPr txBox="1"/>
          <p:nvPr/>
        </p:nvSpPr>
        <p:spPr>
          <a:xfrm>
            <a:off x="548640" y="3410712"/>
            <a:ext cx="1463040" cy="256032"/>
          </a:xfrm>
          <a:prstGeom prst="rect">
            <a:avLst/>
          </a:prstGeom>
          <a:noFill/>
          <a:ln/>
        </p:spPr>
        <p:txBody>
          <a:bodyPr wrap="square" lIns="0" tIns="0" rIns="0" bIns="0" rtlCol="0" anchor="t"/>
          <a:lstStyle/>
          <a:p>
            <a:pPr indent="0" marL="0">
              <a:buNone/>
            </a:pPr>
            <a:r>
              <a:rPr lang="en-US" sz="1000" dirty="0">
                <a:solidFill>
                  <a:srgbClr val="5E6978"/>
                </a:solidFill>
                <a:latin typeface="Calibri" pitchFamily="34" charset="0"/>
                <a:ea typeface="Calibri" pitchFamily="34" charset="-122"/>
                <a:cs typeface="Calibri" pitchFamily="34" charset="-120"/>
              </a:rPr>
              <a:t>Scheduled scans</a:t>
            </a:r>
            <a:endParaRPr lang="en-US" sz="1000" dirty="0"/>
          </a:p>
        </p:txBody>
      </p:sp>
      <p:sp>
        <p:nvSpPr>
          <p:cNvPr id="7" name="Text 4"/>
          <p:cNvSpPr txBox="1"/>
          <p:nvPr/>
        </p:nvSpPr>
        <p:spPr>
          <a:xfrm>
            <a:off x="548640" y="4206240"/>
            <a:ext cx="1463040" cy="548640"/>
          </a:xfrm>
          <a:prstGeom prst="rect">
            <a:avLst/>
          </a:prstGeom>
          <a:noFill/>
          <a:ln/>
        </p:spPr>
        <p:txBody>
          <a:bodyPr wrap="square" lIns="0" tIns="0" rIns="0" bIns="0" rtlCol="0" anchor="ctr"/>
          <a:lstStyle/>
          <a:p>
            <a:pPr indent="0" marL="0">
              <a:buNone/>
            </a:pPr>
            <a:r>
              <a:rPr lang="en-US" sz="1500" b="1" dirty="0">
                <a:solidFill>
                  <a:srgbClr val="E3202A"/>
                </a:solidFill>
                <a:latin typeface="Arial" pitchFamily="34" charset="0"/>
                <a:ea typeface="Arial" pitchFamily="34" charset="-122"/>
                <a:cs typeface="Arial" pitchFamily="34" charset="-120"/>
              </a:rPr>
              <a:t>CrowdStrike Falcon</a:t>
            </a:r>
            <a:endParaRPr lang="en-US" sz="1500" dirty="0"/>
          </a:p>
        </p:txBody>
      </p:sp>
      <p:sp>
        <p:nvSpPr>
          <p:cNvPr id="8" name="Text 5"/>
          <p:cNvSpPr txBox="1"/>
          <p:nvPr/>
        </p:nvSpPr>
        <p:spPr>
          <a:xfrm>
            <a:off x="548640" y="4782312"/>
            <a:ext cx="1463040" cy="256032"/>
          </a:xfrm>
          <a:prstGeom prst="rect">
            <a:avLst/>
          </a:prstGeom>
          <a:noFill/>
          <a:ln/>
        </p:spPr>
        <p:txBody>
          <a:bodyPr wrap="square" lIns="0" tIns="0" rIns="0" bIns="0" rtlCol="0" anchor="t"/>
          <a:lstStyle/>
          <a:p>
            <a:pPr indent="0" marL="0">
              <a:buNone/>
            </a:pPr>
            <a:r>
              <a:rPr lang="en-US" sz="1000" dirty="0">
                <a:solidFill>
                  <a:srgbClr val="5E6978"/>
                </a:solidFill>
                <a:latin typeface="Calibri" pitchFamily="34" charset="0"/>
                <a:ea typeface="Calibri" pitchFamily="34" charset="-122"/>
                <a:cs typeface="Calibri" pitchFamily="34" charset="-120"/>
              </a:rPr>
              <a:t>Always on</a:t>
            </a:r>
            <a:endParaRPr lang="en-US" sz="1000" dirty="0"/>
          </a:p>
        </p:txBody>
      </p:sp>
      <p:sp>
        <p:nvSpPr>
          <p:cNvPr id="9" name="Text 6"/>
          <p:cNvSpPr txBox="1"/>
          <p:nvPr/>
        </p:nvSpPr>
        <p:spPr>
          <a:xfrm>
            <a:off x="1554480" y="5074920"/>
            <a:ext cx="1097280" cy="237744"/>
          </a:xfrm>
          <a:prstGeom prst="rect">
            <a:avLst/>
          </a:prstGeom>
          <a:noFill/>
          <a:ln/>
        </p:spPr>
        <p:txBody>
          <a:bodyPr wrap="square" lIns="0" tIns="0" rIns="0" bIns="0" rtlCol="0" anchor="t"/>
          <a:lstStyle/>
          <a:p>
            <a:pPr algn="ctr" indent="0" marL="0">
              <a:buNone/>
            </a:pPr>
            <a:r>
              <a:rPr lang="en-US" sz="1000" dirty="0">
                <a:solidFill>
                  <a:srgbClr val="5E6978"/>
                </a:solidFill>
                <a:latin typeface="Calibri" pitchFamily="34" charset="0"/>
                <a:ea typeface="Calibri" pitchFamily="34" charset="-122"/>
                <a:cs typeface="Calibri" pitchFamily="34" charset="-120"/>
              </a:rPr>
              <a:t>Scan day</a:t>
            </a:r>
            <a:endParaRPr lang="en-US" sz="1000" dirty="0"/>
          </a:p>
        </p:txBody>
      </p:sp>
      <p:sp>
        <p:nvSpPr>
          <p:cNvPr id="10" name="Text 7"/>
          <p:cNvSpPr txBox="1"/>
          <p:nvPr/>
        </p:nvSpPr>
        <p:spPr>
          <a:xfrm>
            <a:off x="3098749" y="5074920"/>
            <a:ext cx="1097280" cy="237744"/>
          </a:xfrm>
          <a:prstGeom prst="rect">
            <a:avLst/>
          </a:prstGeom>
          <a:noFill/>
          <a:ln/>
        </p:spPr>
        <p:txBody>
          <a:bodyPr wrap="square" lIns="0" tIns="0" rIns="0" bIns="0" rtlCol="0" anchor="t"/>
          <a:lstStyle/>
          <a:p>
            <a:pPr algn="ctr" indent="0" marL="0">
              <a:buNone/>
            </a:pPr>
            <a:r>
              <a:rPr lang="en-US" sz="1000" dirty="0">
                <a:solidFill>
                  <a:srgbClr val="5E6978"/>
                </a:solidFill>
                <a:latin typeface="Calibri" pitchFamily="34" charset="0"/>
                <a:ea typeface="Calibri" pitchFamily="34" charset="-122"/>
                <a:cs typeface="Calibri" pitchFamily="34" charset="-120"/>
              </a:rPr>
              <a:t>Week 2</a:t>
            </a:r>
            <a:endParaRPr lang="en-US" sz="1000" dirty="0"/>
          </a:p>
        </p:txBody>
      </p:sp>
      <p:sp>
        <p:nvSpPr>
          <p:cNvPr id="11" name="Text 8"/>
          <p:cNvSpPr txBox="1"/>
          <p:nvPr/>
        </p:nvSpPr>
        <p:spPr>
          <a:xfrm>
            <a:off x="4643018" y="5074920"/>
            <a:ext cx="1097280" cy="237744"/>
          </a:xfrm>
          <a:prstGeom prst="rect">
            <a:avLst/>
          </a:prstGeom>
          <a:noFill/>
          <a:ln/>
        </p:spPr>
        <p:txBody>
          <a:bodyPr wrap="square" lIns="0" tIns="0" rIns="0" bIns="0" rtlCol="0" anchor="t"/>
          <a:lstStyle/>
          <a:p>
            <a:pPr algn="ctr" indent="0" marL="0">
              <a:buNone/>
            </a:pPr>
            <a:r>
              <a:rPr lang="en-US" sz="1000" dirty="0">
                <a:solidFill>
                  <a:srgbClr val="5E6978"/>
                </a:solidFill>
                <a:latin typeface="Calibri" pitchFamily="34" charset="0"/>
                <a:ea typeface="Calibri" pitchFamily="34" charset="-122"/>
                <a:cs typeface="Calibri" pitchFamily="34" charset="-120"/>
              </a:rPr>
              <a:t>Week 4</a:t>
            </a:r>
            <a:endParaRPr lang="en-US" sz="1000" dirty="0"/>
          </a:p>
        </p:txBody>
      </p:sp>
      <p:sp>
        <p:nvSpPr>
          <p:cNvPr id="12" name="Text 9"/>
          <p:cNvSpPr txBox="1"/>
          <p:nvPr/>
        </p:nvSpPr>
        <p:spPr>
          <a:xfrm>
            <a:off x="6187288" y="5074920"/>
            <a:ext cx="1097280" cy="237744"/>
          </a:xfrm>
          <a:prstGeom prst="rect">
            <a:avLst/>
          </a:prstGeom>
          <a:noFill/>
          <a:ln/>
        </p:spPr>
        <p:txBody>
          <a:bodyPr wrap="square" lIns="0" tIns="0" rIns="0" bIns="0" rtlCol="0" anchor="t"/>
          <a:lstStyle/>
          <a:p>
            <a:pPr algn="ctr" indent="0" marL="0">
              <a:buNone/>
            </a:pPr>
            <a:r>
              <a:rPr lang="en-US" sz="1000" dirty="0">
                <a:solidFill>
                  <a:srgbClr val="5E6978"/>
                </a:solidFill>
                <a:latin typeface="Calibri" pitchFamily="34" charset="0"/>
                <a:ea typeface="Calibri" pitchFamily="34" charset="-122"/>
                <a:cs typeface="Calibri" pitchFamily="34" charset="-120"/>
              </a:rPr>
              <a:t>Week 6</a:t>
            </a:r>
            <a:endParaRPr lang="en-US" sz="1000" dirty="0"/>
          </a:p>
        </p:txBody>
      </p:sp>
      <p:sp>
        <p:nvSpPr>
          <p:cNvPr id="13" name="Text 10"/>
          <p:cNvSpPr txBox="1"/>
          <p:nvPr/>
        </p:nvSpPr>
        <p:spPr>
          <a:xfrm>
            <a:off x="7731557" y="5074920"/>
            <a:ext cx="1097280" cy="237744"/>
          </a:xfrm>
          <a:prstGeom prst="rect">
            <a:avLst/>
          </a:prstGeom>
          <a:noFill/>
          <a:ln/>
        </p:spPr>
        <p:txBody>
          <a:bodyPr wrap="square" lIns="0" tIns="0" rIns="0" bIns="0" rtlCol="0" anchor="t"/>
          <a:lstStyle/>
          <a:p>
            <a:pPr algn="ctr" indent="0" marL="0">
              <a:buNone/>
            </a:pPr>
            <a:r>
              <a:rPr lang="en-US" sz="1000" dirty="0">
                <a:solidFill>
                  <a:srgbClr val="5E6978"/>
                </a:solidFill>
                <a:latin typeface="Calibri" pitchFamily="34" charset="0"/>
                <a:ea typeface="Calibri" pitchFamily="34" charset="-122"/>
                <a:cs typeface="Calibri" pitchFamily="34" charset="-120"/>
              </a:rPr>
              <a:t>Week 8</a:t>
            </a:r>
            <a:endParaRPr lang="en-US" sz="1000" dirty="0"/>
          </a:p>
        </p:txBody>
      </p:sp>
      <p:sp>
        <p:nvSpPr>
          <p:cNvPr id="14" name="Text 11"/>
          <p:cNvSpPr txBox="1"/>
          <p:nvPr/>
        </p:nvSpPr>
        <p:spPr>
          <a:xfrm>
            <a:off x="9275826" y="5074920"/>
            <a:ext cx="1097280" cy="237744"/>
          </a:xfrm>
          <a:prstGeom prst="rect">
            <a:avLst/>
          </a:prstGeom>
          <a:noFill/>
          <a:ln/>
        </p:spPr>
        <p:txBody>
          <a:bodyPr wrap="square" lIns="0" tIns="0" rIns="0" bIns="0" rtlCol="0" anchor="t"/>
          <a:lstStyle/>
          <a:p>
            <a:pPr algn="ctr" indent="0" marL="0">
              <a:buNone/>
            </a:pPr>
            <a:r>
              <a:rPr lang="en-US" sz="1000" dirty="0">
                <a:solidFill>
                  <a:srgbClr val="5E6978"/>
                </a:solidFill>
                <a:latin typeface="Calibri" pitchFamily="34" charset="0"/>
                <a:ea typeface="Calibri" pitchFamily="34" charset="-122"/>
                <a:cs typeface="Calibri" pitchFamily="34" charset="-120"/>
              </a:rPr>
              <a:t>Week 10</a:t>
            </a:r>
            <a:endParaRPr lang="en-US" sz="1000" dirty="0"/>
          </a:p>
        </p:txBody>
      </p:sp>
      <p:sp>
        <p:nvSpPr>
          <p:cNvPr id="15" name="Text 12"/>
          <p:cNvSpPr txBox="1"/>
          <p:nvPr/>
        </p:nvSpPr>
        <p:spPr>
          <a:xfrm>
            <a:off x="10820095" y="5074920"/>
            <a:ext cx="1097280" cy="237744"/>
          </a:xfrm>
          <a:prstGeom prst="rect">
            <a:avLst/>
          </a:prstGeom>
          <a:noFill/>
          <a:ln/>
        </p:spPr>
        <p:txBody>
          <a:bodyPr wrap="square" lIns="0" tIns="0" rIns="0" bIns="0" rtlCol="0" anchor="t"/>
          <a:lstStyle/>
          <a:p>
            <a:pPr algn="ctr" indent="0" marL="0">
              <a:buNone/>
            </a:pPr>
            <a:r>
              <a:rPr lang="en-US" sz="1000" dirty="0">
                <a:solidFill>
                  <a:srgbClr val="5E6978"/>
                </a:solidFill>
                <a:latin typeface="Calibri" pitchFamily="34" charset="0"/>
                <a:ea typeface="Calibri" pitchFamily="34" charset="-122"/>
                <a:cs typeface="Calibri" pitchFamily="34" charset="-120"/>
              </a:rPr>
              <a:t>Next scan</a:t>
            </a:r>
            <a:endParaRPr lang="en-US" sz="1000" dirty="0"/>
          </a:p>
        </p:txBody>
      </p:sp>
      <p:sp>
        <p:nvSpPr>
          <p:cNvPr id="16" name="Shape 13"/>
          <p:cNvSpPr/>
          <p:nvPr/>
        </p:nvSpPr>
        <p:spPr>
          <a:xfrm>
            <a:off x="2103120" y="3246120"/>
            <a:ext cx="9265615" cy="0"/>
          </a:xfrm>
          <a:prstGeom prst="line">
            <a:avLst/>
          </a:prstGeom>
          <a:noFill/>
          <a:ln w="19050">
            <a:solidFill>
              <a:srgbClr val="AEB7C2"/>
            </a:solidFill>
            <a:prstDash val="dash"/>
          </a:ln>
        </p:spPr>
      </p:sp>
      <p:sp>
        <p:nvSpPr>
          <p:cNvPr id="17" name="Shape 14"/>
          <p:cNvSpPr/>
          <p:nvPr/>
        </p:nvSpPr>
        <p:spPr>
          <a:xfrm>
            <a:off x="1874520" y="3017520"/>
            <a:ext cx="457200" cy="457200"/>
          </a:xfrm>
          <a:prstGeom prst="ellipse">
            <a:avLst/>
          </a:prstGeom>
          <a:solidFill>
            <a:srgbClr val="5D6B7E"/>
          </a:solidFill>
          <a:ln w="12700">
            <a:solidFill>
              <a:srgbClr val="5D6B7E"/>
            </a:solidFill>
            <a:prstDash val="solid"/>
          </a:ln>
        </p:spPr>
      </p:sp>
      <p:pic>
        <p:nvPicPr>
          <p:cNvPr id="18" name="Image 1" descr="preencoded.png">    </p:cNvPr>
          <p:cNvPicPr>
            <a:picLocks noChangeAspect="1"/>
          </p:cNvPicPr>
          <p:nvPr/>
        </p:nvPicPr>
        <p:blipFill>
          <a:blip r:embed="rId2"/>
          <a:stretch>
            <a:fillRect/>
          </a:stretch>
        </p:blipFill>
        <p:spPr>
          <a:xfrm>
            <a:off x="1993392" y="3136392"/>
            <a:ext cx="219456" cy="219456"/>
          </a:xfrm>
          <a:prstGeom prst="rect">
            <a:avLst/>
          </a:prstGeom>
        </p:spPr>
      </p:pic>
      <p:sp>
        <p:nvSpPr>
          <p:cNvPr id="19" name="Shape 15"/>
          <p:cNvSpPr/>
          <p:nvPr/>
        </p:nvSpPr>
        <p:spPr>
          <a:xfrm>
            <a:off x="11140135" y="3017520"/>
            <a:ext cx="457200" cy="457200"/>
          </a:xfrm>
          <a:prstGeom prst="ellipse">
            <a:avLst/>
          </a:prstGeom>
          <a:solidFill>
            <a:srgbClr val="5D6B7E"/>
          </a:solidFill>
          <a:ln w="12700">
            <a:solidFill>
              <a:srgbClr val="5D6B7E"/>
            </a:solidFill>
            <a:prstDash val="solid"/>
          </a:ln>
        </p:spPr>
      </p:sp>
      <p:pic>
        <p:nvPicPr>
          <p:cNvPr id="20" name="Image 2" descr="preencoded.png">    </p:cNvPr>
          <p:cNvPicPr>
            <a:picLocks noChangeAspect="1"/>
          </p:cNvPicPr>
          <p:nvPr/>
        </p:nvPicPr>
        <p:blipFill>
          <a:blip r:embed="rId3"/>
          <a:stretch>
            <a:fillRect/>
          </a:stretch>
        </p:blipFill>
        <p:spPr>
          <a:xfrm>
            <a:off x="11259007" y="3136392"/>
            <a:ext cx="219456" cy="219456"/>
          </a:xfrm>
          <a:prstGeom prst="rect">
            <a:avLst/>
          </a:prstGeom>
        </p:spPr>
      </p:pic>
      <p:sp>
        <p:nvSpPr>
          <p:cNvPr id="21" name="Shape 16"/>
          <p:cNvSpPr/>
          <p:nvPr/>
        </p:nvSpPr>
        <p:spPr>
          <a:xfrm>
            <a:off x="4157365" y="3063240"/>
            <a:ext cx="2377440" cy="365760"/>
          </a:xfrm>
          <a:prstGeom prst="roundRect">
            <a:avLst>
              <a:gd name="adj" fmla="val 50000"/>
            </a:avLst>
          </a:prstGeom>
          <a:solidFill>
            <a:srgbClr val="FFFFFF"/>
          </a:solidFill>
          <a:ln w="9525">
            <a:solidFill>
              <a:srgbClr val="AEB7C2"/>
            </a:solidFill>
            <a:prstDash val="solid"/>
          </a:ln>
        </p:spPr>
      </p:sp>
      <p:sp>
        <p:nvSpPr>
          <p:cNvPr id="22" name="Text 17"/>
          <p:cNvSpPr txBox="1"/>
          <p:nvPr/>
        </p:nvSpPr>
        <p:spPr>
          <a:xfrm>
            <a:off x="4157365" y="3063240"/>
            <a:ext cx="2377440" cy="365760"/>
          </a:xfrm>
          <a:prstGeom prst="rect">
            <a:avLst/>
          </a:prstGeom>
          <a:noFill/>
          <a:ln/>
        </p:spPr>
        <p:txBody>
          <a:bodyPr wrap="square" lIns="0" tIns="0" rIns="0" bIns="0" rtlCol="0" anchor="ctr"/>
          <a:lstStyle/>
          <a:p>
            <a:pPr algn="ctr" indent="0" marL="0">
              <a:buNone/>
            </a:pPr>
            <a:r>
              <a:rPr lang="en-US" sz="1150" b="1" dirty="0">
                <a:solidFill>
                  <a:srgbClr val="5D6B7E"/>
                </a:solidFill>
                <a:latin typeface="Calibri" pitchFamily="34" charset="0"/>
                <a:ea typeface="Calibri" pitchFamily="34" charset="-122"/>
                <a:cs typeface="Calibri" pitchFamily="34" charset="-120"/>
              </a:rPr>
              <a:t>No visibility between scans</a:t>
            </a:r>
            <a:endParaRPr lang="en-US" sz="1150" dirty="0"/>
          </a:p>
        </p:txBody>
      </p:sp>
      <p:sp>
        <p:nvSpPr>
          <p:cNvPr id="23" name="Shape 18"/>
          <p:cNvSpPr/>
          <p:nvPr/>
        </p:nvSpPr>
        <p:spPr>
          <a:xfrm>
            <a:off x="2103120" y="4443984"/>
            <a:ext cx="9265615" cy="164592"/>
          </a:xfrm>
          <a:prstGeom prst="rect">
            <a:avLst/>
          </a:prstGeom>
          <a:solidFill>
            <a:srgbClr val="E3202A"/>
          </a:solidFill>
          <a:ln w="12700">
            <a:solidFill>
              <a:srgbClr val="E3202A"/>
            </a:solidFill>
            <a:prstDash val="solid"/>
          </a:ln>
        </p:spPr>
      </p:sp>
      <p:pic>
        <p:nvPicPr>
          <p:cNvPr id="24" name="Image 3" descr="preencoded.png">    </p:cNvPr>
          <p:cNvPicPr>
            <a:picLocks noChangeAspect="1"/>
          </p:cNvPicPr>
          <p:nvPr/>
        </p:nvPicPr>
        <p:blipFill>
          <a:blip r:embed="rId4"/>
          <a:stretch>
            <a:fillRect/>
          </a:stretch>
        </p:blipFill>
        <p:spPr>
          <a:xfrm>
            <a:off x="3773363" y="2148840"/>
            <a:ext cx="365760" cy="365760"/>
          </a:xfrm>
          <a:prstGeom prst="rect">
            <a:avLst/>
          </a:prstGeom>
        </p:spPr>
      </p:pic>
      <p:sp>
        <p:nvSpPr>
          <p:cNvPr id="25" name="Text 19"/>
          <p:cNvSpPr txBox="1"/>
          <p:nvPr/>
        </p:nvSpPr>
        <p:spPr>
          <a:xfrm>
            <a:off x="2813243" y="1572768"/>
            <a:ext cx="2286000" cy="530352"/>
          </a:xfrm>
          <a:prstGeom prst="rect">
            <a:avLst/>
          </a:prstGeom>
          <a:noFill/>
          <a:ln/>
        </p:spPr>
        <p:txBody>
          <a:bodyPr wrap="square" lIns="0" tIns="0" rIns="0" bIns="0" rtlCol="0" anchor="b"/>
          <a:lstStyle/>
          <a:p>
            <a:pPr algn="ctr" indent="0" marL="0">
              <a:buNone/>
            </a:pPr>
            <a:r>
              <a:rPr lang="en-US" sz="1100" b="1" dirty="0">
                <a:solidFill>
                  <a:srgbClr val="151A21"/>
                </a:solidFill>
                <a:latin typeface="Calibri" pitchFamily="34" charset="0"/>
                <a:ea typeface="Calibri" pitchFamily="34" charset="-122"/>
                <a:cs typeface="Calibri" pitchFamily="34" charset="-120"/>
              </a:rPr>
              <a:t>Zero-day disclosed and exploited</a:t>
            </a:r>
            <a:endParaRPr lang="en-US" sz="1100" dirty="0"/>
          </a:p>
        </p:txBody>
      </p:sp>
      <p:sp>
        <p:nvSpPr>
          <p:cNvPr id="26" name="Shape 20"/>
          <p:cNvSpPr/>
          <p:nvPr/>
        </p:nvSpPr>
        <p:spPr>
          <a:xfrm>
            <a:off x="3956243" y="2560320"/>
            <a:ext cx="0" cy="1737360"/>
          </a:xfrm>
          <a:prstGeom prst="line">
            <a:avLst/>
          </a:prstGeom>
          <a:noFill/>
          <a:ln w="12700">
            <a:solidFill>
              <a:srgbClr val="E7A1A4"/>
            </a:solidFill>
            <a:prstDash val="sysDot"/>
          </a:ln>
        </p:spPr>
      </p:sp>
      <p:sp>
        <p:nvSpPr>
          <p:cNvPr id="27" name="Shape 21"/>
          <p:cNvSpPr/>
          <p:nvPr/>
        </p:nvSpPr>
        <p:spPr>
          <a:xfrm>
            <a:off x="3755075" y="4325112"/>
            <a:ext cx="402336" cy="402336"/>
          </a:xfrm>
          <a:prstGeom prst="ellipse">
            <a:avLst/>
          </a:prstGeom>
          <a:solidFill>
            <a:srgbClr val="FFFFFF"/>
          </a:solidFill>
          <a:ln w="12700">
            <a:solidFill>
              <a:srgbClr val="FFFFFF"/>
            </a:solidFill>
            <a:prstDash val="solid"/>
          </a:ln>
        </p:spPr>
      </p:sp>
      <p:pic>
        <p:nvPicPr>
          <p:cNvPr id="28" name="Image 4" descr="preencoded.png">    </p:cNvPr>
          <p:cNvPicPr>
            <a:picLocks noChangeAspect="1"/>
          </p:cNvPicPr>
          <p:nvPr/>
        </p:nvPicPr>
        <p:blipFill>
          <a:blip r:embed="rId5"/>
          <a:stretch>
            <a:fillRect/>
          </a:stretch>
        </p:blipFill>
        <p:spPr>
          <a:xfrm>
            <a:off x="3859682" y="4429719"/>
            <a:ext cx="193121" cy="193121"/>
          </a:xfrm>
          <a:prstGeom prst="rect">
            <a:avLst/>
          </a:prstGeom>
        </p:spPr>
      </p:pic>
      <p:sp>
        <p:nvSpPr>
          <p:cNvPr id="29" name="Shape 22"/>
          <p:cNvSpPr/>
          <p:nvPr/>
        </p:nvSpPr>
        <p:spPr>
          <a:xfrm>
            <a:off x="3755075" y="4325112"/>
            <a:ext cx="402336" cy="402336"/>
          </a:xfrm>
          <a:prstGeom prst="ellipse">
            <a:avLst/>
          </a:prstGeom>
          <a:ln w="25400">
            <a:solidFill>
              <a:srgbClr val="E3202A"/>
            </a:solidFill>
            <a:prstDash val="solid"/>
          </a:ln>
        </p:spPr>
      </p:sp>
      <p:sp>
        <p:nvSpPr>
          <p:cNvPr id="30" name="Text 23"/>
          <p:cNvSpPr txBox="1"/>
          <p:nvPr/>
        </p:nvSpPr>
        <p:spPr>
          <a:xfrm>
            <a:off x="2950403" y="4782312"/>
            <a:ext cx="2011680" cy="256032"/>
          </a:xfrm>
          <a:prstGeom prst="rect">
            <a:avLst/>
          </a:prstGeom>
          <a:noFill/>
          <a:ln/>
        </p:spPr>
        <p:txBody>
          <a:bodyPr wrap="square" lIns="0" tIns="0" rIns="0" bIns="0" rtlCol="0" anchor="t"/>
          <a:lstStyle/>
          <a:p>
            <a:pPr algn="ctr" indent="0" marL="0">
              <a:buNone/>
            </a:pPr>
            <a:r>
              <a:rPr lang="en-US" sz="1050" b="1" dirty="0">
                <a:solidFill>
                  <a:srgbClr val="E3202A"/>
                </a:solidFill>
                <a:latin typeface="Calibri" pitchFamily="34" charset="0"/>
                <a:ea typeface="Calibri" pitchFamily="34" charset="-122"/>
                <a:cs typeface="Calibri" pitchFamily="34" charset="-120"/>
              </a:rPr>
              <a:t>Blocked by behavior</a:t>
            </a:r>
            <a:endParaRPr lang="en-US" sz="1050" dirty="0"/>
          </a:p>
        </p:txBody>
      </p:sp>
      <p:pic>
        <p:nvPicPr>
          <p:cNvPr id="31" name="Image 5" descr="preencoded.png">    </p:cNvPr>
          <p:cNvPicPr>
            <a:picLocks noChangeAspect="1"/>
          </p:cNvPicPr>
          <p:nvPr/>
        </p:nvPicPr>
        <p:blipFill>
          <a:blip r:embed="rId6"/>
          <a:stretch>
            <a:fillRect/>
          </a:stretch>
        </p:blipFill>
        <p:spPr>
          <a:xfrm>
            <a:off x="6553048" y="2148840"/>
            <a:ext cx="365760" cy="365760"/>
          </a:xfrm>
          <a:prstGeom prst="rect">
            <a:avLst/>
          </a:prstGeom>
        </p:spPr>
      </p:pic>
      <p:sp>
        <p:nvSpPr>
          <p:cNvPr id="32" name="Text 24"/>
          <p:cNvSpPr txBox="1"/>
          <p:nvPr/>
        </p:nvSpPr>
        <p:spPr>
          <a:xfrm>
            <a:off x="5592928" y="1572768"/>
            <a:ext cx="2286000" cy="530352"/>
          </a:xfrm>
          <a:prstGeom prst="rect">
            <a:avLst/>
          </a:prstGeom>
          <a:noFill/>
          <a:ln/>
        </p:spPr>
        <p:txBody>
          <a:bodyPr wrap="square" lIns="0" tIns="0" rIns="0" bIns="0" rtlCol="0" anchor="b"/>
          <a:lstStyle/>
          <a:p>
            <a:pPr algn="ctr" indent="0" marL="0">
              <a:buNone/>
            </a:pPr>
            <a:r>
              <a:rPr lang="en-US" sz="1100" b="1" dirty="0">
                <a:solidFill>
                  <a:srgbClr val="151A21"/>
                </a:solidFill>
                <a:latin typeface="Calibri" pitchFamily="34" charset="0"/>
                <a:ea typeface="Calibri" pitchFamily="34" charset="-122"/>
                <a:cs typeface="Calibri" pitchFamily="34" charset="-120"/>
              </a:rPr>
              <a:t>Phishing email opens a backdoor</a:t>
            </a:r>
            <a:endParaRPr lang="en-US" sz="1100" dirty="0"/>
          </a:p>
        </p:txBody>
      </p:sp>
      <p:sp>
        <p:nvSpPr>
          <p:cNvPr id="33" name="Shape 25"/>
          <p:cNvSpPr/>
          <p:nvPr/>
        </p:nvSpPr>
        <p:spPr>
          <a:xfrm>
            <a:off x="6735928" y="2560320"/>
            <a:ext cx="0" cy="1737360"/>
          </a:xfrm>
          <a:prstGeom prst="line">
            <a:avLst/>
          </a:prstGeom>
          <a:noFill/>
          <a:ln w="12700">
            <a:solidFill>
              <a:srgbClr val="E7A1A4"/>
            </a:solidFill>
            <a:prstDash val="sysDot"/>
          </a:ln>
        </p:spPr>
      </p:sp>
      <p:sp>
        <p:nvSpPr>
          <p:cNvPr id="34" name="Shape 26"/>
          <p:cNvSpPr/>
          <p:nvPr/>
        </p:nvSpPr>
        <p:spPr>
          <a:xfrm>
            <a:off x="6534760" y="4325112"/>
            <a:ext cx="402336" cy="402336"/>
          </a:xfrm>
          <a:prstGeom prst="ellipse">
            <a:avLst/>
          </a:prstGeom>
          <a:solidFill>
            <a:srgbClr val="FFFFFF"/>
          </a:solidFill>
          <a:ln w="12700">
            <a:solidFill>
              <a:srgbClr val="FFFFFF"/>
            </a:solidFill>
            <a:prstDash val="solid"/>
          </a:ln>
        </p:spPr>
      </p:sp>
      <p:pic>
        <p:nvPicPr>
          <p:cNvPr id="35" name="Image 6" descr="preencoded.png">    </p:cNvPr>
          <p:cNvPicPr>
            <a:picLocks noChangeAspect="1"/>
          </p:cNvPicPr>
          <p:nvPr/>
        </p:nvPicPr>
        <p:blipFill>
          <a:blip r:embed="rId7"/>
          <a:stretch>
            <a:fillRect/>
          </a:stretch>
        </p:blipFill>
        <p:spPr>
          <a:xfrm>
            <a:off x="6639367" y="4429719"/>
            <a:ext cx="193121" cy="193121"/>
          </a:xfrm>
          <a:prstGeom prst="rect">
            <a:avLst/>
          </a:prstGeom>
        </p:spPr>
      </p:pic>
      <p:sp>
        <p:nvSpPr>
          <p:cNvPr id="36" name="Shape 27"/>
          <p:cNvSpPr/>
          <p:nvPr/>
        </p:nvSpPr>
        <p:spPr>
          <a:xfrm>
            <a:off x="6534760" y="4325112"/>
            <a:ext cx="402336" cy="402336"/>
          </a:xfrm>
          <a:prstGeom prst="ellipse">
            <a:avLst/>
          </a:prstGeom>
          <a:ln w="25400">
            <a:solidFill>
              <a:srgbClr val="E3202A"/>
            </a:solidFill>
            <a:prstDash val="solid"/>
          </a:ln>
        </p:spPr>
      </p:sp>
      <p:sp>
        <p:nvSpPr>
          <p:cNvPr id="37" name="Text 28"/>
          <p:cNvSpPr txBox="1"/>
          <p:nvPr/>
        </p:nvSpPr>
        <p:spPr>
          <a:xfrm>
            <a:off x="5730088" y="4782312"/>
            <a:ext cx="2011680" cy="256032"/>
          </a:xfrm>
          <a:prstGeom prst="rect">
            <a:avLst/>
          </a:prstGeom>
          <a:noFill/>
          <a:ln/>
        </p:spPr>
        <p:txBody>
          <a:bodyPr wrap="square" lIns="0" tIns="0" rIns="0" bIns="0" rtlCol="0" anchor="t"/>
          <a:lstStyle/>
          <a:p>
            <a:pPr algn="ctr" indent="0" marL="0">
              <a:buNone/>
            </a:pPr>
            <a:r>
              <a:rPr lang="en-US" sz="1050" b="1" dirty="0">
                <a:solidFill>
                  <a:srgbClr val="E3202A"/>
                </a:solidFill>
                <a:latin typeface="Calibri" pitchFamily="34" charset="0"/>
                <a:ea typeface="Calibri" pitchFamily="34" charset="-122"/>
                <a:cs typeface="Calibri" pitchFamily="34" charset="-120"/>
              </a:rPr>
              <a:t>Detected and contained</a:t>
            </a:r>
            <a:endParaRPr lang="en-US" sz="1050" dirty="0"/>
          </a:p>
        </p:txBody>
      </p:sp>
      <p:pic>
        <p:nvPicPr>
          <p:cNvPr id="38" name="Image 7" descr="preencoded.png">    </p:cNvPr>
          <p:cNvPicPr>
            <a:picLocks noChangeAspect="1"/>
          </p:cNvPicPr>
          <p:nvPr/>
        </p:nvPicPr>
        <p:blipFill>
          <a:blip r:embed="rId8"/>
          <a:stretch>
            <a:fillRect/>
          </a:stretch>
        </p:blipFill>
        <p:spPr>
          <a:xfrm>
            <a:off x="9332732" y="2148840"/>
            <a:ext cx="365760" cy="365760"/>
          </a:xfrm>
          <a:prstGeom prst="rect">
            <a:avLst/>
          </a:prstGeom>
        </p:spPr>
      </p:pic>
      <p:sp>
        <p:nvSpPr>
          <p:cNvPr id="39" name="Text 29"/>
          <p:cNvSpPr txBox="1"/>
          <p:nvPr/>
        </p:nvSpPr>
        <p:spPr>
          <a:xfrm>
            <a:off x="8372612" y="1572768"/>
            <a:ext cx="2286000" cy="530352"/>
          </a:xfrm>
          <a:prstGeom prst="rect">
            <a:avLst/>
          </a:prstGeom>
          <a:noFill/>
          <a:ln/>
        </p:spPr>
        <p:txBody>
          <a:bodyPr wrap="square" lIns="0" tIns="0" rIns="0" bIns="0" rtlCol="0" anchor="b"/>
          <a:lstStyle/>
          <a:p>
            <a:pPr algn="ctr" indent="0" marL="0">
              <a:buNone/>
            </a:pPr>
            <a:r>
              <a:rPr lang="en-US" sz="1100" b="1" dirty="0">
                <a:solidFill>
                  <a:srgbClr val="151A21"/>
                </a:solidFill>
                <a:latin typeface="Calibri" pitchFamily="34" charset="0"/>
                <a:ea typeface="Calibri" pitchFamily="34" charset="-122"/>
                <a:cs typeface="Calibri" pitchFamily="34" charset="-120"/>
              </a:rPr>
              <a:t>Ransomware hits a front-desk PC</a:t>
            </a:r>
            <a:endParaRPr lang="en-US" sz="1100" dirty="0"/>
          </a:p>
        </p:txBody>
      </p:sp>
      <p:sp>
        <p:nvSpPr>
          <p:cNvPr id="40" name="Shape 30"/>
          <p:cNvSpPr/>
          <p:nvPr/>
        </p:nvSpPr>
        <p:spPr>
          <a:xfrm>
            <a:off x="9515612" y="2560320"/>
            <a:ext cx="0" cy="1737360"/>
          </a:xfrm>
          <a:prstGeom prst="line">
            <a:avLst/>
          </a:prstGeom>
          <a:noFill/>
          <a:ln w="12700">
            <a:solidFill>
              <a:srgbClr val="E7A1A4"/>
            </a:solidFill>
            <a:prstDash val="sysDot"/>
          </a:ln>
        </p:spPr>
      </p:sp>
      <p:sp>
        <p:nvSpPr>
          <p:cNvPr id="41" name="Shape 31"/>
          <p:cNvSpPr/>
          <p:nvPr/>
        </p:nvSpPr>
        <p:spPr>
          <a:xfrm>
            <a:off x="9314444" y="4325112"/>
            <a:ext cx="402336" cy="402336"/>
          </a:xfrm>
          <a:prstGeom prst="ellipse">
            <a:avLst/>
          </a:prstGeom>
          <a:solidFill>
            <a:srgbClr val="FFFFFF"/>
          </a:solidFill>
          <a:ln w="12700">
            <a:solidFill>
              <a:srgbClr val="FFFFFF"/>
            </a:solidFill>
            <a:prstDash val="solid"/>
          </a:ln>
        </p:spPr>
      </p:sp>
      <p:pic>
        <p:nvPicPr>
          <p:cNvPr id="42" name="Image 8" descr="preencoded.png">    </p:cNvPr>
          <p:cNvPicPr>
            <a:picLocks noChangeAspect="1"/>
          </p:cNvPicPr>
          <p:nvPr/>
        </p:nvPicPr>
        <p:blipFill>
          <a:blip r:embed="rId9"/>
          <a:stretch>
            <a:fillRect/>
          </a:stretch>
        </p:blipFill>
        <p:spPr>
          <a:xfrm>
            <a:off x="9419052" y="4429719"/>
            <a:ext cx="193121" cy="193121"/>
          </a:xfrm>
          <a:prstGeom prst="rect">
            <a:avLst/>
          </a:prstGeom>
        </p:spPr>
      </p:pic>
      <p:sp>
        <p:nvSpPr>
          <p:cNvPr id="43" name="Shape 32"/>
          <p:cNvSpPr/>
          <p:nvPr/>
        </p:nvSpPr>
        <p:spPr>
          <a:xfrm>
            <a:off x="9314444" y="4325112"/>
            <a:ext cx="402336" cy="402336"/>
          </a:xfrm>
          <a:prstGeom prst="ellipse">
            <a:avLst/>
          </a:prstGeom>
          <a:ln w="25400">
            <a:solidFill>
              <a:srgbClr val="E3202A"/>
            </a:solidFill>
            <a:prstDash val="solid"/>
          </a:ln>
        </p:spPr>
      </p:sp>
      <p:sp>
        <p:nvSpPr>
          <p:cNvPr id="44" name="Text 33"/>
          <p:cNvSpPr txBox="1"/>
          <p:nvPr/>
        </p:nvSpPr>
        <p:spPr>
          <a:xfrm>
            <a:off x="8509772" y="4782312"/>
            <a:ext cx="2011680" cy="256032"/>
          </a:xfrm>
          <a:prstGeom prst="rect">
            <a:avLst/>
          </a:prstGeom>
          <a:noFill/>
          <a:ln/>
        </p:spPr>
        <p:txBody>
          <a:bodyPr wrap="square" lIns="0" tIns="0" rIns="0" bIns="0" rtlCol="0" anchor="t"/>
          <a:lstStyle/>
          <a:p>
            <a:pPr algn="ctr" indent="0" marL="0">
              <a:buNone/>
            </a:pPr>
            <a:r>
              <a:rPr lang="en-US" sz="1050" b="1" dirty="0">
                <a:solidFill>
                  <a:srgbClr val="E3202A"/>
                </a:solidFill>
                <a:latin typeface="Calibri" pitchFamily="34" charset="0"/>
                <a:ea typeface="Calibri" pitchFamily="34" charset="-122"/>
                <a:cs typeface="Calibri" pitchFamily="34" charset="-120"/>
              </a:rPr>
              <a:t>Stopped before encryption</a:t>
            </a:r>
            <a:endParaRPr lang="en-US" sz="1050" dirty="0"/>
          </a:p>
        </p:txBody>
      </p:sp>
      <p:sp>
        <p:nvSpPr>
          <p:cNvPr id="45" name="Shape 34"/>
          <p:cNvSpPr/>
          <p:nvPr/>
        </p:nvSpPr>
        <p:spPr>
          <a:xfrm>
            <a:off x="548640" y="5468112"/>
            <a:ext cx="11094415" cy="566928"/>
          </a:xfrm>
          <a:prstGeom prst="roundRect">
            <a:avLst>
              <a:gd name="adj" fmla="val 12903"/>
            </a:avLst>
          </a:prstGeom>
          <a:solidFill>
            <a:srgbClr val="0B0D12"/>
          </a:solidFill>
          <a:ln w="12700">
            <a:solidFill>
              <a:srgbClr val="0B0D12"/>
            </a:solidFill>
            <a:prstDash val="solid"/>
          </a:ln>
        </p:spPr>
      </p:sp>
      <p:sp>
        <p:nvSpPr>
          <p:cNvPr id="46" name="Text 35"/>
          <p:cNvSpPr txBox="1"/>
          <p:nvPr/>
        </p:nvSpPr>
        <p:spPr>
          <a:xfrm>
            <a:off x="868680" y="5468112"/>
            <a:ext cx="10454335" cy="566928"/>
          </a:xfrm>
          <a:prstGeom prst="rect">
            <a:avLst/>
          </a:prstGeom>
          <a:noFill/>
          <a:ln/>
        </p:spPr>
        <p:txBody>
          <a:bodyPr wrap="square" lIns="0" tIns="0" rIns="0" bIns="0" rtlCol="0" anchor="ctr"/>
          <a:lstStyle/>
          <a:p>
            <a:pPr indent="0" marL="0">
              <a:buNone/>
            </a:pPr>
            <a:r>
              <a:rPr lang="en-US" sz="1350" dirty="0">
                <a:solidFill>
                  <a:srgbClr val="C9CED6"/>
                </a:solidFill>
                <a:latin typeface="Calibri" pitchFamily="34" charset="0"/>
                <a:ea typeface="Calibri" pitchFamily="34" charset="-122"/>
                <a:cs typeface="Calibri" pitchFamily="34" charset="-120"/>
              </a:rPr>
              <a:t>A scan shows where you were exposed on the day it ran. </a:t>
            </a:r>
            <a:pPr indent="0" marL="0">
              <a:buNone/>
            </a:pPr>
            <a:r>
              <a:rPr lang="en-US" sz="1350" b="1" dirty="0">
                <a:solidFill>
                  <a:srgbClr val="FFFFFF"/>
                </a:solidFill>
                <a:latin typeface="Calibri" pitchFamily="34" charset="0"/>
                <a:ea typeface="Calibri" pitchFamily="34" charset="-122"/>
                <a:cs typeface="Calibri" pitchFamily="34" charset="-120"/>
              </a:rPr>
              <a:t>Falcon protects every endpoint every moment in between.</a:t>
            </a:r>
            <a:endParaRPr lang="en-US" sz="1350" dirty="0"/>
          </a:p>
        </p:txBody>
      </p:sp>
      <p:sp>
        <p:nvSpPr>
          <p:cNvPr id="47" name="Text 36"/>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07   |   Nessus vs. CrowdStrike Falcon Platform  ·  Proposal for The Westin Resort Guam</a:t>
            </a:r>
            <a:endParaRPr lang="en-US" sz="900" dirty="0"/>
          </a:p>
        </p:txBody>
      </p:sp>
      <p:pic>
        <p:nvPicPr>
          <p:cNvPr id="48" name="Image 9" descr="/private/tmp/claude-501/-Users-jihanvin-Desktop-NIVNAH-AI/16a96446-d9b3-40e2-af9e-a3011ae3db84/scratchpad/assets/secukorea_dark.png">    </p:cNvPr>
          <p:cNvPicPr>
            <a:picLocks noChangeAspect="1"/>
          </p:cNvPicPr>
          <p:nvPr/>
        </p:nvPicPr>
        <p:blipFill>
          <a:blip r:embed="rId10"/>
          <a:stretch>
            <a:fillRect/>
          </a:stretch>
        </p:blipFill>
        <p:spPr>
          <a:xfrm>
            <a:off x="10661904" y="6400800"/>
            <a:ext cx="978408" cy="23317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06   THE SOLUTION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CrowdStrike Falcon: One Sensor. One Platform.</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502920" cy="502920"/>
          </a:xfrm>
          <a:prstGeom prst="roundRect">
            <a:avLst>
              <a:gd name="adj" fmla="val 18182"/>
            </a:avLst>
          </a:prstGeom>
          <a:solidFill>
            <a:srgbClr val="FDECEC"/>
          </a:solidFill>
          <a:ln w="12700">
            <a:solidFill>
              <a:srgbClr val="FDECEC"/>
            </a:solidFill>
            <a:prstDash val="solid"/>
          </a:ln>
        </p:spPr>
      </p:sp>
      <p:pic>
        <p:nvPicPr>
          <p:cNvPr id="6" name="Image 1" descr="preencoded.png">    </p:cNvPr>
          <p:cNvPicPr>
            <a:picLocks noChangeAspect="1"/>
          </p:cNvPicPr>
          <p:nvPr/>
        </p:nvPicPr>
        <p:blipFill>
          <a:blip r:embed="rId2"/>
          <a:stretch>
            <a:fillRect/>
          </a:stretch>
        </p:blipFill>
        <p:spPr>
          <a:xfrm>
            <a:off x="659282" y="1665122"/>
            <a:ext cx="281635" cy="281635"/>
          </a:xfrm>
          <a:prstGeom prst="rect">
            <a:avLst/>
          </a:prstGeom>
        </p:spPr>
      </p:pic>
      <p:sp>
        <p:nvSpPr>
          <p:cNvPr id="7" name="Text 3"/>
          <p:cNvSpPr txBox="1"/>
          <p:nvPr/>
        </p:nvSpPr>
        <p:spPr>
          <a:xfrm>
            <a:off x="1261872" y="1527048"/>
            <a:ext cx="4572000" cy="292608"/>
          </a:xfrm>
          <a:prstGeom prst="rect">
            <a:avLst/>
          </a:prstGeom>
          <a:noFill/>
          <a:ln/>
        </p:spPr>
        <p:txBody>
          <a:bodyPr wrap="square" lIns="0" tIns="0" rIns="0" bIns="0" rtlCol="0" anchor="t"/>
          <a:lstStyle/>
          <a:p>
            <a:pPr indent="0" marL="0">
              <a:buNone/>
            </a:pPr>
            <a:r>
              <a:rPr lang="en-US" sz="1400" b="1" dirty="0">
                <a:solidFill>
                  <a:srgbClr val="151A21"/>
                </a:solidFill>
                <a:latin typeface="Arial" pitchFamily="34" charset="0"/>
                <a:ea typeface="Arial" pitchFamily="34" charset="-122"/>
                <a:cs typeface="Arial" pitchFamily="34" charset="-120"/>
              </a:rPr>
              <a:t>Lightweight single sensor</a:t>
            </a:r>
            <a:endParaRPr lang="en-US" sz="1400" dirty="0"/>
          </a:p>
        </p:txBody>
      </p:sp>
      <p:sp>
        <p:nvSpPr>
          <p:cNvPr id="8" name="Text 4"/>
          <p:cNvSpPr txBox="1"/>
          <p:nvPr/>
        </p:nvSpPr>
        <p:spPr>
          <a:xfrm>
            <a:off x="1261872" y="1828800"/>
            <a:ext cx="4572000" cy="512064"/>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Deploys in minutes with no complex tuning; covers all major operating systems, online or offline.</a:t>
            </a:r>
            <a:endParaRPr lang="en-US" sz="1150" dirty="0"/>
          </a:p>
        </p:txBody>
      </p:sp>
      <p:sp>
        <p:nvSpPr>
          <p:cNvPr id="9" name="Shape 5"/>
          <p:cNvSpPr/>
          <p:nvPr/>
        </p:nvSpPr>
        <p:spPr>
          <a:xfrm>
            <a:off x="548640" y="2441448"/>
            <a:ext cx="502920" cy="502920"/>
          </a:xfrm>
          <a:prstGeom prst="roundRect">
            <a:avLst>
              <a:gd name="adj" fmla="val 18182"/>
            </a:avLst>
          </a:prstGeom>
          <a:solidFill>
            <a:srgbClr val="FDECEC"/>
          </a:solidFill>
          <a:ln w="12700">
            <a:solidFill>
              <a:srgbClr val="FDECEC"/>
            </a:solidFill>
            <a:prstDash val="solid"/>
          </a:ln>
        </p:spPr>
      </p:sp>
      <p:pic>
        <p:nvPicPr>
          <p:cNvPr id="10" name="Image 2" descr="preencoded.png">    </p:cNvPr>
          <p:cNvPicPr>
            <a:picLocks noChangeAspect="1"/>
          </p:cNvPicPr>
          <p:nvPr/>
        </p:nvPicPr>
        <p:blipFill>
          <a:blip r:embed="rId3"/>
          <a:stretch>
            <a:fillRect/>
          </a:stretch>
        </p:blipFill>
        <p:spPr>
          <a:xfrm>
            <a:off x="659282" y="2552090"/>
            <a:ext cx="281635" cy="281635"/>
          </a:xfrm>
          <a:prstGeom prst="rect">
            <a:avLst/>
          </a:prstGeom>
        </p:spPr>
      </p:pic>
      <p:sp>
        <p:nvSpPr>
          <p:cNvPr id="11" name="Text 6"/>
          <p:cNvSpPr txBox="1"/>
          <p:nvPr/>
        </p:nvSpPr>
        <p:spPr>
          <a:xfrm>
            <a:off x="1261872" y="2414016"/>
            <a:ext cx="4572000" cy="292608"/>
          </a:xfrm>
          <a:prstGeom prst="rect">
            <a:avLst/>
          </a:prstGeom>
          <a:noFill/>
          <a:ln/>
        </p:spPr>
        <p:txBody>
          <a:bodyPr wrap="square" lIns="0" tIns="0" rIns="0" bIns="0" rtlCol="0" anchor="t"/>
          <a:lstStyle/>
          <a:p>
            <a:pPr indent="0" marL="0">
              <a:buNone/>
            </a:pPr>
            <a:r>
              <a:rPr lang="en-US" sz="1400" b="1" dirty="0">
                <a:solidFill>
                  <a:srgbClr val="151A21"/>
                </a:solidFill>
                <a:latin typeface="Arial" pitchFamily="34" charset="0"/>
                <a:ea typeface="Arial" pitchFamily="34" charset="-122"/>
                <a:cs typeface="Arial" pitchFamily="34" charset="-120"/>
              </a:rPr>
              <a:t>AI-native protection</a:t>
            </a:r>
            <a:endParaRPr lang="en-US" sz="1400" dirty="0"/>
          </a:p>
        </p:txBody>
      </p:sp>
      <p:sp>
        <p:nvSpPr>
          <p:cNvPr id="12" name="Text 7"/>
          <p:cNvSpPr txBox="1"/>
          <p:nvPr/>
        </p:nvSpPr>
        <p:spPr>
          <a:xfrm>
            <a:off x="1261872" y="2715768"/>
            <a:ext cx="4572000" cy="512064"/>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Machine learning on the sensor and in the cloud stops malware, fileless and zero-day attacks.</a:t>
            </a:r>
            <a:endParaRPr lang="en-US" sz="1150" dirty="0"/>
          </a:p>
        </p:txBody>
      </p:sp>
      <p:sp>
        <p:nvSpPr>
          <p:cNvPr id="13" name="Shape 8"/>
          <p:cNvSpPr/>
          <p:nvPr/>
        </p:nvSpPr>
        <p:spPr>
          <a:xfrm>
            <a:off x="548640" y="3328416"/>
            <a:ext cx="502920" cy="502920"/>
          </a:xfrm>
          <a:prstGeom prst="roundRect">
            <a:avLst>
              <a:gd name="adj" fmla="val 18182"/>
            </a:avLst>
          </a:prstGeom>
          <a:solidFill>
            <a:srgbClr val="FDECEC"/>
          </a:solidFill>
          <a:ln w="12700">
            <a:solidFill>
              <a:srgbClr val="FDECEC"/>
            </a:solidFill>
            <a:prstDash val="solid"/>
          </a:ln>
        </p:spPr>
      </p:sp>
      <p:pic>
        <p:nvPicPr>
          <p:cNvPr id="14" name="Image 3" descr="preencoded.png">    </p:cNvPr>
          <p:cNvPicPr>
            <a:picLocks noChangeAspect="1"/>
          </p:cNvPicPr>
          <p:nvPr/>
        </p:nvPicPr>
        <p:blipFill>
          <a:blip r:embed="rId4"/>
          <a:stretch>
            <a:fillRect/>
          </a:stretch>
        </p:blipFill>
        <p:spPr>
          <a:xfrm>
            <a:off x="659282" y="3439058"/>
            <a:ext cx="281635" cy="281635"/>
          </a:xfrm>
          <a:prstGeom prst="rect">
            <a:avLst/>
          </a:prstGeom>
        </p:spPr>
      </p:pic>
      <p:sp>
        <p:nvSpPr>
          <p:cNvPr id="15" name="Text 9"/>
          <p:cNvSpPr txBox="1"/>
          <p:nvPr/>
        </p:nvSpPr>
        <p:spPr>
          <a:xfrm>
            <a:off x="1261872" y="3300984"/>
            <a:ext cx="4572000" cy="292608"/>
          </a:xfrm>
          <a:prstGeom prst="rect">
            <a:avLst/>
          </a:prstGeom>
          <a:noFill/>
          <a:ln/>
        </p:spPr>
        <p:txBody>
          <a:bodyPr wrap="square" lIns="0" tIns="0" rIns="0" bIns="0" rtlCol="0" anchor="t"/>
          <a:lstStyle/>
          <a:p>
            <a:pPr indent="0" marL="0">
              <a:buNone/>
            </a:pPr>
            <a:r>
              <a:rPr lang="en-US" sz="1400" b="1" dirty="0">
                <a:solidFill>
                  <a:srgbClr val="151A21"/>
                </a:solidFill>
                <a:latin typeface="Arial" pitchFamily="34" charset="0"/>
                <a:ea typeface="Arial" pitchFamily="34" charset="-122"/>
                <a:cs typeface="Arial" pitchFamily="34" charset="-120"/>
              </a:rPr>
              <a:t>Intelligence-fueled</a:t>
            </a:r>
            <a:endParaRPr lang="en-US" sz="1400" dirty="0"/>
          </a:p>
        </p:txBody>
      </p:sp>
      <p:sp>
        <p:nvSpPr>
          <p:cNvPr id="16" name="Text 10"/>
          <p:cNvSpPr txBox="1"/>
          <p:nvPr/>
        </p:nvSpPr>
        <p:spPr>
          <a:xfrm>
            <a:off x="1261872" y="3602736"/>
            <a:ext cx="4572000" cy="512064"/>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Tracking of 281 adversary groups worldwide adds context to every detection.</a:t>
            </a:r>
            <a:endParaRPr lang="en-US" sz="1150" dirty="0"/>
          </a:p>
        </p:txBody>
      </p:sp>
      <p:sp>
        <p:nvSpPr>
          <p:cNvPr id="17" name="Shape 11"/>
          <p:cNvSpPr/>
          <p:nvPr/>
        </p:nvSpPr>
        <p:spPr>
          <a:xfrm>
            <a:off x="548640" y="4215384"/>
            <a:ext cx="502920" cy="502920"/>
          </a:xfrm>
          <a:prstGeom prst="roundRect">
            <a:avLst>
              <a:gd name="adj" fmla="val 18182"/>
            </a:avLst>
          </a:prstGeom>
          <a:solidFill>
            <a:srgbClr val="FDECEC"/>
          </a:solidFill>
          <a:ln w="12700">
            <a:solidFill>
              <a:srgbClr val="FDECEC"/>
            </a:solidFill>
            <a:prstDash val="solid"/>
          </a:ln>
        </p:spPr>
      </p:sp>
      <p:pic>
        <p:nvPicPr>
          <p:cNvPr id="18" name="Image 4" descr="preencoded.png">    </p:cNvPr>
          <p:cNvPicPr>
            <a:picLocks noChangeAspect="1"/>
          </p:cNvPicPr>
          <p:nvPr/>
        </p:nvPicPr>
        <p:blipFill>
          <a:blip r:embed="rId5"/>
          <a:stretch>
            <a:fillRect/>
          </a:stretch>
        </p:blipFill>
        <p:spPr>
          <a:xfrm>
            <a:off x="659282" y="4326026"/>
            <a:ext cx="281635" cy="281635"/>
          </a:xfrm>
          <a:prstGeom prst="rect">
            <a:avLst/>
          </a:prstGeom>
        </p:spPr>
      </p:pic>
      <p:sp>
        <p:nvSpPr>
          <p:cNvPr id="19" name="Text 12"/>
          <p:cNvSpPr txBox="1"/>
          <p:nvPr/>
        </p:nvSpPr>
        <p:spPr>
          <a:xfrm>
            <a:off x="1261872" y="4187952"/>
            <a:ext cx="4572000" cy="292608"/>
          </a:xfrm>
          <a:prstGeom prst="rect">
            <a:avLst/>
          </a:prstGeom>
          <a:noFill/>
          <a:ln/>
        </p:spPr>
        <p:txBody>
          <a:bodyPr wrap="square" lIns="0" tIns="0" rIns="0" bIns="0" rtlCol="0" anchor="t"/>
          <a:lstStyle/>
          <a:p>
            <a:pPr indent="0" marL="0">
              <a:buNone/>
            </a:pPr>
            <a:r>
              <a:rPr lang="en-US" sz="1400" b="1" dirty="0">
                <a:solidFill>
                  <a:srgbClr val="151A21"/>
                </a:solidFill>
                <a:latin typeface="Arial" pitchFamily="34" charset="0"/>
                <a:ea typeface="Arial" pitchFamily="34" charset="-122"/>
                <a:cs typeface="Arial" pitchFamily="34" charset="-120"/>
              </a:rPr>
              <a:t>Charlotte AI</a:t>
            </a:r>
            <a:endParaRPr lang="en-US" sz="1400" dirty="0"/>
          </a:p>
        </p:txBody>
      </p:sp>
      <p:sp>
        <p:nvSpPr>
          <p:cNvPr id="20" name="Text 13"/>
          <p:cNvSpPr txBox="1"/>
          <p:nvPr/>
        </p:nvSpPr>
        <p:spPr>
          <a:xfrm>
            <a:off x="1261872" y="4489704"/>
            <a:ext cx="4572000" cy="512064"/>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An AI security analyst that triages alerts and answers questions in plain language.</a:t>
            </a:r>
            <a:endParaRPr lang="en-US" sz="1150" dirty="0"/>
          </a:p>
        </p:txBody>
      </p:sp>
      <p:sp>
        <p:nvSpPr>
          <p:cNvPr id="21" name="Shape 14"/>
          <p:cNvSpPr/>
          <p:nvPr/>
        </p:nvSpPr>
        <p:spPr>
          <a:xfrm>
            <a:off x="548640" y="5102352"/>
            <a:ext cx="502920" cy="502920"/>
          </a:xfrm>
          <a:prstGeom prst="roundRect">
            <a:avLst>
              <a:gd name="adj" fmla="val 18182"/>
            </a:avLst>
          </a:prstGeom>
          <a:solidFill>
            <a:srgbClr val="FDECEC"/>
          </a:solidFill>
          <a:ln w="12700">
            <a:solidFill>
              <a:srgbClr val="FDECEC"/>
            </a:solidFill>
            <a:prstDash val="solid"/>
          </a:ln>
        </p:spPr>
      </p:sp>
      <p:pic>
        <p:nvPicPr>
          <p:cNvPr id="22" name="Image 5" descr="preencoded.png">    </p:cNvPr>
          <p:cNvPicPr>
            <a:picLocks noChangeAspect="1"/>
          </p:cNvPicPr>
          <p:nvPr/>
        </p:nvPicPr>
        <p:blipFill>
          <a:blip r:embed="rId6"/>
          <a:stretch>
            <a:fillRect/>
          </a:stretch>
        </p:blipFill>
        <p:spPr>
          <a:xfrm>
            <a:off x="659282" y="5212994"/>
            <a:ext cx="281635" cy="281635"/>
          </a:xfrm>
          <a:prstGeom prst="rect">
            <a:avLst/>
          </a:prstGeom>
        </p:spPr>
      </p:pic>
      <p:sp>
        <p:nvSpPr>
          <p:cNvPr id="23" name="Text 15"/>
          <p:cNvSpPr txBox="1"/>
          <p:nvPr/>
        </p:nvSpPr>
        <p:spPr>
          <a:xfrm>
            <a:off x="1261872" y="5074920"/>
            <a:ext cx="4572000" cy="292608"/>
          </a:xfrm>
          <a:prstGeom prst="rect">
            <a:avLst/>
          </a:prstGeom>
          <a:noFill/>
          <a:ln/>
        </p:spPr>
        <p:txBody>
          <a:bodyPr wrap="square" lIns="0" tIns="0" rIns="0" bIns="0" rtlCol="0" anchor="t"/>
          <a:lstStyle/>
          <a:p>
            <a:pPr indent="0" marL="0">
              <a:buNone/>
            </a:pPr>
            <a:r>
              <a:rPr lang="en-US" sz="1400" b="1" dirty="0">
                <a:solidFill>
                  <a:srgbClr val="151A21"/>
                </a:solidFill>
                <a:latin typeface="Arial" pitchFamily="34" charset="0"/>
                <a:ea typeface="Arial" pitchFamily="34" charset="-122"/>
                <a:cs typeface="Arial" pitchFamily="34" charset="-120"/>
              </a:rPr>
              <a:t>Cloud-native console</a:t>
            </a:r>
            <a:endParaRPr lang="en-US" sz="1400" dirty="0"/>
          </a:p>
        </p:txBody>
      </p:sp>
      <p:sp>
        <p:nvSpPr>
          <p:cNvPr id="24" name="Text 16"/>
          <p:cNvSpPr txBox="1"/>
          <p:nvPr/>
        </p:nvSpPr>
        <p:spPr>
          <a:xfrm>
            <a:off x="1261872" y="5376672"/>
            <a:ext cx="4572000" cy="512064"/>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No management server to install or maintain on site — manage everything from one web console.</a:t>
            </a:r>
            <a:endParaRPr lang="en-US" sz="1150" dirty="0"/>
          </a:p>
        </p:txBody>
      </p:sp>
      <p:sp>
        <p:nvSpPr>
          <p:cNvPr id="25" name="Shape 17"/>
          <p:cNvSpPr/>
          <p:nvPr/>
        </p:nvSpPr>
        <p:spPr>
          <a:xfrm>
            <a:off x="6117336" y="1499616"/>
            <a:ext cx="5580583" cy="3293937"/>
          </a:xfrm>
          <a:prstGeom prst="roundRect">
            <a:avLst>
              <a:gd name="adj" fmla="val 1666"/>
            </a:avLst>
          </a:prstGeom>
          <a:solidFill>
            <a:srgbClr val="0B0D12"/>
          </a:solidFill>
          <a:ln w="12700">
            <a:solidFill>
              <a:srgbClr val="0B0D12"/>
            </a:solidFill>
            <a:prstDash val="solid"/>
          </a:ln>
          <a:effectLst>
            <a:outerShdw sx="100000" sy="100000" kx="0" ky="0" algn="bl" rotWithShape="0" blurRad="101600" dist="25400" dir="5400000">
              <a:srgbClr val="000000">
                <a:alpha val="10000"/>
              </a:srgbClr>
            </a:outerShdw>
          </a:effectLst>
        </p:spPr>
      </p:sp>
      <p:pic>
        <p:nvPicPr>
          <p:cNvPr id="26" name="Image 6" descr="/private/tmp/claude-501/-Users-jihanvin-Desktop-NIVNAH-AI/16a96446-d9b3-40e2-af9e-a3011ae3db84/scratchpad/assets/console_graph.jpg">    </p:cNvPr>
          <p:cNvPicPr>
            <a:picLocks noChangeAspect="1"/>
          </p:cNvPicPr>
          <p:nvPr/>
        </p:nvPicPr>
        <p:blipFill>
          <a:blip r:embed="rId7"/>
          <a:stretch>
            <a:fillRect/>
          </a:stretch>
        </p:blipFill>
        <p:spPr>
          <a:xfrm>
            <a:off x="6172200" y="1554480"/>
            <a:ext cx="5470855" cy="3184209"/>
          </a:xfrm>
          <a:prstGeom prst="rect">
            <a:avLst/>
          </a:prstGeom>
        </p:spPr>
      </p:pic>
      <p:sp>
        <p:nvSpPr>
          <p:cNvPr id="27" name="Text 18"/>
          <p:cNvSpPr txBox="1"/>
          <p:nvPr/>
        </p:nvSpPr>
        <p:spPr>
          <a:xfrm>
            <a:off x="6172200" y="4848417"/>
            <a:ext cx="5470855" cy="237744"/>
          </a:xfrm>
          <a:prstGeom prst="rect">
            <a:avLst/>
          </a:prstGeom>
          <a:noFill/>
          <a:ln/>
        </p:spPr>
        <p:txBody>
          <a:bodyPr wrap="square" lIns="0" tIns="0" rIns="0" bIns="0" rtlCol="0" anchor="t"/>
          <a:lstStyle/>
          <a:p>
            <a:pPr indent="0" marL="0">
              <a:buNone/>
            </a:pPr>
            <a:r>
              <a:rPr lang="en-US" sz="900" i="1" dirty="0">
                <a:solidFill>
                  <a:srgbClr val="5E6978"/>
                </a:solidFill>
                <a:latin typeface="Calibri" pitchFamily="34" charset="0"/>
                <a:ea typeface="Calibri" pitchFamily="34" charset="-122"/>
                <a:cs typeface="Calibri" pitchFamily="34" charset="-120"/>
              </a:rPr>
              <a:t>Falcon console — investigation graph showing a detection's full attack path (illustrative)</a:t>
            </a:r>
            <a:endParaRPr lang="en-US" sz="900" dirty="0"/>
          </a:p>
        </p:txBody>
      </p:sp>
      <p:sp>
        <p:nvSpPr>
          <p:cNvPr id="28" name="Text 19"/>
          <p:cNvSpPr txBox="1"/>
          <p:nvPr/>
        </p:nvSpPr>
        <p:spPr>
          <a:xfrm>
            <a:off x="6172200" y="5120640"/>
            <a:ext cx="5470855" cy="237744"/>
          </a:xfrm>
          <a:prstGeom prst="rect">
            <a:avLst/>
          </a:prstGeom>
          <a:noFill/>
          <a:ln/>
        </p:spPr>
        <p:txBody>
          <a:bodyPr wrap="square" lIns="0" tIns="0" rIns="0" bIns="0" rtlCol="0" anchor="t"/>
          <a:lstStyle/>
          <a:p>
            <a:pPr indent="0" marL="0">
              <a:buNone/>
            </a:pPr>
            <a:r>
              <a:rPr lang="en-US" sz="1000" b="1" spc="150" kern="0" dirty="0">
                <a:solidFill>
                  <a:srgbClr val="E3202A"/>
                </a:solidFill>
                <a:latin typeface="Calibri" pitchFamily="34" charset="0"/>
                <a:ea typeface="Calibri" pitchFamily="34" charset="-122"/>
                <a:cs typeface="Calibri" pitchFamily="34" charset="-120"/>
              </a:rPr>
              <a:t>ONE SENSOR COVERS</a:t>
            </a:r>
            <a:endParaRPr lang="en-US" sz="1000" dirty="0"/>
          </a:p>
        </p:txBody>
      </p:sp>
      <p:sp>
        <p:nvSpPr>
          <p:cNvPr id="29" name="Shape 20"/>
          <p:cNvSpPr/>
          <p:nvPr/>
        </p:nvSpPr>
        <p:spPr>
          <a:xfrm>
            <a:off x="6172200" y="5431536"/>
            <a:ext cx="1021019" cy="658368"/>
          </a:xfrm>
          <a:prstGeom prst="roundRect">
            <a:avLst>
              <a:gd name="adj" fmla="val 11111"/>
            </a:avLst>
          </a:prstGeom>
          <a:solidFill>
            <a:srgbClr val="F3F5F8"/>
          </a:solidFill>
          <a:ln w="9525">
            <a:solidFill>
              <a:srgbClr val="DCE1E7"/>
            </a:solidFill>
            <a:prstDash val="solid"/>
          </a:ln>
        </p:spPr>
      </p:sp>
      <p:pic>
        <p:nvPicPr>
          <p:cNvPr id="30" name="Image 7" descr="preencoded.png">    </p:cNvPr>
          <p:cNvPicPr>
            <a:picLocks noChangeAspect="1"/>
          </p:cNvPicPr>
          <p:nvPr/>
        </p:nvPicPr>
        <p:blipFill>
          <a:blip r:embed="rId8"/>
          <a:stretch>
            <a:fillRect/>
          </a:stretch>
        </p:blipFill>
        <p:spPr>
          <a:xfrm>
            <a:off x="6572982" y="5504688"/>
            <a:ext cx="219456" cy="219456"/>
          </a:xfrm>
          <a:prstGeom prst="rect">
            <a:avLst/>
          </a:prstGeom>
        </p:spPr>
      </p:pic>
      <p:sp>
        <p:nvSpPr>
          <p:cNvPr id="31" name="Text 21"/>
          <p:cNvSpPr txBox="1"/>
          <p:nvPr/>
        </p:nvSpPr>
        <p:spPr>
          <a:xfrm>
            <a:off x="6208776" y="5779008"/>
            <a:ext cx="947867" cy="256032"/>
          </a:xfrm>
          <a:prstGeom prst="rect">
            <a:avLst/>
          </a:prstGeom>
          <a:noFill/>
          <a:ln/>
        </p:spPr>
        <p:txBody>
          <a:bodyPr wrap="square" lIns="0" tIns="0" rIns="0" bIns="0" rtlCol="0" anchor="ctr"/>
          <a:lstStyle/>
          <a:p>
            <a:pPr algn="ctr" indent="0" marL="0">
              <a:buNone/>
            </a:pPr>
            <a:r>
              <a:rPr lang="en-US" sz="1000" b="1" dirty="0">
                <a:solidFill>
                  <a:srgbClr val="151A21"/>
                </a:solidFill>
                <a:latin typeface="Calibri" pitchFamily="34" charset="0"/>
                <a:ea typeface="Calibri" pitchFamily="34" charset="-122"/>
                <a:cs typeface="Calibri" pitchFamily="34" charset="-120"/>
              </a:rPr>
              <a:t>Workstations</a:t>
            </a:r>
            <a:endParaRPr lang="en-US" sz="1000" dirty="0"/>
          </a:p>
        </p:txBody>
      </p:sp>
      <p:sp>
        <p:nvSpPr>
          <p:cNvPr id="32" name="Shape 22"/>
          <p:cNvSpPr/>
          <p:nvPr/>
        </p:nvSpPr>
        <p:spPr>
          <a:xfrm>
            <a:off x="7284659" y="5431536"/>
            <a:ext cx="1021019" cy="658368"/>
          </a:xfrm>
          <a:prstGeom prst="roundRect">
            <a:avLst>
              <a:gd name="adj" fmla="val 11111"/>
            </a:avLst>
          </a:prstGeom>
          <a:solidFill>
            <a:srgbClr val="F3F5F8"/>
          </a:solidFill>
          <a:ln w="9525">
            <a:solidFill>
              <a:srgbClr val="DCE1E7"/>
            </a:solidFill>
            <a:prstDash val="solid"/>
          </a:ln>
        </p:spPr>
      </p:sp>
      <p:pic>
        <p:nvPicPr>
          <p:cNvPr id="33" name="Image 8" descr="preencoded.png">    </p:cNvPr>
          <p:cNvPicPr>
            <a:picLocks noChangeAspect="1"/>
          </p:cNvPicPr>
          <p:nvPr/>
        </p:nvPicPr>
        <p:blipFill>
          <a:blip r:embed="rId9"/>
          <a:stretch>
            <a:fillRect/>
          </a:stretch>
        </p:blipFill>
        <p:spPr>
          <a:xfrm>
            <a:off x="7685441" y="5504688"/>
            <a:ext cx="219456" cy="219456"/>
          </a:xfrm>
          <a:prstGeom prst="rect">
            <a:avLst/>
          </a:prstGeom>
        </p:spPr>
      </p:pic>
      <p:sp>
        <p:nvSpPr>
          <p:cNvPr id="34" name="Text 23"/>
          <p:cNvSpPr txBox="1"/>
          <p:nvPr/>
        </p:nvSpPr>
        <p:spPr>
          <a:xfrm>
            <a:off x="7321235" y="5779008"/>
            <a:ext cx="947867" cy="256032"/>
          </a:xfrm>
          <a:prstGeom prst="rect">
            <a:avLst/>
          </a:prstGeom>
          <a:noFill/>
          <a:ln/>
        </p:spPr>
        <p:txBody>
          <a:bodyPr wrap="square" lIns="0" tIns="0" rIns="0" bIns="0" rtlCol="0" anchor="ctr"/>
          <a:lstStyle/>
          <a:p>
            <a:pPr algn="ctr" indent="0" marL="0">
              <a:buNone/>
            </a:pPr>
            <a:r>
              <a:rPr lang="en-US" sz="1000" b="1" dirty="0">
                <a:solidFill>
                  <a:srgbClr val="151A21"/>
                </a:solidFill>
                <a:latin typeface="Calibri" pitchFamily="34" charset="0"/>
                <a:ea typeface="Calibri" pitchFamily="34" charset="-122"/>
                <a:cs typeface="Calibri" pitchFamily="34" charset="-120"/>
              </a:rPr>
              <a:t>Servers</a:t>
            </a:r>
            <a:endParaRPr lang="en-US" sz="1000" dirty="0"/>
          </a:p>
        </p:txBody>
      </p:sp>
      <p:sp>
        <p:nvSpPr>
          <p:cNvPr id="35" name="Shape 24"/>
          <p:cNvSpPr/>
          <p:nvPr/>
        </p:nvSpPr>
        <p:spPr>
          <a:xfrm>
            <a:off x="8397118" y="5431536"/>
            <a:ext cx="1021019" cy="658368"/>
          </a:xfrm>
          <a:prstGeom prst="roundRect">
            <a:avLst>
              <a:gd name="adj" fmla="val 11111"/>
            </a:avLst>
          </a:prstGeom>
          <a:solidFill>
            <a:srgbClr val="F3F5F8"/>
          </a:solidFill>
          <a:ln w="9525">
            <a:solidFill>
              <a:srgbClr val="DCE1E7"/>
            </a:solidFill>
            <a:prstDash val="solid"/>
          </a:ln>
        </p:spPr>
      </p:sp>
      <p:pic>
        <p:nvPicPr>
          <p:cNvPr id="36" name="Image 9" descr="preencoded.png">    </p:cNvPr>
          <p:cNvPicPr>
            <a:picLocks noChangeAspect="1"/>
          </p:cNvPicPr>
          <p:nvPr/>
        </p:nvPicPr>
        <p:blipFill>
          <a:blip r:embed="rId10"/>
          <a:stretch>
            <a:fillRect/>
          </a:stretch>
        </p:blipFill>
        <p:spPr>
          <a:xfrm>
            <a:off x="8797900" y="5504688"/>
            <a:ext cx="219456" cy="219456"/>
          </a:xfrm>
          <a:prstGeom prst="rect">
            <a:avLst/>
          </a:prstGeom>
        </p:spPr>
      </p:pic>
      <p:sp>
        <p:nvSpPr>
          <p:cNvPr id="37" name="Text 25"/>
          <p:cNvSpPr txBox="1"/>
          <p:nvPr/>
        </p:nvSpPr>
        <p:spPr>
          <a:xfrm>
            <a:off x="8433694" y="5779008"/>
            <a:ext cx="947867" cy="256032"/>
          </a:xfrm>
          <a:prstGeom prst="rect">
            <a:avLst/>
          </a:prstGeom>
          <a:noFill/>
          <a:ln/>
        </p:spPr>
        <p:txBody>
          <a:bodyPr wrap="square" lIns="0" tIns="0" rIns="0" bIns="0" rtlCol="0" anchor="ctr"/>
          <a:lstStyle/>
          <a:p>
            <a:pPr algn="ctr" indent="0" marL="0">
              <a:buNone/>
            </a:pPr>
            <a:r>
              <a:rPr lang="en-US" sz="1000" b="1" dirty="0">
                <a:solidFill>
                  <a:srgbClr val="151A21"/>
                </a:solidFill>
                <a:latin typeface="Calibri" pitchFamily="34" charset="0"/>
                <a:ea typeface="Calibri" pitchFamily="34" charset="-122"/>
                <a:cs typeface="Calibri" pitchFamily="34" charset="-120"/>
              </a:rPr>
              <a:t>Mobile</a:t>
            </a:r>
            <a:endParaRPr lang="en-US" sz="1000" dirty="0"/>
          </a:p>
        </p:txBody>
      </p:sp>
      <p:sp>
        <p:nvSpPr>
          <p:cNvPr id="38" name="Shape 26"/>
          <p:cNvSpPr/>
          <p:nvPr/>
        </p:nvSpPr>
        <p:spPr>
          <a:xfrm>
            <a:off x="9509577" y="5431536"/>
            <a:ext cx="1021019" cy="658368"/>
          </a:xfrm>
          <a:prstGeom prst="roundRect">
            <a:avLst>
              <a:gd name="adj" fmla="val 11111"/>
            </a:avLst>
          </a:prstGeom>
          <a:solidFill>
            <a:srgbClr val="F3F5F8"/>
          </a:solidFill>
          <a:ln w="9525">
            <a:solidFill>
              <a:srgbClr val="DCE1E7"/>
            </a:solidFill>
            <a:prstDash val="solid"/>
          </a:ln>
        </p:spPr>
      </p:sp>
      <p:pic>
        <p:nvPicPr>
          <p:cNvPr id="39" name="Image 10" descr="preencoded.png">    </p:cNvPr>
          <p:cNvPicPr>
            <a:picLocks noChangeAspect="1"/>
          </p:cNvPicPr>
          <p:nvPr/>
        </p:nvPicPr>
        <p:blipFill>
          <a:blip r:embed="rId11"/>
          <a:stretch>
            <a:fillRect/>
          </a:stretch>
        </p:blipFill>
        <p:spPr>
          <a:xfrm>
            <a:off x="9910359" y="5504688"/>
            <a:ext cx="219456" cy="219456"/>
          </a:xfrm>
          <a:prstGeom prst="rect">
            <a:avLst/>
          </a:prstGeom>
        </p:spPr>
      </p:pic>
      <p:sp>
        <p:nvSpPr>
          <p:cNvPr id="40" name="Text 27"/>
          <p:cNvSpPr txBox="1"/>
          <p:nvPr/>
        </p:nvSpPr>
        <p:spPr>
          <a:xfrm>
            <a:off x="9546153" y="5779008"/>
            <a:ext cx="947867" cy="256032"/>
          </a:xfrm>
          <a:prstGeom prst="rect">
            <a:avLst/>
          </a:prstGeom>
          <a:noFill/>
          <a:ln/>
        </p:spPr>
        <p:txBody>
          <a:bodyPr wrap="square" lIns="0" tIns="0" rIns="0" bIns="0" rtlCol="0" anchor="ctr"/>
          <a:lstStyle/>
          <a:p>
            <a:pPr algn="ctr" indent="0" marL="0">
              <a:buNone/>
            </a:pPr>
            <a:r>
              <a:rPr lang="en-US" sz="1000" b="1" dirty="0">
                <a:solidFill>
                  <a:srgbClr val="151A21"/>
                </a:solidFill>
                <a:latin typeface="Calibri" pitchFamily="34" charset="0"/>
                <a:ea typeface="Calibri" pitchFamily="34" charset="-122"/>
                <a:cs typeface="Calibri" pitchFamily="34" charset="-120"/>
              </a:rPr>
              <a:t>Identities</a:t>
            </a:r>
            <a:endParaRPr lang="en-US" sz="1000" dirty="0"/>
          </a:p>
        </p:txBody>
      </p:sp>
      <p:sp>
        <p:nvSpPr>
          <p:cNvPr id="41" name="Shape 28"/>
          <p:cNvSpPr/>
          <p:nvPr/>
        </p:nvSpPr>
        <p:spPr>
          <a:xfrm>
            <a:off x="10622036" y="5431536"/>
            <a:ext cx="1021019" cy="658368"/>
          </a:xfrm>
          <a:prstGeom prst="roundRect">
            <a:avLst>
              <a:gd name="adj" fmla="val 11111"/>
            </a:avLst>
          </a:prstGeom>
          <a:solidFill>
            <a:srgbClr val="F3F5F8"/>
          </a:solidFill>
          <a:ln w="9525">
            <a:solidFill>
              <a:srgbClr val="DCE1E7"/>
            </a:solidFill>
            <a:prstDash val="solid"/>
          </a:ln>
        </p:spPr>
      </p:sp>
      <p:pic>
        <p:nvPicPr>
          <p:cNvPr id="42" name="Image 11" descr="preencoded.png">    </p:cNvPr>
          <p:cNvPicPr>
            <a:picLocks noChangeAspect="1"/>
          </p:cNvPicPr>
          <p:nvPr/>
        </p:nvPicPr>
        <p:blipFill>
          <a:blip r:embed="rId12"/>
          <a:stretch>
            <a:fillRect/>
          </a:stretch>
        </p:blipFill>
        <p:spPr>
          <a:xfrm>
            <a:off x="11022818" y="5504688"/>
            <a:ext cx="219456" cy="219456"/>
          </a:xfrm>
          <a:prstGeom prst="rect">
            <a:avLst/>
          </a:prstGeom>
        </p:spPr>
      </p:pic>
      <p:sp>
        <p:nvSpPr>
          <p:cNvPr id="43" name="Text 29"/>
          <p:cNvSpPr txBox="1"/>
          <p:nvPr/>
        </p:nvSpPr>
        <p:spPr>
          <a:xfrm>
            <a:off x="10658612" y="5779008"/>
            <a:ext cx="947867" cy="256032"/>
          </a:xfrm>
          <a:prstGeom prst="rect">
            <a:avLst/>
          </a:prstGeom>
          <a:noFill/>
          <a:ln/>
        </p:spPr>
        <p:txBody>
          <a:bodyPr wrap="square" lIns="0" tIns="0" rIns="0" bIns="0" rtlCol="0" anchor="ctr"/>
          <a:lstStyle/>
          <a:p>
            <a:pPr algn="ctr" indent="0" marL="0">
              <a:buNone/>
            </a:pPr>
            <a:r>
              <a:rPr lang="en-US" sz="1000" b="1" dirty="0">
                <a:solidFill>
                  <a:srgbClr val="151A21"/>
                </a:solidFill>
                <a:latin typeface="Calibri" pitchFamily="34" charset="0"/>
                <a:ea typeface="Calibri" pitchFamily="34" charset="-122"/>
                <a:cs typeface="Calibri" pitchFamily="34" charset="-120"/>
              </a:rPr>
              <a:t>Cloud</a:t>
            </a:r>
            <a:endParaRPr lang="en-US" sz="1000" dirty="0"/>
          </a:p>
        </p:txBody>
      </p:sp>
      <p:sp>
        <p:nvSpPr>
          <p:cNvPr id="44" name="Text 30"/>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08   |   Nessus vs. CrowdStrike Falcon Platform  ·  Proposal for The Westin Resort Guam</a:t>
            </a:r>
            <a:endParaRPr lang="en-US" sz="900" dirty="0"/>
          </a:p>
        </p:txBody>
      </p:sp>
      <p:pic>
        <p:nvPicPr>
          <p:cNvPr id="45" name="Image 12" descr="/private/tmp/claude-501/-Users-jihanvin-Desktop-NIVNAH-AI/16a96446-d9b3-40e2-af9e-a3011ae3db84/scratchpad/assets/secukorea_dark.png">    </p:cNvPr>
          <p:cNvPicPr>
            <a:picLocks noChangeAspect="1"/>
          </p:cNvPicPr>
          <p:nvPr/>
        </p:nvPicPr>
        <p:blipFill>
          <a:blip r:embed="rId13"/>
          <a:stretch>
            <a:fillRect/>
          </a:stretch>
        </p:blipFill>
        <p:spPr>
          <a:xfrm>
            <a:off x="10661904" y="6400800"/>
            <a:ext cx="978408" cy="2331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07   HOW IT WORKS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AI-Native Protection, From Sensor to Cloud</a:t>
            </a:r>
            <a:endParaRPr lang="en-US" sz="2800" dirty="0"/>
          </a:p>
        </p:txBody>
      </p:sp>
      <p:pic>
        <p:nvPicPr>
          <p:cNvPr id="4" name="Image 0" descr="/private/tmp/claude-501/-Users-jihanvin-Desktop-NIVNAH-AI/16a96446-d9b3-40e2-af9e-a3011ae3db84/scratchpad/assets/westin_white.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72768"/>
            <a:ext cx="3383280" cy="3840480"/>
          </a:xfrm>
          <a:prstGeom prst="roundRect">
            <a:avLst>
              <a:gd name="adj" fmla="val 2703"/>
            </a:avLst>
          </a:prstGeom>
          <a:solidFill>
            <a:srgbClr val="171B22"/>
          </a:solidFill>
          <a:ln w="9525">
            <a:solidFill>
              <a:srgbClr val="2A303A"/>
            </a:solidFill>
            <a:prstDash val="solid"/>
          </a:ln>
        </p:spPr>
      </p:sp>
      <p:sp>
        <p:nvSpPr>
          <p:cNvPr id="6" name="Text 3"/>
          <p:cNvSpPr txBox="1"/>
          <p:nvPr/>
        </p:nvSpPr>
        <p:spPr>
          <a:xfrm>
            <a:off x="822960" y="1801368"/>
            <a:ext cx="2834640" cy="237744"/>
          </a:xfrm>
          <a:prstGeom prst="rect">
            <a:avLst/>
          </a:prstGeom>
          <a:noFill/>
          <a:ln/>
        </p:spPr>
        <p:txBody>
          <a:bodyPr wrap="square" lIns="0" tIns="0" rIns="0" bIns="0" rtlCol="0" anchor="t"/>
          <a:lstStyle/>
          <a:p>
            <a:pPr indent="0" marL="0">
              <a:buNone/>
            </a:pPr>
            <a:r>
              <a:rPr lang="en-US" sz="1000" b="1" spc="200" kern="0" dirty="0">
                <a:solidFill>
                  <a:srgbClr val="E3202A"/>
                </a:solidFill>
                <a:latin typeface="Calibri" pitchFamily="34" charset="0"/>
                <a:ea typeface="Calibri" pitchFamily="34" charset="-122"/>
                <a:cs typeface="Calibri" pitchFamily="34" charset="-120"/>
              </a:rPr>
              <a:t>ON THE ENDPOINT</a:t>
            </a:r>
            <a:endParaRPr lang="en-US" sz="1000" dirty="0"/>
          </a:p>
        </p:txBody>
      </p:sp>
      <p:sp>
        <p:nvSpPr>
          <p:cNvPr id="7" name="Shape 4"/>
          <p:cNvSpPr/>
          <p:nvPr/>
        </p:nvSpPr>
        <p:spPr>
          <a:xfrm>
            <a:off x="822960" y="2139696"/>
            <a:ext cx="502920" cy="502920"/>
          </a:xfrm>
          <a:prstGeom prst="roundRect">
            <a:avLst>
              <a:gd name="adj" fmla="val 18182"/>
            </a:avLst>
          </a:prstGeom>
          <a:solidFill>
            <a:srgbClr val="E3202A"/>
          </a:solidFill>
          <a:ln w="12700">
            <a:solidFill>
              <a:srgbClr val="E3202A"/>
            </a:solidFill>
            <a:prstDash val="solid"/>
          </a:ln>
        </p:spPr>
      </p:sp>
      <p:pic>
        <p:nvPicPr>
          <p:cNvPr id="8" name="Image 1" descr="preencoded.png">    </p:cNvPr>
          <p:cNvPicPr>
            <a:picLocks noChangeAspect="1"/>
          </p:cNvPicPr>
          <p:nvPr/>
        </p:nvPicPr>
        <p:blipFill>
          <a:blip r:embed="rId2"/>
          <a:stretch>
            <a:fillRect/>
          </a:stretch>
        </p:blipFill>
        <p:spPr>
          <a:xfrm>
            <a:off x="933602" y="2250338"/>
            <a:ext cx="281635" cy="281635"/>
          </a:xfrm>
          <a:prstGeom prst="rect">
            <a:avLst/>
          </a:prstGeom>
        </p:spPr>
      </p:pic>
      <p:sp>
        <p:nvSpPr>
          <p:cNvPr id="9" name="Text 5"/>
          <p:cNvSpPr txBox="1"/>
          <p:nvPr/>
        </p:nvSpPr>
        <p:spPr>
          <a:xfrm>
            <a:off x="1481328" y="2139696"/>
            <a:ext cx="2286000" cy="5029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Falcon Sensor</a:t>
            </a:r>
            <a:endParaRPr lang="en-US" sz="1500" dirty="0"/>
          </a:p>
        </p:txBody>
      </p:sp>
      <p:pic>
        <p:nvPicPr>
          <p:cNvPr id="10" name="Image 2" descr="preencoded.png">    </p:cNvPr>
          <p:cNvPicPr>
            <a:picLocks noChangeAspect="1"/>
          </p:cNvPicPr>
          <p:nvPr/>
        </p:nvPicPr>
        <p:blipFill>
          <a:blip r:embed="rId3"/>
          <a:stretch>
            <a:fillRect/>
          </a:stretch>
        </p:blipFill>
        <p:spPr>
          <a:xfrm>
            <a:off x="822960" y="2980944"/>
            <a:ext cx="182880" cy="182880"/>
          </a:xfrm>
          <a:prstGeom prst="rect">
            <a:avLst/>
          </a:prstGeom>
        </p:spPr>
      </p:pic>
      <p:sp>
        <p:nvSpPr>
          <p:cNvPr id="11" name="Text 6"/>
          <p:cNvSpPr txBox="1"/>
          <p:nvPr/>
        </p:nvSpPr>
        <p:spPr>
          <a:xfrm>
            <a:off x="1115568" y="2944368"/>
            <a:ext cx="26060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Sensor machine learning</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Inline malware prevention</a:t>
            </a:r>
            <a:endParaRPr lang="en-US" sz="1100" dirty="0"/>
          </a:p>
        </p:txBody>
      </p:sp>
      <p:pic>
        <p:nvPicPr>
          <p:cNvPr id="12" name="Image 3" descr="preencoded.png">    </p:cNvPr>
          <p:cNvPicPr>
            <a:picLocks noChangeAspect="1"/>
          </p:cNvPicPr>
          <p:nvPr/>
        </p:nvPicPr>
        <p:blipFill>
          <a:blip r:embed="rId4"/>
          <a:stretch>
            <a:fillRect/>
          </a:stretch>
        </p:blipFill>
        <p:spPr>
          <a:xfrm>
            <a:off x="822960" y="3566160"/>
            <a:ext cx="182880" cy="182880"/>
          </a:xfrm>
          <a:prstGeom prst="rect">
            <a:avLst/>
          </a:prstGeom>
        </p:spPr>
      </p:pic>
      <p:sp>
        <p:nvSpPr>
          <p:cNvPr id="13" name="Text 7"/>
          <p:cNvSpPr txBox="1"/>
          <p:nvPr/>
        </p:nvSpPr>
        <p:spPr>
          <a:xfrm>
            <a:off x="1115568" y="3529584"/>
            <a:ext cx="26060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Indicators of Attack (IOAs)</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Stops malicious behavior, not just files</a:t>
            </a:r>
            <a:endParaRPr lang="en-US" sz="1100" dirty="0"/>
          </a:p>
        </p:txBody>
      </p:sp>
      <p:pic>
        <p:nvPicPr>
          <p:cNvPr id="14" name="Image 4" descr="preencoded.png">    </p:cNvPr>
          <p:cNvPicPr>
            <a:picLocks noChangeAspect="1"/>
          </p:cNvPicPr>
          <p:nvPr/>
        </p:nvPicPr>
        <p:blipFill>
          <a:blip r:embed="rId5"/>
          <a:stretch>
            <a:fillRect/>
          </a:stretch>
        </p:blipFill>
        <p:spPr>
          <a:xfrm>
            <a:off x="822960" y="4151376"/>
            <a:ext cx="182880" cy="182880"/>
          </a:xfrm>
          <a:prstGeom prst="rect">
            <a:avLst/>
          </a:prstGeom>
        </p:spPr>
      </p:pic>
      <p:sp>
        <p:nvSpPr>
          <p:cNvPr id="15" name="Text 8"/>
          <p:cNvSpPr txBox="1"/>
          <p:nvPr/>
        </p:nvSpPr>
        <p:spPr>
          <a:xfrm>
            <a:off x="1115568" y="4114800"/>
            <a:ext cx="26060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Online or offline</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Protection even without a connection</a:t>
            </a:r>
            <a:endParaRPr lang="en-US" sz="1100" dirty="0"/>
          </a:p>
        </p:txBody>
      </p:sp>
      <p:pic>
        <p:nvPicPr>
          <p:cNvPr id="16" name="Image 5" descr="preencoded.png">    </p:cNvPr>
          <p:cNvPicPr>
            <a:picLocks noChangeAspect="1"/>
          </p:cNvPicPr>
          <p:nvPr/>
        </p:nvPicPr>
        <p:blipFill>
          <a:blip r:embed="rId6"/>
          <a:stretch>
            <a:fillRect/>
          </a:stretch>
        </p:blipFill>
        <p:spPr>
          <a:xfrm>
            <a:off x="822960" y="4736592"/>
            <a:ext cx="182880" cy="182880"/>
          </a:xfrm>
          <a:prstGeom prst="rect">
            <a:avLst/>
          </a:prstGeom>
        </p:spPr>
      </p:pic>
      <p:sp>
        <p:nvSpPr>
          <p:cNvPr id="17" name="Text 9"/>
          <p:cNvSpPr txBox="1"/>
          <p:nvPr/>
        </p:nvSpPr>
        <p:spPr>
          <a:xfrm>
            <a:off x="1115568" y="4700016"/>
            <a:ext cx="26060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Lightweight</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Minimal impact on hotel systems</a:t>
            </a:r>
            <a:endParaRPr lang="en-US" sz="1100" dirty="0"/>
          </a:p>
        </p:txBody>
      </p:sp>
      <p:sp>
        <p:nvSpPr>
          <p:cNvPr id="18" name="Shape 10"/>
          <p:cNvSpPr/>
          <p:nvPr/>
        </p:nvSpPr>
        <p:spPr>
          <a:xfrm>
            <a:off x="4617720" y="1572768"/>
            <a:ext cx="3611880" cy="3840480"/>
          </a:xfrm>
          <a:prstGeom prst="roundRect">
            <a:avLst>
              <a:gd name="adj" fmla="val 2532"/>
            </a:avLst>
          </a:prstGeom>
          <a:solidFill>
            <a:srgbClr val="171B22"/>
          </a:solidFill>
          <a:ln w="9525">
            <a:solidFill>
              <a:srgbClr val="2A303A"/>
            </a:solidFill>
            <a:prstDash val="solid"/>
          </a:ln>
        </p:spPr>
      </p:sp>
      <p:sp>
        <p:nvSpPr>
          <p:cNvPr id="19" name="Text 11"/>
          <p:cNvSpPr txBox="1"/>
          <p:nvPr/>
        </p:nvSpPr>
        <p:spPr>
          <a:xfrm>
            <a:off x="4892040" y="1801368"/>
            <a:ext cx="3063240" cy="237744"/>
          </a:xfrm>
          <a:prstGeom prst="rect">
            <a:avLst/>
          </a:prstGeom>
          <a:noFill/>
          <a:ln/>
        </p:spPr>
        <p:txBody>
          <a:bodyPr wrap="square" lIns="0" tIns="0" rIns="0" bIns="0" rtlCol="0" anchor="t"/>
          <a:lstStyle/>
          <a:p>
            <a:pPr indent="0" marL="0">
              <a:buNone/>
            </a:pPr>
            <a:r>
              <a:rPr lang="en-US" sz="1000" b="1" spc="200" kern="0" dirty="0">
                <a:solidFill>
                  <a:srgbClr val="E3202A"/>
                </a:solidFill>
                <a:latin typeface="Calibri" pitchFamily="34" charset="0"/>
                <a:ea typeface="Calibri" pitchFamily="34" charset="-122"/>
                <a:cs typeface="Calibri" pitchFamily="34" charset="-120"/>
              </a:rPr>
              <a:t>IN THE CLOUD</a:t>
            </a:r>
            <a:endParaRPr lang="en-US" sz="1000" dirty="0"/>
          </a:p>
        </p:txBody>
      </p:sp>
      <p:sp>
        <p:nvSpPr>
          <p:cNvPr id="20" name="Shape 12"/>
          <p:cNvSpPr/>
          <p:nvPr/>
        </p:nvSpPr>
        <p:spPr>
          <a:xfrm>
            <a:off x="4892040" y="2139696"/>
            <a:ext cx="502920" cy="502920"/>
          </a:xfrm>
          <a:prstGeom prst="roundRect">
            <a:avLst>
              <a:gd name="adj" fmla="val 18182"/>
            </a:avLst>
          </a:prstGeom>
          <a:solidFill>
            <a:srgbClr val="E3202A"/>
          </a:solidFill>
          <a:ln w="12700">
            <a:solidFill>
              <a:srgbClr val="E3202A"/>
            </a:solidFill>
            <a:prstDash val="solid"/>
          </a:ln>
        </p:spPr>
      </p:sp>
      <p:pic>
        <p:nvPicPr>
          <p:cNvPr id="21" name="Image 6" descr="preencoded.png">    </p:cNvPr>
          <p:cNvPicPr>
            <a:picLocks noChangeAspect="1"/>
          </p:cNvPicPr>
          <p:nvPr/>
        </p:nvPicPr>
        <p:blipFill>
          <a:blip r:embed="rId7"/>
          <a:stretch>
            <a:fillRect/>
          </a:stretch>
        </p:blipFill>
        <p:spPr>
          <a:xfrm>
            <a:off x="5002682" y="2250338"/>
            <a:ext cx="281635" cy="281635"/>
          </a:xfrm>
          <a:prstGeom prst="rect">
            <a:avLst/>
          </a:prstGeom>
        </p:spPr>
      </p:pic>
      <p:sp>
        <p:nvSpPr>
          <p:cNvPr id="22" name="Text 13"/>
          <p:cNvSpPr txBox="1"/>
          <p:nvPr/>
        </p:nvSpPr>
        <p:spPr>
          <a:xfrm>
            <a:off x="5550408" y="2139696"/>
            <a:ext cx="2514600" cy="5029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Falcon Platform</a:t>
            </a:r>
            <a:endParaRPr lang="en-US" sz="1500" dirty="0"/>
          </a:p>
        </p:txBody>
      </p:sp>
      <p:pic>
        <p:nvPicPr>
          <p:cNvPr id="23" name="Image 7" descr="preencoded.png">    </p:cNvPr>
          <p:cNvPicPr>
            <a:picLocks noChangeAspect="1"/>
          </p:cNvPicPr>
          <p:nvPr/>
        </p:nvPicPr>
        <p:blipFill>
          <a:blip r:embed="rId8"/>
          <a:stretch>
            <a:fillRect/>
          </a:stretch>
        </p:blipFill>
        <p:spPr>
          <a:xfrm>
            <a:off x="4892040" y="2980944"/>
            <a:ext cx="182880" cy="182880"/>
          </a:xfrm>
          <a:prstGeom prst="rect">
            <a:avLst/>
          </a:prstGeom>
        </p:spPr>
      </p:pic>
      <p:sp>
        <p:nvSpPr>
          <p:cNvPr id="24" name="Text 14"/>
          <p:cNvSpPr txBox="1"/>
          <p:nvPr/>
        </p:nvSpPr>
        <p:spPr>
          <a:xfrm>
            <a:off x="5184648" y="2944368"/>
            <a:ext cx="28346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Cloud machine learning</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Models run at cloud scale</a:t>
            </a:r>
            <a:endParaRPr lang="en-US" sz="1100" dirty="0"/>
          </a:p>
        </p:txBody>
      </p:sp>
      <p:pic>
        <p:nvPicPr>
          <p:cNvPr id="25" name="Image 8" descr="preencoded.png">    </p:cNvPr>
          <p:cNvPicPr>
            <a:picLocks noChangeAspect="1"/>
          </p:cNvPicPr>
          <p:nvPr/>
        </p:nvPicPr>
        <p:blipFill>
          <a:blip r:embed="rId9"/>
          <a:stretch>
            <a:fillRect/>
          </a:stretch>
        </p:blipFill>
        <p:spPr>
          <a:xfrm>
            <a:off x="4892040" y="3566160"/>
            <a:ext cx="182880" cy="182880"/>
          </a:xfrm>
          <a:prstGeom prst="rect">
            <a:avLst/>
          </a:prstGeom>
        </p:spPr>
      </p:pic>
      <p:sp>
        <p:nvSpPr>
          <p:cNvPr id="26" name="Text 15"/>
          <p:cNvSpPr txBox="1"/>
          <p:nvPr/>
        </p:nvSpPr>
        <p:spPr>
          <a:xfrm>
            <a:off x="5184648" y="3529584"/>
            <a:ext cx="28346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Adversary threat intelligence</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Context on who is attacking and how</a:t>
            </a:r>
            <a:endParaRPr lang="en-US" sz="1100" dirty="0"/>
          </a:p>
        </p:txBody>
      </p:sp>
      <p:pic>
        <p:nvPicPr>
          <p:cNvPr id="27" name="Image 9" descr="preencoded.png">    </p:cNvPr>
          <p:cNvPicPr>
            <a:picLocks noChangeAspect="1"/>
          </p:cNvPicPr>
          <p:nvPr/>
        </p:nvPicPr>
        <p:blipFill>
          <a:blip r:embed="rId10"/>
          <a:stretch>
            <a:fillRect/>
          </a:stretch>
        </p:blipFill>
        <p:spPr>
          <a:xfrm>
            <a:off x="4892040" y="4151376"/>
            <a:ext cx="182880" cy="182880"/>
          </a:xfrm>
          <a:prstGeom prst="rect">
            <a:avLst/>
          </a:prstGeom>
        </p:spPr>
      </p:pic>
      <p:sp>
        <p:nvSpPr>
          <p:cNvPr id="28" name="Text 16"/>
          <p:cNvSpPr txBox="1"/>
          <p:nvPr/>
        </p:nvSpPr>
        <p:spPr>
          <a:xfrm>
            <a:off x="5184648" y="4114800"/>
            <a:ext cx="28346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Automated Leads</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Surfaces subtle early signs of attack</a:t>
            </a:r>
            <a:endParaRPr lang="en-US" sz="1100" dirty="0"/>
          </a:p>
        </p:txBody>
      </p:sp>
      <p:pic>
        <p:nvPicPr>
          <p:cNvPr id="29" name="Image 10" descr="preencoded.png">    </p:cNvPr>
          <p:cNvPicPr>
            <a:picLocks noChangeAspect="1"/>
          </p:cNvPicPr>
          <p:nvPr/>
        </p:nvPicPr>
        <p:blipFill>
          <a:blip r:embed="rId11"/>
          <a:stretch>
            <a:fillRect/>
          </a:stretch>
        </p:blipFill>
        <p:spPr>
          <a:xfrm>
            <a:off x="4892040" y="4736592"/>
            <a:ext cx="182880" cy="182880"/>
          </a:xfrm>
          <a:prstGeom prst="rect">
            <a:avLst/>
          </a:prstGeom>
        </p:spPr>
      </p:pic>
      <p:sp>
        <p:nvSpPr>
          <p:cNvPr id="30" name="Text 17"/>
          <p:cNvSpPr txBox="1"/>
          <p:nvPr/>
        </p:nvSpPr>
        <p:spPr>
          <a:xfrm>
            <a:off x="5184648" y="4700016"/>
            <a:ext cx="28346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Charlotte AI</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Autonomous triage of detections</a:t>
            </a:r>
            <a:endParaRPr lang="en-US" sz="1100" dirty="0"/>
          </a:p>
        </p:txBody>
      </p:sp>
      <p:pic>
        <p:nvPicPr>
          <p:cNvPr id="31" name="Image 11" descr="preencoded.png">    </p:cNvPr>
          <p:cNvPicPr>
            <a:picLocks noChangeAspect="1"/>
          </p:cNvPicPr>
          <p:nvPr/>
        </p:nvPicPr>
        <p:blipFill>
          <a:blip r:embed="rId12"/>
          <a:stretch>
            <a:fillRect/>
          </a:stretch>
        </p:blipFill>
        <p:spPr>
          <a:xfrm>
            <a:off x="4059936" y="3282696"/>
            <a:ext cx="420624" cy="420624"/>
          </a:xfrm>
          <a:prstGeom prst="rect">
            <a:avLst/>
          </a:prstGeom>
        </p:spPr>
      </p:pic>
      <p:pic>
        <p:nvPicPr>
          <p:cNvPr id="32" name="Image 12" descr="preencoded.png">    </p:cNvPr>
          <p:cNvPicPr>
            <a:picLocks noChangeAspect="1"/>
          </p:cNvPicPr>
          <p:nvPr/>
        </p:nvPicPr>
        <p:blipFill>
          <a:blip r:embed="rId13"/>
          <a:stretch>
            <a:fillRect/>
          </a:stretch>
        </p:blipFill>
        <p:spPr>
          <a:xfrm>
            <a:off x="8357616" y="3282696"/>
            <a:ext cx="420624" cy="420624"/>
          </a:xfrm>
          <a:prstGeom prst="rect">
            <a:avLst/>
          </a:prstGeom>
        </p:spPr>
      </p:pic>
      <p:sp>
        <p:nvSpPr>
          <p:cNvPr id="33" name="Text 18"/>
          <p:cNvSpPr txBox="1"/>
          <p:nvPr/>
        </p:nvSpPr>
        <p:spPr>
          <a:xfrm>
            <a:off x="8915400" y="1801368"/>
            <a:ext cx="2727655" cy="237744"/>
          </a:xfrm>
          <a:prstGeom prst="rect">
            <a:avLst/>
          </a:prstGeom>
          <a:noFill/>
          <a:ln/>
        </p:spPr>
        <p:txBody>
          <a:bodyPr wrap="square" lIns="0" tIns="0" rIns="0" bIns="0" rtlCol="0" anchor="t"/>
          <a:lstStyle/>
          <a:p>
            <a:pPr indent="0" marL="0">
              <a:buNone/>
            </a:pPr>
            <a:r>
              <a:rPr lang="en-US" sz="1000" b="1" spc="200" kern="0" dirty="0">
                <a:solidFill>
                  <a:srgbClr val="E3202A"/>
                </a:solidFill>
                <a:latin typeface="Calibri" pitchFamily="34" charset="0"/>
                <a:ea typeface="Calibri" pitchFamily="34" charset="-122"/>
                <a:cs typeface="Calibri" pitchFamily="34" charset="-120"/>
              </a:rPr>
              <a:t>AUTOMATIC ACTIONS</a:t>
            </a:r>
            <a:endParaRPr lang="en-US" sz="1000" dirty="0"/>
          </a:p>
        </p:txBody>
      </p:sp>
      <p:sp>
        <p:nvSpPr>
          <p:cNvPr id="34" name="Shape 19"/>
          <p:cNvSpPr/>
          <p:nvPr/>
        </p:nvSpPr>
        <p:spPr>
          <a:xfrm>
            <a:off x="8915400" y="2139696"/>
            <a:ext cx="2727655" cy="713232"/>
          </a:xfrm>
          <a:prstGeom prst="roundRect">
            <a:avLst>
              <a:gd name="adj" fmla="val 10256"/>
            </a:avLst>
          </a:prstGeom>
          <a:solidFill>
            <a:srgbClr val="171B22"/>
          </a:solidFill>
          <a:ln w="12700">
            <a:solidFill>
              <a:srgbClr val="E3202A"/>
            </a:solidFill>
            <a:prstDash val="solid"/>
          </a:ln>
        </p:spPr>
      </p:sp>
      <p:pic>
        <p:nvPicPr>
          <p:cNvPr id="35" name="Image 13" descr="preencoded.png">    </p:cNvPr>
          <p:cNvPicPr>
            <a:picLocks noChangeAspect="1"/>
          </p:cNvPicPr>
          <p:nvPr/>
        </p:nvPicPr>
        <p:blipFill>
          <a:blip r:embed="rId14"/>
          <a:stretch>
            <a:fillRect/>
          </a:stretch>
        </p:blipFill>
        <p:spPr>
          <a:xfrm>
            <a:off x="9098280" y="2359152"/>
            <a:ext cx="274320" cy="274320"/>
          </a:xfrm>
          <a:prstGeom prst="rect">
            <a:avLst/>
          </a:prstGeom>
        </p:spPr>
      </p:pic>
      <p:sp>
        <p:nvSpPr>
          <p:cNvPr id="36" name="Text 20"/>
          <p:cNvSpPr txBox="1"/>
          <p:nvPr/>
        </p:nvSpPr>
        <p:spPr>
          <a:xfrm>
            <a:off x="9509760" y="2194560"/>
            <a:ext cx="2041855" cy="60350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Block</a:t>
            </a:r>
            <a:endParaRPr lang="en-US" sz="1200" dirty="0"/>
          </a:p>
          <a:p>
            <a:pPr indent="0" marL="0">
              <a:buNone/>
            </a:pPr>
            <a:r>
              <a:rPr lang="en-US" sz="1000" dirty="0">
                <a:solidFill>
                  <a:srgbClr val="A9B1BC"/>
                </a:solidFill>
                <a:latin typeface="Calibri" pitchFamily="34" charset="0"/>
                <a:ea typeface="Calibri" pitchFamily="34" charset="-122"/>
                <a:cs typeface="Calibri" pitchFamily="34" charset="-120"/>
              </a:rPr>
              <a:t>Kill malicious processes before damage</a:t>
            </a:r>
            <a:endParaRPr lang="en-US" sz="1200" dirty="0"/>
          </a:p>
        </p:txBody>
      </p:sp>
      <p:sp>
        <p:nvSpPr>
          <p:cNvPr id="37" name="Shape 21"/>
          <p:cNvSpPr/>
          <p:nvPr/>
        </p:nvSpPr>
        <p:spPr>
          <a:xfrm>
            <a:off x="8915400" y="2962656"/>
            <a:ext cx="2727655" cy="713232"/>
          </a:xfrm>
          <a:prstGeom prst="roundRect">
            <a:avLst>
              <a:gd name="adj" fmla="val 10256"/>
            </a:avLst>
          </a:prstGeom>
          <a:solidFill>
            <a:srgbClr val="171B22"/>
          </a:solidFill>
          <a:ln w="12700">
            <a:solidFill>
              <a:srgbClr val="E3202A"/>
            </a:solidFill>
            <a:prstDash val="solid"/>
          </a:ln>
        </p:spPr>
      </p:sp>
      <p:pic>
        <p:nvPicPr>
          <p:cNvPr id="38" name="Image 14" descr="preencoded.png">    </p:cNvPr>
          <p:cNvPicPr>
            <a:picLocks noChangeAspect="1"/>
          </p:cNvPicPr>
          <p:nvPr/>
        </p:nvPicPr>
        <p:blipFill>
          <a:blip r:embed="rId15"/>
          <a:stretch>
            <a:fillRect/>
          </a:stretch>
        </p:blipFill>
        <p:spPr>
          <a:xfrm>
            <a:off x="9098280" y="3182112"/>
            <a:ext cx="274320" cy="274320"/>
          </a:xfrm>
          <a:prstGeom prst="rect">
            <a:avLst/>
          </a:prstGeom>
        </p:spPr>
      </p:pic>
      <p:sp>
        <p:nvSpPr>
          <p:cNvPr id="39" name="Text 22"/>
          <p:cNvSpPr txBox="1"/>
          <p:nvPr/>
        </p:nvSpPr>
        <p:spPr>
          <a:xfrm>
            <a:off x="9509760" y="3017520"/>
            <a:ext cx="2041855" cy="60350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Contain</a:t>
            </a:r>
            <a:endParaRPr lang="en-US" sz="1200" dirty="0"/>
          </a:p>
          <a:p>
            <a:pPr indent="0" marL="0">
              <a:buNone/>
            </a:pPr>
            <a:r>
              <a:rPr lang="en-US" sz="1000" dirty="0">
                <a:solidFill>
                  <a:srgbClr val="A9B1BC"/>
                </a:solidFill>
                <a:latin typeface="Calibri" pitchFamily="34" charset="0"/>
                <a:ea typeface="Calibri" pitchFamily="34" charset="-122"/>
                <a:cs typeface="Calibri" pitchFamily="34" charset="-120"/>
              </a:rPr>
              <a:t>Isolate a host from the network in one click</a:t>
            </a:r>
            <a:endParaRPr lang="en-US" sz="1200" dirty="0"/>
          </a:p>
        </p:txBody>
      </p:sp>
      <p:sp>
        <p:nvSpPr>
          <p:cNvPr id="40" name="Shape 23"/>
          <p:cNvSpPr/>
          <p:nvPr/>
        </p:nvSpPr>
        <p:spPr>
          <a:xfrm>
            <a:off x="8915400" y="3785616"/>
            <a:ext cx="2727655" cy="713232"/>
          </a:xfrm>
          <a:prstGeom prst="roundRect">
            <a:avLst>
              <a:gd name="adj" fmla="val 10256"/>
            </a:avLst>
          </a:prstGeom>
          <a:solidFill>
            <a:srgbClr val="171B22"/>
          </a:solidFill>
          <a:ln w="12700">
            <a:solidFill>
              <a:srgbClr val="E3202A"/>
            </a:solidFill>
            <a:prstDash val="solid"/>
          </a:ln>
        </p:spPr>
      </p:sp>
      <p:pic>
        <p:nvPicPr>
          <p:cNvPr id="41" name="Image 15" descr="preencoded.png">    </p:cNvPr>
          <p:cNvPicPr>
            <a:picLocks noChangeAspect="1"/>
          </p:cNvPicPr>
          <p:nvPr/>
        </p:nvPicPr>
        <p:blipFill>
          <a:blip r:embed="rId16"/>
          <a:stretch>
            <a:fillRect/>
          </a:stretch>
        </p:blipFill>
        <p:spPr>
          <a:xfrm>
            <a:off x="9098280" y="4005072"/>
            <a:ext cx="274320" cy="274320"/>
          </a:xfrm>
          <a:prstGeom prst="rect">
            <a:avLst/>
          </a:prstGeom>
        </p:spPr>
      </p:pic>
      <p:sp>
        <p:nvSpPr>
          <p:cNvPr id="42" name="Text 24"/>
          <p:cNvSpPr txBox="1"/>
          <p:nvPr/>
        </p:nvSpPr>
        <p:spPr>
          <a:xfrm>
            <a:off x="9509760" y="3840480"/>
            <a:ext cx="2041855" cy="60350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Investigate</a:t>
            </a:r>
            <a:endParaRPr lang="en-US" sz="1200" dirty="0"/>
          </a:p>
          <a:p>
            <a:pPr indent="0" marL="0">
              <a:buNone/>
            </a:pPr>
            <a:r>
              <a:rPr lang="en-US" sz="1000" dirty="0">
                <a:solidFill>
                  <a:srgbClr val="A9B1BC"/>
                </a:solidFill>
                <a:latin typeface="Calibri" pitchFamily="34" charset="0"/>
                <a:ea typeface="Calibri" pitchFamily="34" charset="-122"/>
                <a:cs typeface="Calibri" pitchFamily="34" charset="-120"/>
              </a:rPr>
              <a:t>See the full attack path</a:t>
            </a:r>
            <a:endParaRPr lang="en-US" sz="1200" dirty="0"/>
          </a:p>
        </p:txBody>
      </p:sp>
      <p:sp>
        <p:nvSpPr>
          <p:cNvPr id="43" name="Shape 25"/>
          <p:cNvSpPr/>
          <p:nvPr/>
        </p:nvSpPr>
        <p:spPr>
          <a:xfrm>
            <a:off x="8915400" y="4608576"/>
            <a:ext cx="2727655" cy="713232"/>
          </a:xfrm>
          <a:prstGeom prst="roundRect">
            <a:avLst>
              <a:gd name="adj" fmla="val 10256"/>
            </a:avLst>
          </a:prstGeom>
          <a:solidFill>
            <a:srgbClr val="171B22"/>
          </a:solidFill>
          <a:ln w="12700">
            <a:solidFill>
              <a:srgbClr val="E3202A"/>
            </a:solidFill>
            <a:prstDash val="solid"/>
          </a:ln>
        </p:spPr>
      </p:sp>
      <p:pic>
        <p:nvPicPr>
          <p:cNvPr id="44" name="Image 16" descr="preencoded.png">    </p:cNvPr>
          <p:cNvPicPr>
            <a:picLocks noChangeAspect="1"/>
          </p:cNvPicPr>
          <p:nvPr/>
        </p:nvPicPr>
        <p:blipFill>
          <a:blip r:embed="rId17"/>
          <a:stretch>
            <a:fillRect/>
          </a:stretch>
        </p:blipFill>
        <p:spPr>
          <a:xfrm>
            <a:off x="9098280" y="4828032"/>
            <a:ext cx="274320" cy="274320"/>
          </a:xfrm>
          <a:prstGeom prst="rect">
            <a:avLst/>
          </a:prstGeom>
        </p:spPr>
      </p:pic>
      <p:sp>
        <p:nvSpPr>
          <p:cNvPr id="45" name="Text 26"/>
          <p:cNvSpPr txBox="1"/>
          <p:nvPr/>
        </p:nvSpPr>
        <p:spPr>
          <a:xfrm>
            <a:off x="9509760" y="4663440"/>
            <a:ext cx="2041855" cy="60350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Automate</a:t>
            </a:r>
            <a:endParaRPr lang="en-US" sz="1200" dirty="0"/>
          </a:p>
          <a:p>
            <a:pPr indent="0" marL="0">
              <a:buNone/>
            </a:pPr>
            <a:r>
              <a:rPr lang="en-US" sz="1000" dirty="0">
                <a:solidFill>
                  <a:srgbClr val="A9B1BC"/>
                </a:solidFill>
                <a:latin typeface="Calibri" pitchFamily="34" charset="0"/>
                <a:ea typeface="Calibri" pitchFamily="34" charset="-122"/>
                <a:cs typeface="Calibri" pitchFamily="34" charset="-120"/>
              </a:rPr>
              <a:t>Run response workflows and playbooks</a:t>
            </a:r>
            <a:endParaRPr lang="en-US" sz="1200" dirty="0"/>
          </a:p>
        </p:txBody>
      </p:sp>
      <p:sp>
        <p:nvSpPr>
          <p:cNvPr id="46" name="Text 27"/>
          <p:cNvSpPr txBox="1"/>
          <p:nvPr/>
        </p:nvSpPr>
        <p:spPr>
          <a:xfrm>
            <a:off x="548640" y="5596128"/>
            <a:ext cx="11094415" cy="411480"/>
          </a:xfrm>
          <a:prstGeom prst="rect">
            <a:avLst/>
          </a:prstGeom>
          <a:noFill/>
          <a:ln/>
        </p:spPr>
        <p:txBody>
          <a:bodyPr wrap="square" lIns="0" tIns="0" rIns="0" bIns="0" rtlCol="0" anchor="ctr"/>
          <a:lstStyle/>
          <a:p>
            <a:pPr indent="0" marL="0">
              <a:buNone/>
            </a:pPr>
            <a:r>
              <a:rPr lang="en-US" sz="1400" dirty="0">
                <a:solidFill>
                  <a:srgbClr val="C9CED6"/>
                </a:solidFill>
                <a:latin typeface="Calibri" pitchFamily="34" charset="0"/>
                <a:ea typeface="Calibri" pitchFamily="34" charset="-122"/>
                <a:cs typeface="Calibri" pitchFamily="34" charset="-120"/>
              </a:rPr>
              <a:t>Detects by behavior, not only by signature — </a:t>
            </a:r>
            <a:pPr indent="0" marL="0">
              <a:buNone/>
            </a:pPr>
            <a:r>
              <a:rPr lang="en-US" sz="1400" b="1" dirty="0">
                <a:solidFill>
                  <a:srgbClr val="FFFFFF"/>
                </a:solidFill>
                <a:latin typeface="Calibri" pitchFamily="34" charset="0"/>
                <a:ea typeface="Calibri" pitchFamily="34" charset="-122"/>
                <a:cs typeface="Calibri" pitchFamily="34" charset="-120"/>
              </a:rPr>
              <a:t>so new and unknown attacks are stopped too.</a:t>
            </a:r>
            <a:endParaRPr lang="en-US" sz="1400" dirty="0"/>
          </a:p>
        </p:txBody>
      </p:sp>
      <p:sp>
        <p:nvSpPr>
          <p:cNvPr id="47" name="Text 28"/>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8A93A0"/>
                </a:solidFill>
                <a:latin typeface="Calibri" pitchFamily="34" charset="0"/>
                <a:ea typeface="Calibri" pitchFamily="34" charset="-122"/>
                <a:cs typeface="Calibri" pitchFamily="34" charset="-120"/>
              </a:rPr>
              <a:t>09   |   Nessus vs. CrowdStrike Falcon Platform  ·  Proposal for The Westin Resort Guam</a:t>
            </a:r>
            <a:endParaRPr lang="en-US" sz="900" dirty="0"/>
          </a:p>
        </p:txBody>
      </p:sp>
      <p:pic>
        <p:nvPicPr>
          <p:cNvPr id="48" name="Image 17" descr="/private/tmp/claude-501/-Users-jihanvin-Desktop-NIVNAH-AI/16a96446-d9b3-40e2-af9e-a3011ae3db84/scratchpad/assets/secukorea_light.png">    </p:cNvPr>
          <p:cNvPicPr>
            <a:picLocks noChangeAspect="1"/>
          </p:cNvPicPr>
          <p:nvPr/>
        </p:nvPicPr>
        <p:blipFill>
          <a:blip r:embed="rId18"/>
          <a:stretch>
            <a:fillRect/>
          </a:stretch>
        </p:blipFill>
        <p:spPr>
          <a:xfrm>
            <a:off x="10661904" y="6400800"/>
            <a:ext cx="978408" cy="23317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08   PROPOSED SCOPE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Falcon Modules Proposed for The Westin Resort Guam</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481328"/>
            <a:ext cx="11094415"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Calibri" pitchFamily="34" charset="0"/>
                <a:ea typeface="Calibri" pitchFamily="34" charset="-122"/>
                <a:cs typeface="Calibri" pitchFamily="34" charset="-120"/>
              </a:rPr>
              <a:t>CORE PROTECTION — RECOMMENDED</a:t>
            </a:r>
            <a:endParaRPr lang="en-US" sz="1100" dirty="0"/>
          </a:p>
        </p:txBody>
      </p:sp>
      <p:sp>
        <p:nvSpPr>
          <p:cNvPr id="6" name="Shape 3"/>
          <p:cNvSpPr/>
          <p:nvPr/>
        </p:nvSpPr>
        <p:spPr>
          <a:xfrm>
            <a:off x="548640" y="1828800"/>
            <a:ext cx="2567864" cy="1901952"/>
          </a:xfrm>
          <a:prstGeom prst="roundRect">
            <a:avLst>
              <a:gd name="adj" fmla="val 3846"/>
            </a:avLst>
          </a:prstGeom>
          <a:solidFill>
            <a:srgbClr val="FFFFFF"/>
          </a:solidFill>
          <a:ln w="12700">
            <a:solidFill>
              <a:srgbClr val="F2B8BB"/>
            </a:solidFill>
            <a:prstDash val="solid"/>
          </a:ln>
          <a:effectLst>
            <a:outerShdw sx="100000" sy="100000" kx="0" ky="0" algn="bl" rotWithShape="0" blurRad="101600" dist="25400" dir="5400000">
              <a:srgbClr val="000000">
                <a:alpha val="10000"/>
              </a:srgbClr>
            </a:outerShdw>
          </a:effectLst>
        </p:spPr>
      </p:sp>
      <p:sp>
        <p:nvSpPr>
          <p:cNvPr id="7" name="Shape 4"/>
          <p:cNvSpPr/>
          <p:nvPr/>
        </p:nvSpPr>
        <p:spPr>
          <a:xfrm>
            <a:off x="777240" y="2057400"/>
            <a:ext cx="457200" cy="457200"/>
          </a:xfrm>
          <a:prstGeom prst="roundRect">
            <a:avLst>
              <a:gd name="adj" fmla="val 20000"/>
            </a:avLst>
          </a:prstGeom>
          <a:solidFill>
            <a:srgbClr val="E3202A"/>
          </a:solidFill>
          <a:ln w="12700">
            <a:solidFill>
              <a:srgbClr val="E3202A"/>
            </a:solidFill>
            <a:prstDash val="solid"/>
          </a:ln>
        </p:spPr>
      </p:sp>
      <p:pic>
        <p:nvPicPr>
          <p:cNvPr id="8" name="Image 1" descr="preencoded.png">    </p:cNvPr>
          <p:cNvPicPr>
            <a:picLocks noChangeAspect="1"/>
          </p:cNvPicPr>
          <p:nvPr/>
        </p:nvPicPr>
        <p:blipFill>
          <a:blip r:embed="rId2"/>
          <a:stretch>
            <a:fillRect/>
          </a:stretch>
        </p:blipFill>
        <p:spPr>
          <a:xfrm>
            <a:off x="877824" y="2157984"/>
            <a:ext cx="256032" cy="256032"/>
          </a:xfrm>
          <a:prstGeom prst="rect">
            <a:avLst/>
          </a:prstGeom>
        </p:spPr>
      </p:pic>
      <p:sp>
        <p:nvSpPr>
          <p:cNvPr id="9" name="Text 5"/>
          <p:cNvSpPr txBox="1"/>
          <p:nvPr/>
        </p:nvSpPr>
        <p:spPr>
          <a:xfrm>
            <a:off x="1371600" y="201168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Prevent</a:t>
            </a:r>
            <a:endParaRPr lang="en-US" sz="1300" dirty="0"/>
          </a:p>
        </p:txBody>
      </p:sp>
      <p:sp>
        <p:nvSpPr>
          <p:cNvPr id="10" name="Text 6"/>
          <p:cNvSpPr txBox="1"/>
          <p:nvPr/>
        </p:nvSpPr>
        <p:spPr>
          <a:xfrm>
            <a:off x="777240" y="2651760"/>
            <a:ext cx="2110664" cy="219456"/>
          </a:xfrm>
          <a:prstGeom prst="rect">
            <a:avLst/>
          </a:prstGeom>
          <a:noFill/>
          <a:ln/>
        </p:spPr>
        <p:txBody>
          <a:bodyPr wrap="square" lIns="0" tIns="0" rIns="0" bIns="0" rtlCol="0" anchor="t"/>
          <a:lstStyle/>
          <a:p>
            <a:pPr indent="0" marL="0">
              <a:buNone/>
            </a:pPr>
            <a:r>
              <a:rPr lang="en-US" sz="950" b="1" spc="100" kern="0" dirty="0">
                <a:solidFill>
                  <a:srgbClr val="E3202A"/>
                </a:solidFill>
                <a:latin typeface="Calibri" pitchFamily="34" charset="0"/>
                <a:ea typeface="Calibri" pitchFamily="34" charset="-122"/>
                <a:cs typeface="Calibri" pitchFamily="34" charset="-120"/>
              </a:rPr>
              <a:t>NEXT-GEN ANTIVIRUS (EPP)</a:t>
            </a:r>
            <a:endParaRPr lang="en-US" sz="950" dirty="0"/>
          </a:p>
        </p:txBody>
      </p:sp>
      <p:sp>
        <p:nvSpPr>
          <p:cNvPr id="11" name="Text 7"/>
          <p:cNvSpPr txBox="1"/>
          <p:nvPr/>
        </p:nvSpPr>
        <p:spPr>
          <a:xfrm>
            <a:off x="777240" y="2898648"/>
            <a:ext cx="2110664" cy="758952"/>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AI/ML stops malware, fileless and zero-day attacks. 100% ransomware prevention in SE Labs testing.</a:t>
            </a:r>
            <a:endParaRPr lang="en-US" sz="1100" dirty="0"/>
          </a:p>
        </p:txBody>
      </p:sp>
      <p:sp>
        <p:nvSpPr>
          <p:cNvPr id="12" name="Shape 8"/>
          <p:cNvSpPr/>
          <p:nvPr/>
        </p:nvSpPr>
        <p:spPr>
          <a:xfrm>
            <a:off x="3390824" y="1828800"/>
            <a:ext cx="2567864" cy="1901952"/>
          </a:xfrm>
          <a:prstGeom prst="roundRect">
            <a:avLst>
              <a:gd name="adj" fmla="val 3846"/>
            </a:avLst>
          </a:prstGeom>
          <a:solidFill>
            <a:srgbClr val="FFFFFF"/>
          </a:solidFill>
          <a:ln w="12700">
            <a:solidFill>
              <a:srgbClr val="F2B8BB"/>
            </a:solidFill>
            <a:prstDash val="solid"/>
          </a:ln>
          <a:effectLst>
            <a:outerShdw sx="100000" sy="100000" kx="0" ky="0" algn="bl" rotWithShape="0" blurRad="101600" dist="25400" dir="5400000">
              <a:srgbClr val="000000">
                <a:alpha val="10000"/>
              </a:srgbClr>
            </a:outerShdw>
          </a:effectLst>
        </p:spPr>
      </p:sp>
      <p:sp>
        <p:nvSpPr>
          <p:cNvPr id="13" name="Shape 9"/>
          <p:cNvSpPr/>
          <p:nvPr/>
        </p:nvSpPr>
        <p:spPr>
          <a:xfrm>
            <a:off x="3619424" y="2057400"/>
            <a:ext cx="457200" cy="457200"/>
          </a:xfrm>
          <a:prstGeom prst="roundRect">
            <a:avLst>
              <a:gd name="adj" fmla="val 20000"/>
            </a:avLst>
          </a:prstGeom>
          <a:solidFill>
            <a:srgbClr val="E3202A"/>
          </a:solidFill>
          <a:ln w="12700">
            <a:solidFill>
              <a:srgbClr val="E3202A"/>
            </a:solidFill>
            <a:prstDash val="solid"/>
          </a:ln>
        </p:spPr>
      </p:sp>
      <p:pic>
        <p:nvPicPr>
          <p:cNvPr id="14" name="Image 2" descr="preencoded.png">    </p:cNvPr>
          <p:cNvPicPr>
            <a:picLocks noChangeAspect="1"/>
          </p:cNvPicPr>
          <p:nvPr/>
        </p:nvPicPr>
        <p:blipFill>
          <a:blip r:embed="rId3"/>
          <a:stretch>
            <a:fillRect/>
          </a:stretch>
        </p:blipFill>
        <p:spPr>
          <a:xfrm>
            <a:off x="3720008" y="2157984"/>
            <a:ext cx="256032" cy="256032"/>
          </a:xfrm>
          <a:prstGeom prst="rect">
            <a:avLst/>
          </a:prstGeom>
        </p:spPr>
      </p:pic>
      <p:sp>
        <p:nvSpPr>
          <p:cNvPr id="15" name="Text 10"/>
          <p:cNvSpPr txBox="1"/>
          <p:nvPr/>
        </p:nvSpPr>
        <p:spPr>
          <a:xfrm>
            <a:off x="4213784" y="201168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Insight XDR</a:t>
            </a:r>
            <a:endParaRPr lang="en-US" sz="1300" dirty="0"/>
          </a:p>
        </p:txBody>
      </p:sp>
      <p:sp>
        <p:nvSpPr>
          <p:cNvPr id="16" name="Text 11"/>
          <p:cNvSpPr txBox="1"/>
          <p:nvPr/>
        </p:nvSpPr>
        <p:spPr>
          <a:xfrm>
            <a:off x="3619424" y="2651760"/>
            <a:ext cx="2110664" cy="219456"/>
          </a:xfrm>
          <a:prstGeom prst="rect">
            <a:avLst/>
          </a:prstGeom>
          <a:noFill/>
          <a:ln/>
        </p:spPr>
        <p:txBody>
          <a:bodyPr wrap="square" lIns="0" tIns="0" rIns="0" bIns="0" rtlCol="0" anchor="t"/>
          <a:lstStyle/>
          <a:p>
            <a:pPr indent="0" marL="0">
              <a:buNone/>
            </a:pPr>
            <a:r>
              <a:rPr lang="en-US" sz="950" b="1" spc="100" kern="0" dirty="0">
                <a:solidFill>
                  <a:srgbClr val="E3202A"/>
                </a:solidFill>
                <a:latin typeface="Calibri" pitchFamily="34" charset="0"/>
                <a:ea typeface="Calibri" pitchFamily="34" charset="-122"/>
                <a:cs typeface="Calibri" pitchFamily="34" charset="-120"/>
              </a:rPr>
              <a:t>DETECTION &amp; RESPONSE (EDR)</a:t>
            </a:r>
            <a:endParaRPr lang="en-US" sz="950" dirty="0"/>
          </a:p>
        </p:txBody>
      </p:sp>
      <p:sp>
        <p:nvSpPr>
          <p:cNvPr id="17" name="Text 12"/>
          <p:cNvSpPr txBox="1"/>
          <p:nvPr/>
        </p:nvSpPr>
        <p:spPr>
          <a:xfrm>
            <a:off x="3619424" y="2898648"/>
            <a:ext cx="2110664" cy="758952"/>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Full attack visibility, one-click host containment, and 95% faster mean time to respond.</a:t>
            </a:r>
            <a:endParaRPr lang="en-US" sz="1100" dirty="0"/>
          </a:p>
        </p:txBody>
      </p:sp>
      <p:sp>
        <p:nvSpPr>
          <p:cNvPr id="18" name="Shape 13"/>
          <p:cNvSpPr/>
          <p:nvPr/>
        </p:nvSpPr>
        <p:spPr>
          <a:xfrm>
            <a:off x="6233008" y="1828800"/>
            <a:ext cx="2567864" cy="1901952"/>
          </a:xfrm>
          <a:prstGeom prst="roundRect">
            <a:avLst>
              <a:gd name="adj" fmla="val 3846"/>
            </a:avLst>
          </a:prstGeom>
          <a:solidFill>
            <a:srgbClr val="FFFFFF"/>
          </a:solidFill>
          <a:ln w="12700">
            <a:solidFill>
              <a:srgbClr val="F2B8BB"/>
            </a:solidFill>
            <a:prstDash val="solid"/>
          </a:ln>
          <a:effectLst>
            <a:outerShdw sx="100000" sy="100000" kx="0" ky="0" algn="bl" rotWithShape="0" blurRad="101600" dist="25400" dir="5400000">
              <a:srgbClr val="000000">
                <a:alpha val="10000"/>
              </a:srgbClr>
            </a:outerShdw>
          </a:effectLst>
        </p:spPr>
      </p:sp>
      <p:sp>
        <p:nvSpPr>
          <p:cNvPr id="19" name="Shape 14"/>
          <p:cNvSpPr/>
          <p:nvPr/>
        </p:nvSpPr>
        <p:spPr>
          <a:xfrm>
            <a:off x="6461608" y="2057400"/>
            <a:ext cx="457200" cy="457200"/>
          </a:xfrm>
          <a:prstGeom prst="roundRect">
            <a:avLst>
              <a:gd name="adj" fmla="val 20000"/>
            </a:avLst>
          </a:prstGeom>
          <a:solidFill>
            <a:srgbClr val="E3202A"/>
          </a:solidFill>
          <a:ln w="12700">
            <a:solidFill>
              <a:srgbClr val="E3202A"/>
            </a:solidFill>
            <a:prstDash val="solid"/>
          </a:ln>
        </p:spPr>
      </p:sp>
      <p:pic>
        <p:nvPicPr>
          <p:cNvPr id="20" name="Image 3" descr="preencoded.png">    </p:cNvPr>
          <p:cNvPicPr>
            <a:picLocks noChangeAspect="1"/>
          </p:cNvPicPr>
          <p:nvPr/>
        </p:nvPicPr>
        <p:blipFill>
          <a:blip r:embed="rId4"/>
          <a:stretch>
            <a:fillRect/>
          </a:stretch>
        </p:blipFill>
        <p:spPr>
          <a:xfrm>
            <a:off x="6562192" y="2157984"/>
            <a:ext cx="256032" cy="256032"/>
          </a:xfrm>
          <a:prstGeom prst="rect">
            <a:avLst/>
          </a:prstGeom>
        </p:spPr>
      </p:pic>
      <p:sp>
        <p:nvSpPr>
          <p:cNvPr id="21" name="Text 15"/>
          <p:cNvSpPr txBox="1"/>
          <p:nvPr/>
        </p:nvSpPr>
        <p:spPr>
          <a:xfrm>
            <a:off x="7055968" y="201168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Device Control</a:t>
            </a:r>
            <a:endParaRPr lang="en-US" sz="1300" dirty="0"/>
          </a:p>
        </p:txBody>
      </p:sp>
      <p:sp>
        <p:nvSpPr>
          <p:cNvPr id="22" name="Text 16"/>
          <p:cNvSpPr txBox="1"/>
          <p:nvPr/>
        </p:nvSpPr>
        <p:spPr>
          <a:xfrm>
            <a:off x="6461608" y="2651760"/>
            <a:ext cx="2110664" cy="219456"/>
          </a:xfrm>
          <a:prstGeom prst="rect">
            <a:avLst/>
          </a:prstGeom>
          <a:noFill/>
          <a:ln/>
        </p:spPr>
        <p:txBody>
          <a:bodyPr wrap="square" lIns="0" tIns="0" rIns="0" bIns="0" rtlCol="0" anchor="t"/>
          <a:lstStyle/>
          <a:p>
            <a:pPr indent="0" marL="0">
              <a:buNone/>
            </a:pPr>
            <a:r>
              <a:rPr lang="en-US" sz="950" b="1" spc="100" kern="0" dirty="0">
                <a:solidFill>
                  <a:srgbClr val="E3202A"/>
                </a:solidFill>
                <a:latin typeface="Calibri" pitchFamily="34" charset="0"/>
                <a:ea typeface="Calibri" pitchFamily="34" charset="-122"/>
                <a:cs typeface="Calibri" pitchFamily="34" charset="-120"/>
              </a:rPr>
              <a:t>USB &amp; REMOVABLE MEDIA</a:t>
            </a:r>
            <a:endParaRPr lang="en-US" sz="950" dirty="0"/>
          </a:p>
        </p:txBody>
      </p:sp>
      <p:sp>
        <p:nvSpPr>
          <p:cNvPr id="23" name="Text 17"/>
          <p:cNvSpPr txBox="1"/>
          <p:nvPr/>
        </p:nvSpPr>
        <p:spPr>
          <a:xfrm>
            <a:off x="6461608" y="2898648"/>
            <a:ext cx="2110664" cy="758952"/>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Granular control of USB devices to block malware entry and data loss.</a:t>
            </a:r>
            <a:endParaRPr lang="en-US" sz="1100" dirty="0"/>
          </a:p>
        </p:txBody>
      </p:sp>
      <p:sp>
        <p:nvSpPr>
          <p:cNvPr id="24" name="Shape 18"/>
          <p:cNvSpPr/>
          <p:nvPr/>
        </p:nvSpPr>
        <p:spPr>
          <a:xfrm>
            <a:off x="9075191" y="1828800"/>
            <a:ext cx="2567864" cy="1901952"/>
          </a:xfrm>
          <a:prstGeom prst="roundRect">
            <a:avLst>
              <a:gd name="adj" fmla="val 3846"/>
            </a:avLst>
          </a:prstGeom>
          <a:solidFill>
            <a:srgbClr val="FFFFFF"/>
          </a:solidFill>
          <a:ln w="12700">
            <a:solidFill>
              <a:srgbClr val="F2B8BB"/>
            </a:solidFill>
            <a:prstDash val="solid"/>
          </a:ln>
          <a:effectLst>
            <a:outerShdw sx="100000" sy="100000" kx="0" ky="0" algn="bl" rotWithShape="0" blurRad="101600" dist="25400" dir="5400000">
              <a:srgbClr val="000000">
                <a:alpha val="10000"/>
              </a:srgbClr>
            </a:outerShdw>
          </a:effectLst>
        </p:spPr>
      </p:sp>
      <p:sp>
        <p:nvSpPr>
          <p:cNvPr id="25" name="Shape 19"/>
          <p:cNvSpPr/>
          <p:nvPr/>
        </p:nvSpPr>
        <p:spPr>
          <a:xfrm>
            <a:off x="9303791" y="2057400"/>
            <a:ext cx="457200" cy="457200"/>
          </a:xfrm>
          <a:prstGeom prst="roundRect">
            <a:avLst>
              <a:gd name="adj" fmla="val 20000"/>
            </a:avLst>
          </a:prstGeom>
          <a:solidFill>
            <a:srgbClr val="E3202A"/>
          </a:solidFill>
          <a:ln w="12700">
            <a:solidFill>
              <a:srgbClr val="E3202A"/>
            </a:solidFill>
            <a:prstDash val="solid"/>
          </a:ln>
        </p:spPr>
      </p:sp>
      <p:pic>
        <p:nvPicPr>
          <p:cNvPr id="26" name="Image 4" descr="preencoded.png">    </p:cNvPr>
          <p:cNvPicPr>
            <a:picLocks noChangeAspect="1"/>
          </p:cNvPicPr>
          <p:nvPr/>
        </p:nvPicPr>
        <p:blipFill>
          <a:blip r:embed="rId5"/>
          <a:stretch>
            <a:fillRect/>
          </a:stretch>
        </p:blipFill>
        <p:spPr>
          <a:xfrm>
            <a:off x="9404375" y="2157984"/>
            <a:ext cx="256032" cy="256032"/>
          </a:xfrm>
          <a:prstGeom prst="rect">
            <a:avLst/>
          </a:prstGeom>
        </p:spPr>
      </p:pic>
      <p:sp>
        <p:nvSpPr>
          <p:cNvPr id="27" name="Text 20"/>
          <p:cNvSpPr txBox="1"/>
          <p:nvPr/>
        </p:nvSpPr>
        <p:spPr>
          <a:xfrm>
            <a:off x="9898151" y="201168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Firewall Management</a:t>
            </a:r>
            <a:endParaRPr lang="en-US" sz="1300" dirty="0"/>
          </a:p>
        </p:txBody>
      </p:sp>
      <p:sp>
        <p:nvSpPr>
          <p:cNvPr id="28" name="Text 21"/>
          <p:cNvSpPr txBox="1"/>
          <p:nvPr/>
        </p:nvSpPr>
        <p:spPr>
          <a:xfrm>
            <a:off x="9303791" y="2651760"/>
            <a:ext cx="2110664" cy="219456"/>
          </a:xfrm>
          <a:prstGeom prst="rect">
            <a:avLst/>
          </a:prstGeom>
          <a:noFill/>
          <a:ln/>
        </p:spPr>
        <p:txBody>
          <a:bodyPr wrap="square" lIns="0" tIns="0" rIns="0" bIns="0" rtlCol="0" anchor="t"/>
          <a:lstStyle/>
          <a:p>
            <a:pPr indent="0" marL="0">
              <a:buNone/>
            </a:pPr>
            <a:r>
              <a:rPr lang="en-US" sz="950" b="1" spc="100" kern="0" dirty="0">
                <a:solidFill>
                  <a:srgbClr val="E3202A"/>
                </a:solidFill>
                <a:latin typeface="Calibri" pitchFamily="34" charset="0"/>
                <a:ea typeface="Calibri" pitchFamily="34" charset="-122"/>
                <a:cs typeface="Calibri" pitchFamily="34" charset="-120"/>
              </a:rPr>
              <a:t>HOST FIREWALL</a:t>
            </a:r>
            <a:endParaRPr lang="en-US" sz="950" dirty="0"/>
          </a:p>
        </p:txBody>
      </p:sp>
      <p:sp>
        <p:nvSpPr>
          <p:cNvPr id="29" name="Text 22"/>
          <p:cNvSpPr txBox="1"/>
          <p:nvPr/>
        </p:nvSpPr>
        <p:spPr>
          <a:xfrm>
            <a:off x="9303791" y="2898648"/>
            <a:ext cx="2110664" cy="758952"/>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Simple firewall policies for Windows, macOS and Linux from the same console.</a:t>
            </a:r>
            <a:endParaRPr lang="en-US" sz="1100" dirty="0"/>
          </a:p>
        </p:txBody>
      </p:sp>
      <p:sp>
        <p:nvSpPr>
          <p:cNvPr id="30" name="Text 23"/>
          <p:cNvSpPr txBox="1"/>
          <p:nvPr/>
        </p:nvSpPr>
        <p:spPr>
          <a:xfrm>
            <a:off x="548640" y="3858768"/>
            <a:ext cx="11094415" cy="256032"/>
          </a:xfrm>
          <a:prstGeom prst="rect">
            <a:avLst/>
          </a:prstGeom>
          <a:noFill/>
          <a:ln/>
        </p:spPr>
        <p:txBody>
          <a:bodyPr wrap="square" lIns="0" tIns="0" rIns="0" bIns="0" rtlCol="0" anchor="t"/>
          <a:lstStyle/>
          <a:p>
            <a:pPr indent="0" marL="0">
              <a:buNone/>
            </a:pPr>
            <a:r>
              <a:rPr lang="en-US" sz="1100" b="1" spc="200" kern="0" dirty="0">
                <a:solidFill>
                  <a:srgbClr val="5D6B7E"/>
                </a:solidFill>
                <a:latin typeface="Calibri" pitchFamily="34" charset="0"/>
                <a:ea typeface="Calibri" pitchFamily="34" charset="-122"/>
                <a:cs typeface="Calibri" pitchFamily="34" charset="-120"/>
              </a:rPr>
              <a:t>OPTIONAL ADD-ONS — SAME SENSOR, SAME CONSOLE</a:t>
            </a:r>
            <a:endParaRPr lang="en-US" sz="1100" dirty="0"/>
          </a:p>
        </p:txBody>
      </p:sp>
      <p:sp>
        <p:nvSpPr>
          <p:cNvPr id="31" name="Shape 24"/>
          <p:cNvSpPr/>
          <p:nvPr/>
        </p:nvSpPr>
        <p:spPr>
          <a:xfrm>
            <a:off x="548640" y="4206240"/>
            <a:ext cx="2567864" cy="1828800"/>
          </a:xfrm>
          <a:prstGeom prst="roundRect">
            <a:avLst>
              <a:gd name="adj" fmla="val 4000"/>
            </a:avLst>
          </a:prstGeom>
          <a:solidFill>
            <a:srgbClr val="F3F5F8"/>
          </a:solidFill>
          <a:ln w="9525">
            <a:solidFill>
              <a:srgbClr val="DCE1E7"/>
            </a:solidFill>
            <a:prstDash val="solid"/>
          </a:ln>
        </p:spPr>
      </p:sp>
      <p:sp>
        <p:nvSpPr>
          <p:cNvPr id="32" name="Shape 25"/>
          <p:cNvSpPr/>
          <p:nvPr/>
        </p:nvSpPr>
        <p:spPr>
          <a:xfrm>
            <a:off x="777240" y="4434840"/>
            <a:ext cx="457200" cy="457200"/>
          </a:xfrm>
          <a:prstGeom prst="roundRect">
            <a:avLst>
              <a:gd name="adj" fmla="val 20000"/>
            </a:avLst>
          </a:prstGeom>
          <a:solidFill>
            <a:srgbClr val="EAEEF3"/>
          </a:solidFill>
          <a:ln w="12700">
            <a:solidFill>
              <a:srgbClr val="EAEEF3"/>
            </a:solidFill>
            <a:prstDash val="solid"/>
          </a:ln>
        </p:spPr>
      </p:sp>
      <p:pic>
        <p:nvPicPr>
          <p:cNvPr id="33" name="Image 5" descr="preencoded.png">    </p:cNvPr>
          <p:cNvPicPr>
            <a:picLocks noChangeAspect="1"/>
          </p:cNvPicPr>
          <p:nvPr/>
        </p:nvPicPr>
        <p:blipFill>
          <a:blip r:embed="rId6"/>
          <a:stretch>
            <a:fillRect/>
          </a:stretch>
        </p:blipFill>
        <p:spPr>
          <a:xfrm>
            <a:off x="877824" y="4535424"/>
            <a:ext cx="256032" cy="256032"/>
          </a:xfrm>
          <a:prstGeom prst="rect">
            <a:avLst/>
          </a:prstGeom>
        </p:spPr>
      </p:pic>
      <p:sp>
        <p:nvSpPr>
          <p:cNvPr id="34" name="Text 26"/>
          <p:cNvSpPr txBox="1"/>
          <p:nvPr/>
        </p:nvSpPr>
        <p:spPr>
          <a:xfrm>
            <a:off x="1371600" y="438912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Complete Next-Gen MDR</a:t>
            </a:r>
            <a:endParaRPr lang="en-US" sz="1300" dirty="0"/>
          </a:p>
        </p:txBody>
      </p:sp>
      <p:sp>
        <p:nvSpPr>
          <p:cNvPr id="35" name="Text 27"/>
          <p:cNvSpPr txBox="1"/>
          <p:nvPr/>
        </p:nvSpPr>
        <p:spPr>
          <a:xfrm>
            <a:off x="777240" y="502920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24/7 MANAGED SERVICE</a:t>
            </a:r>
            <a:endParaRPr lang="en-US" sz="950" dirty="0"/>
          </a:p>
        </p:txBody>
      </p:sp>
      <p:sp>
        <p:nvSpPr>
          <p:cNvPr id="36" name="Text 28"/>
          <p:cNvSpPr txBox="1"/>
          <p:nvPr/>
        </p:nvSpPr>
        <p:spPr>
          <a:xfrm>
            <a:off x="777240" y="5276088"/>
            <a:ext cx="2110664" cy="6858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CrowdStrike experts monitor, hunt and remediate threats around the clock.</a:t>
            </a:r>
            <a:endParaRPr lang="en-US" sz="1100" dirty="0"/>
          </a:p>
        </p:txBody>
      </p:sp>
      <p:sp>
        <p:nvSpPr>
          <p:cNvPr id="37" name="Shape 29"/>
          <p:cNvSpPr/>
          <p:nvPr/>
        </p:nvSpPr>
        <p:spPr>
          <a:xfrm>
            <a:off x="3390824" y="4206240"/>
            <a:ext cx="2567864" cy="1828800"/>
          </a:xfrm>
          <a:prstGeom prst="roundRect">
            <a:avLst>
              <a:gd name="adj" fmla="val 4000"/>
            </a:avLst>
          </a:prstGeom>
          <a:solidFill>
            <a:srgbClr val="F3F5F8"/>
          </a:solidFill>
          <a:ln w="9525">
            <a:solidFill>
              <a:srgbClr val="DCE1E7"/>
            </a:solidFill>
            <a:prstDash val="solid"/>
          </a:ln>
        </p:spPr>
      </p:sp>
      <p:sp>
        <p:nvSpPr>
          <p:cNvPr id="38" name="Shape 30"/>
          <p:cNvSpPr/>
          <p:nvPr/>
        </p:nvSpPr>
        <p:spPr>
          <a:xfrm>
            <a:off x="3619424" y="4434840"/>
            <a:ext cx="457200" cy="457200"/>
          </a:xfrm>
          <a:prstGeom prst="roundRect">
            <a:avLst>
              <a:gd name="adj" fmla="val 20000"/>
            </a:avLst>
          </a:prstGeom>
          <a:solidFill>
            <a:srgbClr val="EAEEF3"/>
          </a:solidFill>
          <a:ln w="12700">
            <a:solidFill>
              <a:srgbClr val="EAEEF3"/>
            </a:solidFill>
            <a:prstDash val="solid"/>
          </a:ln>
        </p:spPr>
      </p:sp>
      <p:pic>
        <p:nvPicPr>
          <p:cNvPr id="39" name="Image 6" descr="preencoded.png">    </p:cNvPr>
          <p:cNvPicPr>
            <a:picLocks noChangeAspect="1"/>
          </p:cNvPicPr>
          <p:nvPr/>
        </p:nvPicPr>
        <p:blipFill>
          <a:blip r:embed="rId7"/>
          <a:stretch>
            <a:fillRect/>
          </a:stretch>
        </p:blipFill>
        <p:spPr>
          <a:xfrm>
            <a:off x="3720008" y="4535424"/>
            <a:ext cx="256032" cy="256032"/>
          </a:xfrm>
          <a:prstGeom prst="rect">
            <a:avLst/>
          </a:prstGeom>
        </p:spPr>
      </p:pic>
      <p:sp>
        <p:nvSpPr>
          <p:cNvPr id="40" name="Text 31"/>
          <p:cNvSpPr txBox="1"/>
          <p:nvPr/>
        </p:nvSpPr>
        <p:spPr>
          <a:xfrm>
            <a:off x="4213784" y="438912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for Mobile</a:t>
            </a:r>
            <a:endParaRPr lang="en-US" sz="1300" dirty="0"/>
          </a:p>
        </p:txBody>
      </p:sp>
      <p:sp>
        <p:nvSpPr>
          <p:cNvPr id="41" name="Text 32"/>
          <p:cNvSpPr txBox="1"/>
          <p:nvPr/>
        </p:nvSpPr>
        <p:spPr>
          <a:xfrm>
            <a:off x="3619424" y="502920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MOBILE THREAT DEFENSE</a:t>
            </a:r>
            <a:endParaRPr lang="en-US" sz="950" dirty="0"/>
          </a:p>
        </p:txBody>
      </p:sp>
      <p:sp>
        <p:nvSpPr>
          <p:cNvPr id="42" name="Text 33"/>
          <p:cNvSpPr txBox="1"/>
          <p:nvPr/>
        </p:nvSpPr>
        <p:spPr>
          <a:xfrm>
            <a:off x="3619424" y="5276088"/>
            <a:ext cx="2110664" cy="6858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Protects staff mobile devices against credential theft and data leakage.</a:t>
            </a:r>
            <a:endParaRPr lang="en-US" sz="1100" dirty="0"/>
          </a:p>
        </p:txBody>
      </p:sp>
      <p:sp>
        <p:nvSpPr>
          <p:cNvPr id="43" name="Shape 34"/>
          <p:cNvSpPr/>
          <p:nvPr/>
        </p:nvSpPr>
        <p:spPr>
          <a:xfrm>
            <a:off x="6233008" y="4206240"/>
            <a:ext cx="2567864" cy="1828800"/>
          </a:xfrm>
          <a:prstGeom prst="roundRect">
            <a:avLst>
              <a:gd name="adj" fmla="val 4000"/>
            </a:avLst>
          </a:prstGeom>
          <a:solidFill>
            <a:srgbClr val="F3F5F8"/>
          </a:solidFill>
          <a:ln w="9525">
            <a:solidFill>
              <a:srgbClr val="DCE1E7"/>
            </a:solidFill>
            <a:prstDash val="solid"/>
          </a:ln>
        </p:spPr>
      </p:sp>
      <p:sp>
        <p:nvSpPr>
          <p:cNvPr id="44" name="Shape 35"/>
          <p:cNvSpPr/>
          <p:nvPr/>
        </p:nvSpPr>
        <p:spPr>
          <a:xfrm>
            <a:off x="6461608" y="4434840"/>
            <a:ext cx="457200" cy="457200"/>
          </a:xfrm>
          <a:prstGeom prst="roundRect">
            <a:avLst>
              <a:gd name="adj" fmla="val 20000"/>
            </a:avLst>
          </a:prstGeom>
          <a:solidFill>
            <a:srgbClr val="EAEEF3"/>
          </a:solidFill>
          <a:ln w="12700">
            <a:solidFill>
              <a:srgbClr val="EAEEF3"/>
            </a:solidFill>
            <a:prstDash val="solid"/>
          </a:ln>
        </p:spPr>
      </p:sp>
      <p:pic>
        <p:nvPicPr>
          <p:cNvPr id="45" name="Image 7" descr="preencoded.png">    </p:cNvPr>
          <p:cNvPicPr>
            <a:picLocks noChangeAspect="1"/>
          </p:cNvPicPr>
          <p:nvPr/>
        </p:nvPicPr>
        <p:blipFill>
          <a:blip r:embed="rId8"/>
          <a:stretch>
            <a:fillRect/>
          </a:stretch>
        </p:blipFill>
        <p:spPr>
          <a:xfrm>
            <a:off x="6562192" y="4535424"/>
            <a:ext cx="256032" cy="256032"/>
          </a:xfrm>
          <a:prstGeom prst="rect">
            <a:avLst/>
          </a:prstGeom>
        </p:spPr>
      </p:pic>
      <p:sp>
        <p:nvSpPr>
          <p:cNvPr id="46" name="Text 36"/>
          <p:cNvSpPr txBox="1"/>
          <p:nvPr/>
        </p:nvSpPr>
        <p:spPr>
          <a:xfrm>
            <a:off x="7055968" y="438912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Forensics</a:t>
            </a:r>
            <a:endParaRPr lang="en-US" sz="1300" dirty="0"/>
          </a:p>
        </p:txBody>
      </p:sp>
      <p:sp>
        <p:nvSpPr>
          <p:cNvPr id="47" name="Text 37"/>
          <p:cNvSpPr txBox="1"/>
          <p:nvPr/>
        </p:nvSpPr>
        <p:spPr>
          <a:xfrm>
            <a:off x="6461608" y="502920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INCIDENT ANALYSIS</a:t>
            </a:r>
            <a:endParaRPr lang="en-US" sz="950" dirty="0"/>
          </a:p>
        </p:txBody>
      </p:sp>
      <p:sp>
        <p:nvSpPr>
          <p:cNvPr id="48" name="Text 38"/>
          <p:cNvSpPr txBox="1"/>
          <p:nvPr/>
        </p:nvSpPr>
        <p:spPr>
          <a:xfrm>
            <a:off x="6461608" y="5276088"/>
            <a:ext cx="2110664" cy="6858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Automated forensic data collection for faster, deeper investigations.</a:t>
            </a:r>
            <a:endParaRPr lang="en-US" sz="1100" dirty="0"/>
          </a:p>
        </p:txBody>
      </p:sp>
      <p:sp>
        <p:nvSpPr>
          <p:cNvPr id="49" name="Shape 39"/>
          <p:cNvSpPr/>
          <p:nvPr/>
        </p:nvSpPr>
        <p:spPr>
          <a:xfrm>
            <a:off x="9075191" y="4206240"/>
            <a:ext cx="2567864" cy="1828800"/>
          </a:xfrm>
          <a:prstGeom prst="roundRect">
            <a:avLst>
              <a:gd name="adj" fmla="val 4000"/>
            </a:avLst>
          </a:prstGeom>
          <a:solidFill>
            <a:srgbClr val="F3F5F8"/>
          </a:solidFill>
          <a:ln w="9525">
            <a:solidFill>
              <a:srgbClr val="DCE1E7"/>
            </a:solidFill>
            <a:prstDash val="solid"/>
          </a:ln>
        </p:spPr>
      </p:sp>
      <p:sp>
        <p:nvSpPr>
          <p:cNvPr id="50" name="Shape 40"/>
          <p:cNvSpPr/>
          <p:nvPr/>
        </p:nvSpPr>
        <p:spPr>
          <a:xfrm>
            <a:off x="9303791" y="4434840"/>
            <a:ext cx="457200" cy="457200"/>
          </a:xfrm>
          <a:prstGeom prst="roundRect">
            <a:avLst>
              <a:gd name="adj" fmla="val 20000"/>
            </a:avLst>
          </a:prstGeom>
          <a:solidFill>
            <a:srgbClr val="EAEEF3"/>
          </a:solidFill>
          <a:ln w="12700">
            <a:solidFill>
              <a:srgbClr val="EAEEF3"/>
            </a:solidFill>
            <a:prstDash val="solid"/>
          </a:ln>
        </p:spPr>
      </p:sp>
      <p:pic>
        <p:nvPicPr>
          <p:cNvPr id="51" name="Image 8" descr="preencoded.png">    </p:cNvPr>
          <p:cNvPicPr>
            <a:picLocks noChangeAspect="1"/>
          </p:cNvPicPr>
          <p:nvPr/>
        </p:nvPicPr>
        <p:blipFill>
          <a:blip r:embed="rId9"/>
          <a:stretch>
            <a:fillRect/>
          </a:stretch>
        </p:blipFill>
        <p:spPr>
          <a:xfrm>
            <a:off x="9404375" y="4535424"/>
            <a:ext cx="256032" cy="256032"/>
          </a:xfrm>
          <a:prstGeom prst="rect">
            <a:avLst/>
          </a:prstGeom>
        </p:spPr>
      </p:pic>
      <p:sp>
        <p:nvSpPr>
          <p:cNvPr id="52" name="Text 41"/>
          <p:cNvSpPr txBox="1"/>
          <p:nvPr/>
        </p:nvSpPr>
        <p:spPr>
          <a:xfrm>
            <a:off x="9898151" y="438912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Exposure Management</a:t>
            </a:r>
            <a:endParaRPr lang="en-US" sz="1300" dirty="0"/>
          </a:p>
        </p:txBody>
      </p:sp>
      <p:sp>
        <p:nvSpPr>
          <p:cNvPr id="53" name="Text 42"/>
          <p:cNvSpPr txBox="1"/>
          <p:nvPr/>
        </p:nvSpPr>
        <p:spPr>
          <a:xfrm>
            <a:off x="9303791" y="502920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VULNERABILITY VISIBILITY</a:t>
            </a:r>
            <a:endParaRPr lang="en-US" sz="950" dirty="0"/>
          </a:p>
        </p:txBody>
      </p:sp>
      <p:sp>
        <p:nvSpPr>
          <p:cNvPr id="54" name="Text 43"/>
          <p:cNvSpPr txBox="1"/>
          <p:nvPr/>
        </p:nvSpPr>
        <p:spPr>
          <a:xfrm>
            <a:off x="9303791" y="5276088"/>
            <a:ext cx="2110664" cy="6858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Continuous, scanless vulnerability assessment from the same sensor — no network scans.</a:t>
            </a:r>
            <a:endParaRPr lang="en-US" sz="1100" dirty="0"/>
          </a:p>
        </p:txBody>
      </p:sp>
      <p:sp>
        <p:nvSpPr>
          <p:cNvPr id="55" name="Text 44"/>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10   |   Nessus vs. CrowdStrike Falcon Platform  ·  Proposal for The Westin Resort Guam</a:t>
            </a:r>
            <a:endParaRPr lang="en-US" sz="900" dirty="0"/>
          </a:p>
        </p:txBody>
      </p:sp>
      <p:pic>
        <p:nvPicPr>
          <p:cNvPr id="56" name="Image 9" descr="/private/tmp/claude-501/-Users-jihanvin-Desktop-NIVNAH-AI/16a96446-d9b3-40e2-af9e-a3011ae3db84/scratchpad/assets/secukorea_dark.png">    </p:cNvPr>
          <p:cNvPicPr>
            <a:picLocks noChangeAspect="1"/>
          </p:cNvPicPr>
          <p:nvPr/>
        </p:nvPicPr>
        <p:blipFill>
          <a:blip r:embed="rId10"/>
          <a:stretch>
            <a:fillRect/>
          </a:stretch>
        </p:blipFill>
        <p:spPr>
          <a:xfrm>
            <a:off x="10661904" y="6400800"/>
            <a:ext cx="978408" cy="2331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09   24/7 OPERATIONS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You Don't Have to Do It Alone</a:t>
            </a:r>
            <a:endParaRPr lang="en-US" sz="2800" dirty="0"/>
          </a:p>
        </p:txBody>
      </p:sp>
      <p:pic>
        <p:nvPicPr>
          <p:cNvPr id="4" name="Image 0" descr="/private/tmp/claude-501/-Users-jihanvin-Desktop-NIVNAH-AI/16a96446-d9b3-40e2-af9e-a3011ae3db84/scratchpad/assets/westin_white.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rgbClr val="C9CED6"/>
                </a:solidFill>
                <a:latin typeface="Calibri" pitchFamily="34" charset="0"/>
                <a:ea typeface="Calibri" pitchFamily="34" charset="-122"/>
                <a:cs typeface="Calibri" pitchFamily="34" charset="-120"/>
              </a:rPr>
              <a:t>Falcon Complete Next-Gen MDR adds CrowdStrike's experts and Charlotte AI to your team — 24 hours a day, 365 days a year.</a:t>
            </a:r>
            <a:endParaRPr lang="en-US" sz="1400" dirty="0"/>
          </a:p>
        </p:txBody>
      </p:sp>
      <p:sp>
        <p:nvSpPr>
          <p:cNvPr id="6" name="Shape 3"/>
          <p:cNvSpPr/>
          <p:nvPr/>
        </p:nvSpPr>
        <p:spPr>
          <a:xfrm>
            <a:off x="1658082" y="2395728"/>
            <a:ext cx="8875532" cy="0"/>
          </a:xfrm>
          <a:prstGeom prst="line">
            <a:avLst/>
          </a:prstGeom>
          <a:noFill/>
          <a:ln w="25400">
            <a:solidFill>
              <a:srgbClr val="2A303A"/>
            </a:solidFill>
            <a:prstDash val="solid"/>
          </a:ln>
        </p:spPr>
      </p:sp>
      <p:sp>
        <p:nvSpPr>
          <p:cNvPr id="7" name="Shape 4"/>
          <p:cNvSpPr/>
          <p:nvPr/>
        </p:nvSpPr>
        <p:spPr>
          <a:xfrm>
            <a:off x="1292322" y="2029968"/>
            <a:ext cx="731520" cy="731520"/>
          </a:xfrm>
          <a:prstGeom prst="ellipse">
            <a:avLst/>
          </a:prstGeom>
          <a:solidFill>
            <a:srgbClr val="E3202A"/>
          </a:solidFill>
          <a:ln w="12700">
            <a:solidFill>
              <a:srgbClr val="E3202A"/>
            </a:solidFill>
            <a:prstDash val="solid"/>
          </a:ln>
        </p:spPr>
      </p:sp>
      <p:pic>
        <p:nvPicPr>
          <p:cNvPr id="8" name="Image 1" descr="preencoded.png">    </p:cNvPr>
          <p:cNvPicPr>
            <a:picLocks noChangeAspect="1"/>
          </p:cNvPicPr>
          <p:nvPr/>
        </p:nvPicPr>
        <p:blipFill>
          <a:blip r:embed="rId2"/>
          <a:stretch>
            <a:fillRect/>
          </a:stretch>
        </p:blipFill>
        <p:spPr>
          <a:xfrm>
            <a:off x="1482517" y="2220163"/>
            <a:ext cx="351130" cy="351130"/>
          </a:xfrm>
          <a:prstGeom prst="rect">
            <a:avLst/>
          </a:prstGeom>
        </p:spPr>
      </p:pic>
      <p:sp>
        <p:nvSpPr>
          <p:cNvPr id="9" name="Text 5"/>
          <p:cNvSpPr txBox="1"/>
          <p:nvPr/>
        </p:nvSpPr>
        <p:spPr>
          <a:xfrm>
            <a:off x="640080" y="2880360"/>
            <a:ext cx="2036003"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1. Monitor</a:t>
            </a:r>
            <a:endParaRPr lang="en-US" sz="1400" dirty="0"/>
          </a:p>
        </p:txBody>
      </p:sp>
      <p:sp>
        <p:nvSpPr>
          <p:cNvPr id="10" name="Text 6"/>
          <p:cNvSpPr txBox="1"/>
          <p:nvPr/>
        </p:nvSpPr>
        <p:spPr>
          <a:xfrm>
            <a:off x="731520" y="3200400"/>
            <a:ext cx="1853123" cy="502920"/>
          </a:xfrm>
          <a:prstGeom prst="rect">
            <a:avLst/>
          </a:prstGeom>
          <a:noFill/>
          <a:ln/>
        </p:spPr>
        <p:txBody>
          <a:bodyPr wrap="square" lIns="0" tIns="0" rIns="0" bIns="0" rtlCol="0" anchor="t"/>
          <a:lstStyle/>
          <a:p>
            <a:pPr algn="ctr" indent="0" marL="0">
              <a:buNone/>
            </a:pPr>
            <a:r>
              <a:rPr lang="en-US" sz="1100" dirty="0">
                <a:solidFill>
                  <a:srgbClr val="A9B1BC"/>
                </a:solidFill>
                <a:latin typeface="Calibri" pitchFamily="34" charset="0"/>
                <a:ea typeface="Calibri" pitchFamily="34" charset="-122"/>
                <a:cs typeface="Calibri" pitchFamily="34" charset="-120"/>
              </a:rPr>
              <a:t>24/7 security operations across endpoints</a:t>
            </a:r>
            <a:endParaRPr lang="en-US" sz="1100" dirty="0"/>
          </a:p>
        </p:txBody>
      </p:sp>
      <p:sp>
        <p:nvSpPr>
          <p:cNvPr id="11" name="Shape 7"/>
          <p:cNvSpPr/>
          <p:nvPr/>
        </p:nvSpPr>
        <p:spPr>
          <a:xfrm>
            <a:off x="3511205" y="2029968"/>
            <a:ext cx="731520" cy="731520"/>
          </a:xfrm>
          <a:prstGeom prst="ellipse">
            <a:avLst/>
          </a:prstGeom>
          <a:solidFill>
            <a:srgbClr val="E3202A"/>
          </a:solidFill>
          <a:ln w="12700">
            <a:solidFill>
              <a:srgbClr val="E3202A"/>
            </a:solidFill>
            <a:prstDash val="solid"/>
          </a:ln>
        </p:spPr>
      </p:sp>
      <p:pic>
        <p:nvPicPr>
          <p:cNvPr id="12" name="Image 2" descr="preencoded.png">    </p:cNvPr>
          <p:cNvPicPr>
            <a:picLocks noChangeAspect="1"/>
          </p:cNvPicPr>
          <p:nvPr/>
        </p:nvPicPr>
        <p:blipFill>
          <a:blip r:embed="rId3"/>
          <a:stretch>
            <a:fillRect/>
          </a:stretch>
        </p:blipFill>
        <p:spPr>
          <a:xfrm>
            <a:off x="3701400" y="2220163"/>
            <a:ext cx="351130" cy="351130"/>
          </a:xfrm>
          <a:prstGeom prst="rect">
            <a:avLst/>
          </a:prstGeom>
        </p:spPr>
      </p:pic>
      <p:sp>
        <p:nvSpPr>
          <p:cNvPr id="13" name="Text 8"/>
          <p:cNvSpPr txBox="1"/>
          <p:nvPr/>
        </p:nvSpPr>
        <p:spPr>
          <a:xfrm>
            <a:off x="2858963" y="2880360"/>
            <a:ext cx="2036003"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2. Prioritize</a:t>
            </a:r>
            <a:endParaRPr lang="en-US" sz="1400" dirty="0"/>
          </a:p>
        </p:txBody>
      </p:sp>
      <p:sp>
        <p:nvSpPr>
          <p:cNvPr id="14" name="Text 9"/>
          <p:cNvSpPr txBox="1"/>
          <p:nvPr/>
        </p:nvSpPr>
        <p:spPr>
          <a:xfrm>
            <a:off x="2950403" y="3200400"/>
            <a:ext cx="1853123" cy="502920"/>
          </a:xfrm>
          <a:prstGeom prst="rect">
            <a:avLst/>
          </a:prstGeom>
          <a:noFill/>
          <a:ln/>
        </p:spPr>
        <p:txBody>
          <a:bodyPr wrap="square" lIns="0" tIns="0" rIns="0" bIns="0" rtlCol="0" anchor="t"/>
          <a:lstStyle/>
          <a:p>
            <a:pPr algn="ctr" indent="0" marL="0">
              <a:buNone/>
            </a:pPr>
            <a:r>
              <a:rPr lang="en-US" sz="1100" dirty="0">
                <a:solidFill>
                  <a:srgbClr val="A9B1BC"/>
                </a:solidFill>
                <a:latin typeface="Calibri" pitchFamily="34" charset="0"/>
                <a:ea typeface="Calibri" pitchFamily="34" charset="-122"/>
                <a:cs typeface="Calibri" pitchFamily="34" charset="-120"/>
              </a:rPr>
              <a:t>Agentic AI triage surfaces what matters</a:t>
            </a:r>
            <a:endParaRPr lang="en-US" sz="1100" dirty="0"/>
          </a:p>
        </p:txBody>
      </p:sp>
      <p:sp>
        <p:nvSpPr>
          <p:cNvPr id="15" name="Shape 10"/>
          <p:cNvSpPr/>
          <p:nvPr/>
        </p:nvSpPr>
        <p:spPr>
          <a:xfrm>
            <a:off x="5730088" y="2029968"/>
            <a:ext cx="731520" cy="731520"/>
          </a:xfrm>
          <a:prstGeom prst="ellipse">
            <a:avLst/>
          </a:prstGeom>
          <a:solidFill>
            <a:srgbClr val="E3202A"/>
          </a:solidFill>
          <a:ln w="12700">
            <a:solidFill>
              <a:srgbClr val="E3202A"/>
            </a:solidFill>
            <a:prstDash val="solid"/>
          </a:ln>
        </p:spPr>
      </p:sp>
      <p:pic>
        <p:nvPicPr>
          <p:cNvPr id="16" name="Image 3" descr="preencoded.png">    </p:cNvPr>
          <p:cNvPicPr>
            <a:picLocks noChangeAspect="1"/>
          </p:cNvPicPr>
          <p:nvPr/>
        </p:nvPicPr>
        <p:blipFill>
          <a:blip r:embed="rId4"/>
          <a:stretch>
            <a:fillRect/>
          </a:stretch>
        </p:blipFill>
        <p:spPr>
          <a:xfrm>
            <a:off x="5920283" y="2220163"/>
            <a:ext cx="351130" cy="351130"/>
          </a:xfrm>
          <a:prstGeom prst="rect">
            <a:avLst/>
          </a:prstGeom>
        </p:spPr>
      </p:pic>
      <p:sp>
        <p:nvSpPr>
          <p:cNvPr id="17" name="Text 11"/>
          <p:cNvSpPr txBox="1"/>
          <p:nvPr/>
        </p:nvSpPr>
        <p:spPr>
          <a:xfrm>
            <a:off x="5077846" y="2880360"/>
            <a:ext cx="2036003"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3. Investigate</a:t>
            </a:r>
            <a:endParaRPr lang="en-US" sz="1400" dirty="0"/>
          </a:p>
        </p:txBody>
      </p:sp>
      <p:sp>
        <p:nvSpPr>
          <p:cNvPr id="18" name="Text 12"/>
          <p:cNvSpPr txBox="1"/>
          <p:nvPr/>
        </p:nvSpPr>
        <p:spPr>
          <a:xfrm>
            <a:off x="5169286" y="3200400"/>
            <a:ext cx="1853123" cy="502920"/>
          </a:xfrm>
          <a:prstGeom prst="rect">
            <a:avLst/>
          </a:prstGeom>
          <a:noFill/>
          <a:ln/>
        </p:spPr>
        <p:txBody>
          <a:bodyPr wrap="square" lIns="0" tIns="0" rIns="0" bIns="0" rtlCol="0" anchor="t"/>
          <a:lstStyle/>
          <a:p>
            <a:pPr algn="ctr" indent="0" marL="0">
              <a:buNone/>
            </a:pPr>
            <a:r>
              <a:rPr lang="en-US" sz="1100" dirty="0">
                <a:solidFill>
                  <a:srgbClr val="A9B1BC"/>
                </a:solidFill>
                <a:latin typeface="Calibri" pitchFamily="34" charset="0"/>
                <a:ea typeface="Calibri" pitchFamily="34" charset="-122"/>
                <a:cs typeface="Calibri" pitchFamily="34" charset="-120"/>
              </a:rPr>
              <a:t>Expert analysis enriched with threat intel</a:t>
            </a:r>
            <a:endParaRPr lang="en-US" sz="1100" dirty="0"/>
          </a:p>
        </p:txBody>
      </p:sp>
      <p:sp>
        <p:nvSpPr>
          <p:cNvPr id="19" name="Shape 13"/>
          <p:cNvSpPr/>
          <p:nvPr/>
        </p:nvSpPr>
        <p:spPr>
          <a:xfrm>
            <a:off x="7948971" y="2029968"/>
            <a:ext cx="731520" cy="731520"/>
          </a:xfrm>
          <a:prstGeom prst="ellipse">
            <a:avLst/>
          </a:prstGeom>
          <a:solidFill>
            <a:srgbClr val="E3202A"/>
          </a:solidFill>
          <a:ln w="12700">
            <a:solidFill>
              <a:srgbClr val="E3202A"/>
            </a:solidFill>
            <a:prstDash val="solid"/>
          </a:ln>
        </p:spPr>
      </p:sp>
      <p:pic>
        <p:nvPicPr>
          <p:cNvPr id="20" name="Image 4" descr="preencoded.png">    </p:cNvPr>
          <p:cNvPicPr>
            <a:picLocks noChangeAspect="1"/>
          </p:cNvPicPr>
          <p:nvPr/>
        </p:nvPicPr>
        <p:blipFill>
          <a:blip r:embed="rId5"/>
          <a:stretch>
            <a:fillRect/>
          </a:stretch>
        </p:blipFill>
        <p:spPr>
          <a:xfrm>
            <a:off x="8139166" y="2220163"/>
            <a:ext cx="351130" cy="351130"/>
          </a:xfrm>
          <a:prstGeom prst="rect">
            <a:avLst/>
          </a:prstGeom>
        </p:spPr>
      </p:pic>
      <p:sp>
        <p:nvSpPr>
          <p:cNvPr id="21" name="Text 14"/>
          <p:cNvSpPr txBox="1"/>
          <p:nvPr/>
        </p:nvSpPr>
        <p:spPr>
          <a:xfrm>
            <a:off x="7296729" y="2880360"/>
            <a:ext cx="2036003"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4. Contain</a:t>
            </a:r>
            <a:endParaRPr lang="en-US" sz="1400" dirty="0"/>
          </a:p>
        </p:txBody>
      </p:sp>
      <p:sp>
        <p:nvSpPr>
          <p:cNvPr id="22" name="Text 15"/>
          <p:cNvSpPr txBox="1"/>
          <p:nvPr/>
        </p:nvSpPr>
        <p:spPr>
          <a:xfrm>
            <a:off x="7388169" y="3200400"/>
            <a:ext cx="1853123" cy="502920"/>
          </a:xfrm>
          <a:prstGeom prst="rect">
            <a:avLst/>
          </a:prstGeom>
          <a:noFill/>
          <a:ln/>
        </p:spPr>
        <p:txBody>
          <a:bodyPr wrap="square" lIns="0" tIns="0" rIns="0" bIns="0" rtlCol="0" anchor="t"/>
          <a:lstStyle/>
          <a:p>
            <a:pPr algn="ctr" indent="0" marL="0">
              <a:buNone/>
            </a:pPr>
            <a:r>
              <a:rPr lang="en-US" sz="1100" dirty="0">
                <a:solidFill>
                  <a:srgbClr val="A9B1BC"/>
                </a:solidFill>
                <a:latin typeface="Calibri" pitchFamily="34" charset="0"/>
                <a:ea typeface="Calibri" pitchFamily="34" charset="-122"/>
                <a:cs typeface="Calibri" pitchFamily="34" charset="-120"/>
              </a:rPr>
              <a:t>Automated response isolates threats fast</a:t>
            </a:r>
            <a:endParaRPr lang="en-US" sz="1100" dirty="0"/>
          </a:p>
        </p:txBody>
      </p:sp>
      <p:sp>
        <p:nvSpPr>
          <p:cNvPr id="23" name="Shape 16"/>
          <p:cNvSpPr/>
          <p:nvPr/>
        </p:nvSpPr>
        <p:spPr>
          <a:xfrm>
            <a:off x="10167854" y="2029968"/>
            <a:ext cx="731520" cy="731520"/>
          </a:xfrm>
          <a:prstGeom prst="ellipse">
            <a:avLst/>
          </a:prstGeom>
          <a:solidFill>
            <a:srgbClr val="E3202A"/>
          </a:solidFill>
          <a:ln w="12700">
            <a:solidFill>
              <a:srgbClr val="E3202A"/>
            </a:solidFill>
            <a:prstDash val="solid"/>
          </a:ln>
        </p:spPr>
      </p:sp>
      <p:pic>
        <p:nvPicPr>
          <p:cNvPr id="24" name="Image 5" descr="preencoded.png">    </p:cNvPr>
          <p:cNvPicPr>
            <a:picLocks noChangeAspect="1"/>
          </p:cNvPicPr>
          <p:nvPr/>
        </p:nvPicPr>
        <p:blipFill>
          <a:blip r:embed="rId6"/>
          <a:stretch>
            <a:fillRect/>
          </a:stretch>
        </p:blipFill>
        <p:spPr>
          <a:xfrm>
            <a:off x="10358049" y="2220163"/>
            <a:ext cx="351130" cy="351130"/>
          </a:xfrm>
          <a:prstGeom prst="rect">
            <a:avLst/>
          </a:prstGeom>
        </p:spPr>
      </p:pic>
      <p:sp>
        <p:nvSpPr>
          <p:cNvPr id="25" name="Text 17"/>
          <p:cNvSpPr txBox="1"/>
          <p:nvPr/>
        </p:nvSpPr>
        <p:spPr>
          <a:xfrm>
            <a:off x="9515612" y="2880360"/>
            <a:ext cx="2036003"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5. Remediate</a:t>
            </a:r>
            <a:endParaRPr lang="en-US" sz="1400" dirty="0"/>
          </a:p>
        </p:txBody>
      </p:sp>
      <p:sp>
        <p:nvSpPr>
          <p:cNvPr id="26" name="Text 18"/>
          <p:cNvSpPr txBox="1"/>
          <p:nvPr/>
        </p:nvSpPr>
        <p:spPr>
          <a:xfrm>
            <a:off x="9607052" y="3200400"/>
            <a:ext cx="1853123" cy="502920"/>
          </a:xfrm>
          <a:prstGeom prst="rect">
            <a:avLst/>
          </a:prstGeom>
          <a:noFill/>
          <a:ln/>
        </p:spPr>
        <p:txBody>
          <a:bodyPr wrap="square" lIns="0" tIns="0" rIns="0" bIns="0" rtlCol="0" anchor="t"/>
          <a:lstStyle/>
          <a:p>
            <a:pPr algn="ctr" indent="0" marL="0">
              <a:buNone/>
            </a:pPr>
            <a:r>
              <a:rPr lang="en-US" sz="1100" dirty="0">
                <a:solidFill>
                  <a:srgbClr val="A9B1BC"/>
                </a:solidFill>
                <a:latin typeface="Calibri" pitchFamily="34" charset="0"/>
                <a:ea typeface="Calibri" pitchFamily="34" charset="-122"/>
                <a:cs typeface="Calibri" pitchFamily="34" charset="-120"/>
              </a:rPr>
              <a:t>End-to-end threat elimination</a:t>
            </a:r>
            <a:endParaRPr lang="en-US" sz="1100" dirty="0"/>
          </a:p>
        </p:txBody>
      </p:sp>
      <p:sp>
        <p:nvSpPr>
          <p:cNvPr id="27" name="Shape 19"/>
          <p:cNvSpPr/>
          <p:nvPr/>
        </p:nvSpPr>
        <p:spPr>
          <a:xfrm>
            <a:off x="548640" y="4069080"/>
            <a:ext cx="2567864" cy="1783080"/>
          </a:xfrm>
          <a:prstGeom prst="roundRect">
            <a:avLst>
              <a:gd name="adj" fmla="val 4103"/>
            </a:avLst>
          </a:prstGeom>
          <a:solidFill>
            <a:srgbClr val="171B22"/>
          </a:solidFill>
          <a:ln w="9525">
            <a:solidFill>
              <a:srgbClr val="2A303A"/>
            </a:solidFill>
            <a:prstDash val="solid"/>
          </a:ln>
        </p:spPr>
      </p:sp>
      <p:sp>
        <p:nvSpPr>
          <p:cNvPr id="28" name="Text 20"/>
          <p:cNvSpPr txBox="1"/>
          <p:nvPr/>
        </p:nvSpPr>
        <p:spPr>
          <a:xfrm>
            <a:off x="822960" y="4251960"/>
            <a:ext cx="2019224" cy="640080"/>
          </a:xfrm>
          <a:prstGeom prst="rect">
            <a:avLst/>
          </a:prstGeom>
          <a:noFill/>
          <a:ln/>
        </p:spPr>
        <p:txBody>
          <a:bodyPr wrap="square" lIns="0" tIns="0" rIns="0" bIns="0" rtlCol="0" anchor="ctr"/>
          <a:lstStyle/>
          <a:p>
            <a:pPr indent="0" marL="0">
              <a:buNone/>
            </a:pPr>
            <a:r>
              <a:rPr lang="en-US" sz="3200" b="1" dirty="0">
                <a:solidFill>
                  <a:srgbClr val="E3202A"/>
                </a:solidFill>
                <a:latin typeface="Arial" pitchFamily="34" charset="0"/>
                <a:ea typeface="Arial" pitchFamily="34" charset="-122"/>
                <a:cs typeface="Arial" pitchFamily="34" charset="-120"/>
              </a:rPr>
              <a:t>4 min</a:t>
            </a:r>
            <a:endParaRPr lang="en-US" sz="3200" dirty="0"/>
          </a:p>
        </p:txBody>
      </p:sp>
      <p:sp>
        <p:nvSpPr>
          <p:cNvPr id="29" name="Text 21"/>
          <p:cNvSpPr txBox="1"/>
          <p:nvPr/>
        </p:nvSpPr>
        <p:spPr>
          <a:xfrm>
            <a:off x="822960" y="4910328"/>
            <a:ext cx="2019224"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Mean time to detect</a:t>
            </a:r>
            <a:endParaRPr lang="en-US" sz="1250" dirty="0"/>
          </a:p>
        </p:txBody>
      </p:sp>
      <p:sp>
        <p:nvSpPr>
          <p:cNvPr id="30" name="Text 22"/>
          <p:cNvSpPr txBox="1"/>
          <p:nvPr/>
        </p:nvSpPr>
        <p:spPr>
          <a:xfrm>
            <a:off x="822960" y="5202936"/>
            <a:ext cx="2019224" cy="548640"/>
          </a:xfrm>
          <a:prstGeom prst="rect">
            <a:avLst/>
          </a:prstGeom>
          <a:noFill/>
          <a:ln/>
        </p:spPr>
        <p:txBody>
          <a:bodyPr wrap="square" lIns="0" tIns="0" rIns="0" bIns="0" rtlCol="0" anchor="t"/>
          <a:lstStyle/>
          <a:p>
            <a:pPr indent="0" marL="0">
              <a:buNone/>
            </a:pPr>
            <a:r>
              <a:rPr lang="en-US" sz="1000" dirty="0">
                <a:solidFill>
                  <a:srgbClr val="A9B1BC"/>
                </a:solidFill>
                <a:latin typeface="Calibri" pitchFamily="34" charset="0"/>
                <a:ea typeface="Calibri" pitchFamily="34" charset="-122"/>
                <a:cs typeface="Calibri" pitchFamily="34" charset="-120"/>
              </a:rPr>
              <a:t>MITRE Engenuity ATT&amp;CK® Evaluations: Managed Services, Round 2 (2024)</a:t>
            </a:r>
            <a:endParaRPr lang="en-US" sz="1000" dirty="0"/>
          </a:p>
        </p:txBody>
      </p:sp>
      <p:sp>
        <p:nvSpPr>
          <p:cNvPr id="31" name="Shape 23"/>
          <p:cNvSpPr/>
          <p:nvPr/>
        </p:nvSpPr>
        <p:spPr>
          <a:xfrm>
            <a:off x="3390824" y="4069080"/>
            <a:ext cx="2567864" cy="1783080"/>
          </a:xfrm>
          <a:prstGeom prst="roundRect">
            <a:avLst>
              <a:gd name="adj" fmla="val 4103"/>
            </a:avLst>
          </a:prstGeom>
          <a:solidFill>
            <a:srgbClr val="171B22"/>
          </a:solidFill>
          <a:ln w="9525">
            <a:solidFill>
              <a:srgbClr val="2A303A"/>
            </a:solidFill>
            <a:prstDash val="solid"/>
          </a:ln>
        </p:spPr>
      </p:sp>
      <p:sp>
        <p:nvSpPr>
          <p:cNvPr id="32" name="Text 24"/>
          <p:cNvSpPr txBox="1"/>
          <p:nvPr/>
        </p:nvSpPr>
        <p:spPr>
          <a:xfrm>
            <a:off x="3665144" y="4251960"/>
            <a:ext cx="2019224" cy="640080"/>
          </a:xfrm>
          <a:prstGeom prst="rect">
            <a:avLst/>
          </a:prstGeom>
          <a:noFill/>
          <a:ln/>
        </p:spPr>
        <p:txBody>
          <a:bodyPr wrap="square" lIns="0" tIns="0" rIns="0" bIns="0" rtlCol="0" anchor="ctr"/>
          <a:lstStyle/>
          <a:p>
            <a:pPr indent="0" marL="0">
              <a:buNone/>
            </a:pPr>
            <a:r>
              <a:rPr lang="en-US" sz="3200" b="1" dirty="0">
                <a:solidFill>
                  <a:srgbClr val="E3202A"/>
                </a:solidFill>
                <a:latin typeface="Arial" pitchFamily="34" charset="0"/>
                <a:ea typeface="Arial" pitchFamily="34" charset="-122"/>
                <a:cs typeface="Arial" pitchFamily="34" charset="-120"/>
              </a:rPr>
              <a:t>&gt;98%</a:t>
            </a:r>
            <a:endParaRPr lang="en-US" sz="3200" dirty="0"/>
          </a:p>
        </p:txBody>
      </p:sp>
      <p:sp>
        <p:nvSpPr>
          <p:cNvPr id="33" name="Text 25"/>
          <p:cNvSpPr txBox="1"/>
          <p:nvPr/>
        </p:nvSpPr>
        <p:spPr>
          <a:xfrm>
            <a:off x="3665144" y="4910328"/>
            <a:ext cx="2019224"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Autonomous triage accuracy</a:t>
            </a:r>
            <a:endParaRPr lang="en-US" sz="1250" dirty="0"/>
          </a:p>
        </p:txBody>
      </p:sp>
      <p:sp>
        <p:nvSpPr>
          <p:cNvPr id="34" name="Text 26"/>
          <p:cNvSpPr txBox="1"/>
          <p:nvPr/>
        </p:nvSpPr>
        <p:spPr>
          <a:xfrm>
            <a:off x="3665144" y="5202936"/>
            <a:ext cx="2019224" cy="548640"/>
          </a:xfrm>
          <a:prstGeom prst="rect">
            <a:avLst/>
          </a:prstGeom>
          <a:noFill/>
          <a:ln/>
        </p:spPr>
        <p:txBody>
          <a:bodyPr wrap="square" lIns="0" tIns="0" rIns="0" bIns="0" rtlCol="0" anchor="t"/>
          <a:lstStyle/>
          <a:p>
            <a:pPr indent="0" marL="0">
              <a:buNone/>
            </a:pPr>
            <a:r>
              <a:rPr lang="en-US" sz="1000" dirty="0">
                <a:solidFill>
                  <a:srgbClr val="A9B1BC"/>
                </a:solidFill>
                <a:latin typeface="Calibri" pitchFamily="34" charset="0"/>
                <a:ea typeface="Calibri" pitchFamily="34" charset="-122"/>
                <a:cs typeface="Calibri" pitchFamily="34" charset="-120"/>
              </a:rPr>
              <a:t>Charlotte AI decisions matching CrowdStrike MDR experts</a:t>
            </a:r>
            <a:endParaRPr lang="en-US" sz="1000" dirty="0"/>
          </a:p>
        </p:txBody>
      </p:sp>
      <p:sp>
        <p:nvSpPr>
          <p:cNvPr id="35" name="Shape 27"/>
          <p:cNvSpPr/>
          <p:nvPr/>
        </p:nvSpPr>
        <p:spPr>
          <a:xfrm>
            <a:off x="6233008" y="4069080"/>
            <a:ext cx="2567864" cy="1783080"/>
          </a:xfrm>
          <a:prstGeom prst="roundRect">
            <a:avLst>
              <a:gd name="adj" fmla="val 4103"/>
            </a:avLst>
          </a:prstGeom>
          <a:solidFill>
            <a:srgbClr val="171B22"/>
          </a:solidFill>
          <a:ln w="9525">
            <a:solidFill>
              <a:srgbClr val="2A303A"/>
            </a:solidFill>
            <a:prstDash val="solid"/>
          </a:ln>
        </p:spPr>
      </p:sp>
      <p:sp>
        <p:nvSpPr>
          <p:cNvPr id="36" name="Text 28"/>
          <p:cNvSpPr txBox="1"/>
          <p:nvPr/>
        </p:nvSpPr>
        <p:spPr>
          <a:xfrm>
            <a:off x="6507328" y="4251960"/>
            <a:ext cx="2019224" cy="640080"/>
          </a:xfrm>
          <a:prstGeom prst="rect">
            <a:avLst/>
          </a:prstGeom>
          <a:noFill/>
          <a:ln/>
        </p:spPr>
        <p:txBody>
          <a:bodyPr wrap="square" lIns="0" tIns="0" rIns="0" bIns="0" rtlCol="0" anchor="ctr"/>
          <a:lstStyle/>
          <a:p>
            <a:pPr indent="0" marL="0">
              <a:buNone/>
            </a:pPr>
            <a:r>
              <a:rPr lang="en-US" sz="3200" b="1" dirty="0">
                <a:solidFill>
                  <a:srgbClr val="E3202A"/>
                </a:solidFill>
                <a:latin typeface="Arial" pitchFamily="34" charset="0"/>
                <a:ea typeface="Arial" pitchFamily="34" charset="-122"/>
                <a:cs typeface="Arial" pitchFamily="34" charset="-120"/>
              </a:rPr>
              <a:t>40+ hrs</a:t>
            </a:r>
            <a:endParaRPr lang="en-US" sz="3200" dirty="0"/>
          </a:p>
        </p:txBody>
      </p:sp>
      <p:sp>
        <p:nvSpPr>
          <p:cNvPr id="37" name="Text 29"/>
          <p:cNvSpPr txBox="1"/>
          <p:nvPr/>
        </p:nvSpPr>
        <p:spPr>
          <a:xfrm>
            <a:off x="6507328" y="4910328"/>
            <a:ext cx="2019224"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Analyst time saved weekly</a:t>
            </a:r>
            <a:endParaRPr lang="en-US" sz="1250" dirty="0"/>
          </a:p>
        </p:txBody>
      </p:sp>
      <p:sp>
        <p:nvSpPr>
          <p:cNvPr id="38" name="Text 30"/>
          <p:cNvSpPr txBox="1"/>
          <p:nvPr/>
        </p:nvSpPr>
        <p:spPr>
          <a:xfrm>
            <a:off x="6507328" y="5202936"/>
            <a:ext cx="2019224" cy="548640"/>
          </a:xfrm>
          <a:prstGeom prst="rect">
            <a:avLst/>
          </a:prstGeom>
          <a:noFill/>
          <a:ln/>
        </p:spPr>
        <p:txBody>
          <a:bodyPr wrap="square" lIns="0" tIns="0" rIns="0" bIns="0" rtlCol="0" anchor="t"/>
          <a:lstStyle/>
          <a:p>
            <a:pPr indent="0" marL="0">
              <a:buNone/>
            </a:pPr>
            <a:r>
              <a:rPr lang="en-US" sz="1000" dirty="0">
                <a:solidFill>
                  <a:srgbClr val="A9B1BC"/>
                </a:solidFill>
                <a:latin typeface="Calibri" pitchFamily="34" charset="0"/>
                <a:ea typeface="Calibri" pitchFamily="34" charset="-122"/>
                <a:cs typeface="Calibri" pitchFamily="34" charset="-120"/>
              </a:rPr>
              <a:t>Average hours reclaimed from manual triage</a:t>
            </a:r>
            <a:endParaRPr lang="en-US" sz="1000" dirty="0"/>
          </a:p>
        </p:txBody>
      </p:sp>
      <p:sp>
        <p:nvSpPr>
          <p:cNvPr id="39" name="Shape 31"/>
          <p:cNvSpPr/>
          <p:nvPr/>
        </p:nvSpPr>
        <p:spPr>
          <a:xfrm>
            <a:off x="9075191" y="4069080"/>
            <a:ext cx="2567864" cy="1783080"/>
          </a:xfrm>
          <a:prstGeom prst="roundRect">
            <a:avLst>
              <a:gd name="adj" fmla="val 4103"/>
            </a:avLst>
          </a:prstGeom>
          <a:solidFill>
            <a:srgbClr val="E3202A"/>
          </a:solidFill>
          <a:ln w="12700">
            <a:solidFill>
              <a:srgbClr val="E3202A"/>
            </a:solidFill>
            <a:prstDash val="solid"/>
          </a:ln>
        </p:spPr>
      </p:sp>
      <p:sp>
        <p:nvSpPr>
          <p:cNvPr id="40" name="Text 32"/>
          <p:cNvSpPr txBox="1"/>
          <p:nvPr/>
        </p:nvSpPr>
        <p:spPr>
          <a:xfrm>
            <a:off x="9349511" y="4297680"/>
            <a:ext cx="2019224" cy="237744"/>
          </a:xfrm>
          <a:prstGeom prst="rect">
            <a:avLst/>
          </a:prstGeom>
          <a:noFill/>
          <a:ln/>
        </p:spPr>
        <p:txBody>
          <a:bodyPr wrap="square" lIns="0" tIns="0" rIns="0" bIns="0" rtlCol="0" anchor="t"/>
          <a:lstStyle/>
          <a:p>
            <a:pPr indent="0" marL="0">
              <a:buNone/>
            </a:pPr>
            <a:r>
              <a:rPr lang="en-US" sz="1000" b="1" spc="200" kern="0" dirty="0">
                <a:solidFill>
                  <a:srgbClr val="FFFFFF"/>
                </a:solidFill>
                <a:latin typeface="Calibri" pitchFamily="34" charset="0"/>
                <a:ea typeface="Calibri" pitchFamily="34" charset="-122"/>
                <a:cs typeface="Calibri" pitchFamily="34" charset="-120"/>
              </a:rPr>
              <a:t>FOR THE WESTIN</a:t>
            </a:r>
            <a:endParaRPr lang="en-US" sz="1000" dirty="0"/>
          </a:p>
        </p:txBody>
      </p:sp>
      <p:sp>
        <p:nvSpPr>
          <p:cNvPr id="41" name="Text 33"/>
          <p:cNvSpPr txBox="1"/>
          <p:nvPr/>
        </p:nvSpPr>
        <p:spPr>
          <a:xfrm>
            <a:off x="9349511" y="4599432"/>
            <a:ext cx="2019224" cy="10972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Enterprise-grade security operations around the clock — without building an in-house security team.</a:t>
            </a:r>
            <a:endParaRPr lang="en-US" sz="1300" dirty="0"/>
          </a:p>
        </p:txBody>
      </p:sp>
      <p:sp>
        <p:nvSpPr>
          <p:cNvPr id="42" name="Text 34"/>
          <p:cNvSpPr txBox="1"/>
          <p:nvPr/>
        </p:nvSpPr>
        <p:spPr>
          <a:xfrm>
            <a:off x="548640" y="6108192"/>
            <a:ext cx="11094415" cy="237744"/>
          </a:xfrm>
          <a:prstGeom prst="rect">
            <a:avLst/>
          </a:prstGeom>
          <a:noFill/>
          <a:ln/>
        </p:spPr>
        <p:txBody>
          <a:bodyPr wrap="square" lIns="0" tIns="0" rIns="0" bIns="0" rtlCol="0" anchor="b"/>
          <a:lstStyle/>
          <a:p>
            <a:pPr indent="0" marL="0">
              <a:buNone/>
            </a:pPr>
            <a:r>
              <a:rPr lang="en-US" sz="800" i="1" dirty="0">
                <a:solidFill>
                  <a:srgbClr val="7D8794"/>
                </a:solidFill>
                <a:latin typeface="Calibri" pitchFamily="34" charset="0"/>
                <a:ea typeface="Calibri" pitchFamily="34" charset="-122"/>
                <a:cs typeface="Calibri" pitchFamily="34" charset="-120"/>
              </a:rPr>
              <a:t>Accuracy and time-savings figures are from CrowdStrike; individual results may vary with alert volume.</a:t>
            </a:r>
            <a:endParaRPr lang="en-US" sz="800" dirty="0"/>
          </a:p>
        </p:txBody>
      </p:sp>
      <p:sp>
        <p:nvSpPr>
          <p:cNvPr id="43" name="Text 35"/>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8A93A0"/>
                </a:solidFill>
                <a:latin typeface="Calibri" pitchFamily="34" charset="0"/>
                <a:ea typeface="Calibri" pitchFamily="34" charset="-122"/>
                <a:cs typeface="Calibri" pitchFamily="34" charset="-120"/>
              </a:rPr>
              <a:t>11   |   Nessus vs. CrowdStrike Falcon Platform  ·  Proposal for The Westin Resort Guam</a:t>
            </a:r>
            <a:endParaRPr lang="en-US" sz="900" dirty="0"/>
          </a:p>
        </p:txBody>
      </p:sp>
      <p:pic>
        <p:nvPicPr>
          <p:cNvPr id="44" name="Image 6" descr="/private/tmp/claude-501/-Users-jihanvin-Desktop-NIVNAH-AI/16a96446-d9b3-40e2-af9e-a3011ae3db84/scratchpad/assets/secukorea_light.png">    </p:cNvPr>
          <p:cNvPicPr>
            <a:picLocks noChangeAspect="1"/>
          </p:cNvPicPr>
          <p:nvPr/>
        </p:nvPicPr>
        <p:blipFill>
          <a:blip r:embed="rId7"/>
          <a:stretch>
            <a:fillRect/>
          </a:stretch>
        </p:blipFill>
        <p:spPr>
          <a:xfrm>
            <a:off x="10661904" y="6400800"/>
            <a:ext cx="978408" cy="23317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10   REAL-WORLD CASE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One Real Attack, Step by Step: Scanner vs. Falcon</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371600"/>
            <a:ext cx="11094415" cy="310896"/>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PUNK SPIDER </a:t>
            </a:r>
            <a:pPr indent="0" marL="0">
              <a:buNone/>
            </a:pPr>
            <a:r>
              <a:rPr lang="en-US" sz="1250" dirty="0">
                <a:solidFill>
                  <a:srgbClr val="5E6978"/>
                </a:solidFill>
                <a:latin typeface="Calibri" pitchFamily="34" charset="0"/>
                <a:ea typeface="Calibri" pitchFamily="34" charset="-122"/>
                <a:cs typeface="Calibri" pitchFamily="34" charset="-120"/>
              </a:rPr>
              <a:t>(eCrime group) targeting a North American company — attempted data theft and Akira ransomware.  </a:t>
            </a:r>
            <a:pPr indent="0" marL="0">
              <a:buNone/>
            </a:pPr>
            <a:r>
              <a:rPr lang="en-US" sz="1250" b="1" dirty="0">
                <a:solidFill>
                  <a:srgbClr val="E3202A"/>
                </a:solidFill>
                <a:latin typeface="Calibri" pitchFamily="34" charset="0"/>
                <a:ea typeface="Calibri" pitchFamily="34" charset="-122"/>
                <a:cs typeface="Calibri" pitchFamily="34" charset="-120"/>
              </a:rPr>
              <a:t>Outcome: fully blocked by Falcon.</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011680"/>
                <a:gridCol w="3246120"/>
                <a:gridCol w="2788920"/>
                <a:gridCol w="3047695"/>
              </a:tblGrid>
              <a:tr h="365760">
                <a:tc>
                  <a:txBody>
                    <a:bodyPr/>
                    <a:lstStyle/>
                    <a:p>
                      <a:pPr indent="0" marL="0">
                        <a:buNone/>
                      </a:pPr>
                      <a:r>
                        <a:rPr lang="en-US" sz="1150" b="1" dirty="0">
                          <a:solidFill>
                            <a:srgbClr val="FFFFFF"/>
                          </a:solidFill>
                          <a:latin typeface="Arial" pitchFamily="34" charset="0"/>
                          <a:ea typeface="Arial" pitchFamily="34" charset="-122"/>
                          <a:cs typeface="Arial" pitchFamily="34" charset="-120"/>
                        </a:rPr>
                        <a:t>Attack stage</a:t>
                      </a:r>
                      <a:endParaRPr lang="en-US" sz="1150" dirty="0">
                        <a:latin typeface="Arial" charset="0"/>
                        <a:ea typeface="Arial" charset="0"/>
                        <a:cs typeface="Arial"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0B0D12"/>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the attacker did</a:t>
                      </a:r>
                      <a:endParaRPr lang="en-US" sz="1150" dirty="0">
                        <a:latin typeface="Arial" charset="0"/>
                        <a:ea typeface="Arial" charset="0"/>
                        <a:cs typeface="Arial"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0B0D12"/>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Nessus</a:t>
                      </a:r>
                      <a:endParaRPr lang="en-US" sz="1150" dirty="0">
                        <a:latin typeface="Arial" charset="0"/>
                        <a:ea typeface="Arial" charset="0"/>
                        <a:cs typeface="Arial"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5D6B7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CrowdStrike Falcon</a:t>
                      </a:r>
                      <a:endParaRPr lang="en-US" sz="1150" dirty="0">
                        <a:latin typeface="Arial" charset="0"/>
                        <a:ea typeface="Arial" charset="0"/>
                        <a:cs typeface="Arial"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202A"/>
                    </a:solidFill>
                  </a:tcPr>
                </a:tc>
              </a:tr>
              <a:tr h="603504">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1  </a:t>
                      </a:r>
                      <a:pPr indent="0" marL="0">
                        <a:buNone/>
                      </a:pPr>
                      <a:r>
                        <a:rPr lang="en-US" sz="1050" b="1" dirty="0">
                          <a:solidFill>
                            <a:srgbClr val="151A21"/>
                          </a:solidFill>
                          <a:latin typeface="Calibri" pitchFamily="34" charset="0"/>
                          <a:ea typeface="Calibri" pitchFamily="34" charset="-122"/>
                          <a:cs typeface="Calibri" pitchFamily="34" charset="-120"/>
                        </a:rPr>
                        <a:t>Initial access</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151A21"/>
                          </a:solidFill>
                          <a:latin typeface="Calibri" pitchFamily="34" charset="0"/>
                          <a:ea typeface="Calibri" pitchFamily="34" charset="-122"/>
                          <a:cs typeface="Calibri" pitchFamily="34" charset="-120"/>
                        </a:rPr>
                        <a:t>Exploited a known VPN flaw (CVE-2024-3400) with stolen credentials</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5D6B7E"/>
                          </a:solidFill>
                          <a:latin typeface="Calibri" pitchFamily="34" charset="0"/>
                          <a:ea typeface="Calibri" pitchFamily="34" charset="-122"/>
                          <a:cs typeface="Calibri" pitchFamily="34" charset="-120"/>
                        </a:rPr>
                        <a:t>Could flag the CVE — only if the device was in scan scope and scanned in time. Cannot stop the exploit.</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i="1" dirty="0">
                          <a:solidFill>
                            <a:srgbClr val="5E6978"/>
                          </a:solidFill>
                          <a:latin typeface="Calibri" pitchFamily="34" charset="0"/>
                          <a:ea typeface="Calibri" pitchFamily="34" charset="-122"/>
                          <a:cs typeface="Calibri" pitchFamily="34" charset="-120"/>
                        </a:rPr>
                        <a:t>Unmanaged VPN appliance — no Falcon sensor installed</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548640">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2  </a:t>
                      </a:r>
                      <a:pPr indent="0" marL="0">
                        <a:buNone/>
                      </a:pPr>
                      <a:r>
                        <a:rPr lang="en-US" sz="1050" b="1" dirty="0">
                          <a:solidFill>
                            <a:srgbClr val="151A21"/>
                          </a:solidFill>
                          <a:latin typeface="Calibri" pitchFamily="34" charset="0"/>
                          <a:ea typeface="Calibri" pitchFamily="34" charset="-122"/>
                          <a:cs typeface="Calibri" pitchFamily="34" charset="-120"/>
                        </a:rPr>
                        <a:t>Lateral movement</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151A21"/>
                          </a:solidFill>
                          <a:latin typeface="Calibri" pitchFamily="34" charset="0"/>
                          <a:ea typeface="Calibri" pitchFamily="34" charset="-122"/>
                          <a:cs typeface="Calibri" pitchFamily="34" charset="-120"/>
                        </a:rPr>
                        <a:t>Used Remote Desktop with a service account to reach an internal system</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Detected.</a:t>
                      </a:r>
                      <a:pPr indent="0" marL="0">
                        <a:buNone/>
                      </a:pPr>
                      <a:r>
                        <a:rPr lang="en-US" sz="1050" dirty="0">
                          <a:solidFill>
                            <a:srgbClr val="151A21"/>
                          </a:solidFill>
                          <a:latin typeface="Calibri" pitchFamily="34" charset="0"/>
                          <a:ea typeface="Calibri" pitchFamily="34" charset="-122"/>
                          <a:cs typeface="Calibri" pitchFamily="34" charset="-120"/>
                        </a:rPr>
                        <a:t>  First Falcon alert, confirmed by OverWatch threat hunters</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502920">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3  </a:t>
                      </a:r>
                      <a:pPr indent="0" marL="0">
                        <a:buNone/>
                      </a:pPr>
                      <a:r>
                        <a:rPr lang="en-US" sz="1050" b="1" dirty="0">
                          <a:solidFill>
                            <a:srgbClr val="151A21"/>
                          </a:solidFill>
                          <a:latin typeface="Calibri" pitchFamily="34" charset="0"/>
                          <a:ea typeface="Calibri" pitchFamily="34" charset="-122"/>
                          <a:cs typeface="Calibri" pitchFamily="34" charset="-120"/>
                        </a:rPr>
                        <a:t>Credential access</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151A21"/>
                          </a:solidFill>
                          <a:latin typeface="Calibri" pitchFamily="34" charset="0"/>
                          <a:ea typeface="Calibri" pitchFamily="34" charset="-122"/>
                          <a:cs typeface="Calibri" pitchFamily="34" charset="-120"/>
                        </a:rPr>
                        <a:t>Tried to dump credentials and add users to admin groups</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Blocked.</a:t>
                      </a:r>
                      <a:pPr indent="0" marL="0">
                        <a:buNone/>
                      </a:pPr>
                      <a:r>
                        <a:rPr lang="en-US" sz="1050" dirty="0">
                          <a:solidFill>
                            <a:srgbClr val="151A21"/>
                          </a:solidFill>
                          <a:latin typeface="Calibri" pitchFamily="34" charset="0"/>
                          <a:ea typeface="Calibri" pitchFamily="34" charset="-122"/>
                          <a:cs typeface="Calibri" pitchFamily="34" charset="-120"/>
                        </a:rPr>
                        <a:t>  Privilege escalation attempts stopped</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502920">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4  </a:t>
                      </a:r>
                      <a:pPr indent="0" marL="0">
                        <a:buNone/>
                      </a:pPr>
                      <a:r>
                        <a:rPr lang="en-US" sz="1050" b="1" dirty="0">
                          <a:solidFill>
                            <a:srgbClr val="151A21"/>
                          </a:solidFill>
                          <a:latin typeface="Calibri" pitchFamily="34" charset="0"/>
                          <a:ea typeface="Calibri" pitchFamily="34" charset="-122"/>
                          <a:cs typeface="Calibri" pitchFamily="34" charset="-120"/>
                        </a:rPr>
                        <a:t>Persistence &amp; evasion</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151A21"/>
                          </a:solidFill>
                          <a:latin typeface="Calibri" pitchFamily="34" charset="0"/>
                          <a:ea typeface="Calibri" pitchFamily="34" charset="-122"/>
                          <a:cs typeface="Calibri" pitchFamily="34" charset="-120"/>
                        </a:rPr>
                        <a:t>Tried to install tunneling and remote-access tools</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Blocked.</a:t>
                      </a:r>
                      <a:pPr indent="0" marL="0">
                        <a:buNone/>
                      </a:pPr>
                      <a:r>
                        <a:rPr lang="en-US" sz="1050" dirty="0">
                          <a:solidFill>
                            <a:srgbClr val="151A21"/>
                          </a:solidFill>
                          <a:latin typeface="Calibri" pitchFamily="34" charset="0"/>
                          <a:ea typeface="Calibri" pitchFamily="34" charset="-122"/>
                          <a:cs typeface="Calibri" pitchFamily="34" charset="-120"/>
                        </a:rPr>
                        <a:t>  Tools prevented from executing</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502920">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5  </a:t>
                      </a:r>
                      <a:pPr indent="0" marL="0">
                        <a:buNone/>
                      </a:pPr>
                      <a:r>
                        <a:rPr lang="en-US" sz="1050" b="1" dirty="0">
                          <a:solidFill>
                            <a:srgbClr val="151A21"/>
                          </a:solidFill>
                          <a:latin typeface="Calibri" pitchFamily="34" charset="0"/>
                          <a:ea typeface="Calibri" pitchFamily="34" charset="-122"/>
                          <a:cs typeface="Calibri" pitchFamily="34" charset="-120"/>
                        </a:rPr>
                        <a:t>Reconnaissance</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151A21"/>
                          </a:solidFill>
                          <a:latin typeface="Calibri" pitchFamily="34" charset="0"/>
                          <a:ea typeface="Calibri" pitchFamily="34" charset="-122"/>
                          <a:cs typeface="Calibri" pitchFamily="34" charset="-120"/>
                        </a:rPr>
                        <a:t>Ran tools to map network file shares</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Blocked.</a:t>
                      </a:r>
                      <a:pPr indent="0" marL="0">
                        <a:buNone/>
                      </a:pPr>
                      <a:r>
                        <a:rPr lang="en-US" sz="1050" dirty="0">
                          <a:solidFill>
                            <a:srgbClr val="151A21"/>
                          </a:solidFill>
                          <a:latin typeface="Calibri" pitchFamily="34" charset="0"/>
                          <a:ea typeface="Calibri" pitchFamily="34" charset="-122"/>
                          <a:cs typeface="Calibri" pitchFamily="34" charset="-120"/>
                        </a:rPr>
                        <a:t>  Both tools prevented from running</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603504">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6  </a:t>
                      </a:r>
                      <a:pPr indent="0" marL="0">
                        <a:buNone/>
                      </a:pPr>
                      <a:r>
                        <a:rPr lang="en-US" sz="1050" b="1" dirty="0">
                          <a:solidFill>
                            <a:srgbClr val="151A21"/>
                          </a:solidFill>
                          <a:latin typeface="Calibri" pitchFamily="34" charset="0"/>
                          <a:ea typeface="Calibri" pitchFamily="34" charset="-122"/>
                          <a:cs typeface="Calibri" pitchFamily="34" charset="-120"/>
                        </a:rPr>
                        <a:t>Collection &amp; impact</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151A21"/>
                          </a:solidFill>
                          <a:latin typeface="Calibri" pitchFamily="34" charset="0"/>
                          <a:ea typeface="Calibri" pitchFamily="34" charset="-122"/>
                          <a:cs typeface="Calibri" pitchFamily="34" charset="-120"/>
                        </a:rPr>
                        <a:t>Archived data, tried to exfiltrate it, then launched Akira ransomware</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Contained &amp; blocked.</a:t>
                      </a:r>
                      <a:pPr indent="0" marL="0">
                        <a:buNone/>
                      </a:pPr>
                      <a:r>
                        <a:rPr lang="en-US" sz="1050" dirty="0">
                          <a:solidFill>
                            <a:srgbClr val="151A21"/>
                          </a:solidFill>
                          <a:latin typeface="Calibri" pitchFamily="34" charset="0"/>
                          <a:ea typeface="Calibri" pitchFamily="34" charset="-122"/>
                          <a:cs typeface="Calibri" pitchFamily="34" charset="-120"/>
                        </a:rPr>
                        <a:t>  Exfiltration detected and host isolated; ransomware stopped before any encryption</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bl>
          </a:graphicData>
        </a:graphic>
      </p:graphicFrame>
      <p:sp>
        <p:nvSpPr>
          <p:cNvPr id="7" name="Shape 3"/>
          <p:cNvSpPr/>
          <p:nvPr/>
        </p:nvSpPr>
        <p:spPr>
          <a:xfrm>
            <a:off x="548640" y="5596128"/>
            <a:ext cx="11094415" cy="457200"/>
          </a:xfrm>
          <a:prstGeom prst="roundRect">
            <a:avLst>
              <a:gd name="adj" fmla="val 16000"/>
            </a:avLst>
          </a:prstGeom>
          <a:solidFill>
            <a:srgbClr val="FDECEC"/>
          </a:solidFill>
          <a:ln w="12700">
            <a:solidFill>
              <a:srgbClr val="FDECEC"/>
            </a:solidFill>
            <a:prstDash val="solid"/>
          </a:ln>
        </p:spPr>
      </p:sp>
      <p:pic>
        <p:nvPicPr>
          <p:cNvPr id="8" name="Image 1" descr="preencoded.png">    </p:cNvPr>
          <p:cNvPicPr>
            <a:picLocks noChangeAspect="1"/>
          </p:cNvPicPr>
          <p:nvPr/>
        </p:nvPicPr>
        <p:blipFill>
          <a:blip r:embed="rId2"/>
          <a:stretch>
            <a:fillRect/>
          </a:stretch>
        </p:blipFill>
        <p:spPr>
          <a:xfrm>
            <a:off x="731520" y="5705856"/>
            <a:ext cx="237744" cy="237744"/>
          </a:xfrm>
          <a:prstGeom prst="rect">
            <a:avLst/>
          </a:prstGeom>
        </p:spPr>
      </p:pic>
      <p:sp>
        <p:nvSpPr>
          <p:cNvPr id="9" name="Text 4"/>
          <p:cNvSpPr txBox="1"/>
          <p:nvPr/>
        </p:nvSpPr>
        <p:spPr>
          <a:xfrm>
            <a:off x="1097280" y="5596128"/>
            <a:ext cx="10362895" cy="457200"/>
          </a:xfrm>
          <a:prstGeom prst="rect">
            <a:avLst/>
          </a:prstGeom>
          <a:noFill/>
          <a:ln/>
        </p:spPr>
        <p:txBody>
          <a:bodyPr wrap="square" lIns="0" tIns="0" rIns="0" bIns="0" rtlCol="0" anchor="ctr"/>
          <a:lstStyle/>
          <a:p>
            <a:pPr indent="0" marL="0">
              <a:buNone/>
            </a:pPr>
            <a:r>
              <a:rPr lang="en-US" sz="1200" b="1" dirty="0">
                <a:solidFill>
                  <a:srgbClr val="E3202A"/>
                </a:solidFill>
                <a:latin typeface="Calibri" pitchFamily="34" charset="0"/>
                <a:ea typeface="Calibri" pitchFamily="34" charset="-122"/>
                <a:cs typeface="Calibri" pitchFamily="34" charset="-120"/>
              </a:rPr>
              <a:t>Lesson: </a:t>
            </a:r>
            <a:pPr indent="0" marL="0">
              <a:buNone/>
            </a:pPr>
            <a:r>
              <a:rPr lang="en-US" sz="1200" dirty="0">
                <a:solidFill>
                  <a:srgbClr val="151A21"/>
                </a:solidFill>
                <a:latin typeface="Calibri" pitchFamily="34" charset="0"/>
                <a:ea typeface="Calibri" pitchFamily="34" charset="-122"/>
                <a:cs typeface="Calibri" pitchFamily="34" charset="-120"/>
              </a:rPr>
              <a:t>scanning and endpoint protection are complementary — but only endpoint protection stopped this attack. Every endpoint should run a sensor.</a:t>
            </a:r>
            <a:endParaRPr lang="en-US" sz="1200" dirty="0"/>
          </a:p>
        </p:txBody>
      </p:sp>
      <p:sp>
        <p:nvSpPr>
          <p:cNvPr id="10" name="Text 5"/>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12   |   Nessus vs. CrowdStrike Falcon Platform  ·  Proposal for The Westin Resort Guam</a:t>
            </a:r>
            <a:endParaRPr lang="en-US" sz="900" dirty="0"/>
          </a:p>
        </p:txBody>
      </p:sp>
      <p:pic>
        <p:nvPicPr>
          <p:cNvPr id="11" name="Image 2" descr="/private/tmp/claude-501/-Users-jihanvin-Desktop-NIVNAH-AI/16a96446-d9b3-40e2-af9e-a3011ae3db84/scratchpad/assets/secukorea_dark.png">    </p:cNvPr>
          <p:cNvPicPr>
            <a:picLocks noChangeAspect="1"/>
          </p:cNvPicPr>
          <p:nvPr/>
        </p:nvPicPr>
        <p:blipFill>
          <a:blip r:embed="rId3"/>
          <a:stretch>
            <a:fillRect/>
          </a:stretch>
        </p:blipFill>
        <p:spPr>
          <a:xfrm>
            <a:off x="10661904" y="6400800"/>
            <a:ext cx="978408" cy="23317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11   COMPARISON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Head-to-Head: Nessus vs. CrowdStrike Falcon</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743200"/>
                <a:gridCol w="3611880"/>
                <a:gridCol w="4739335"/>
              </a:tblGrid>
              <a:tr h="41148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Criteria</a:t>
                      </a:r>
                      <a:endParaRPr lang="en-US" sz="1200" dirty="0">
                        <a:latin typeface="Arial" charset="0"/>
                        <a:ea typeface="Arial" charset="0"/>
                        <a:cs typeface="Arial"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0B0D1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Nessus (current)</a:t>
                      </a:r>
                      <a:endParaRPr lang="en-US" sz="1200" dirty="0">
                        <a:latin typeface="Arial" charset="0"/>
                        <a:ea typeface="Arial" charset="0"/>
                        <a:cs typeface="Arial"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5D6B7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CrowdStrike Falcon (proposed)</a:t>
                      </a:r>
                      <a:endParaRPr lang="en-US" sz="1200" dirty="0">
                        <a:latin typeface="Arial" charset="0"/>
                        <a:ea typeface="Arial" charset="0"/>
                        <a:cs typeface="Arial"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202A"/>
                    </a:solidFill>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Primary purpose</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Vulnerability scanning and reporting</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Prevent, detect and respond</a:t>
                      </a:r>
                      <a:pPr indent="0" marL="0">
                        <a:buNone/>
                      </a:pPr>
                      <a:r>
                        <a:rPr lang="en-US" sz="1150" dirty="0">
                          <a:solidFill>
                            <a:srgbClr val="151A21"/>
                          </a:solidFill>
                          <a:latin typeface="Calibri" pitchFamily="34" charset="0"/>
                          <a:ea typeface="Calibri" pitchFamily="34" charset="-122"/>
                          <a:cs typeface="Calibri" pitchFamily="34" charset="-120"/>
                        </a:rPr>
                        <a:t>  to attacks on every endpoint</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Protection model</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Periodic, point-in-time scans</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Continuous, real-time</a:t>
                      </a:r>
                      <a:pPr indent="0" marL="0">
                        <a:buNone/>
                      </a:pPr>
                      <a:r>
                        <a:rPr lang="en-US" sz="1150" dirty="0">
                          <a:solidFill>
                            <a:srgbClr val="151A21"/>
                          </a:solidFill>
                          <a:latin typeface="Calibri" pitchFamily="34" charset="0"/>
                          <a:ea typeface="Calibri" pitchFamily="34" charset="-122"/>
                          <a:cs typeface="Calibri" pitchFamily="34" charset="-120"/>
                        </a:rPr>
                        <a:t>  — 24/7</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Malware &amp; ransomware prevention (EPP)</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Not provided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AI/ML next-gen antivirus</a:t>
                      </a:r>
                      <a:pPr indent="0" marL="0">
                        <a:buNone/>
                      </a:pPr>
                      <a:r>
                        <a:rPr lang="en-US" sz="1150" dirty="0">
                          <a:solidFill>
                            <a:srgbClr val="151A21"/>
                          </a:solidFill>
                          <a:latin typeface="Calibri" pitchFamily="34" charset="0"/>
                          <a:ea typeface="Calibri" pitchFamily="34" charset="-122"/>
                          <a:cs typeface="Calibri" pitchFamily="34" charset="-120"/>
                        </a:rPr>
                        <a:t>  — 100% ransomware prevention (SE Labs)</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Attack detection &amp; response (EDR)</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Not provided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Behavioral detection</a:t>
                      </a:r>
                      <a:pPr indent="0" marL="0">
                        <a:buNone/>
                      </a:pPr>
                      <a:r>
                        <a:rPr lang="en-US" sz="1150" dirty="0">
                          <a:solidFill>
                            <a:srgbClr val="151A21"/>
                          </a:solidFill>
                          <a:latin typeface="Calibri" pitchFamily="34" charset="0"/>
                          <a:ea typeface="Calibri" pitchFamily="34" charset="-122"/>
                          <a:cs typeface="Calibri" pitchFamily="34" charset="-120"/>
                        </a:rPr>
                        <a:t>  with full attack visibility and host containment</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Zero-day &amp; fileless attacks</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Only once a check for the flaw is published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Behavior-based</a:t>
                      </a:r>
                      <a:pPr indent="0" marL="0">
                        <a:buNone/>
                      </a:pPr>
                      <a:r>
                        <a:rPr lang="en-US" sz="1150" dirty="0">
                          <a:solidFill>
                            <a:srgbClr val="151A21"/>
                          </a:solidFill>
                          <a:latin typeface="Calibri" pitchFamily="34" charset="0"/>
                          <a:ea typeface="Calibri" pitchFamily="34" charset="-122"/>
                          <a:cs typeface="Calibri" pitchFamily="34" charset="-120"/>
                        </a:rPr>
                        <a:t>  — no prior signature needed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Remediation</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Manual — guidance only</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Automated response</a:t>
                      </a:r>
                      <a:pPr indent="0" marL="0">
                        <a:buNone/>
                      </a:pPr>
                      <a:r>
                        <a:rPr lang="en-US" sz="1150" dirty="0">
                          <a:solidFill>
                            <a:srgbClr val="151A21"/>
                          </a:solidFill>
                          <a:latin typeface="Calibri" pitchFamily="34" charset="0"/>
                          <a:ea typeface="Calibri" pitchFamily="34" charset="-122"/>
                          <a:cs typeface="Calibri" pitchFamily="34" charset="-120"/>
                        </a:rPr>
                        <a:t>  actions and workflows</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24/7 expert monitoring</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Not available</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Optional</a:t>
                      </a:r>
                      <a:pPr indent="0" marL="0">
                        <a:buNone/>
                      </a:pPr>
                      <a:r>
                        <a:rPr lang="en-US" sz="1150" dirty="0">
                          <a:solidFill>
                            <a:srgbClr val="151A21"/>
                          </a:solidFill>
                          <a:latin typeface="Calibri" pitchFamily="34" charset="0"/>
                          <a:ea typeface="Calibri" pitchFamily="34" charset="-122"/>
                          <a:cs typeface="Calibri" pitchFamily="34" charset="-120"/>
                        </a:rPr>
                        <a:t>  Falcon Complete Next-Gen MDR</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Infrastructure</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Scanner host, credentials and scan schedules to maintain</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Cloud-native</a:t>
                      </a:r>
                      <a:pPr indent="0" marL="0">
                        <a:buNone/>
                      </a:pPr>
                      <a:r>
                        <a:rPr lang="en-US" sz="1150" dirty="0">
                          <a:solidFill>
                            <a:srgbClr val="151A21"/>
                          </a:solidFill>
                          <a:latin typeface="Calibri" pitchFamily="34" charset="0"/>
                          <a:ea typeface="Calibri" pitchFamily="34" charset="-122"/>
                          <a:cs typeface="Calibri" pitchFamily="34" charset="-120"/>
                        </a:rPr>
                        <a:t>  — one lightweight sensor, no on-site server</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IT team workload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High — analyze reports, patch and verify by hand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Low</a:t>
                      </a:r>
                      <a:pPr indent="0" marL="0">
                        <a:buNone/>
                      </a:pPr>
                      <a:r>
                        <a:rPr lang="en-US" sz="1150" dirty="0">
                          <a:solidFill>
                            <a:srgbClr val="151A21"/>
                          </a:solidFill>
                          <a:latin typeface="Calibri" pitchFamily="34" charset="0"/>
                          <a:ea typeface="Calibri" pitchFamily="34" charset="-122"/>
                          <a:cs typeface="Calibri" pitchFamily="34" charset="-120"/>
                        </a:rPr>
                        <a:t>  — automated prevention and AI-assisted triage</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Vulnerability visibility</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Core strength (periodic)</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Optional</a:t>
                      </a:r>
                      <a:pPr indent="0" marL="0">
                        <a:buNone/>
                      </a:pPr>
                      <a:r>
                        <a:rPr lang="en-US" sz="1150" dirty="0">
                          <a:solidFill>
                            <a:srgbClr val="151A21"/>
                          </a:solidFill>
                          <a:latin typeface="Calibri" pitchFamily="34" charset="0"/>
                          <a:ea typeface="Calibri" pitchFamily="34" charset="-122"/>
                          <a:cs typeface="Calibri" pitchFamily="34" charset="-120"/>
                        </a:rPr>
                        <a:t>  continuous, scanless via Falcon Exposure Management</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bl>
          </a:graphicData>
        </a:graphic>
      </p:graphicFrame>
      <p:sp>
        <p:nvSpPr>
          <p:cNvPr id="6" name="Text 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13   |   Nessus vs. CrowdStrike Falcon Platform  ·  Proposal for The Westin Resort Guam</a:t>
            </a:r>
            <a:endParaRPr lang="en-US" sz="900" dirty="0"/>
          </a:p>
        </p:txBody>
      </p:sp>
      <p:pic>
        <p:nvPicPr>
          <p:cNvPr id="7" name="Image 1" descr="/private/tmp/claude-501/-Users-jihanvin-Desktop-NIVNAH-AI/16a96446-d9b3-40e2-af9e-a3011ae3db84/scratchpad/assets/secukorea_dark.png">    </p:cNvPr>
          <p:cNvPicPr>
            <a:picLocks noChangeAspect="1"/>
          </p:cNvPicPr>
          <p:nvPr/>
        </p:nvPicPr>
        <p:blipFill>
          <a:blip r:embed="rId2"/>
          <a:stretch>
            <a:fillRect/>
          </a:stretch>
        </p:blipFill>
        <p:spPr>
          <a:xfrm>
            <a:off x="10661904" y="6400800"/>
            <a:ext cx="978408" cy="23317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12   INDEPENDENT VALIDATION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Proven by Independent Testing and Customers</a:t>
            </a:r>
            <a:endParaRPr lang="en-US" sz="2800" dirty="0"/>
          </a:p>
        </p:txBody>
      </p:sp>
      <p:pic>
        <p:nvPicPr>
          <p:cNvPr id="4" name="Image 0" descr="/private/tmp/claude-501/-Users-jihanvin-Desktop-NIVNAH-AI/16a96446-d9b3-40e2-af9e-a3011ae3db84/scratchpad/assets/westin_white.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72768"/>
            <a:ext cx="3977640" cy="4343400"/>
          </a:xfrm>
          <a:prstGeom prst="roundRect">
            <a:avLst>
              <a:gd name="adj" fmla="val 2299"/>
            </a:avLst>
          </a:prstGeom>
          <a:solidFill>
            <a:srgbClr val="171B22"/>
          </a:solidFill>
          <a:ln w="9525">
            <a:solidFill>
              <a:srgbClr val="2A303A"/>
            </a:solidFill>
            <a:prstDash val="solid"/>
          </a:ln>
        </p:spPr>
      </p:sp>
      <p:pic>
        <p:nvPicPr>
          <p:cNvPr id="6" name="Image 1" descr="/private/tmp/claude-501/-Users-jihanvin-Desktop-NIVNAH-AI/16a96446-d9b3-40e2-af9e-a3011ae3db84/scratchpad/assets/mitre_badge.png">    </p:cNvPr>
          <p:cNvPicPr>
            <a:picLocks noChangeAspect="1"/>
          </p:cNvPicPr>
          <p:nvPr/>
        </p:nvPicPr>
        <p:blipFill>
          <a:blip r:embed="rId2"/>
          <a:stretch>
            <a:fillRect/>
          </a:stretch>
        </p:blipFill>
        <p:spPr>
          <a:xfrm>
            <a:off x="1744308" y="1847088"/>
            <a:ext cx="1586304" cy="1874520"/>
          </a:xfrm>
          <a:prstGeom prst="rect">
            <a:avLst/>
          </a:prstGeom>
        </p:spPr>
      </p:pic>
      <p:sp>
        <p:nvSpPr>
          <p:cNvPr id="7" name="Text 3"/>
          <p:cNvSpPr txBox="1"/>
          <p:nvPr/>
        </p:nvSpPr>
        <p:spPr>
          <a:xfrm>
            <a:off x="822960" y="3858768"/>
            <a:ext cx="3429000" cy="1143000"/>
          </a:xfrm>
          <a:prstGeom prst="rect">
            <a:avLst/>
          </a:prstGeom>
          <a:noFill/>
          <a:ln/>
        </p:spPr>
        <p:txBody>
          <a:bodyPr wrap="square" lIns="0" tIns="0" rIns="0" bIns="0" rtlCol="0" anchor="ctr"/>
          <a:lstStyle/>
          <a:p>
            <a:pPr algn="ctr" indent="0" marL="0">
              <a:spcAft>
                <a:spcPts val="200"/>
              </a:spcAft>
              <a:buNone/>
            </a:pPr>
            <a:r>
              <a:rPr lang="en-US" sz="2000" b="1" dirty="0">
                <a:solidFill>
                  <a:srgbClr val="FFFFFF"/>
                </a:solidFill>
                <a:latin typeface="Arial" pitchFamily="34" charset="0"/>
                <a:ea typeface="Arial" pitchFamily="34" charset="-122"/>
                <a:cs typeface="Arial" pitchFamily="34" charset="-120"/>
              </a:rPr>
              <a:t>100% Detection</a:t>
            </a:r>
            <a:endParaRPr lang="en-US" sz="2000" dirty="0"/>
          </a:p>
          <a:p>
            <a:pPr algn="ctr" indent="0" marL="0">
              <a:spcAft>
                <a:spcPts val="200"/>
              </a:spcAft>
              <a:buNone/>
            </a:pPr>
            <a:r>
              <a:rPr lang="en-US" sz="2000" b="1" dirty="0">
                <a:solidFill>
                  <a:srgbClr val="FFFFFF"/>
                </a:solidFill>
                <a:latin typeface="Arial" pitchFamily="34" charset="0"/>
                <a:ea typeface="Arial" pitchFamily="34" charset="-122"/>
                <a:cs typeface="Arial" pitchFamily="34" charset="-120"/>
              </a:rPr>
              <a:t>100% Protection</a:t>
            </a:r>
            <a:endParaRPr lang="en-US" sz="2000" dirty="0"/>
          </a:p>
          <a:p>
            <a:pPr algn="ctr" indent="0" marL="0">
              <a:spcAft>
                <a:spcPts val="200"/>
              </a:spcAft>
              <a:buNone/>
            </a:pPr>
            <a:r>
              <a:rPr lang="en-US" sz="2000" b="1" dirty="0">
                <a:solidFill>
                  <a:srgbClr val="FFFFFF"/>
                </a:solidFill>
                <a:latin typeface="Arial" pitchFamily="34" charset="0"/>
                <a:ea typeface="Arial" pitchFamily="34" charset="-122"/>
                <a:cs typeface="Arial" pitchFamily="34" charset="-120"/>
              </a:rPr>
              <a:t>Zero False Positives</a:t>
            </a:r>
            <a:endParaRPr lang="en-US" sz="2000" dirty="0"/>
          </a:p>
        </p:txBody>
      </p:sp>
      <p:sp>
        <p:nvSpPr>
          <p:cNvPr id="8" name="Text 4"/>
          <p:cNvSpPr txBox="1"/>
          <p:nvPr/>
        </p:nvSpPr>
        <p:spPr>
          <a:xfrm>
            <a:off x="822960" y="5138928"/>
            <a:ext cx="3429000" cy="457200"/>
          </a:xfrm>
          <a:prstGeom prst="rect">
            <a:avLst/>
          </a:prstGeom>
          <a:noFill/>
          <a:ln/>
        </p:spPr>
        <p:txBody>
          <a:bodyPr wrap="square" lIns="0" tIns="0" rIns="0" bIns="0" rtlCol="0" anchor="ctr"/>
          <a:lstStyle/>
          <a:p>
            <a:pPr algn="ctr" indent="0" marL="0">
              <a:buNone/>
            </a:pPr>
            <a:r>
              <a:rPr lang="en-US" sz="1100" dirty="0">
                <a:solidFill>
                  <a:srgbClr val="A9B1BC"/>
                </a:solidFill>
                <a:latin typeface="Calibri" pitchFamily="34" charset="0"/>
                <a:ea typeface="Calibri" pitchFamily="34" charset="-122"/>
                <a:cs typeface="Calibri" pitchFamily="34" charset="-120"/>
              </a:rPr>
              <a:t>2025 MITRE ATT&amp;CK® Enterprise Evaluations</a:t>
            </a:r>
            <a:endParaRPr lang="en-US" sz="1100" dirty="0"/>
          </a:p>
        </p:txBody>
      </p:sp>
      <p:sp>
        <p:nvSpPr>
          <p:cNvPr id="9" name="Shape 5"/>
          <p:cNvSpPr/>
          <p:nvPr/>
        </p:nvSpPr>
        <p:spPr>
          <a:xfrm>
            <a:off x="4800600" y="1572768"/>
            <a:ext cx="3284068" cy="2034540"/>
          </a:xfrm>
          <a:prstGeom prst="roundRect">
            <a:avLst>
              <a:gd name="adj" fmla="val 3596"/>
            </a:avLst>
          </a:prstGeom>
          <a:solidFill>
            <a:srgbClr val="171B22"/>
          </a:solidFill>
          <a:ln w="9525">
            <a:solidFill>
              <a:srgbClr val="2A303A"/>
            </a:solidFill>
            <a:prstDash val="solid"/>
          </a:ln>
        </p:spPr>
      </p:sp>
      <p:sp>
        <p:nvSpPr>
          <p:cNvPr id="10" name="Text 6"/>
          <p:cNvSpPr txBox="1"/>
          <p:nvPr/>
        </p:nvSpPr>
        <p:spPr>
          <a:xfrm>
            <a:off x="5120640" y="1847088"/>
            <a:ext cx="2643988" cy="731520"/>
          </a:xfrm>
          <a:prstGeom prst="rect">
            <a:avLst/>
          </a:prstGeom>
          <a:noFill/>
          <a:ln/>
        </p:spPr>
        <p:txBody>
          <a:bodyPr wrap="square" lIns="0" tIns="0" rIns="0" bIns="0" rtlCol="0" anchor="ctr"/>
          <a:lstStyle/>
          <a:p>
            <a:pPr indent="0" marL="0">
              <a:buNone/>
            </a:pPr>
            <a:r>
              <a:rPr lang="en-US" sz="3600" b="1" dirty="0">
                <a:solidFill>
                  <a:srgbClr val="E3202A"/>
                </a:solidFill>
                <a:latin typeface="Arial" pitchFamily="34" charset="0"/>
                <a:ea typeface="Arial" pitchFamily="34" charset="-122"/>
                <a:cs typeface="Arial" pitchFamily="34" charset="-120"/>
              </a:rPr>
              <a:t>Leader</a:t>
            </a:r>
            <a:endParaRPr lang="en-US" sz="3600" dirty="0"/>
          </a:p>
        </p:txBody>
      </p:sp>
      <p:sp>
        <p:nvSpPr>
          <p:cNvPr id="11" name="Text 7"/>
          <p:cNvSpPr txBox="1"/>
          <p:nvPr/>
        </p:nvSpPr>
        <p:spPr>
          <a:xfrm>
            <a:off x="5120640" y="2624328"/>
            <a:ext cx="2643988"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Named a Leader seven consecutive times, including the 2026 Gartner® Magic Quadrant™ for Endpoint Protection Platforms</a:t>
            </a:r>
            <a:endParaRPr lang="en-US" sz="1200" dirty="0"/>
          </a:p>
        </p:txBody>
      </p:sp>
      <p:sp>
        <p:nvSpPr>
          <p:cNvPr id="12" name="Shape 8"/>
          <p:cNvSpPr/>
          <p:nvPr/>
        </p:nvSpPr>
        <p:spPr>
          <a:xfrm>
            <a:off x="8358988" y="1572768"/>
            <a:ext cx="3284068" cy="2034540"/>
          </a:xfrm>
          <a:prstGeom prst="roundRect">
            <a:avLst>
              <a:gd name="adj" fmla="val 3596"/>
            </a:avLst>
          </a:prstGeom>
          <a:solidFill>
            <a:srgbClr val="171B22"/>
          </a:solidFill>
          <a:ln w="9525">
            <a:solidFill>
              <a:srgbClr val="2A303A"/>
            </a:solidFill>
            <a:prstDash val="solid"/>
          </a:ln>
        </p:spPr>
      </p:sp>
      <p:sp>
        <p:nvSpPr>
          <p:cNvPr id="13" name="Text 9"/>
          <p:cNvSpPr txBox="1"/>
          <p:nvPr/>
        </p:nvSpPr>
        <p:spPr>
          <a:xfrm>
            <a:off x="8679028" y="1847088"/>
            <a:ext cx="2643988" cy="731520"/>
          </a:xfrm>
          <a:prstGeom prst="rect">
            <a:avLst/>
          </a:prstGeom>
          <a:noFill/>
          <a:ln/>
        </p:spPr>
        <p:txBody>
          <a:bodyPr wrap="square" lIns="0" tIns="0" rIns="0" bIns="0" rtlCol="0" anchor="ctr"/>
          <a:lstStyle/>
          <a:p>
            <a:pPr indent="0" marL="0">
              <a:buNone/>
            </a:pPr>
            <a:r>
              <a:rPr lang="en-US" sz="3600" b="1" dirty="0">
                <a:solidFill>
                  <a:srgbClr val="E3202A"/>
                </a:solidFill>
                <a:latin typeface="Arial" pitchFamily="34" charset="0"/>
                <a:ea typeface="Arial" pitchFamily="34" charset="-122"/>
                <a:cs typeface="Arial" pitchFamily="34" charset="-120"/>
              </a:rPr>
              <a:t>100%</a:t>
            </a:r>
            <a:endParaRPr lang="en-US" sz="3600" dirty="0"/>
          </a:p>
        </p:txBody>
      </p:sp>
      <p:sp>
        <p:nvSpPr>
          <p:cNvPr id="14" name="Text 10"/>
          <p:cNvSpPr txBox="1"/>
          <p:nvPr/>
        </p:nvSpPr>
        <p:spPr>
          <a:xfrm>
            <a:off x="8679028" y="2624328"/>
            <a:ext cx="2643988"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Ransomware protection and total accuracy — SE Labs Enterprise Advanced Security EDR Ransomware Test (2024)</a:t>
            </a:r>
            <a:endParaRPr lang="en-US" sz="1200" dirty="0"/>
          </a:p>
        </p:txBody>
      </p:sp>
      <p:sp>
        <p:nvSpPr>
          <p:cNvPr id="15" name="Shape 11"/>
          <p:cNvSpPr/>
          <p:nvPr/>
        </p:nvSpPr>
        <p:spPr>
          <a:xfrm>
            <a:off x="4800600" y="3881628"/>
            <a:ext cx="3284068" cy="2034540"/>
          </a:xfrm>
          <a:prstGeom prst="roundRect">
            <a:avLst>
              <a:gd name="adj" fmla="val 3596"/>
            </a:avLst>
          </a:prstGeom>
          <a:solidFill>
            <a:srgbClr val="171B22"/>
          </a:solidFill>
          <a:ln w="9525">
            <a:solidFill>
              <a:srgbClr val="2A303A"/>
            </a:solidFill>
            <a:prstDash val="solid"/>
          </a:ln>
        </p:spPr>
      </p:sp>
      <p:sp>
        <p:nvSpPr>
          <p:cNvPr id="16" name="Text 12"/>
          <p:cNvSpPr txBox="1"/>
          <p:nvPr/>
        </p:nvSpPr>
        <p:spPr>
          <a:xfrm>
            <a:off x="5120640" y="4155948"/>
            <a:ext cx="2643988" cy="731520"/>
          </a:xfrm>
          <a:prstGeom prst="rect">
            <a:avLst/>
          </a:prstGeom>
          <a:noFill/>
          <a:ln/>
        </p:spPr>
        <p:txBody>
          <a:bodyPr wrap="square" lIns="0" tIns="0" rIns="0" bIns="0" rtlCol="0" anchor="ctr"/>
          <a:lstStyle/>
          <a:p>
            <a:pPr indent="0" marL="0">
              <a:buNone/>
            </a:pPr>
            <a:r>
              <a:rPr lang="en-US" sz="3600" b="1" dirty="0">
                <a:solidFill>
                  <a:srgbClr val="E3202A"/>
                </a:solidFill>
                <a:latin typeface="Arial" pitchFamily="34" charset="0"/>
                <a:ea typeface="Arial" pitchFamily="34" charset="-122"/>
                <a:cs typeface="Arial" pitchFamily="34" charset="-120"/>
              </a:rPr>
              <a:t>273%</a:t>
            </a:r>
            <a:endParaRPr lang="en-US" sz="3600" dirty="0"/>
          </a:p>
        </p:txBody>
      </p:sp>
      <p:sp>
        <p:nvSpPr>
          <p:cNvPr id="17" name="Text 13"/>
          <p:cNvSpPr txBox="1"/>
          <p:nvPr/>
        </p:nvSpPr>
        <p:spPr>
          <a:xfrm>
            <a:off x="5120640" y="4933188"/>
            <a:ext cx="2643988"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Three-year ROI — Forrester Consulting Total Economic Impact™ study, commissioned by CrowdStrike (2025)</a:t>
            </a:r>
            <a:endParaRPr lang="en-US" sz="1200" dirty="0"/>
          </a:p>
        </p:txBody>
      </p:sp>
      <p:sp>
        <p:nvSpPr>
          <p:cNvPr id="18" name="Shape 14"/>
          <p:cNvSpPr/>
          <p:nvPr/>
        </p:nvSpPr>
        <p:spPr>
          <a:xfrm>
            <a:off x="8358988" y="3881628"/>
            <a:ext cx="3284068" cy="2034540"/>
          </a:xfrm>
          <a:prstGeom prst="roundRect">
            <a:avLst>
              <a:gd name="adj" fmla="val 3596"/>
            </a:avLst>
          </a:prstGeom>
          <a:solidFill>
            <a:srgbClr val="171B22"/>
          </a:solidFill>
          <a:ln w="9525">
            <a:solidFill>
              <a:srgbClr val="2A303A"/>
            </a:solidFill>
            <a:prstDash val="solid"/>
          </a:ln>
        </p:spPr>
      </p:sp>
      <p:sp>
        <p:nvSpPr>
          <p:cNvPr id="19" name="Text 15"/>
          <p:cNvSpPr txBox="1"/>
          <p:nvPr/>
        </p:nvSpPr>
        <p:spPr>
          <a:xfrm>
            <a:off x="8679028" y="4155948"/>
            <a:ext cx="2643988" cy="731520"/>
          </a:xfrm>
          <a:prstGeom prst="rect">
            <a:avLst/>
          </a:prstGeom>
          <a:noFill/>
          <a:ln/>
        </p:spPr>
        <p:txBody>
          <a:bodyPr wrap="square" lIns="0" tIns="0" rIns="0" bIns="0" rtlCol="0" anchor="ctr"/>
          <a:lstStyle/>
          <a:p>
            <a:pPr indent="0" marL="0">
              <a:buNone/>
            </a:pPr>
            <a:r>
              <a:rPr lang="en-US" sz="3600" b="1" dirty="0">
                <a:solidFill>
                  <a:srgbClr val="E3202A"/>
                </a:solidFill>
                <a:latin typeface="Arial" pitchFamily="34" charset="0"/>
                <a:ea typeface="Arial" pitchFamily="34" charset="-122"/>
                <a:cs typeface="Arial" pitchFamily="34" charset="-120"/>
              </a:rPr>
              <a:t>97%</a:t>
            </a:r>
            <a:endParaRPr lang="en-US" sz="3600" dirty="0"/>
          </a:p>
        </p:txBody>
      </p:sp>
      <p:sp>
        <p:nvSpPr>
          <p:cNvPr id="20" name="Text 16"/>
          <p:cNvSpPr txBox="1"/>
          <p:nvPr/>
        </p:nvSpPr>
        <p:spPr>
          <a:xfrm>
            <a:off x="8679028" y="4933188"/>
            <a:ext cx="2643988"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Willing to recommend — 2026 Gartner® Peer Insights™ Customers' Choice for EPP (800 reviews)</a:t>
            </a:r>
            <a:endParaRPr lang="en-US" sz="1200" dirty="0"/>
          </a:p>
        </p:txBody>
      </p:sp>
      <p:sp>
        <p:nvSpPr>
          <p:cNvPr id="21" name="Text 17"/>
          <p:cNvSpPr txBox="1"/>
          <p:nvPr/>
        </p:nvSpPr>
        <p:spPr>
          <a:xfrm>
            <a:off x="548640" y="6053328"/>
            <a:ext cx="11094415" cy="237744"/>
          </a:xfrm>
          <a:prstGeom prst="rect">
            <a:avLst/>
          </a:prstGeom>
          <a:noFill/>
          <a:ln/>
        </p:spPr>
        <p:txBody>
          <a:bodyPr wrap="square" lIns="0" tIns="0" rIns="0" bIns="0" rtlCol="0" anchor="b"/>
          <a:lstStyle/>
          <a:p>
            <a:pPr indent="0" marL="0">
              <a:buNone/>
            </a:pPr>
            <a:r>
              <a:rPr lang="en-US" sz="800" i="1" dirty="0">
                <a:solidFill>
                  <a:srgbClr val="7D8794"/>
                </a:solidFill>
                <a:latin typeface="Calibri" pitchFamily="34" charset="0"/>
                <a:ea typeface="Calibri" pitchFamily="34" charset="-122"/>
                <a:cs typeface="Calibri" pitchFamily="34" charset="-120"/>
              </a:rPr>
              <a:t>Gartner does not endorse any vendor, product or service depicted in its research publications. GARTNER, MAGIC QUADRANT and PEER INSIGHTS are trademarks of Gartner, Inc. and/or its affiliates. Also trusted by 74,000+ direct and MSSP end customers worldwide.</a:t>
            </a:r>
            <a:endParaRPr lang="en-US" sz="800" dirty="0"/>
          </a:p>
        </p:txBody>
      </p:sp>
      <p:sp>
        <p:nvSpPr>
          <p:cNvPr id="22" name="Text 18"/>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8A93A0"/>
                </a:solidFill>
                <a:latin typeface="Calibri" pitchFamily="34" charset="0"/>
                <a:ea typeface="Calibri" pitchFamily="34" charset="-122"/>
                <a:cs typeface="Calibri" pitchFamily="34" charset="-120"/>
              </a:rPr>
              <a:t>14   |   Nessus vs. CrowdStrike Falcon Platform  ·  Proposal for The Westin Resort Guam</a:t>
            </a:r>
            <a:endParaRPr lang="en-US" sz="900" dirty="0"/>
          </a:p>
        </p:txBody>
      </p:sp>
      <p:pic>
        <p:nvPicPr>
          <p:cNvPr id="23" name="Image 2" descr="/private/tmp/claude-501/-Users-jihanvin-Desktop-NIVNAH-AI/16a96446-d9b3-40e2-af9e-a3011ae3db84/scratchpad/assets/secukorea_light.png">    </p:cNvPr>
          <p:cNvPicPr>
            <a:picLocks noChangeAspect="1"/>
          </p:cNvPicPr>
          <p:nvPr/>
        </p:nvPicPr>
        <p:blipFill>
          <a:blip r:embed="rId3"/>
          <a:stretch>
            <a:fillRect/>
          </a:stretch>
        </p:blipFill>
        <p:spPr>
          <a:xfrm>
            <a:off x="10661904" y="6400800"/>
            <a:ext cx="978408" cy="23317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13   CUSTOMER RESULTS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Results Customers Have Achieved</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3515258" cy="3703320"/>
          </a:xfrm>
          <a:prstGeom prst="roundRect">
            <a:avLst>
              <a:gd name="adj" fmla="val 2601"/>
            </a:avLst>
          </a:prstGeom>
          <a:solidFill>
            <a:srgbClr val="FDECEC"/>
          </a:solidFill>
          <a:ln w="9525">
            <a:solidFill>
              <a:srgbClr val="F6C9CB"/>
            </a:solidFill>
            <a:prstDash val="solid"/>
          </a:ln>
        </p:spPr>
      </p:sp>
      <p:sp>
        <p:nvSpPr>
          <p:cNvPr id="6" name="Shape 3"/>
          <p:cNvSpPr/>
          <p:nvPr/>
        </p:nvSpPr>
        <p:spPr>
          <a:xfrm>
            <a:off x="868680" y="1874520"/>
            <a:ext cx="548640" cy="548640"/>
          </a:xfrm>
          <a:prstGeom prst="roundRect">
            <a:avLst>
              <a:gd name="adj" fmla="val 16667"/>
            </a:avLst>
          </a:prstGeom>
          <a:solidFill>
            <a:srgbClr val="E3202A"/>
          </a:solidFill>
          <a:ln w="12700">
            <a:solidFill>
              <a:srgbClr val="E3202A"/>
            </a:solidFill>
            <a:prstDash val="solid"/>
          </a:ln>
        </p:spPr>
      </p:sp>
      <p:pic>
        <p:nvPicPr>
          <p:cNvPr id="7" name="Image 1" descr="preencoded.png">    </p:cNvPr>
          <p:cNvPicPr>
            <a:picLocks noChangeAspect="1"/>
          </p:cNvPicPr>
          <p:nvPr/>
        </p:nvPicPr>
        <p:blipFill>
          <a:blip r:embed="rId2"/>
          <a:stretch>
            <a:fillRect/>
          </a:stretch>
        </p:blipFill>
        <p:spPr>
          <a:xfrm>
            <a:off x="989381" y="1995221"/>
            <a:ext cx="307238" cy="307238"/>
          </a:xfrm>
          <a:prstGeom prst="rect">
            <a:avLst/>
          </a:prstGeom>
        </p:spPr>
      </p:pic>
      <p:sp>
        <p:nvSpPr>
          <p:cNvPr id="8" name="Text 4"/>
          <p:cNvSpPr txBox="1"/>
          <p:nvPr/>
        </p:nvSpPr>
        <p:spPr>
          <a:xfrm>
            <a:off x="1600200" y="1883664"/>
            <a:ext cx="2235098" cy="237744"/>
          </a:xfrm>
          <a:prstGeom prst="rect">
            <a:avLst/>
          </a:prstGeom>
          <a:noFill/>
          <a:ln/>
        </p:spPr>
        <p:txBody>
          <a:bodyPr wrap="square" lIns="0" tIns="0" rIns="0" bIns="0" rtlCol="0" anchor="t"/>
          <a:lstStyle/>
          <a:p>
            <a:pPr indent="0" marL="0">
              <a:buNone/>
            </a:pPr>
            <a:r>
              <a:rPr lang="en-US" sz="950" b="1" spc="150" kern="0" dirty="0">
                <a:solidFill>
                  <a:srgbClr val="E3202A"/>
                </a:solidFill>
                <a:latin typeface="Calibri" pitchFamily="34" charset="0"/>
                <a:ea typeface="Calibri" pitchFamily="34" charset="-122"/>
                <a:cs typeface="Calibri" pitchFamily="34" charset="-120"/>
              </a:rPr>
              <a:t>HOSPITALITY</a:t>
            </a:r>
            <a:endParaRPr lang="en-US" sz="950" dirty="0"/>
          </a:p>
        </p:txBody>
      </p:sp>
      <p:sp>
        <p:nvSpPr>
          <p:cNvPr id="9" name="Text 5"/>
          <p:cNvSpPr txBox="1"/>
          <p:nvPr/>
        </p:nvSpPr>
        <p:spPr>
          <a:xfrm>
            <a:off x="1600200" y="2130552"/>
            <a:ext cx="2235098"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Hospitality chain</a:t>
            </a:r>
            <a:endParaRPr lang="en-US" sz="1500" dirty="0"/>
          </a:p>
        </p:txBody>
      </p:sp>
      <p:sp>
        <p:nvSpPr>
          <p:cNvPr id="10" name="Text 6"/>
          <p:cNvSpPr txBox="1"/>
          <p:nvPr/>
        </p:nvSpPr>
        <p:spPr>
          <a:xfrm>
            <a:off x="868680" y="2697480"/>
            <a:ext cx="2875178" cy="868680"/>
          </a:xfrm>
          <a:prstGeom prst="rect">
            <a:avLst/>
          </a:prstGeom>
          <a:noFill/>
          <a:ln/>
        </p:spPr>
        <p:txBody>
          <a:bodyPr wrap="square" lIns="0" tIns="0" rIns="0" bIns="0" rtlCol="0" anchor="ctr"/>
          <a:lstStyle/>
          <a:p>
            <a:pPr indent="0" marL="0">
              <a:buNone/>
            </a:pPr>
            <a:r>
              <a:rPr lang="en-US" sz="4800" b="1" dirty="0">
                <a:solidFill>
                  <a:srgbClr val="E3202A"/>
                </a:solidFill>
                <a:latin typeface="Arial" pitchFamily="34" charset="0"/>
                <a:ea typeface="Arial" pitchFamily="34" charset="-122"/>
                <a:cs typeface="Arial" pitchFamily="34" charset="-120"/>
              </a:rPr>
              <a:t>100K</a:t>
            </a:r>
            <a:endParaRPr lang="en-US" sz="4800" dirty="0"/>
          </a:p>
        </p:txBody>
      </p:sp>
      <p:sp>
        <p:nvSpPr>
          <p:cNvPr id="11" name="Text 7"/>
          <p:cNvSpPr txBox="1"/>
          <p:nvPr/>
        </p:nvSpPr>
        <p:spPr>
          <a:xfrm>
            <a:off x="868680" y="3566160"/>
            <a:ext cx="2875178" cy="292608"/>
          </a:xfrm>
          <a:prstGeom prst="rect">
            <a:avLst/>
          </a:prstGeom>
          <a:noFill/>
          <a:ln/>
        </p:spPr>
        <p:txBody>
          <a:bodyPr wrap="square" lIns="0" tIns="0" rIns="0" bIns="0" rtlCol="0" anchor="t"/>
          <a:lstStyle/>
          <a:p>
            <a:pPr indent="0" marL="0">
              <a:buNone/>
            </a:pPr>
            <a:r>
              <a:rPr lang="en-US" sz="1300" b="1" dirty="0">
                <a:solidFill>
                  <a:srgbClr val="151A21"/>
                </a:solidFill>
                <a:latin typeface="Calibri" pitchFamily="34" charset="0"/>
                <a:ea typeface="Calibri" pitchFamily="34" charset="-122"/>
                <a:cs typeface="Calibri" pitchFamily="34" charset="-120"/>
              </a:rPr>
              <a:t>agents deployed in one day</a:t>
            </a:r>
            <a:endParaRPr lang="en-US" sz="1300" dirty="0"/>
          </a:p>
        </p:txBody>
      </p:sp>
      <p:sp>
        <p:nvSpPr>
          <p:cNvPr id="12" name="Text 8"/>
          <p:cNvSpPr txBox="1"/>
          <p:nvPr/>
        </p:nvSpPr>
        <p:spPr>
          <a:xfrm>
            <a:off x="868680" y="3977640"/>
            <a:ext cx="2875178" cy="1325880"/>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During a CrowdStrike incident response engagement with a hospitality chain, 100,000 Falcon agents were rolled out in a single day.</a:t>
            </a:r>
            <a:endParaRPr lang="en-US" sz="1150" dirty="0"/>
          </a:p>
        </p:txBody>
      </p:sp>
      <p:sp>
        <p:nvSpPr>
          <p:cNvPr id="13" name="Shape 9"/>
          <p:cNvSpPr/>
          <p:nvPr/>
        </p:nvSpPr>
        <p:spPr>
          <a:xfrm>
            <a:off x="4338218" y="1554480"/>
            <a:ext cx="3515258" cy="3703320"/>
          </a:xfrm>
          <a:prstGeom prst="roundRect">
            <a:avLst>
              <a:gd name="adj" fmla="val 2601"/>
            </a:avLst>
          </a:prstGeom>
          <a:solidFill>
            <a:srgbClr val="F3F5F8"/>
          </a:solidFill>
          <a:ln w="9525">
            <a:solidFill>
              <a:srgbClr val="DCE1E7"/>
            </a:solidFill>
            <a:prstDash val="solid"/>
          </a:ln>
        </p:spPr>
      </p:sp>
      <p:sp>
        <p:nvSpPr>
          <p:cNvPr id="14" name="Shape 10"/>
          <p:cNvSpPr/>
          <p:nvPr/>
        </p:nvSpPr>
        <p:spPr>
          <a:xfrm>
            <a:off x="4658258" y="1874520"/>
            <a:ext cx="548640" cy="548640"/>
          </a:xfrm>
          <a:prstGeom prst="roundRect">
            <a:avLst>
              <a:gd name="adj" fmla="val 16667"/>
            </a:avLst>
          </a:prstGeom>
          <a:solidFill>
            <a:srgbClr val="EAEEF3"/>
          </a:solidFill>
          <a:ln w="12700">
            <a:solidFill>
              <a:srgbClr val="EAEEF3"/>
            </a:solidFill>
            <a:prstDash val="solid"/>
          </a:ln>
        </p:spPr>
      </p:sp>
      <p:pic>
        <p:nvPicPr>
          <p:cNvPr id="15" name="Image 2" descr="preencoded.png">    </p:cNvPr>
          <p:cNvPicPr>
            <a:picLocks noChangeAspect="1"/>
          </p:cNvPicPr>
          <p:nvPr/>
        </p:nvPicPr>
        <p:blipFill>
          <a:blip r:embed="rId3"/>
          <a:stretch>
            <a:fillRect/>
          </a:stretch>
        </p:blipFill>
        <p:spPr>
          <a:xfrm>
            <a:off x="4778959" y="1995221"/>
            <a:ext cx="307238" cy="307238"/>
          </a:xfrm>
          <a:prstGeom prst="rect">
            <a:avLst/>
          </a:prstGeom>
        </p:spPr>
      </p:pic>
      <p:sp>
        <p:nvSpPr>
          <p:cNvPr id="16" name="Text 11"/>
          <p:cNvSpPr txBox="1"/>
          <p:nvPr/>
        </p:nvSpPr>
        <p:spPr>
          <a:xfrm>
            <a:off x="5389778" y="1883664"/>
            <a:ext cx="2235098" cy="237744"/>
          </a:xfrm>
          <a:prstGeom prst="rect">
            <a:avLst/>
          </a:prstGeom>
          <a:noFill/>
          <a:ln/>
        </p:spPr>
        <p:txBody>
          <a:bodyPr wrap="square" lIns="0" tIns="0" rIns="0" bIns="0" rtlCol="0" anchor="t"/>
          <a:lstStyle/>
          <a:p>
            <a:pPr indent="0" marL="0">
              <a:buNone/>
            </a:pPr>
            <a:r>
              <a:rPr lang="en-US" sz="950" b="1" spc="150" kern="0" dirty="0">
                <a:solidFill>
                  <a:srgbClr val="5D6B7E"/>
                </a:solidFill>
                <a:latin typeface="Calibri" pitchFamily="34" charset="0"/>
                <a:ea typeface="Calibri" pitchFamily="34" charset="-122"/>
                <a:cs typeface="Calibri" pitchFamily="34" charset="-120"/>
              </a:rPr>
              <a:t>EDUCATION  ·  24/7 MDR</a:t>
            </a:r>
            <a:endParaRPr lang="en-US" sz="950" dirty="0"/>
          </a:p>
        </p:txBody>
      </p:sp>
      <p:sp>
        <p:nvSpPr>
          <p:cNvPr id="17" name="Text 12"/>
          <p:cNvSpPr txBox="1"/>
          <p:nvPr/>
        </p:nvSpPr>
        <p:spPr>
          <a:xfrm>
            <a:off x="5389778" y="2130552"/>
            <a:ext cx="2235098"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Coventry University</a:t>
            </a:r>
            <a:endParaRPr lang="en-US" sz="1500" dirty="0"/>
          </a:p>
        </p:txBody>
      </p:sp>
      <p:sp>
        <p:nvSpPr>
          <p:cNvPr id="18" name="Text 13"/>
          <p:cNvSpPr txBox="1"/>
          <p:nvPr/>
        </p:nvSpPr>
        <p:spPr>
          <a:xfrm>
            <a:off x="4658258" y="2697480"/>
            <a:ext cx="2875178" cy="868680"/>
          </a:xfrm>
          <a:prstGeom prst="rect">
            <a:avLst/>
          </a:prstGeom>
          <a:noFill/>
          <a:ln/>
        </p:spPr>
        <p:txBody>
          <a:bodyPr wrap="square" lIns="0" tIns="0" rIns="0" bIns="0" rtlCol="0" anchor="ctr"/>
          <a:lstStyle/>
          <a:p>
            <a:pPr indent="0" marL="0">
              <a:buNone/>
            </a:pPr>
            <a:r>
              <a:rPr lang="en-US" sz="4800" b="1" dirty="0">
                <a:solidFill>
                  <a:srgbClr val="E3202A"/>
                </a:solidFill>
                <a:latin typeface="Arial" pitchFamily="34" charset="0"/>
                <a:ea typeface="Arial" pitchFamily="34" charset="-122"/>
                <a:cs typeface="Arial" pitchFamily="34" charset="-120"/>
              </a:rPr>
              <a:t>94%</a:t>
            </a:r>
            <a:endParaRPr lang="en-US" sz="4800" dirty="0"/>
          </a:p>
        </p:txBody>
      </p:sp>
      <p:sp>
        <p:nvSpPr>
          <p:cNvPr id="19" name="Text 14"/>
          <p:cNvSpPr txBox="1"/>
          <p:nvPr/>
        </p:nvSpPr>
        <p:spPr>
          <a:xfrm>
            <a:off x="4658258" y="3566160"/>
            <a:ext cx="2875178" cy="292608"/>
          </a:xfrm>
          <a:prstGeom prst="rect">
            <a:avLst/>
          </a:prstGeom>
          <a:noFill/>
          <a:ln/>
        </p:spPr>
        <p:txBody>
          <a:bodyPr wrap="square" lIns="0" tIns="0" rIns="0" bIns="0" rtlCol="0" anchor="t"/>
          <a:lstStyle/>
          <a:p>
            <a:pPr indent="0" marL="0">
              <a:buNone/>
            </a:pPr>
            <a:r>
              <a:rPr lang="en-US" sz="1300" b="1" dirty="0">
                <a:solidFill>
                  <a:srgbClr val="151A21"/>
                </a:solidFill>
                <a:latin typeface="Calibri" pitchFamily="34" charset="0"/>
                <a:ea typeface="Calibri" pitchFamily="34" charset="-122"/>
                <a:cs typeface="Calibri" pitchFamily="34" charset="-120"/>
              </a:rPr>
              <a:t>less time spent resolving threats</a:t>
            </a:r>
            <a:endParaRPr lang="en-US" sz="1300" dirty="0"/>
          </a:p>
        </p:txBody>
      </p:sp>
      <p:sp>
        <p:nvSpPr>
          <p:cNvPr id="20" name="Text 15"/>
          <p:cNvSpPr txBox="1"/>
          <p:nvPr/>
        </p:nvSpPr>
        <p:spPr>
          <a:xfrm>
            <a:off x="4658258" y="3977640"/>
            <a:ext cx="2875178" cy="1325880"/>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Deployed Falcon Prevent, Insight XDR and Falcon Complete MDR on one cloud-native agent. Average incident resolution fell from 2–3 days to under 1 hour.</a:t>
            </a:r>
            <a:endParaRPr lang="en-US" sz="1150" dirty="0"/>
          </a:p>
        </p:txBody>
      </p:sp>
      <p:sp>
        <p:nvSpPr>
          <p:cNvPr id="21" name="Shape 16"/>
          <p:cNvSpPr/>
          <p:nvPr/>
        </p:nvSpPr>
        <p:spPr>
          <a:xfrm>
            <a:off x="8127797" y="1554480"/>
            <a:ext cx="3515258" cy="3703320"/>
          </a:xfrm>
          <a:prstGeom prst="roundRect">
            <a:avLst>
              <a:gd name="adj" fmla="val 2601"/>
            </a:avLst>
          </a:prstGeom>
          <a:solidFill>
            <a:srgbClr val="F3F5F8"/>
          </a:solidFill>
          <a:ln w="9525">
            <a:solidFill>
              <a:srgbClr val="DCE1E7"/>
            </a:solidFill>
            <a:prstDash val="solid"/>
          </a:ln>
        </p:spPr>
      </p:sp>
      <p:sp>
        <p:nvSpPr>
          <p:cNvPr id="22" name="Shape 17"/>
          <p:cNvSpPr/>
          <p:nvPr/>
        </p:nvSpPr>
        <p:spPr>
          <a:xfrm>
            <a:off x="8447837" y="1874520"/>
            <a:ext cx="548640" cy="548640"/>
          </a:xfrm>
          <a:prstGeom prst="roundRect">
            <a:avLst>
              <a:gd name="adj" fmla="val 16667"/>
            </a:avLst>
          </a:prstGeom>
          <a:solidFill>
            <a:srgbClr val="EAEEF3"/>
          </a:solidFill>
          <a:ln w="12700">
            <a:solidFill>
              <a:srgbClr val="EAEEF3"/>
            </a:solidFill>
            <a:prstDash val="solid"/>
          </a:ln>
        </p:spPr>
      </p:sp>
      <p:pic>
        <p:nvPicPr>
          <p:cNvPr id="23" name="Image 3" descr="preencoded.png">    </p:cNvPr>
          <p:cNvPicPr>
            <a:picLocks noChangeAspect="1"/>
          </p:cNvPicPr>
          <p:nvPr/>
        </p:nvPicPr>
        <p:blipFill>
          <a:blip r:embed="rId4"/>
          <a:stretch>
            <a:fillRect/>
          </a:stretch>
        </p:blipFill>
        <p:spPr>
          <a:xfrm>
            <a:off x="8568538" y="1995221"/>
            <a:ext cx="307238" cy="307238"/>
          </a:xfrm>
          <a:prstGeom prst="rect">
            <a:avLst/>
          </a:prstGeom>
        </p:spPr>
      </p:pic>
      <p:sp>
        <p:nvSpPr>
          <p:cNvPr id="24" name="Text 18"/>
          <p:cNvSpPr txBox="1"/>
          <p:nvPr/>
        </p:nvSpPr>
        <p:spPr>
          <a:xfrm>
            <a:off x="9179357" y="1883664"/>
            <a:ext cx="2235098" cy="237744"/>
          </a:xfrm>
          <a:prstGeom prst="rect">
            <a:avLst/>
          </a:prstGeom>
          <a:noFill/>
          <a:ln/>
        </p:spPr>
        <p:txBody>
          <a:bodyPr wrap="square" lIns="0" tIns="0" rIns="0" bIns="0" rtlCol="0" anchor="t"/>
          <a:lstStyle/>
          <a:p>
            <a:pPr indent="0" marL="0">
              <a:buNone/>
            </a:pPr>
            <a:r>
              <a:rPr lang="en-US" sz="950" b="1" spc="150" kern="0" dirty="0">
                <a:solidFill>
                  <a:srgbClr val="5D6B7E"/>
                </a:solidFill>
                <a:latin typeface="Calibri" pitchFamily="34" charset="0"/>
                <a:ea typeface="Calibri" pitchFamily="34" charset="-122"/>
                <a:cs typeface="Calibri" pitchFamily="34" charset="-120"/>
              </a:rPr>
              <a:t>MULTI-BRAND ENTERPRISE</a:t>
            </a:r>
            <a:endParaRPr lang="en-US" sz="950" dirty="0"/>
          </a:p>
        </p:txBody>
      </p:sp>
      <p:sp>
        <p:nvSpPr>
          <p:cNvPr id="25" name="Text 19"/>
          <p:cNvSpPr txBox="1"/>
          <p:nvPr/>
        </p:nvSpPr>
        <p:spPr>
          <a:xfrm>
            <a:off x="9179357" y="2130552"/>
            <a:ext cx="2235098"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Anywhere Real Estate</a:t>
            </a:r>
            <a:endParaRPr lang="en-US" sz="1500" dirty="0"/>
          </a:p>
        </p:txBody>
      </p:sp>
      <p:sp>
        <p:nvSpPr>
          <p:cNvPr id="26" name="Text 20"/>
          <p:cNvSpPr txBox="1"/>
          <p:nvPr/>
        </p:nvSpPr>
        <p:spPr>
          <a:xfrm>
            <a:off x="8447837" y="2697480"/>
            <a:ext cx="2875178" cy="868680"/>
          </a:xfrm>
          <a:prstGeom prst="rect">
            <a:avLst/>
          </a:prstGeom>
          <a:noFill/>
          <a:ln/>
        </p:spPr>
        <p:txBody>
          <a:bodyPr wrap="square" lIns="0" tIns="0" rIns="0" bIns="0" rtlCol="0" anchor="ctr"/>
          <a:lstStyle/>
          <a:p>
            <a:pPr indent="0" marL="0">
              <a:buNone/>
            </a:pPr>
            <a:r>
              <a:rPr lang="en-US" sz="4800" b="1" dirty="0">
                <a:solidFill>
                  <a:srgbClr val="E3202A"/>
                </a:solidFill>
                <a:latin typeface="Arial" pitchFamily="34" charset="0"/>
                <a:ea typeface="Arial" pitchFamily="34" charset="-122"/>
                <a:cs typeface="Arial" pitchFamily="34" charset="-120"/>
              </a:rPr>
              <a:t>500×</a:t>
            </a:r>
            <a:endParaRPr lang="en-US" sz="4800" dirty="0"/>
          </a:p>
        </p:txBody>
      </p:sp>
      <p:sp>
        <p:nvSpPr>
          <p:cNvPr id="27" name="Text 21"/>
          <p:cNvSpPr txBox="1"/>
          <p:nvPr/>
        </p:nvSpPr>
        <p:spPr>
          <a:xfrm>
            <a:off x="8447837" y="3566160"/>
            <a:ext cx="2875178" cy="292608"/>
          </a:xfrm>
          <a:prstGeom prst="rect">
            <a:avLst/>
          </a:prstGeom>
          <a:noFill/>
          <a:ln/>
        </p:spPr>
        <p:txBody>
          <a:bodyPr wrap="square" lIns="0" tIns="0" rIns="0" bIns="0" rtlCol="0" anchor="t"/>
          <a:lstStyle/>
          <a:p>
            <a:pPr indent="0" marL="0">
              <a:buNone/>
            </a:pPr>
            <a:r>
              <a:rPr lang="en-US" sz="1300" b="1" dirty="0">
                <a:solidFill>
                  <a:srgbClr val="151A21"/>
                </a:solidFill>
                <a:latin typeface="Calibri" pitchFamily="34" charset="0"/>
                <a:ea typeface="Calibri" pitchFamily="34" charset="-122"/>
                <a:cs typeface="Calibri" pitchFamily="34" charset="-120"/>
              </a:rPr>
              <a:t>fewer alerts</a:t>
            </a:r>
            <a:endParaRPr lang="en-US" sz="1300" dirty="0"/>
          </a:p>
        </p:txBody>
      </p:sp>
      <p:sp>
        <p:nvSpPr>
          <p:cNvPr id="28" name="Text 22"/>
          <p:cNvSpPr txBox="1"/>
          <p:nvPr/>
        </p:nvSpPr>
        <p:spPr>
          <a:xfrm>
            <a:off x="8447837" y="3977640"/>
            <a:ext cx="2875178" cy="1325880"/>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A decentralized, multi-brand organization unified endpoint and identity protection on Falcon — 98% of remaining alerts are true positives.</a:t>
            </a:r>
            <a:endParaRPr lang="en-US" sz="1150" dirty="0"/>
          </a:p>
        </p:txBody>
      </p:sp>
      <p:pic>
        <p:nvPicPr>
          <p:cNvPr id="29" name="Image 4" descr="preencoded.png">    </p:cNvPr>
          <p:cNvPicPr>
            <a:picLocks noChangeAspect="1"/>
          </p:cNvPicPr>
          <p:nvPr/>
        </p:nvPicPr>
        <p:blipFill>
          <a:blip r:embed="rId5"/>
          <a:stretch>
            <a:fillRect/>
          </a:stretch>
        </p:blipFill>
        <p:spPr>
          <a:xfrm>
            <a:off x="548640" y="5550408"/>
            <a:ext cx="274320" cy="274320"/>
          </a:xfrm>
          <a:prstGeom prst="rect">
            <a:avLst/>
          </a:prstGeom>
        </p:spPr>
      </p:pic>
      <p:sp>
        <p:nvSpPr>
          <p:cNvPr id="30" name="Text 23"/>
          <p:cNvSpPr txBox="1"/>
          <p:nvPr/>
        </p:nvSpPr>
        <p:spPr>
          <a:xfrm>
            <a:off x="960120" y="5513832"/>
            <a:ext cx="10682935" cy="347472"/>
          </a:xfrm>
          <a:prstGeom prst="rect">
            <a:avLst/>
          </a:prstGeom>
          <a:noFill/>
          <a:ln/>
        </p:spPr>
        <p:txBody>
          <a:bodyPr wrap="square" lIns="0" tIns="0" rIns="0" bIns="0" rtlCol="0" anchor="ctr"/>
          <a:lstStyle/>
          <a:p>
            <a:pPr indent="0" marL="0">
              <a:buNone/>
            </a:pPr>
            <a:r>
              <a:rPr lang="en-US" sz="1200" b="1" i="1" dirty="0">
                <a:solidFill>
                  <a:srgbClr val="151A21"/>
                </a:solidFill>
                <a:latin typeface="Calibri" pitchFamily="34" charset="0"/>
                <a:ea typeface="Calibri" pitchFamily="34" charset="-122"/>
                <a:cs typeface="Calibri" pitchFamily="34" charset="-120"/>
              </a:rPr>
              <a:t>“Ever present… always protecting you… you almost forget it’s there.”</a:t>
            </a:r>
            <a:pPr indent="0" marL="0">
              <a:buNone/>
            </a:pPr>
            <a:r>
              <a:rPr lang="en-US" sz="1200" dirty="0">
                <a:solidFill>
                  <a:srgbClr val="5E6978"/>
                </a:solidFill>
                <a:latin typeface="Calibri" pitchFamily="34" charset="0"/>
                <a:ea typeface="Calibri" pitchFamily="34" charset="-122"/>
                <a:cs typeface="Calibri" pitchFamily="34" charset="-120"/>
              </a:rPr>
              <a:t>   — Director of Cyberdefense, healthcare company (Forrester TEI study)</a:t>
            </a:r>
            <a:endParaRPr lang="en-US" sz="1200" dirty="0"/>
          </a:p>
        </p:txBody>
      </p:sp>
      <p:sp>
        <p:nvSpPr>
          <p:cNvPr id="31" name="Text 24"/>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15   |   Nessus vs. CrowdStrike Falcon Platform  ·  Proposal for The Westin Resort Guam</a:t>
            </a:r>
            <a:endParaRPr lang="en-US" sz="900" dirty="0"/>
          </a:p>
        </p:txBody>
      </p:sp>
      <p:pic>
        <p:nvPicPr>
          <p:cNvPr id="32" name="Image 5" descr="/private/tmp/claude-501/-Users-jihanvin-Desktop-NIVNAH-AI/16a96446-d9b3-40e2-af9e-a3011ae3db84/scratchpad/assets/secukorea_dark.png">    </p:cNvPr>
          <p:cNvPicPr>
            <a:picLocks noChangeAspect="1"/>
          </p:cNvPicPr>
          <p:nvPr/>
        </p:nvPicPr>
        <p:blipFill>
          <a:blip r:embed="rId6"/>
          <a:stretch>
            <a:fillRect/>
          </a:stretch>
        </p:blipFill>
        <p:spPr>
          <a:xfrm>
            <a:off x="10661904" y="6400800"/>
            <a:ext cx="978408" cy="23317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14   RECOMMENDATION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Recommendation: Keep Visibility, Add Protection</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6126480" cy="868680"/>
          </a:xfrm>
          <a:prstGeom prst="roundRect">
            <a:avLst>
              <a:gd name="adj" fmla="val 8421"/>
            </a:avLst>
          </a:prstGeom>
          <a:solidFill>
            <a:srgbClr val="0B0D12"/>
          </a:solidFill>
          <a:ln w="12700">
            <a:solidFill>
              <a:srgbClr val="0B0D12"/>
            </a:solidFill>
            <a:prstDash val="solid"/>
          </a:ln>
        </p:spPr>
      </p:sp>
      <p:pic>
        <p:nvPicPr>
          <p:cNvPr id="6" name="Image 1" descr="preencoded.png">    </p:cNvPr>
          <p:cNvPicPr>
            <a:picLocks noChangeAspect="1"/>
          </p:cNvPicPr>
          <p:nvPr/>
        </p:nvPicPr>
        <p:blipFill>
          <a:blip r:embed="rId2"/>
          <a:stretch>
            <a:fillRect/>
          </a:stretch>
        </p:blipFill>
        <p:spPr>
          <a:xfrm>
            <a:off x="822960" y="1737360"/>
            <a:ext cx="457200" cy="457200"/>
          </a:xfrm>
          <a:prstGeom prst="rect">
            <a:avLst/>
          </a:prstGeom>
        </p:spPr>
      </p:pic>
      <p:sp>
        <p:nvSpPr>
          <p:cNvPr id="7" name="Text 3"/>
          <p:cNvSpPr txBox="1"/>
          <p:nvPr/>
        </p:nvSpPr>
        <p:spPr>
          <a:xfrm>
            <a:off x="1463040" y="1554480"/>
            <a:ext cx="502920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CrowdStrike Falcon cloud console</a:t>
            </a:r>
            <a:endParaRPr lang="en-US" sz="1200" dirty="0"/>
          </a:p>
          <a:p>
            <a:pPr indent="0" marL="0">
              <a:buNone/>
            </a:pPr>
            <a:r>
              <a:rPr lang="en-US" sz="1100" dirty="0">
                <a:solidFill>
                  <a:srgbClr val="C9CED6"/>
                </a:solidFill>
                <a:latin typeface="Calibri" pitchFamily="34" charset="0"/>
                <a:ea typeface="Calibri" pitchFamily="34" charset="-122"/>
                <a:cs typeface="Calibri" pitchFamily="34" charset="-120"/>
              </a:rPr>
              <a:t>Policies · Detection · Response · Reporting — no on-site server</a:t>
            </a:r>
            <a:endParaRPr lang="en-US" sz="1200" dirty="0"/>
          </a:p>
        </p:txBody>
      </p:sp>
      <p:sp>
        <p:nvSpPr>
          <p:cNvPr id="8" name="Shape 4"/>
          <p:cNvSpPr/>
          <p:nvPr/>
        </p:nvSpPr>
        <p:spPr>
          <a:xfrm>
            <a:off x="1263015" y="2423160"/>
            <a:ext cx="0" cy="411480"/>
          </a:xfrm>
          <a:prstGeom prst="line">
            <a:avLst/>
          </a:prstGeom>
          <a:noFill/>
          <a:ln w="19050">
            <a:solidFill>
              <a:srgbClr val="E3202A"/>
            </a:solidFill>
            <a:prstDash val="solid"/>
          </a:ln>
        </p:spPr>
      </p:sp>
      <p:sp>
        <p:nvSpPr>
          <p:cNvPr id="9" name="Shape 5"/>
          <p:cNvSpPr/>
          <p:nvPr/>
        </p:nvSpPr>
        <p:spPr>
          <a:xfrm>
            <a:off x="548640" y="2834640"/>
            <a:ext cx="1428750" cy="1234440"/>
          </a:xfrm>
          <a:prstGeom prst="roundRect">
            <a:avLst>
              <a:gd name="adj" fmla="val 5926"/>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pic>
        <p:nvPicPr>
          <p:cNvPr id="10" name="Image 2" descr="preencoded.png">    </p:cNvPr>
          <p:cNvPicPr>
            <a:picLocks noChangeAspect="1"/>
          </p:cNvPicPr>
          <p:nvPr/>
        </p:nvPicPr>
        <p:blipFill>
          <a:blip r:embed="rId3"/>
          <a:stretch>
            <a:fillRect/>
          </a:stretch>
        </p:blipFill>
        <p:spPr>
          <a:xfrm>
            <a:off x="1080135" y="2971800"/>
            <a:ext cx="365760" cy="365760"/>
          </a:xfrm>
          <a:prstGeom prst="rect">
            <a:avLst/>
          </a:prstGeom>
        </p:spPr>
      </p:pic>
      <p:sp>
        <p:nvSpPr>
          <p:cNvPr id="11" name="Text 6"/>
          <p:cNvSpPr txBox="1"/>
          <p:nvPr/>
        </p:nvSpPr>
        <p:spPr>
          <a:xfrm>
            <a:off x="640080" y="3383280"/>
            <a:ext cx="1245870" cy="420624"/>
          </a:xfrm>
          <a:prstGeom prst="rect">
            <a:avLst/>
          </a:prstGeom>
          <a:noFill/>
          <a:ln/>
        </p:spPr>
        <p:txBody>
          <a:bodyPr wrap="square" lIns="0" tIns="0" rIns="0" bIns="0" rtlCol="0" anchor="ctr"/>
          <a:lstStyle/>
          <a:p>
            <a:pPr algn="ctr" indent="0" marL="0">
              <a:buNone/>
            </a:pPr>
            <a:r>
              <a:rPr lang="en-US" sz="1050" b="1" dirty="0">
                <a:solidFill>
                  <a:srgbClr val="151A21"/>
                </a:solidFill>
                <a:latin typeface="Calibri" pitchFamily="34" charset="0"/>
                <a:ea typeface="Calibri" pitchFamily="34" charset="-122"/>
                <a:cs typeface="Calibri" pitchFamily="34" charset="-120"/>
              </a:rPr>
              <a:t>Front desk &amp; PMS workstations</a:t>
            </a:r>
            <a:endParaRPr lang="en-US" sz="1050" dirty="0"/>
          </a:p>
        </p:txBody>
      </p:sp>
      <p:sp>
        <p:nvSpPr>
          <p:cNvPr id="12" name="Shape 7"/>
          <p:cNvSpPr/>
          <p:nvPr/>
        </p:nvSpPr>
        <p:spPr>
          <a:xfrm>
            <a:off x="805815" y="3840480"/>
            <a:ext cx="914400" cy="201168"/>
          </a:xfrm>
          <a:prstGeom prst="roundRect">
            <a:avLst>
              <a:gd name="adj" fmla="val 50000"/>
            </a:avLst>
          </a:prstGeom>
          <a:solidFill>
            <a:srgbClr val="E3202A"/>
          </a:solidFill>
          <a:ln w="12700">
            <a:solidFill>
              <a:srgbClr val="E3202A"/>
            </a:solidFill>
            <a:prstDash val="solid"/>
          </a:ln>
        </p:spPr>
      </p:sp>
      <p:sp>
        <p:nvSpPr>
          <p:cNvPr id="13" name="Text 8"/>
          <p:cNvSpPr txBox="1"/>
          <p:nvPr/>
        </p:nvSpPr>
        <p:spPr>
          <a:xfrm>
            <a:off x="805815" y="3840480"/>
            <a:ext cx="91440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Falcon sensor</a:t>
            </a:r>
            <a:endParaRPr lang="en-US" sz="800" dirty="0"/>
          </a:p>
        </p:txBody>
      </p:sp>
      <p:sp>
        <p:nvSpPr>
          <p:cNvPr id="14" name="Shape 9"/>
          <p:cNvSpPr/>
          <p:nvPr/>
        </p:nvSpPr>
        <p:spPr>
          <a:xfrm>
            <a:off x="2828925" y="2423160"/>
            <a:ext cx="0" cy="411480"/>
          </a:xfrm>
          <a:prstGeom prst="line">
            <a:avLst/>
          </a:prstGeom>
          <a:noFill/>
          <a:ln w="19050">
            <a:solidFill>
              <a:srgbClr val="E3202A"/>
            </a:solidFill>
            <a:prstDash val="solid"/>
          </a:ln>
        </p:spPr>
      </p:sp>
      <p:sp>
        <p:nvSpPr>
          <p:cNvPr id="15" name="Shape 10"/>
          <p:cNvSpPr/>
          <p:nvPr/>
        </p:nvSpPr>
        <p:spPr>
          <a:xfrm>
            <a:off x="2114550" y="2834640"/>
            <a:ext cx="1428750" cy="1234440"/>
          </a:xfrm>
          <a:prstGeom prst="roundRect">
            <a:avLst>
              <a:gd name="adj" fmla="val 5926"/>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pic>
        <p:nvPicPr>
          <p:cNvPr id="16" name="Image 3" descr="preencoded.png">    </p:cNvPr>
          <p:cNvPicPr>
            <a:picLocks noChangeAspect="1"/>
          </p:cNvPicPr>
          <p:nvPr/>
        </p:nvPicPr>
        <p:blipFill>
          <a:blip r:embed="rId4"/>
          <a:stretch>
            <a:fillRect/>
          </a:stretch>
        </p:blipFill>
        <p:spPr>
          <a:xfrm>
            <a:off x="2646045" y="2971800"/>
            <a:ext cx="365760" cy="365760"/>
          </a:xfrm>
          <a:prstGeom prst="rect">
            <a:avLst/>
          </a:prstGeom>
        </p:spPr>
      </p:pic>
      <p:sp>
        <p:nvSpPr>
          <p:cNvPr id="17" name="Text 11"/>
          <p:cNvSpPr txBox="1"/>
          <p:nvPr/>
        </p:nvSpPr>
        <p:spPr>
          <a:xfrm>
            <a:off x="2205990" y="3383280"/>
            <a:ext cx="1245870" cy="420624"/>
          </a:xfrm>
          <a:prstGeom prst="rect">
            <a:avLst/>
          </a:prstGeom>
          <a:noFill/>
          <a:ln/>
        </p:spPr>
        <p:txBody>
          <a:bodyPr wrap="square" lIns="0" tIns="0" rIns="0" bIns="0" rtlCol="0" anchor="ctr"/>
          <a:lstStyle/>
          <a:p>
            <a:pPr algn="ctr" indent="0" marL="0">
              <a:buNone/>
            </a:pPr>
            <a:r>
              <a:rPr lang="en-US" sz="1050" b="1" dirty="0">
                <a:solidFill>
                  <a:srgbClr val="151A21"/>
                </a:solidFill>
                <a:latin typeface="Calibri" pitchFamily="34" charset="0"/>
                <a:ea typeface="Calibri" pitchFamily="34" charset="-122"/>
                <a:cs typeface="Calibri" pitchFamily="34" charset="-120"/>
              </a:rPr>
              <a:t>Back-office &amp; admin PCs</a:t>
            </a:r>
            <a:endParaRPr lang="en-US" sz="1050" dirty="0"/>
          </a:p>
        </p:txBody>
      </p:sp>
      <p:sp>
        <p:nvSpPr>
          <p:cNvPr id="18" name="Shape 12"/>
          <p:cNvSpPr/>
          <p:nvPr/>
        </p:nvSpPr>
        <p:spPr>
          <a:xfrm>
            <a:off x="2371725" y="3840480"/>
            <a:ext cx="914400" cy="201168"/>
          </a:xfrm>
          <a:prstGeom prst="roundRect">
            <a:avLst>
              <a:gd name="adj" fmla="val 50000"/>
            </a:avLst>
          </a:prstGeom>
          <a:solidFill>
            <a:srgbClr val="E3202A"/>
          </a:solidFill>
          <a:ln w="12700">
            <a:solidFill>
              <a:srgbClr val="E3202A"/>
            </a:solidFill>
            <a:prstDash val="solid"/>
          </a:ln>
        </p:spPr>
      </p:sp>
      <p:sp>
        <p:nvSpPr>
          <p:cNvPr id="19" name="Text 13"/>
          <p:cNvSpPr txBox="1"/>
          <p:nvPr/>
        </p:nvSpPr>
        <p:spPr>
          <a:xfrm>
            <a:off x="2371725" y="3840480"/>
            <a:ext cx="91440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Falcon sensor</a:t>
            </a:r>
            <a:endParaRPr lang="en-US" sz="800" dirty="0"/>
          </a:p>
        </p:txBody>
      </p:sp>
      <p:sp>
        <p:nvSpPr>
          <p:cNvPr id="20" name="Shape 14"/>
          <p:cNvSpPr/>
          <p:nvPr/>
        </p:nvSpPr>
        <p:spPr>
          <a:xfrm>
            <a:off x="4394835" y="2423160"/>
            <a:ext cx="0" cy="411480"/>
          </a:xfrm>
          <a:prstGeom prst="line">
            <a:avLst/>
          </a:prstGeom>
          <a:noFill/>
          <a:ln w="19050">
            <a:solidFill>
              <a:srgbClr val="E3202A"/>
            </a:solidFill>
            <a:prstDash val="solid"/>
          </a:ln>
        </p:spPr>
      </p:sp>
      <p:sp>
        <p:nvSpPr>
          <p:cNvPr id="21" name="Shape 15"/>
          <p:cNvSpPr/>
          <p:nvPr/>
        </p:nvSpPr>
        <p:spPr>
          <a:xfrm>
            <a:off x="3680460" y="2834640"/>
            <a:ext cx="1428750" cy="1234440"/>
          </a:xfrm>
          <a:prstGeom prst="roundRect">
            <a:avLst>
              <a:gd name="adj" fmla="val 5926"/>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pic>
        <p:nvPicPr>
          <p:cNvPr id="22" name="Image 4" descr="preencoded.png">    </p:cNvPr>
          <p:cNvPicPr>
            <a:picLocks noChangeAspect="1"/>
          </p:cNvPicPr>
          <p:nvPr/>
        </p:nvPicPr>
        <p:blipFill>
          <a:blip r:embed="rId5"/>
          <a:stretch>
            <a:fillRect/>
          </a:stretch>
        </p:blipFill>
        <p:spPr>
          <a:xfrm>
            <a:off x="4211955" y="2971800"/>
            <a:ext cx="365760" cy="365760"/>
          </a:xfrm>
          <a:prstGeom prst="rect">
            <a:avLst/>
          </a:prstGeom>
        </p:spPr>
      </p:pic>
      <p:sp>
        <p:nvSpPr>
          <p:cNvPr id="23" name="Text 16"/>
          <p:cNvSpPr txBox="1"/>
          <p:nvPr/>
        </p:nvSpPr>
        <p:spPr>
          <a:xfrm>
            <a:off x="3771900" y="3383280"/>
            <a:ext cx="1245870" cy="420624"/>
          </a:xfrm>
          <a:prstGeom prst="rect">
            <a:avLst/>
          </a:prstGeom>
          <a:noFill/>
          <a:ln/>
        </p:spPr>
        <p:txBody>
          <a:bodyPr wrap="square" lIns="0" tIns="0" rIns="0" bIns="0" rtlCol="0" anchor="ctr"/>
          <a:lstStyle/>
          <a:p>
            <a:pPr algn="ctr" indent="0" marL="0">
              <a:buNone/>
            </a:pPr>
            <a:r>
              <a:rPr lang="en-US" sz="1050" b="1" dirty="0">
                <a:solidFill>
                  <a:srgbClr val="151A21"/>
                </a:solidFill>
                <a:latin typeface="Calibri" pitchFamily="34" charset="0"/>
                <a:ea typeface="Calibri" pitchFamily="34" charset="-122"/>
                <a:cs typeface="Calibri" pitchFamily="34" charset="-120"/>
              </a:rPr>
              <a:t>Servers</a:t>
            </a:r>
            <a:endParaRPr lang="en-US" sz="1050" dirty="0"/>
          </a:p>
        </p:txBody>
      </p:sp>
      <p:sp>
        <p:nvSpPr>
          <p:cNvPr id="24" name="Shape 17"/>
          <p:cNvSpPr/>
          <p:nvPr/>
        </p:nvSpPr>
        <p:spPr>
          <a:xfrm>
            <a:off x="3937635" y="3840480"/>
            <a:ext cx="914400" cy="201168"/>
          </a:xfrm>
          <a:prstGeom prst="roundRect">
            <a:avLst>
              <a:gd name="adj" fmla="val 50000"/>
            </a:avLst>
          </a:prstGeom>
          <a:solidFill>
            <a:srgbClr val="E3202A"/>
          </a:solidFill>
          <a:ln w="12700">
            <a:solidFill>
              <a:srgbClr val="E3202A"/>
            </a:solidFill>
            <a:prstDash val="solid"/>
          </a:ln>
        </p:spPr>
      </p:sp>
      <p:sp>
        <p:nvSpPr>
          <p:cNvPr id="25" name="Text 18"/>
          <p:cNvSpPr txBox="1"/>
          <p:nvPr/>
        </p:nvSpPr>
        <p:spPr>
          <a:xfrm>
            <a:off x="3937635" y="3840480"/>
            <a:ext cx="91440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Falcon sensor</a:t>
            </a:r>
            <a:endParaRPr lang="en-US" sz="800" dirty="0"/>
          </a:p>
        </p:txBody>
      </p:sp>
      <p:sp>
        <p:nvSpPr>
          <p:cNvPr id="26" name="Shape 19"/>
          <p:cNvSpPr/>
          <p:nvPr/>
        </p:nvSpPr>
        <p:spPr>
          <a:xfrm>
            <a:off x="5960745" y="2423160"/>
            <a:ext cx="0" cy="411480"/>
          </a:xfrm>
          <a:prstGeom prst="line">
            <a:avLst/>
          </a:prstGeom>
          <a:noFill/>
          <a:ln w="19050">
            <a:solidFill>
              <a:srgbClr val="E3202A"/>
            </a:solidFill>
            <a:prstDash val="solid"/>
          </a:ln>
        </p:spPr>
      </p:sp>
      <p:sp>
        <p:nvSpPr>
          <p:cNvPr id="27" name="Shape 20"/>
          <p:cNvSpPr/>
          <p:nvPr/>
        </p:nvSpPr>
        <p:spPr>
          <a:xfrm>
            <a:off x="5246370" y="2834640"/>
            <a:ext cx="1428750" cy="1234440"/>
          </a:xfrm>
          <a:prstGeom prst="roundRect">
            <a:avLst>
              <a:gd name="adj" fmla="val 5926"/>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pic>
        <p:nvPicPr>
          <p:cNvPr id="28" name="Image 5" descr="preencoded.png">    </p:cNvPr>
          <p:cNvPicPr>
            <a:picLocks noChangeAspect="1"/>
          </p:cNvPicPr>
          <p:nvPr/>
        </p:nvPicPr>
        <p:blipFill>
          <a:blip r:embed="rId6"/>
          <a:stretch>
            <a:fillRect/>
          </a:stretch>
        </p:blipFill>
        <p:spPr>
          <a:xfrm>
            <a:off x="5777865" y="2971800"/>
            <a:ext cx="365760" cy="365760"/>
          </a:xfrm>
          <a:prstGeom prst="rect">
            <a:avLst/>
          </a:prstGeom>
        </p:spPr>
      </p:pic>
      <p:sp>
        <p:nvSpPr>
          <p:cNvPr id="29" name="Text 21"/>
          <p:cNvSpPr txBox="1"/>
          <p:nvPr/>
        </p:nvSpPr>
        <p:spPr>
          <a:xfrm>
            <a:off x="5337810" y="3383280"/>
            <a:ext cx="1245870" cy="420624"/>
          </a:xfrm>
          <a:prstGeom prst="rect">
            <a:avLst/>
          </a:prstGeom>
          <a:noFill/>
          <a:ln/>
        </p:spPr>
        <p:txBody>
          <a:bodyPr wrap="square" lIns="0" tIns="0" rIns="0" bIns="0" rtlCol="0" anchor="ctr"/>
          <a:lstStyle/>
          <a:p>
            <a:pPr algn="ctr" indent="0" marL="0">
              <a:buNone/>
            </a:pPr>
            <a:r>
              <a:rPr lang="en-US" sz="1050" b="1" dirty="0">
                <a:solidFill>
                  <a:srgbClr val="151A21"/>
                </a:solidFill>
                <a:latin typeface="Calibri" pitchFamily="34" charset="0"/>
                <a:ea typeface="Calibri" pitchFamily="34" charset="-122"/>
                <a:cs typeface="Calibri" pitchFamily="34" charset="-120"/>
              </a:rPr>
              <a:t>Staff mobile devices</a:t>
            </a:r>
            <a:endParaRPr lang="en-US" sz="1050" dirty="0"/>
          </a:p>
        </p:txBody>
      </p:sp>
      <p:sp>
        <p:nvSpPr>
          <p:cNvPr id="30" name="Shape 22"/>
          <p:cNvSpPr/>
          <p:nvPr/>
        </p:nvSpPr>
        <p:spPr>
          <a:xfrm>
            <a:off x="5503545" y="3840480"/>
            <a:ext cx="914400" cy="201168"/>
          </a:xfrm>
          <a:prstGeom prst="roundRect">
            <a:avLst>
              <a:gd name="adj" fmla="val 50000"/>
            </a:avLst>
          </a:prstGeom>
          <a:solidFill>
            <a:srgbClr val="E3202A"/>
          </a:solidFill>
          <a:ln w="12700">
            <a:solidFill>
              <a:srgbClr val="E3202A"/>
            </a:solidFill>
            <a:prstDash val="solid"/>
          </a:ln>
        </p:spPr>
      </p:sp>
      <p:sp>
        <p:nvSpPr>
          <p:cNvPr id="31" name="Text 23"/>
          <p:cNvSpPr txBox="1"/>
          <p:nvPr/>
        </p:nvSpPr>
        <p:spPr>
          <a:xfrm>
            <a:off x="5503545" y="3840480"/>
            <a:ext cx="91440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Falcon sensor</a:t>
            </a:r>
            <a:endParaRPr lang="en-US" sz="800" dirty="0"/>
          </a:p>
        </p:txBody>
      </p:sp>
      <p:sp>
        <p:nvSpPr>
          <p:cNvPr id="32" name="Shape 24"/>
          <p:cNvSpPr/>
          <p:nvPr/>
        </p:nvSpPr>
        <p:spPr>
          <a:xfrm>
            <a:off x="548640" y="4343400"/>
            <a:ext cx="6126480" cy="713232"/>
          </a:xfrm>
          <a:prstGeom prst="roundRect">
            <a:avLst>
              <a:gd name="adj" fmla="val 10256"/>
            </a:avLst>
          </a:prstGeom>
          <a:solidFill>
            <a:srgbClr val="F3F5F8"/>
          </a:solidFill>
          <a:ln w="9525">
            <a:solidFill>
              <a:srgbClr val="DCE1E7"/>
            </a:solidFill>
            <a:prstDash val="solid"/>
          </a:ln>
        </p:spPr>
      </p:sp>
      <p:sp>
        <p:nvSpPr>
          <p:cNvPr id="33" name="Shape 25"/>
          <p:cNvSpPr/>
          <p:nvPr/>
        </p:nvSpPr>
        <p:spPr>
          <a:xfrm>
            <a:off x="713232" y="4471416"/>
            <a:ext cx="457200" cy="457200"/>
          </a:xfrm>
          <a:prstGeom prst="roundRect">
            <a:avLst>
              <a:gd name="adj" fmla="val 20000"/>
            </a:avLst>
          </a:prstGeom>
          <a:solidFill>
            <a:srgbClr val="EAEEF3"/>
          </a:solidFill>
          <a:ln w="12700">
            <a:solidFill>
              <a:srgbClr val="EAEEF3"/>
            </a:solidFill>
            <a:prstDash val="solid"/>
          </a:ln>
        </p:spPr>
      </p:sp>
      <p:pic>
        <p:nvPicPr>
          <p:cNvPr id="34" name="Image 6" descr="preencoded.png">    </p:cNvPr>
          <p:cNvPicPr>
            <a:picLocks noChangeAspect="1"/>
          </p:cNvPicPr>
          <p:nvPr/>
        </p:nvPicPr>
        <p:blipFill>
          <a:blip r:embed="rId7"/>
          <a:stretch>
            <a:fillRect/>
          </a:stretch>
        </p:blipFill>
        <p:spPr>
          <a:xfrm>
            <a:off x="813816" y="4572000"/>
            <a:ext cx="256032" cy="256032"/>
          </a:xfrm>
          <a:prstGeom prst="rect">
            <a:avLst/>
          </a:prstGeom>
        </p:spPr>
      </p:pic>
      <p:sp>
        <p:nvSpPr>
          <p:cNvPr id="35" name="Text 26"/>
          <p:cNvSpPr txBox="1"/>
          <p:nvPr/>
        </p:nvSpPr>
        <p:spPr>
          <a:xfrm>
            <a:off x="1325880" y="4343400"/>
            <a:ext cx="5212080" cy="713232"/>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Nessus (existing)</a:t>
            </a:r>
            <a:endParaRPr lang="en-US" sz="1250" dirty="0"/>
          </a:p>
          <a:p>
            <a:pPr indent="0" marL="0">
              <a:buNone/>
            </a:pPr>
            <a:r>
              <a:rPr lang="en-US" sz="1100" dirty="0">
                <a:solidFill>
                  <a:srgbClr val="5E6978"/>
                </a:solidFill>
                <a:latin typeface="Calibri" pitchFamily="34" charset="0"/>
                <a:ea typeface="Calibri" pitchFamily="34" charset="-122"/>
                <a:cs typeface="Calibri" pitchFamily="34" charset="-120"/>
              </a:rPr>
              <a:t>Periodic vulnerability and compliance scans, e.g. network devices and audits</a:t>
            </a:r>
            <a:endParaRPr lang="en-US" sz="1250" dirty="0"/>
          </a:p>
        </p:txBody>
      </p:sp>
      <p:sp>
        <p:nvSpPr>
          <p:cNvPr id="36" name="Shape 27"/>
          <p:cNvSpPr/>
          <p:nvPr/>
        </p:nvSpPr>
        <p:spPr>
          <a:xfrm>
            <a:off x="548640" y="5166360"/>
            <a:ext cx="6126480" cy="713232"/>
          </a:xfrm>
          <a:prstGeom prst="roundRect">
            <a:avLst>
              <a:gd name="adj" fmla="val 10256"/>
            </a:avLst>
          </a:prstGeom>
          <a:solidFill>
            <a:srgbClr val="F3F5F8"/>
          </a:solidFill>
          <a:ln w="9525">
            <a:solidFill>
              <a:srgbClr val="DCE1E7"/>
            </a:solidFill>
            <a:prstDash val="solid"/>
          </a:ln>
        </p:spPr>
      </p:sp>
      <p:sp>
        <p:nvSpPr>
          <p:cNvPr id="37" name="Shape 28"/>
          <p:cNvSpPr/>
          <p:nvPr/>
        </p:nvSpPr>
        <p:spPr>
          <a:xfrm>
            <a:off x="713232" y="5294376"/>
            <a:ext cx="457200" cy="457200"/>
          </a:xfrm>
          <a:prstGeom prst="roundRect">
            <a:avLst>
              <a:gd name="adj" fmla="val 20000"/>
            </a:avLst>
          </a:prstGeom>
          <a:solidFill>
            <a:srgbClr val="FDECEC"/>
          </a:solidFill>
          <a:ln w="12700">
            <a:solidFill>
              <a:srgbClr val="FDECEC"/>
            </a:solidFill>
            <a:prstDash val="solid"/>
          </a:ln>
        </p:spPr>
      </p:sp>
      <p:pic>
        <p:nvPicPr>
          <p:cNvPr id="38" name="Image 7" descr="preencoded.png">    </p:cNvPr>
          <p:cNvPicPr>
            <a:picLocks noChangeAspect="1"/>
          </p:cNvPicPr>
          <p:nvPr/>
        </p:nvPicPr>
        <p:blipFill>
          <a:blip r:embed="rId8"/>
          <a:stretch>
            <a:fillRect/>
          </a:stretch>
        </p:blipFill>
        <p:spPr>
          <a:xfrm>
            <a:off x="813816" y="5394960"/>
            <a:ext cx="256032" cy="256032"/>
          </a:xfrm>
          <a:prstGeom prst="rect">
            <a:avLst/>
          </a:prstGeom>
        </p:spPr>
      </p:pic>
      <p:sp>
        <p:nvSpPr>
          <p:cNvPr id="39" name="Text 29"/>
          <p:cNvSpPr txBox="1"/>
          <p:nvPr/>
        </p:nvSpPr>
        <p:spPr>
          <a:xfrm>
            <a:off x="1325880" y="5166360"/>
            <a:ext cx="5212080" cy="713232"/>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SECUKOREA</a:t>
            </a:r>
            <a:endParaRPr lang="en-US" sz="1250" dirty="0"/>
          </a:p>
          <a:p>
            <a:pPr indent="0" marL="0">
              <a:buNone/>
            </a:pPr>
            <a:r>
              <a:rPr lang="en-US" sz="1100" dirty="0">
                <a:solidFill>
                  <a:srgbClr val="5E6978"/>
                </a:solidFill>
                <a:latin typeface="Calibri" pitchFamily="34" charset="0"/>
                <a:ea typeface="Calibri" pitchFamily="34" charset="-122"/>
                <a:cs typeface="Calibri" pitchFamily="34" charset="-120"/>
              </a:rPr>
              <a:t>24/7 remote support, dedicated engineer and regular reporting</a:t>
            </a:r>
            <a:endParaRPr lang="en-US" sz="1250" dirty="0"/>
          </a:p>
        </p:txBody>
      </p:sp>
      <p:sp>
        <p:nvSpPr>
          <p:cNvPr id="40" name="Shape 30"/>
          <p:cNvSpPr/>
          <p:nvPr/>
        </p:nvSpPr>
        <p:spPr>
          <a:xfrm>
            <a:off x="6995160" y="1554480"/>
            <a:ext cx="4647895" cy="1874520"/>
          </a:xfrm>
          <a:prstGeom prst="roundRect">
            <a:avLst>
              <a:gd name="adj" fmla="val 4878"/>
            </a:avLst>
          </a:prstGeom>
          <a:solidFill>
            <a:srgbClr val="FDECEC"/>
          </a:solidFill>
          <a:ln w="15875">
            <a:solidFill>
              <a:srgbClr val="E3202A"/>
            </a:solidFill>
            <a:prstDash val="solid"/>
          </a:ln>
        </p:spPr>
      </p:sp>
      <p:sp>
        <p:nvSpPr>
          <p:cNvPr id="41" name="Text 31"/>
          <p:cNvSpPr txBox="1"/>
          <p:nvPr/>
        </p:nvSpPr>
        <p:spPr>
          <a:xfrm>
            <a:off x="7269480" y="1737360"/>
            <a:ext cx="4099255" cy="237744"/>
          </a:xfrm>
          <a:prstGeom prst="rect">
            <a:avLst/>
          </a:prstGeom>
          <a:noFill/>
          <a:ln/>
        </p:spPr>
        <p:txBody>
          <a:bodyPr wrap="square" lIns="0" tIns="0" rIns="0" bIns="0" rtlCol="0" anchor="t"/>
          <a:lstStyle/>
          <a:p>
            <a:pPr indent="0" marL="0">
              <a:buNone/>
            </a:pPr>
            <a:r>
              <a:rPr lang="en-US" sz="1000" b="1" spc="150" kern="0" dirty="0">
                <a:solidFill>
                  <a:srgbClr val="E3202A"/>
                </a:solidFill>
                <a:latin typeface="Calibri" pitchFamily="34" charset="0"/>
                <a:ea typeface="Calibri" pitchFamily="34" charset="-122"/>
                <a:cs typeface="Calibri" pitchFamily="34" charset="-120"/>
              </a:rPr>
              <a:t>OPTION A  ·  RECOMMENDED START</a:t>
            </a:r>
            <a:endParaRPr lang="en-US" sz="1000" dirty="0"/>
          </a:p>
        </p:txBody>
      </p:sp>
      <p:sp>
        <p:nvSpPr>
          <p:cNvPr id="42" name="Text 32"/>
          <p:cNvSpPr txBox="1"/>
          <p:nvPr/>
        </p:nvSpPr>
        <p:spPr>
          <a:xfrm>
            <a:off x="7269480" y="1993392"/>
            <a:ext cx="4099255" cy="329184"/>
          </a:xfrm>
          <a:prstGeom prst="rect">
            <a:avLst/>
          </a:prstGeom>
          <a:noFill/>
          <a:ln/>
        </p:spPr>
        <p:txBody>
          <a:bodyPr wrap="square" lIns="0" tIns="0" rIns="0" bIns="0" rtlCol="0" anchor="t"/>
          <a:lstStyle/>
          <a:p>
            <a:pPr indent="0" marL="0">
              <a:buNone/>
            </a:pPr>
            <a:r>
              <a:rPr lang="en-US" sz="1700" b="1" dirty="0">
                <a:solidFill>
                  <a:srgbClr val="151A21"/>
                </a:solidFill>
                <a:latin typeface="Arial" pitchFamily="34" charset="0"/>
                <a:ea typeface="Arial" pitchFamily="34" charset="-122"/>
                <a:cs typeface="Arial" pitchFamily="34" charset="-120"/>
              </a:rPr>
              <a:t>Complement</a:t>
            </a:r>
            <a:endParaRPr lang="en-US" sz="1700" dirty="0"/>
          </a:p>
        </p:txBody>
      </p:sp>
      <p:sp>
        <p:nvSpPr>
          <p:cNvPr id="43" name="Text 33"/>
          <p:cNvSpPr txBox="1"/>
          <p:nvPr/>
        </p:nvSpPr>
        <p:spPr>
          <a:xfrm>
            <a:off x="7269480" y="2359152"/>
            <a:ext cx="4099255" cy="658368"/>
          </a:xfrm>
          <a:prstGeom prst="rect">
            <a:avLst/>
          </a:prstGeom>
          <a:noFill/>
          <a:ln/>
        </p:spPr>
        <p:txBody>
          <a:bodyPr wrap="square" lIns="0" tIns="0" rIns="0" bIns="0" rtlCol="0" anchor="t"/>
          <a:lstStyle/>
          <a:p>
            <a:pPr indent="0" marL="0">
              <a:buNone/>
            </a:pPr>
            <a:r>
              <a:rPr lang="en-US" sz="1100" dirty="0">
                <a:solidFill>
                  <a:srgbClr val="151A21"/>
                </a:solidFill>
                <a:latin typeface="Calibri" pitchFamily="34" charset="0"/>
                <a:ea typeface="Calibri" pitchFamily="34" charset="-122"/>
                <a:cs typeface="Calibri" pitchFamily="34" charset="-120"/>
              </a:rPr>
              <a:t>Deploy Falcon on all endpoints for real-time protection. Keep Nessus for periodic audits and network-device scanning.</a:t>
            </a:r>
            <a:endParaRPr lang="en-US" sz="1100" dirty="0"/>
          </a:p>
        </p:txBody>
      </p:sp>
      <p:sp>
        <p:nvSpPr>
          <p:cNvPr id="44" name="Text 34"/>
          <p:cNvSpPr txBox="1"/>
          <p:nvPr/>
        </p:nvSpPr>
        <p:spPr>
          <a:xfrm>
            <a:off x="7269480" y="3035808"/>
            <a:ext cx="4099255" cy="292608"/>
          </a:xfrm>
          <a:prstGeom prst="rect">
            <a:avLst/>
          </a:prstGeom>
          <a:noFill/>
          <a:ln/>
        </p:spPr>
        <p:txBody>
          <a:bodyPr wrap="square" lIns="0" tIns="0" rIns="0" bIns="0" rtlCol="0" anchor="t"/>
          <a:lstStyle/>
          <a:p>
            <a:pPr indent="0" marL="0">
              <a:buNone/>
            </a:pPr>
            <a:r>
              <a:rPr lang="en-US" sz="1050" b="1" dirty="0">
                <a:solidFill>
                  <a:srgbClr val="E3202A"/>
                </a:solidFill>
                <a:latin typeface="Calibri" pitchFamily="34" charset="0"/>
                <a:ea typeface="Calibri" pitchFamily="34" charset="-122"/>
                <a:cs typeface="Calibri" pitchFamily="34" charset="-120"/>
              </a:rPr>
              <a:t>Benefit: </a:t>
            </a:r>
            <a:pPr indent="0" marL="0">
              <a:buNone/>
            </a:pPr>
            <a:r>
              <a:rPr lang="en-US" sz="1050" dirty="0">
                <a:solidFill>
                  <a:srgbClr val="5E6978"/>
                </a:solidFill>
                <a:latin typeface="Calibri" pitchFamily="34" charset="0"/>
                <a:ea typeface="Calibri" pitchFamily="34" charset="-122"/>
                <a:cs typeface="Calibri" pitchFamily="34" charset="-120"/>
              </a:rPr>
              <a:t>Fastest path to protection; no disruption to existing processes.</a:t>
            </a:r>
            <a:endParaRPr lang="en-US" sz="1050" dirty="0"/>
          </a:p>
        </p:txBody>
      </p:sp>
      <p:sp>
        <p:nvSpPr>
          <p:cNvPr id="45" name="Shape 35"/>
          <p:cNvSpPr/>
          <p:nvPr/>
        </p:nvSpPr>
        <p:spPr>
          <a:xfrm>
            <a:off x="6995160" y="3566160"/>
            <a:ext cx="4647895" cy="1874520"/>
          </a:xfrm>
          <a:prstGeom prst="roundRect">
            <a:avLst>
              <a:gd name="adj" fmla="val 4878"/>
            </a:avLst>
          </a:prstGeom>
          <a:solidFill>
            <a:srgbClr val="FFFFFF"/>
          </a:solidFill>
          <a:ln w="9525">
            <a:solidFill>
              <a:srgbClr val="DCE1E7"/>
            </a:solidFill>
            <a:prstDash val="solid"/>
          </a:ln>
        </p:spPr>
      </p:sp>
      <p:sp>
        <p:nvSpPr>
          <p:cNvPr id="46" name="Text 36"/>
          <p:cNvSpPr txBox="1"/>
          <p:nvPr/>
        </p:nvSpPr>
        <p:spPr>
          <a:xfrm>
            <a:off x="7269480" y="3749040"/>
            <a:ext cx="4099255" cy="237744"/>
          </a:xfrm>
          <a:prstGeom prst="rect">
            <a:avLst/>
          </a:prstGeom>
          <a:noFill/>
          <a:ln/>
        </p:spPr>
        <p:txBody>
          <a:bodyPr wrap="square" lIns="0" tIns="0" rIns="0" bIns="0" rtlCol="0" anchor="t"/>
          <a:lstStyle/>
          <a:p>
            <a:pPr indent="0" marL="0">
              <a:buNone/>
            </a:pPr>
            <a:r>
              <a:rPr lang="en-US" sz="1000" b="1" spc="150" kern="0" dirty="0">
                <a:solidFill>
                  <a:srgbClr val="5D6B7E"/>
                </a:solidFill>
                <a:latin typeface="Calibri" pitchFamily="34" charset="0"/>
                <a:ea typeface="Calibri" pitchFamily="34" charset="-122"/>
                <a:cs typeface="Calibri" pitchFamily="34" charset="-120"/>
              </a:rPr>
              <a:t>OPTION B  ·  NEXT STEP</a:t>
            </a:r>
            <a:endParaRPr lang="en-US" sz="1000" dirty="0"/>
          </a:p>
        </p:txBody>
      </p:sp>
      <p:sp>
        <p:nvSpPr>
          <p:cNvPr id="47" name="Text 37"/>
          <p:cNvSpPr txBox="1"/>
          <p:nvPr/>
        </p:nvSpPr>
        <p:spPr>
          <a:xfrm>
            <a:off x="7269480" y="4005072"/>
            <a:ext cx="4099255" cy="329184"/>
          </a:xfrm>
          <a:prstGeom prst="rect">
            <a:avLst/>
          </a:prstGeom>
          <a:noFill/>
          <a:ln/>
        </p:spPr>
        <p:txBody>
          <a:bodyPr wrap="square" lIns="0" tIns="0" rIns="0" bIns="0" rtlCol="0" anchor="t"/>
          <a:lstStyle/>
          <a:p>
            <a:pPr indent="0" marL="0">
              <a:buNone/>
            </a:pPr>
            <a:r>
              <a:rPr lang="en-US" sz="1700" b="1" dirty="0">
                <a:solidFill>
                  <a:srgbClr val="151A21"/>
                </a:solidFill>
                <a:latin typeface="Arial" pitchFamily="34" charset="0"/>
                <a:ea typeface="Arial" pitchFamily="34" charset="-122"/>
                <a:cs typeface="Arial" pitchFamily="34" charset="-120"/>
              </a:rPr>
              <a:t>Consolidate</a:t>
            </a:r>
            <a:endParaRPr lang="en-US" sz="1700" dirty="0"/>
          </a:p>
        </p:txBody>
      </p:sp>
      <p:sp>
        <p:nvSpPr>
          <p:cNvPr id="48" name="Text 38"/>
          <p:cNvSpPr txBox="1"/>
          <p:nvPr/>
        </p:nvSpPr>
        <p:spPr>
          <a:xfrm>
            <a:off x="7269480" y="4370832"/>
            <a:ext cx="4099255" cy="658368"/>
          </a:xfrm>
          <a:prstGeom prst="rect">
            <a:avLst/>
          </a:prstGeom>
          <a:noFill/>
          <a:ln/>
        </p:spPr>
        <p:txBody>
          <a:bodyPr wrap="square" lIns="0" tIns="0" rIns="0" bIns="0" rtlCol="0" anchor="t"/>
          <a:lstStyle/>
          <a:p>
            <a:pPr indent="0" marL="0">
              <a:buNone/>
            </a:pPr>
            <a:r>
              <a:rPr lang="en-US" sz="1100" dirty="0">
                <a:solidFill>
                  <a:srgbClr val="151A21"/>
                </a:solidFill>
                <a:latin typeface="Calibri" pitchFamily="34" charset="0"/>
                <a:ea typeface="Calibri" pitchFamily="34" charset="-122"/>
                <a:cs typeface="Calibri" pitchFamily="34" charset="-120"/>
              </a:rPr>
              <a:t>Add Falcon Exposure Management for continuous, scanless vulnerability visibility and retire overlapping endpoint scans. Keep external scans only where audits require them.</a:t>
            </a:r>
            <a:endParaRPr lang="en-US" sz="1100" dirty="0"/>
          </a:p>
        </p:txBody>
      </p:sp>
      <p:sp>
        <p:nvSpPr>
          <p:cNvPr id="49" name="Text 39"/>
          <p:cNvSpPr txBox="1"/>
          <p:nvPr/>
        </p:nvSpPr>
        <p:spPr>
          <a:xfrm>
            <a:off x="7269480" y="5047488"/>
            <a:ext cx="4099255" cy="292608"/>
          </a:xfrm>
          <a:prstGeom prst="rect">
            <a:avLst/>
          </a:prstGeom>
          <a:noFill/>
          <a:ln/>
        </p:spPr>
        <p:txBody>
          <a:bodyPr wrap="square" lIns="0" tIns="0" rIns="0" bIns="0" rtlCol="0" anchor="t"/>
          <a:lstStyle/>
          <a:p>
            <a:pPr indent="0" marL="0">
              <a:buNone/>
            </a:pPr>
            <a:r>
              <a:rPr lang="en-US" sz="1050" b="1" dirty="0">
                <a:solidFill>
                  <a:srgbClr val="5D6B7E"/>
                </a:solidFill>
                <a:latin typeface="Calibri" pitchFamily="34" charset="0"/>
                <a:ea typeface="Calibri" pitchFamily="34" charset="-122"/>
                <a:cs typeface="Calibri" pitchFamily="34" charset="-120"/>
              </a:rPr>
              <a:t>Benefit: </a:t>
            </a:r>
            <a:pPr indent="0" marL="0">
              <a:buNone/>
            </a:pPr>
            <a:r>
              <a:rPr lang="en-US" sz="1050" dirty="0">
                <a:solidFill>
                  <a:srgbClr val="5E6978"/>
                </a:solidFill>
                <a:latin typeface="Calibri" pitchFamily="34" charset="0"/>
                <a:ea typeface="Calibri" pitchFamily="34" charset="-122"/>
                <a:cs typeface="Calibri" pitchFamily="34" charset="-120"/>
              </a:rPr>
              <a:t>One agent and one console; fewer tools to run.</a:t>
            </a:r>
            <a:endParaRPr lang="en-US" sz="1050" dirty="0"/>
          </a:p>
        </p:txBody>
      </p:sp>
      <p:sp>
        <p:nvSpPr>
          <p:cNvPr id="50" name="Text 40"/>
          <p:cNvSpPr txBox="1"/>
          <p:nvPr/>
        </p:nvSpPr>
        <p:spPr>
          <a:xfrm>
            <a:off x="6995160" y="5596128"/>
            <a:ext cx="4647895" cy="384048"/>
          </a:xfrm>
          <a:prstGeom prst="rect">
            <a:avLst/>
          </a:prstGeom>
          <a:noFill/>
          <a:ln/>
        </p:spPr>
        <p:txBody>
          <a:bodyPr wrap="square" lIns="0" tIns="0" rIns="0" bIns="0" rtlCol="0" anchor="ctr"/>
          <a:lstStyle/>
          <a:p>
            <a:pPr indent="0" marL="0">
              <a:buNone/>
            </a:pPr>
            <a:r>
              <a:rPr lang="en-US" sz="1100" b="1" i="1" dirty="0">
                <a:solidFill>
                  <a:srgbClr val="151A21"/>
                </a:solidFill>
                <a:latin typeface="Calibri" pitchFamily="34" charset="0"/>
                <a:ea typeface="Calibri" pitchFamily="34" charset="-122"/>
                <a:cs typeface="Calibri" pitchFamily="34" charset="-120"/>
              </a:rPr>
              <a:t>We suggest starting with Option A and reviewing Option B after 90 days of operation.</a:t>
            </a:r>
            <a:endParaRPr lang="en-US" sz="1100" dirty="0"/>
          </a:p>
        </p:txBody>
      </p:sp>
      <p:sp>
        <p:nvSpPr>
          <p:cNvPr id="51" name="Text 41"/>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16   |   Nessus vs. CrowdStrike Falcon Platform  ·  Proposal for The Westin Resort Guam</a:t>
            </a:r>
            <a:endParaRPr lang="en-US" sz="900" dirty="0"/>
          </a:p>
        </p:txBody>
      </p:sp>
      <p:pic>
        <p:nvPicPr>
          <p:cNvPr id="52" name="Image 8" descr="/private/tmp/claude-501/-Users-jihanvin-Desktop-NIVNAH-AI/16a96446-d9b3-40e2-af9e-a3011ae3db84/scratchpad/assets/secukorea_dark.png">    </p:cNvPr>
          <p:cNvPicPr>
            <a:picLocks noChangeAspect="1"/>
          </p:cNvPicPr>
          <p:nvPr/>
        </p:nvPicPr>
        <p:blipFill>
          <a:blip r:embed="rId9"/>
          <a:stretch>
            <a:fillRect/>
          </a:stretch>
        </p:blipFill>
        <p:spPr>
          <a:xfrm>
            <a:off x="10661904" y="6400800"/>
            <a:ext cx="978408" cy="23317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15   DEPLOYMENT PLAN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Phased Deployment Roadmap</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481328"/>
            <a:ext cx="1849069" cy="237744"/>
          </a:xfrm>
          <a:prstGeom prst="rect">
            <a:avLst/>
          </a:prstGeom>
          <a:noFill/>
          <a:ln/>
        </p:spPr>
        <p:txBody>
          <a:bodyPr wrap="square" lIns="0" tIns="0" rIns="0" bIns="0" rtlCol="0" anchor="t"/>
          <a:lstStyle/>
          <a:p>
            <a:pPr algn="ctr" indent="0" marL="0">
              <a:buNone/>
            </a:pPr>
            <a:r>
              <a:rPr lang="en-US" sz="1000" b="1" dirty="0">
                <a:solidFill>
                  <a:srgbClr val="5E6978"/>
                </a:solidFill>
                <a:latin typeface="Calibri" pitchFamily="34" charset="0"/>
                <a:ea typeface="Calibri" pitchFamily="34" charset="-122"/>
                <a:cs typeface="Calibri" pitchFamily="34" charset="-120"/>
              </a:rPr>
              <a:t>W1</a:t>
            </a:r>
            <a:endParaRPr lang="en-US" sz="1000" dirty="0"/>
          </a:p>
        </p:txBody>
      </p:sp>
      <p:sp>
        <p:nvSpPr>
          <p:cNvPr id="6" name="Text 3"/>
          <p:cNvSpPr txBox="1"/>
          <p:nvPr/>
        </p:nvSpPr>
        <p:spPr>
          <a:xfrm>
            <a:off x="2397709" y="1481328"/>
            <a:ext cx="1849069" cy="237744"/>
          </a:xfrm>
          <a:prstGeom prst="rect">
            <a:avLst/>
          </a:prstGeom>
          <a:noFill/>
          <a:ln/>
        </p:spPr>
        <p:txBody>
          <a:bodyPr wrap="square" lIns="0" tIns="0" rIns="0" bIns="0" rtlCol="0" anchor="t"/>
          <a:lstStyle/>
          <a:p>
            <a:pPr algn="ctr" indent="0" marL="0">
              <a:buNone/>
            </a:pPr>
            <a:r>
              <a:rPr lang="en-US" sz="1000" b="1" dirty="0">
                <a:solidFill>
                  <a:srgbClr val="5E6978"/>
                </a:solidFill>
                <a:latin typeface="Calibri" pitchFamily="34" charset="0"/>
                <a:ea typeface="Calibri" pitchFamily="34" charset="-122"/>
                <a:cs typeface="Calibri" pitchFamily="34" charset="-120"/>
              </a:rPr>
              <a:t>W2</a:t>
            </a:r>
            <a:endParaRPr lang="en-US" sz="1000" dirty="0"/>
          </a:p>
        </p:txBody>
      </p:sp>
      <p:sp>
        <p:nvSpPr>
          <p:cNvPr id="7" name="Text 4"/>
          <p:cNvSpPr txBox="1"/>
          <p:nvPr/>
        </p:nvSpPr>
        <p:spPr>
          <a:xfrm>
            <a:off x="4246778" y="1481328"/>
            <a:ext cx="1849069" cy="237744"/>
          </a:xfrm>
          <a:prstGeom prst="rect">
            <a:avLst/>
          </a:prstGeom>
          <a:noFill/>
          <a:ln/>
        </p:spPr>
        <p:txBody>
          <a:bodyPr wrap="square" lIns="0" tIns="0" rIns="0" bIns="0" rtlCol="0" anchor="t"/>
          <a:lstStyle/>
          <a:p>
            <a:pPr algn="ctr" indent="0" marL="0">
              <a:buNone/>
            </a:pPr>
            <a:r>
              <a:rPr lang="en-US" sz="1000" b="1" dirty="0">
                <a:solidFill>
                  <a:srgbClr val="5E6978"/>
                </a:solidFill>
                <a:latin typeface="Calibri" pitchFamily="34" charset="0"/>
                <a:ea typeface="Calibri" pitchFamily="34" charset="-122"/>
                <a:cs typeface="Calibri" pitchFamily="34" charset="-120"/>
              </a:rPr>
              <a:t>W3</a:t>
            </a:r>
            <a:endParaRPr lang="en-US" sz="1000" dirty="0"/>
          </a:p>
        </p:txBody>
      </p:sp>
      <p:sp>
        <p:nvSpPr>
          <p:cNvPr id="8" name="Text 5"/>
          <p:cNvSpPr txBox="1"/>
          <p:nvPr/>
        </p:nvSpPr>
        <p:spPr>
          <a:xfrm>
            <a:off x="6095848" y="1481328"/>
            <a:ext cx="1849069" cy="237744"/>
          </a:xfrm>
          <a:prstGeom prst="rect">
            <a:avLst/>
          </a:prstGeom>
          <a:noFill/>
          <a:ln/>
        </p:spPr>
        <p:txBody>
          <a:bodyPr wrap="square" lIns="0" tIns="0" rIns="0" bIns="0" rtlCol="0" anchor="t"/>
          <a:lstStyle/>
          <a:p>
            <a:pPr algn="ctr" indent="0" marL="0">
              <a:buNone/>
            </a:pPr>
            <a:r>
              <a:rPr lang="en-US" sz="1000" b="1" dirty="0">
                <a:solidFill>
                  <a:srgbClr val="5E6978"/>
                </a:solidFill>
                <a:latin typeface="Calibri" pitchFamily="34" charset="0"/>
                <a:ea typeface="Calibri" pitchFamily="34" charset="-122"/>
                <a:cs typeface="Calibri" pitchFamily="34" charset="-120"/>
              </a:rPr>
              <a:t>W4</a:t>
            </a:r>
            <a:endParaRPr lang="en-US" sz="1000" dirty="0"/>
          </a:p>
        </p:txBody>
      </p:sp>
      <p:sp>
        <p:nvSpPr>
          <p:cNvPr id="9" name="Text 6"/>
          <p:cNvSpPr txBox="1"/>
          <p:nvPr/>
        </p:nvSpPr>
        <p:spPr>
          <a:xfrm>
            <a:off x="7944917" y="1481328"/>
            <a:ext cx="1849069" cy="237744"/>
          </a:xfrm>
          <a:prstGeom prst="rect">
            <a:avLst/>
          </a:prstGeom>
          <a:noFill/>
          <a:ln/>
        </p:spPr>
        <p:txBody>
          <a:bodyPr wrap="square" lIns="0" tIns="0" rIns="0" bIns="0" rtlCol="0" anchor="t"/>
          <a:lstStyle/>
          <a:p>
            <a:pPr algn="ctr" indent="0" marL="0">
              <a:buNone/>
            </a:pPr>
            <a:r>
              <a:rPr lang="en-US" sz="1000" b="1" dirty="0">
                <a:solidFill>
                  <a:srgbClr val="5E6978"/>
                </a:solidFill>
                <a:latin typeface="Calibri" pitchFamily="34" charset="0"/>
                <a:ea typeface="Calibri" pitchFamily="34" charset="-122"/>
                <a:cs typeface="Calibri" pitchFamily="34" charset="-120"/>
              </a:rPr>
              <a:t>W5</a:t>
            </a:r>
            <a:endParaRPr lang="en-US" sz="1000" dirty="0"/>
          </a:p>
        </p:txBody>
      </p:sp>
      <p:sp>
        <p:nvSpPr>
          <p:cNvPr id="10" name="Text 7"/>
          <p:cNvSpPr txBox="1"/>
          <p:nvPr/>
        </p:nvSpPr>
        <p:spPr>
          <a:xfrm>
            <a:off x="9793986" y="1481328"/>
            <a:ext cx="1849069" cy="237744"/>
          </a:xfrm>
          <a:prstGeom prst="rect">
            <a:avLst/>
          </a:prstGeom>
          <a:noFill/>
          <a:ln/>
        </p:spPr>
        <p:txBody>
          <a:bodyPr wrap="square" lIns="0" tIns="0" rIns="0" bIns="0" rtlCol="0" anchor="t"/>
          <a:lstStyle/>
          <a:p>
            <a:pPr algn="ctr" indent="0" marL="0">
              <a:buNone/>
            </a:pPr>
            <a:r>
              <a:rPr lang="en-US" sz="1000" b="1" dirty="0">
                <a:solidFill>
                  <a:srgbClr val="5E6978"/>
                </a:solidFill>
                <a:latin typeface="Calibri" pitchFamily="34" charset="0"/>
                <a:ea typeface="Calibri" pitchFamily="34" charset="-122"/>
                <a:cs typeface="Calibri" pitchFamily="34" charset="-120"/>
              </a:rPr>
              <a:t>W6 +</a:t>
            </a:r>
            <a:endParaRPr lang="en-US" sz="1000" dirty="0"/>
          </a:p>
        </p:txBody>
      </p:sp>
      <p:sp>
        <p:nvSpPr>
          <p:cNvPr id="11" name="Shape 8"/>
          <p:cNvSpPr/>
          <p:nvPr/>
        </p:nvSpPr>
        <p:spPr>
          <a:xfrm>
            <a:off x="576072" y="1783080"/>
            <a:ext cx="1794205" cy="310896"/>
          </a:xfrm>
          <a:prstGeom prst="roundRect">
            <a:avLst>
              <a:gd name="adj" fmla="val 17647"/>
            </a:avLst>
          </a:prstGeom>
          <a:solidFill>
            <a:srgbClr val="F4A3A7"/>
          </a:solidFill>
          <a:ln w="12700">
            <a:solidFill>
              <a:srgbClr val="F4A3A7"/>
            </a:solidFill>
            <a:prstDash val="solid"/>
          </a:ln>
        </p:spPr>
      </p:sp>
      <p:sp>
        <p:nvSpPr>
          <p:cNvPr id="12" name="Text 9"/>
          <p:cNvSpPr txBox="1"/>
          <p:nvPr/>
        </p:nvSpPr>
        <p:spPr>
          <a:xfrm>
            <a:off x="548640" y="1783080"/>
            <a:ext cx="1849069" cy="310896"/>
          </a:xfrm>
          <a:prstGeom prst="rect">
            <a:avLst/>
          </a:prstGeom>
          <a:noFill/>
          <a:ln/>
        </p:spPr>
        <p:txBody>
          <a:bodyPr wrap="square" lIns="0" tIns="0" rIns="0" bIns="0" rtlCol="0" anchor="ctr"/>
          <a:lstStyle/>
          <a:p>
            <a:pPr algn="ctr" indent="0" marL="0">
              <a:buNone/>
            </a:pPr>
            <a:r>
              <a:rPr lang="en-US" sz="1000" b="1" dirty="0">
                <a:solidFill>
                  <a:srgbClr val="B0141C"/>
                </a:solidFill>
                <a:latin typeface="Calibri" pitchFamily="34" charset="0"/>
                <a:ea typeface="Calibri" pitchFamily="34" charset="-122"/>
                <a:cs typeface="Calibri" pitchFamily="34" charset="-120"/>
              </a:rPr>
              <a:t>Phase 1</a:t>
            </a:r>
            <a:endParaRPr lang="en-US" sz="1000" dirty="0"/>
          </a:p>
        </p:txBody>
      </p:sp>
      <p:sp>
        <p:nvSpPr>
          <p:cNvPr id="13" name="Shape 10"/>
          <p:cNvSpPr/>
          <p:nvPr/>
        </p:nvSpPr>
        <p:spPr>
          <a:xfrm>
            <a:off x="2425141" y="1783080"/>
            <a:ext cx="1794205" cy="310896"/>
          </a:xfrm>
          <a:prstGeom prst="roundRect">
            <a:avLst>
              <a:gd name="adj" fmla="val 17647"/>
            </a:avLst>
          </a:prstGeom>
          <a:solidFill>
            <a:srgbClr val="EC6B71"/>
          </a:solidFill>
          <a:ln w="12700">
            <a:solidFill>
              <a:srgbClr val="EC6B71"/>
            </a:solidFill>
            <a:prstDash val="solid"/>
          </a:ln>
        </p:spPr>
      </p:sp>
      <p:sp>
        <p:nvSpPr>
          <p:cNvPr id="14" name="Text 11"/>
          <p:cNvSpPr txBox="1"/>
          <p:nvPr/>
        </p:nvSpPr>
        <p:spPr>
          <a:xfrm>
            <a:off x="2397709" y="1783080"/>
            <a:ext cx="1849069"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15" name="Shape 12"/>
          <p:cNvSpPr/>
          <p:nvPr/>
        </p:nvSpPr>
        <p:spPr>
          <a:xfrm>
            <a:off x="4274210" y="1783080"/>
            <a:ext cx="3643274" cy="310896"/>
          </a:xfrm>
          <a:prstGeom prst="roundRect">
            <a:avLst>
              <a:gd name="adj" fmla="val 17647"/>
            </a:avLst>
          </a:prstGeom>
          <a:solidFill>
            <a:srgbClr val="E3202A"/>
          </a:solidFill>
          <a:ln w="12700">
            <a:solidFill>
              <a:srgbClr val="E3202A"/>
            </a:solidFill>
            <a:prstDash val="solid"/>
          </a:ln>
        </p:spPr>
      </p:sp>
      <p:sp>
        <p:nvSpPr>
          <p:cNvPr id="16" name="Text 13"/>
          <p:cNvSpPr txBox="1"/>
          <p:nvPr/>
        </p:nvSpPr>
        <p:spPr>
          <a:xfrm>
            <a:off x="4246778" y="1783080"/>
            <a:ext cx="3698138"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3</a:t>
            </a:r>
            <a:endParaRPr lang="en-US" sz="1000" dirty="0"/>
          </a:p>
        </p:txBody>
      </p:sp>
      <p:sp>
        <p:nvSpPr>
          <p:cNvPr id="17" name="Shape 14"/>
          <p:cNvSpPr/>
          <p:nvPr/>
        </p:nvSpPr>
        <p:spPr>
          <a:xfrm>
            <a:off x="7972349" y="1783080"/>
            <a:ext cx="3643274" cy="310896"/>
          </a:xfrm>
          <a:prstGeom prst="roundRect">
            <a:avLst>
              <a:gd name="adj" fmla="val 17647"/>
            </a:avLst>
          </a:prstGeom>
          <a:solidFill>
            <a:srgbClr val="B0141C"/>
          </a:solidFill>
          <a:ln w="12700">
            <a:solidFill>
              <a:srgbClr val="B0141C"/>
            </a:solidFill>
            <a:prstDash val="solid"/>
          </a:ln>
        </p:spPr>
      </p:sp>
      <p:sp>
        <p:nvSpPr>
          <p:cNvPr id="18" name="Text 15"/>
          <p:cNvSpPr txBox="1"/>
          <p:nvPr/>
        </p:nvSpPr>
        <p:spPr>
          <a:xfrm>
            <a:off x="7944917" y="1783080"/>
            <a:ext cx="3698138"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4</a:t>
            </a:r>
            <a:endParaRPr lang="en-US" sz="1000" dirty="0"/>
          </a:p>
        </p:txBody>
      </p:sp>
      <p:sp>
        <p:nvSpPr>
          <p:cNvPr id="19" name="Shape 16"/>
          <p:cNvSpPr/>
          <p:nvPr/>
        </p:nvSpPr>
        <p:spPr>
          <a:xfrm>
            <a:off x="548640" y="2331720"/>
            <a:ext cx="2567864" cy="2944368"/>
          </a:xfrm>
          <a:prstGeom prst="roundRect">
            <a:avLst>
              <a:gd name="adj" fmla="val 3561"/>
            </a:avLst>
          </a:prstGeom>
          <a:solidFill>
            <a:srgbClr val="F3F5F8"/>
          </a:solidFill>
          <a:ln w="9525">
            <a:solidFill>
              <a:srgbClr val="DCE1E7"/>
            </a:solidFill>
            <a:prstDash val="solid"/>
          </a:ln>
        </p:spPr>
      </p:sp>
      <p:sp>
        <p:nvSpPr>
          <p:cNvPr id="20" name="Shape 17"/>
          <p:cNvSpPr/>
          <p:nvPr/>
        </p:nvSpPr>
        <p:spPr>
          <a:xfrm>
            <a:off x="822960" y="2587752"/>
            <a:ext cx="530352" cy="530352"/>
          </a:xfrm>
          <a:prstGeom prst="ellipse">
            <a:avLst/>
          </a:prstGeom>
          <a:solidFill>
            <a:srgbClr val="F4A3A7"/>
          </a:solidFill>
          <a:ln w="12700">
            <a:solidFill>
              <a:srgbClr val="F4A3A7"/>
            </a:solidFill>
            <a:prstDash val="solid"/>
          </a:ln>
        </p:spPr>
      </p:sp>
      <p:pic>
        <p:nvPicPr>
          <p:cNvPr id="21" name="Image 1" descr="preencoded.png">    </p:cNvPr>
          <p:cNvPicPr>
            <a:picLocks noChangeAspect="1"/>
          </p:cNvPicPr>
          <p:nvPr/>
        </p:nvPicPr>
        <p:blipFill>
          <a:blip r:embed="rId2"/>
          <a:stretch>
            <a:fillRect/>
          </a:stretch>
        </p:blipFill>
        <p:spPr>
          <a:xfrm>
            <a:off x="960852" y="2725644"/>
            <a:ext cx="254569" cy="254569"/>
          </a:xfrm>
          <a:prstGeom prst="rect">
            <a:avLst/>
          </a:prstGeom>
        </p:spPr>
      </p:pic>
      <p:sp>
        <p:nvSpPr>
          <p:cNvPr id="22" name="Text 18"/>
          <p:cNvSpPr txBox="1"/>
          <p:nvPr/>
        </p:nvSpPr>
        <p:spPr>
          <a:xfrm>
            <a:off x="1463040" y="2587752"/>
            <a:ext cx="1562024" cy="530352"/>
          </a:xfrm>
          <a:prstGeom prst="rect">
            <a:avLst/>
          </a:prstGeom>
          <a:noFill/>
          <a:ln/>
        </p:spPr>
        <p:txBody>
          <a:bodyPr wrap="square" lIns="0" tIns="0" rIns="0" bIns="0" rtlCol="0" anchor="ctr"/>
          <a:lstStyle/>
          <a:p>
            <a:pPr indent="0" marL="0">
              <a:buNone/>
            </a:pPr>
            <a:r>
              <a:rPr lang="en-US" sz="1000" b="1" spc="100" kern="0" dirty="0">
                <a:solidFill>
                  <a:srgbClr val="E3202A"/>
                </a:solidFill>
                <a:latin typeface="Calibri" pitchFamily="34" charset="0"/>
                <a:ea typeface="Calibri" pitchFamily="34" charset="-122"/>
                <a:cs typeface="Calibri" pitchFamily="34" charset="-120"/>
              </a:rPr>
              <a:t>PHASE 1  ·  WEEK 1</a:t>
            </a:r>
            <a:endParaRPr lang="en-US" sz="1000" dirty="0"/>
          </a:p>
        </p:txBody>
      </p:sp>
      <p:sp>
        <p:nvSpPr>
          <p:cNvPr id="23" name="Text 19"/>
          <p:cNvSpPr txBox="1"/>
          <p:nvPr/>
        </p:nvSpPr>
        <p:spPr>
          <a:xfrm>
            <a:off x="822960" y="3246120"/>
            <a:ext cx="21106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Assess &amp; Design</a:t>
            </a:r>
            <a:endParaRPr lang="en-US" sz="1500" dirty="0"/>
          </a:p>
        </p:txBody>
      </p:sp>
      <p:pic>
        <p:nvPicPr>
          <p:cNvPr id="24" name="Image 2" descr="preencoded.png">    </p:cNvPr>
          <p:cNvPicPr>
            <a:picLocks noChangeAspect="1"/>
          </p:cNvPicPr>
          <p:nvPr/>
        </p:nvPicPr>
        <p:blipFill>
          <a:blip r:embed="rId3"/>
          <a:stretch>
            <a:fillRect/>
          </a:stretch>
        </p:blipFill>
        <p:spPr>
          <a:xfrm>
            <a:off x="822960" y="3749040"/>
            <a:ext cx="164592" cy="164592"/>
          </a:xfrm>
          <a:prstGeom prst="rect">
            <a:avLst/>
          </a:prstGeom>
        </p:spPr>
      </p:pic>
      <p:sp>
        <p:nvSpPr>
          <p:cNvPr id="25" name="Text 20"/>
          <p:cNvSpPr txBox="1"/>
          <p:nvPr/>
        </p:nvSpPr>
        <p:spPr>
          <a:xfrm>
            <a:off x="1097280" y="3703320"/>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Endpoint inventory and OS check</a:t>
            </a:r>
            <a:endParaRPr lang="en-US" sz="1150" dirty="0"/>
          </a:p>
        </p:txBody>
      </p:sp>
      <p:pic>
        <p:nvPicPr>
          <p:cNvPr id="26" name="Image 3" descr="preencoded.png">    </p:cNvPr>
          <p:cNvPicPr>
            <a:picLocks noChangeAspect="1"/>
          </p:cNvPicPr>
          <p:nvPr/>
        </p:nvPicPr>
        <p:blipFill>
          <a:blip r:embed="rId4"/>
          <a:stretch>
            <a:fillRect/>
          </a:stretch>
        </p:blipFill>
        <p:spPr>
          <a:xfrm>
            <a:off x="822960" y="4261104"/>
            <a:ext cx="164592" cy="164592"/>
          </a:xfrm>
          <a:prstGeom prst="rect">
            <a:avLst/>
          </a:prstGeom>
        </p:spPr>
      </p:pic>
      <p:sp>
        <p:nvSpPr>
          <p:cNvPr id="27" name="Text 21"/>
          <p:cNvSpPr txBox="1"/>
          <p:nvPr/>
        </p:nvSpPr>
        <p:spPr>
          <a:xfrm>
            <a:off x="1097280" y="4215384"/>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Identify critical systems (PMS, POS, servers)</a:t>
            </a:r>
            <a:endParaRPr lang="en-US" sz="1150" dirty="0"/>
          </a:p>
        </p:txBody>
      </p:sp>
      <p:pic>
        <p:nvPicPr>
          <p:cNvPr id="28" name="Image 4" descr="preencoded.png">    </p:cNvPr>
          <p:cNvPicPr>
            <a:picLocks noChangeAspect="1"/>
          </p:cNvPicPr>
          <p:nvPr/>
        </p:nvPicPr>
        <p:blipFill>
          <a:blip r:embed="rId5"/>
          <a:stretch>
            <a:fillRect/>
          </a:stretch>
        </p:blipFill>
        <p:spPr>
          <a:xfrm>
            <a:off x="822960" y="4773168"/>
            <a:ext cx="164592" cy="164592"/>
          </a:xfrm>
          <a:prstGeom prst="rect">
            <a:avLst/>
          </a:prstGeom>
        </p:spPr>
      </p:pic>
      <p:sp>
        <p:nvSpPr>
          <p:cNvPr id="29" name="Text 22"/>
          <p:cNvSpPr txBox="1"/>
          <p:nvPr/>
        </p:nvSpPr>
        <p:spPr>
          <a:xfrm>
            <a:off x="1097280" y="4727448"/>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Define policies and success criteria</a:t>
            </a:r>
            <a:endParaRPr lang="en-US" sz="1150" dirty="0"/>
          </a:p>
        </p:txBody>
      </p:sp>
      <p:sp>
        <p:nvSpPr>
          <p:cNvPr id="30" name="Shape 23"/>
          <p:cNvSpPr/>
          <p:nvPr/>
        </p:nvSpPr>
        <p:spPr>
          <a:xfrm>
            <a:off x="3390824" y="2331720"/>
            <a:ext cx="2567864" cy="2944368"/>
          </a:xfrm>
          <a:prstGeom prst="roundRect">
            <a:avLst>
              <a:gd name="adj" fmla="val 3561"/>
            </a:avLst>
          </a:prstGeom>
          <a:solidFill>
            <a:srgbClr val="F3F5F8"/>
          </a:solidFill>
          <a:ln w="9525">
            <a:solidFill>
              <a:srgbClr val="DCE1E7"/>
            </a:solidFill>
            <a:prstDash val="solid"/>
          </a:ln>
        </p:spPr>
      </p:sp>
      <p:sp>
        <p:nvSpPr>
          <p:cNvPr id="31" name="Shape 24"/>
          <p:cNvSpPr/>
          <p:nvPr/>
        </p:nvSpPr>
        <p:spPr>
          <a:xfrm>
            <a:off x="3665144" y="2587752"/>
            <a:ext cx="530352" cy="530352"/>
          </a:xfrm>
          <a:prstGeom prst="ellipse">
            <a:avLst/>
          </a:prstGeom>
          <a:solidFill>
            <a:srgbClr val="EC6B71"/>
          </a:solidFill>
          <a:ln w="12700">
            <a:solidFill>
              <a:srgbClr val="EC6B71"/>
            </a:solidFill>
            <a:prstDash val="solid"/>
          </a:ln>
        </p:spPr>
      </p:sp>
      <p:pic>
        <p:nvPicPr>
          <p:cNvPr id="32" name="Image 5" descr="preencoded.png">    </p:cNvPr>
          <p:cNvPicPr>
            <a:picLocks noChangeAspect="1"/>
          </p:cNvPicPr>
          <p:nvPr/>
        </p:nvPicPr>
        <p:blipFill>
          <a:blip r:embed="rId6"/>
          <a:stretch>
            <a:fillRect/>
          </a:stretch>
        </p:blipFill>
        <p:spPr>
          <a:xfrm>
            <a:off x="3803035" y="2725644"/>
            <a:ext cx="254569" cy="254569"/>
          </a:xfrm>
          <a:prstGeom prst="rect">
            <a:avLst/>
          </a:prstGeom>
        </p:spPr>
      </p:pic>
      <p:sp>
        <p:nvSpPr>
          <p:cNvPr id="33" name="Text 25"/>
          <p:cNvSpPr txBox="1"/>
          <p:nvPr/>
        </p:nvSpPr>
        <p:spPr>
          <a:xfrm>
            <a:off x="4305224" y="2587752"/>
            <a:ext cx="1562024" cy="530352"/>
          </a:xfrm>
          <a:prstGeom prst="rect">
            <a:avLst/>
          </a:prstGeom>
          <a:noFill/>
          <a:ln/>
        </p:spPr>
        <p:txBody>
          <a:bodyPr wrap="square" lIns="0" tIns="0" rIns="0" bIns="0" rtlCol="0" anchor="ctr"/>
          <a:lstStyle/>
          <a:p>
            <a:pPr indent="0" marL="0">
              <a:buNone/>
            </a:pPr>
            <a:r>
              <a:rPr lang="en-US" sz="1000" b="1" spc="100" kern="0" dirty="0">
                <a:solidFill>
                  <a:srgbClr val="E3202A"/>
                </a:solidFill>
                <a:latin typeface="Calibri" pitchFamily="34" charset="0"/>
                <a:ea typeface="Calibri" pitchFamily="34" charset="-122"/>
                <a:cs typeface="Calibri" pitchFamily="34" charset="-120"/>
              </a:rPr>
              <a:t>PHASE 2  ·  WEEK 2</a:t>
            </a:r>
            <a:endParaRPr lang="en-US" sz="1000" dirty="0"/>
          </a:p>
        </p:txBody>
      </p:sp>
      <p:sp>
        <p:nvSpPr>
          <p:cNvPr id="34" name="Text 26"/>
          <p:cNvSpPr txBox="1"/>
          <p:nvPr/>
        </p:nvSpPr>
        <p:spPr>
          <a:xfrm>
            <a:off x="3665144" y="3246120"/>
            <a:ext cx="21106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Pilot</a:t>
            </a:r>
            <a:endParaRPr lang="en-US" sz="1500" dirty="0"/>
          </a:p>
        </p:txBody>
      </p:sp>
      <p:pic>
        <p:nvPicPr>
          <p:cNvPr id="35" name="Image 6" descr="preencoded.png">    </p:cNvPr>
          <p:cNvPicPr>
            <a:picLocks noChangeAspect="1"/>
          </p:cNvPicPr>
          <p:nvPr/>
        </p:nvPicPr>
        <p:blipFill>
          <a:blip r:embed="rId7"/>
          <a:stretch>
            <a:fillRect/>
          </a:stretch>
        </p:blipFill>
        <p:spPr>
          <a:xfrm>
            <a:off x="3665144" y="3749040"/>
            <a:ext cx="164592" cy="164592"/>
          </a:xfrm>
          <a:prstGeom prst="rect">
            <a:avLst/>
          </a:prstGeom>
        </p:spPr>
      </p:pic>
      <p:sp>
        <p:nvSpPr>
          <p:cNvPr id="36" name="Text 27"/>
          <p:cNvSpPr txBox="1"/>
          <p:nvPr/>
        </p:nvSpPr>
        <p:spPr>
          <a:xfrm>
            <a:off x="3939464" y="3703320"/>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Install sensor on a pilot group</a:t>
            </a:r>
            <a:endParaRPr lang="en-US" sz="1150" dirty="0"/>
          </a:p>
        </p:txBody>
      </p:sp>
      <p:pic>
        <p:nvPicPr>
          <p:cNvPr id="37" name="Image 7" descr="preencoded.png">    </p:cNvPr>
          <p:cNvPicPr>
            <a:picLocks noChangeAspect="1"/>
          </p:cNvPicPr>
          <p:nvPr/>
        </p:nvPicPr>
        <p:blipFill>
          <a:blip r:embed="rId8"/>
          <a:stretch>
            <a:fillRect/>
          </a:stretch>
        </p:blipFill>
        <p:spPr>
          <a:xfrm>
            <a:off x="3665144" y="4261104"/>
            <a:ext cx="164592" cy="164592"/>
          </a:xfrm>
          <a:prstGeom prst="rect">
            <a:avLst/>
          </a:prstGeom>
        </p:spPr>
      </p:pic>
      <p:sp>
        <p:nvSpPr>
          <p:cNvPr id="38" name="Text 28"/>
          <p:cNvSpPr txBox="1"/>
          <p:nvPr/>
        </p:nvSpPr>
        <p:spPr>
          <a:xfrm>
            <a:off x="3939464" y="4215384"/>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Run in detect-only mode first</a:t>
            </a:r>
            <a:endParaRPr lang="en-US" sz="1150" dirty="0"/>
          </a:p>
        </p:txBody>
      </p:sp>
      <p:pic>
        <p:nvPicPr>
          <p:cNvPr id="39" name="Image 8" descr="preencoded.png">    </p:cNvPr>
          <p:cNvPicPr>
            <a:picLocks noChangeAspect="1"/>
          </p:cNvPicPr>
          <p:nvPr/>
        </p:nvPicPr>
        <p:blipFill>
          <a:blip r:embed="rId9"/>
          <a:stretch>
            <a:fillRect/>
          </a:stretch>
        </p:blipFill>
        <p:spPr>
          <a:xfrm>
            <a:off x="3665144" y="4773168"/>
            <a:ext cx="164592" cy="164592"/>
          </a:xfrm>
          <a:prstGeom prst="rect">
            <a:avLst/>
          </a:prstGeom>
        </p:spPr>
      </p:pic>
      <p:sp>
        <p:nvSpPr>
          <p:cNvPr id="40" name="Text 29"/>
          <p:cNvSpPr txBox="1"/>
          <p:nvPr/>
        </p:nvSpPr>
        <p:spPr>
          <a:xfrm>
            <a:off x="3939464" y="4727448"/>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Confirm compatibility with hotel applications</a:t>
            </a:r>
            <a:endParaRPr lang="en-US" sz="1150" dirty="0"/>
          </a:p>
        </p:txBody>
      </p:sp>
      <p:sp>
        <p:nvSpPr>
          <p:cNvPr id="41" name="Shape 30"/>
          <p:cNvSpPr/>
          <p:nvPr/>
        </p:nvSpPr>
        <p:spPr>
          <a:xfrm>
            <a:off x="6233008" y="2331720"/>
            <a:ext cx="2567864" cy="2944368"/>
          </a:xfrm>
          <a:prstGeom prst="roundRect">
            <a:avLst>
              <a:gd name="adj" fmla="val 3561"/>
            </a:avLst>
          </a:prstGeom>
          <a:solidFill>
            <a:srgbClr val="F3F5F8"/>
          </a:solidFill>
          <a:ln w="9525">
            <a:solidFill>
              <a:srgbClr val="DCE1E7"/>
            </a:solidFill>
            <a:prstDash val="solid"/>
          </a:ln>
        </p:spPr>
      </p:sp>
      <p:sp>
        <p:nvSpPr>
          <p:cNvPr id="42" name="Shape 31"/>
          <p:cNvSpPr/>
          <p:nvPr/>
        </p:nvSpPr>
        <p:spPr>
          <a:xfrm>
            <a:off x="6507328" y="2587752"/>
            <a:ext cx="530352" cy="530352"/>
          </a:xfrm>
          <a:prstGeom prst="ellipse">
            <a:avLst/>
          </a:prstGeom>
          <a:solidFill>
            <a:srgbClr val="E3202A"/>
          </a:solidFill>
          <a:ln w="12700">
            <a:solidFill>
              <a:srgbClr val="E3202A"/>
            </a:solidFill>
            <a:prstDash val="solid"/>
          </a:ln>
        </p:spPr>
      </p:sp>
      <p:pic>
        <p:nvPicPr>
          <p:cNvPr id="43" name="Image 9" descr="preencoded.png">    </p:cNvPr>
          <p:cNvPicPr>
            <a:picLocks noChangeAspect="1"/>
          </p:cNvPicPr>
          <p:nvPr/>
        </p:nvPicPr>
        <p:blipFill>
          <a:blip r:embed="rId10"/>
          <a:stretch>
            <a:fillRect/>
          </a:stretch>
        </p:blipFill>
        <p:spPr>
          <a:xfrm>
            <a:off x="6645219" y="2725644"/>
            <a:ext cx="254569" cy="254569"/>
          </a:xfrm>
          <a:prstGeom prst="rect">
            <a:avLst/>
          </a:prstGeom>
        </p:spPr>
      </p:pic>
      <p:sp>
        <p:nvSpPr>
          <p:cNvPr id="44" name="Text 32"/>
          <p:cNvSpPr txBox="1"/>
          <p:nvPr/>
        </p:nvSpPr>
        <p:spPr>
          <a:xfrm>
            <a:off x="7147408" y="2587752"/>
            <a:ext cx="1562024" cy="530352"/>
          </a:xfrm>
          <a:prstGeom prst="rect">
            <a:avLst/>
          </a:prstGeom>
          <a:noFill/>
          <a:ln/>
        </p:spPr>
        <p:txBody>
          <a:bodyPr wrap="square" lIns="0" tIns="0" rIns="0" bIns="0" rtlCol="0" anchor="ctr"/>
          <a:lstStyle/>
          <a:p>
            <a:pPr indent="0" marL="0">
              <a:buNone/>
            </a:pPr>
            <a:r>
              <a:rPr lang="en-US" sz="1000" b="1" spc="100" kern="0" dirty="0">
                <a:solidFill>
                  <a:srgbClr val="E3202A"/>
                </a:solidFill>
                <a:latin typeface="Calibri" pitchFamily="34" charset="0"/>
                <a:ea typeface="Calibri" pitchFamily="34" charset="-122"/>
                <a:cs typeface="Calibri" pitchFamily="34" charset="-120"/>
              </a:rPr>
              <a:t>PHASE 3  ·  WEEKS 3–4</a:t>
            </a:r>
            <a:endParaRPr lang="en-US" sz="1000" dirty="0"/>
          </a:p>
        </p:txBody>
      </p:sp>
      <p:sp>
        <p:nvSpPr>
          <p:cNvPr id="45" name="Text 33"/>
          <p:cNvSpPr txBox="1"/>
          <p:nvPr/>
        </p:nvSpPr>
        <p:spPr>
          <a:xfrm>
            <a:off x="6507328" y="3246120"/>
            <a:ext cx="21106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Full Rollout</a:t>
            </a:r>
            <a:endParaRPr lang="en-US" sz="1500" dirty="0"/>
          </a:p>
        </p:txBody>
      </p:sp>
      <p:pic>
        <p:nvPicPr>
          <p:cNvPr id="46" name="Image 10" descr="preencoded.png">    </p:cNvPr>
          <p:cNvPicPr>
            <a:picLocks noChangeAspect="1"/>
          </p:cNvPicPr>
          <p:nvPr/>
        </p:nvPicPr>
        <p:blipFill>
          <a:blip r:embed="rId11"/>
          <a:stretch>
            <a:fillRect/>
          </a:stretch>
        </p:blipFill>
        <p:spPr>
          <a:xfrm>
            <a:off x="6507328" y="3749040"/>
            <a:ext cx="164592" cy="164592"/>
          </a:xfrm>
          <a:prstGeom prst="rect">
            <a:avLst/>
          </a:prstGeom>
        </p:spPr>
      </p:pic>
      <p:sp>
        <p:nvSpPr>
          <p:cNvPr id="47" name="Text 34"/>
          <p:cNvSpPr txBox="1"/>
          <p:nvPr/>
        </p:nvSpPr>
        <p:spPr>
          <a:xfrm>
            <a:off x="6781648" y="3703320"/>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Department-by-department rollout</a:t>
            </a:r>
            <a:endParaRPr lang="en-US" sz="1150" dirty="0"/>
          </a:p>
        </p:txBody>
      </p:sp>
      <p:pic>
        <p:nvPicPr>
          <p:cNvPr id="48" name="Image 11" descr="preencoded.png">    </p:cNvPr>
          <p:cNvPicPr>
            <a:picLocks noChangeAspect="1"/>
          </p:cNvPicPr>
          <p:nvPr/>
        </p:nvPicPr>
        <p:blipFill>
          <a:blip r:embed="rId12"/>
          <a:stretch>
            <a:fillRect/>
          </a:stretch>
        </p:blipFill>
        <p:spPr>
          <a:xfrm>
            <a:off x="6507328" y="4261104"/>
            <a:ext cx="164592" cy="164592"/>
          </a:xfrm>
          <a:prstGeom prst="rect">
            <a:avLst/>
          </a:prstGeom>
        </p:spPr>
      </p:pic>
      <p:sp>
        <p:nvSpPr>
          <p:cNvPr id="49" name="Text 35"/>
          <p:cNvSpPr txBox="1"/>
          <p:nvPr/>
        </p:nvSpPr>
        <p:spPr>
          <a:xfrm>
            <a:off x="6781648" y="4215384"/>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Switch on prevention policies</a:t>
            </a:r>
            <a:endParaRPr lang="en-US" sz="1150" dirty="0"/>
          </a:p>
        </p:txBody>
      </p:sp>
      <p:pic>
        <p:nvPicPr>
          <p:cNvPr id="50" name="Image 12" descr="preencoded.png">    </p:cNvPr>
          <p:cNvPicPr>
            <a:picLocks noChangeAspect="1"/>
          </p:cNvPicPr>
          <p:nvPr/>
        </p:nvPicPr>
        <p:blipFill>
          <a:blip r:embed="rId13"/>
          <a:stretch>
            <a:fillRect/>
          </a:stretch>
        </p:blipFill>
        <p:spPr>
          <a:xfrm>
            <a:off x="6507328" y="4773168"/>
            <a:ext cx="164592" cy="164592"/>
          </a:xfrm>
          <a:prstGeom prst="rect">
            <a:avLst/>
          </a:prstGeom>
        </p:spPr>
      </p:pic>
      <p:sp>
        <p:nvSpPr>
          <p:cNvPr id="51" name="Text 36"/>
          <p:cNvSpPr txBox="1"/>
          <p:nvPr/>
        </p:nvSpPr>
        <p:spPr>
          <a:xfrm>
            <a:off x="6781648" y="4727448"/>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Staged sensor updates — pilot group first</a:t>
            </a:r>
            <a:endParaRPr lang="en-US" sz="1150" dirty="0"/>
          </a:p>
        </p:txBody>
      </p:sp>
      <p:sp>
        <p:nvSpPr>
          <p:cNvPr id="52" name="Shape 37"/>
          <p:cNvSpPr/>
          <p:nvPr/>
        </p:nvSpPr>
        <p:spPr>
          <a:xfrm>
            <a:off x="9075191" y="2331720"/>
            <a:ext cx="2567864" cy="2944368"/>
          </a:xfrm>
          <a:prstGeom prst="roundRect">
            <a:avLst>
              <a:gd name="adj" fmla="val 3561"/>
            </a:avLst>
          </a:prstGeom>
          <a:solidFill>
            <a:srgbClr val="F3F5F8"/>
          </a:solidFill>
          <a:ln w="9525">
            <a:solidFill>
              <a:srgbClr val="DCE1E7"/>
            </a:solidFill>
            <a:prstDash val="solid"/>
          </a:ln>
        </p:spPr>
      </p:sp>
      <p:sp>
        <p:nvSpPr>
          <p:cNvPr id="53" name="Shape 38"/>
          <p:cNvSpPr/>
          <p:nvPr/>
        </p:nvSpPr>
        <p:spPr>
          <a:xfrm>
            <a:off x="9349511" y="2587752"/>
            <a:ext cx="530352" cy="530352"/>
          </a:xfrm>
          <a:prstGeom prst="ellipse">
            <a:avLst/>
          </a:prstGeom>
          <a:solidFill>
            <a:srgbClr val="B0141C"/>
          </a:solidFill>
          <a:ln w="12700">
            <a:solidFill>
              <a:srgbClr val="B0141C"/>
            </a:solidFill>
            <a:prstDash val="solid"/>
          </a:ln>
        </p:spPr>
      </p:sp>
      <p:pic>
        <p:nvPicPr>
          <p:cNvPr id="54" name="Image 13" descr="preencoded.png">    </p:cNvPr>
          <p:cNvPicPr>
            <a:picLocks noChangeAspect="1"/>
          </p:cNvPicPr>
          <p:nvPr/>
        </p:nvPicPr>
        <p:blipFill>
          <a:blip r:embed="rId14"/>
          <a:stretch>
            <a:fillRect/>
          </a:stretch>
        </p:blipFill>
        <p:spPr>
          <a:xfrm>
            <a:off x="9487403" y="2725644"/>
            <a:ext cx="254569" cy="254569"/>
          </a:xfrm>
          <a:prstGeom prst="rect">
            <a:avLst/>
          </a:prstGeom>
        </p:spPr>
      </p:pic>
      <p:sp>
        <p:nvSpPr>
          <p:cNvPr id="55" name="Text 39"/>
          <p:cNvSpPr txBox="1"/>
          <p:nvPr/>
        </p:nvSpPr>
        <p:spPr>
          <a:xfrm>
            <a:off x="9989591" y="2587752"/>
            <a:ext cx="1562024" cy="530352"/>
          </a:xfrm>
          <a:prstGeom prst="rect">
            <a:avLst/>
          </a:prstGeom>
          <a:noFill/>
          <a:ln/>
        </p:spPr>
        <p:txBody>
          <a:bodyPr wrap="square" lIns="0" tIns="0" rIns="0" bIns="0" rtlCol="0" anchor="ctr"/>
          <a:lstStyle/>
          <a:p>
            <a:pPr indent="0" marL="0">
              <a:buNone/>
            </a:pPr>
            <a:r>
              <a:rPr lang="en-US" sz="1000" b="1" spc="100" kern="0" dirty="0">
                <a:solidFill>
                  <a:srgbClr val="E3202A"/>
                </a:solidFill>
                <a:latin typeface="Calibri" pitchFamily="34" charset="0"/>
                <a:ea typeface="Calibri" pitchFamily="34" charset="-122"/>
                <a:cs typeface="Calibri" pitchFamily="34" charset="-120"/>
              </a:rPr>
              <a:t>PHASE 4  ·  WEEK 5+</a:t>
            </a:r>
            <a:endParaRPr lang="en-US" sz="1000" dirty="0"/>
          </a:p>
        </p:txBody>
      </p:sp>
      <p:sp>
        <p:nvSpPr>
          <p:cNvPr id="56" name="Text 40"/>
          <p:cNvSpPr txBox="1"/>
          <p:nvPr/>
        </p:nvSpPr>
        <p:spPr>
          <a:xfrm>
            <a:off x="9349511" y="3246120"/>
            <a:ext cx="21106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Operate &amp; Optimize</a:t>
            </a:r>
            <a:endParaRPr lang="en-US" sz="1500" dirty="0"/>
          </a:p>
        </p:txBody>
      </p:sp>
      <p:pic>
        <p:nvPicPr>
          <p:cNvPr id="57" name="Image 14" descr="preencoded.png">    </p:cNvPr>
          <p:cNvPicPr>
            <a:picLocks noChangeAspect="1"/>
          </p:cNvPicPr>
          <p:nvPr/>
        </p:nvPicPr>
        <p:blipFill>
          <a:blip r:embed="rId15"/>
          <a:stretch>
            <a:fillRect/>
          </a:stretch>
        </p:blipFill>
        <p:spPr>
          <a:xfrm>
            <a:off x="9349511" y="3749040"/>
            <a:ext cx="164592" cy="164592"/>
          </a:xfrm>
          <a:prstGeom prst="rect">
            <a:avLst/>
          </a:prstGeom>
        </p:spPr>
      </p:pic>
      <p:sp>
        <p:nvSpPr>
          <p:cNvPr id="58" name="Text 41"/>
          <p:cNvSpPr txBox="1"/>
          <p:nvPr/>
        </p:nvSpPr>
        <p:spPr>
          <a:xfrm>
            <a:off x="9623831" y="3703320"/>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Policy tuning and alert review</a:t>
            </a:r>
            <a:endParaRPr lang="en-US" sz="1150" dirty="0"/>
          </a:p>
        </p:txBody>
      </p:sp>
      <p:pic>
        <p:nvPicPr>
          <p:cNvPr id="59" name="Image 15" descr="preencoded.png">    </p:cNvPr>
          <p:cNvPicPr>
            <a:picLocks noChangeAspect="1"/>
          </p:cNvPicPr>
          <p:nvPr/>
        </p:nvPicPr>
        <p:blipFill>
          <a:blip r:embed="rId16"/>
          <a:stretch>
            <a:fillRect/>
          </a:stretch>
        </p:blipFill>
        <p:spPr>
          <a:xfrm>
            <a:off x="9349511" y="4261104"/>
            <a:ext cx="164592" cy="164592"/>
          </a:xfrm>
          <a:prstGeom prst="rect">
            <a:avLst/>
          </a:prstGeom>
        </p:spPr>
      </p:pic>
      <p:sp>
        <p:nvSpPr>
          <p:cNvPr id="60" name="Text 42"/>
          <p:cNvSpPr txBox="1"/>
          <p:nvPr/>
        </p:nvSpPr>
        <p:spPr>
          <a:xfrm>
            <a:off x="9623831" y="4215384"/>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Optional 24/7 MDR onboarding</a:t>
            </a:r>
            <a:endParaRPr lang="en-US" sz="1150" dirty="0"/>
          </a:p>
        </p:txBody>
      </p:sp>
      <p:pic>
        <p:nvPicPr>
          <p:cNvPr id="61" name="Image 16" descr="preencoded.png">    </p:cNvPr>
          <p:cNvPicPr>
            <a:picLocks noChangeAspect="1"/>
          </p:cNvPicPr>
          <p:nvPr/>
        </p:nvPicPr>
        <p:blipFill>
          <a:blip r:embed="rId17"/>
          <a:stretch>
            <a:fillRect/>
          </a:stretch>
        </p:blipFill>
        <p:spPr>
          <a:xfrm>
            <a:off x="9349511" y="4773168"/>
            <a:ext cx="164592" cy="164592"/>
          </a:xfrm>
          <a:prstGeom prst="rect">
            <a:avLst/>
          </a:prstGeom>
        </p:spPr>
      </p:pic>
      <p:sp>
        <p:nvSpPr>
          <p:cNvPr id="62" name="Text 43"/>
          <p:cNvSpPr txBox="1"/>
          <p:nvPr/>
        </p:nvSpPr>
        <p:spPr>
          <a:xfrm>
            <a:off x="9623831" y="4727448"/>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Monthly security reports to management</a:t>
            </a:r>
            <a:endParaRPr lang="en-US" sz="1150" dirty="0"/>
          </a:p>
        </p:txBody>
      </p:sp>
      <p:sp>
        <p:nvSpPr>
          <p:cNvPr id="63" name="Shape 44"/>
          <p:cNvSpPr/>
          <p:nvPr/>
        </p:nvSpPr>
        <p:spPr>
          <a:xfrm>
            <a:off x="548640" y="5504688"/>
            <a:ext cx="3515258" cy="502920"/>
          </a:xfrm>
          <a:prstGeom prst="roundRect">
            <a:avLst>
              <a:gd name="adj" fmla="val 50000"/>
            </a:avLst>
          </a:prstGeom>
          <a:solidFill>
            <a:srgbClr val="FFFFFF"/>
          </a:solidFill>
          <a:ln w="9525">
            <a:solidFill>
              <a:srgbClr val="DCE1E7"/>
            </a:solidFill>
            <a:prstDash val="solid"/>
          </a:ln>
        </p:spPr>
      </p:sp>
      <p:pic>
        <p:nvPicPr>
          <p:cNvPr id="64" name="Image 17" descr="preencoded.png">    </p:cNvPr>
          <p:cNvPicPr>
            <a:picLocks noChangeAspect="1"/>
          </p:cNvPicPr>
          <p:nvPr/>
        </p:nvPicPr>
        <p:blipFill>
          <a:blip r:embed="rId18"/>
          <a:stretch>
            <a:fillRect/>
          </a:stretch>
        </p:blipFill>
        <p:spPr>
          <a:xfrm>
            <a:off x="777240" y="5641848"/>
            <a:ext cx="228600" cy="228600"/>
          </a:xfrm>
          <a:prstGeom prst="rect">
            <a:avLst/>
          </a:prstGeom>
        </p:spPr>
      </p:pic>
      <p:sp>
        <p:nvSpPr>
          <p:cNvPr id="65" name="Text 45"/>
          <p:cNvSpPr txBox="1"/>
          <p:nvPr/>
        </p:nvSpPr>
        <p:spPr>
          <a:xfrm>
            <a:off x="1143000" y="5504688"/>
            <a:ext cx="2783738" cy="502920"/>
          </a:xfrm>
          <a:prstGeom prst="rect">
            <a:avLst/>
          </a:prstGeom>
          <a:noFill/>
          <a:ln/>
        </p:spPr>
        <p:txBody>
          <a:bodyPr wrap="square" lIns="0" tIns="0" rIns="0" bIns="0" rtlCol="0" anchor="ctr"/>
          <a:lstStyle/>
          <a:p>
            <a:pPr indent="0" marL="0">
              <a:buNone/>
            </a:pPr>
            <a:r>
              <a:rPr lang="en-US" sz="1150" b="1" dirty="0">
                <a:solidFill>
                  <a:srgbClr val="151A21"/>
                </a:solidFill>
                <a:latin typeface="Calibri" pitchFamily="34" charset="0"/>
                <a:ea typeface="Calibri" pitchFamily="34" charset="-122"/>
                <a:cs typeface="Calibri" pitchFamily="34" charset="-120"/>
              </a:rPr>
              <a:t>No on-site server required</a:t>
            </a:r>
            <a:endParaRPr lang="en-US" sz="1150" dirty="0"/>
          </a:p>
        </p:txBody>
      </p:sp>
      <p:sp>
        <p:nvSpPr>
          <p:cNvPr id="66" name="Shape 46"/>
          <p:cNvSpPr/>
          <p:nvPr/>
        </p:nvSpPr>
        <p:spPr>
          <a:xfrm>
            <a:off x="4338218" y="5504688"/>
            <a:ext cx="3515258" cy="502920"/>
          </a:xfrm>
          <a:prstGeom prst="roundRect">
            <a:avLst>
              <a:gd name="adj" fmla="val 50000"/>
            </a:avLst>
          </a:prstGeom>
          <a:solidFill>
            <a:srgbClr val="FFFFFF"/>
          </a:solidFill>
          <a:ln w="9525">
            <a:solidFill>
              <a:srgbClr val="DCE1E7"/>
            </a:solidFill>
            <a:prstDash val="solid"/>
          </a:ln>
        </p:spPr>
      </p:sp>
      <p:pic>
        <p:nvPicPr>
          <p:cNvPr id="67" name="Image 18" descr="preencoded.png">    </p:cNvPr>
          <p:cNvPicPr>
            <a:picLocks noChangeAspect="1"/>
          </p:cNvPicPr>
          <p:nvPr/>
        </p:nvPicPr>
        <p:blipFill>
          <a:blip r:embed="rId19"/>
          <a:stretch>
            <a:fillRect/>
          </a:stretch>
        </p:blipFill>
        <p:spPr>
          <a:xfrm>
            <a:off x="4566818" y="5641848"/>
            <a:ext cx="228600" cy="228600"/>
          </a:xfrm>
          <a:prstGeom prst="rect">
            <a:avLst/>
          </a:prstGeom>
        </p:spPr>
      </p:pic>
      <p:sp>
        <p:nvSpPr>
          <p:cNvPr id="68" name="Text 47"/>
          <p:cNvSpPr txBox="1"/>
          <p:nvPr/>
        </p:nvSpPr>
        <p:spPr>
          <a:xfrm>
            <a:off x="4932578" y="5504688"/>
            <a:ext cx="2783738" cy="502920"/>
          </a:xfrm>
          <a:prstGeom prst="rect">
            <a:avLst/>
          </a:prstGeom>
          <a:noFill/>
          <a:ln/>
        </p:spPr>
        <p:txBody>
          <a:bodyPr wrap="square" lIns="0" tIns="0" rIns="0" bIns="0" rtlCol="0" anchor="ctr"/>
          <a:lstStyle/>
          <a:p>
            <a:pPr indent="0" marL="0">
              <a:buNone/>
            </a:pPr>
            <a:r>
              <a:rPr lang="en-US" sz="1150" b="1" dirty="0">
                <a:solidFill>
                  <a:srgbClr val="151A21"/>
                </a:solidFill>
                <a:latin typeface="Calibri" pitchFamily="34" charset="0"/>
                <a:ea typeface="Calibri" pitchFamily="34" charset="-122"/>
                <a:cs typeface="Calibri" pitchFamily="34" charset="-120"/>
              </a:rPr>
              <a:t>Remote deployment — minimal on-site work</a:t>
            </a:r>
            <a:endParaRPr lang="en-US" sz="1150" dirty="0"/>
          </a:p>
        </p:txBody>
      </p:sp>
      <p:sp>
        <p:nvSpPr>
          <p:cNvPr id="69" name="Shape 48"/>
          <p:cNvSpPr/>
          <p:nvPr/>
        </p:nvSpPr>
        <p:spPr>
          <a:xfrm>
            <a:off x="8127797" y="5504688"/>
            <a:ext cx="3515258" cy="502920"/>
          </a:xfrm>
          <a:prstGeom prst="roundRect">
            <a:avLst>
              <a:gd name="adj" fmla="val 50000"/>
            </a:avLst>
          </a:prstGeom>
          <a:solidFill>
            <a:srgbClr val="FFFFFF"/>
          </a:solidFill>
          <a:ln w="9525">
            <a:solidFill>
              <a:srgbClr val="DCE1E7"/>
            </a:solidFill>
            <a:prstDash val="solid"/>
          </a:ln>
        </p:spPr>
      </p:sp>
      <p:pic>
        <p:nvPicPr>
          <p:cNvPr id="70" name="Image 19" descr="preencoded.png">    </p:cNvPr>
          <p:cNvPicPr>
            <a:picLocks noChangeAspect="1"/>
          </p:cNvPicPr>
          <p:nvPr/>
        </p:nvPicPr>
        <p:blipFill>
          <a:blip r:embed="rId20"/>
          <a:stretch>
            <a:fillRect/>
          </a:stretch>
        </p:blipFill>
        <p:spPr>
          <a:xfrm>
            <a:off x="8356397" y="5641848"/>
            <a:ext cx="228600" cy="228600"/>
          </a:xfrm>
          <a:prstGeom prst="rect">
            <a:avLst/>
          </a:prstGeom>
        </p:spPr>
      </p:pic>
      <p:sp>
        <p:nvSpPr>
          <p:cNvPr id="71" name="Text 49"/>
          <p:cNvSpPr txBox="1"/>
          <p:nvPr/>
        </p:nvSpPr>
        <p:spPr>
          <a:xfrm>
            <a:off x="8722157" y="5504688"/>
            <a:ext cx="2783738" cy="502920"/>
          </a:xfrm>
          <a:prstGeom prst="rect">
            <a:avLst/>
          </a:prstGeom>
          <a:noFill/>
          <a:ln/>
        </p:spPr>
        <p:txBody>
          <a:bodyPr wrap="square" lIns="0" tIns="0" rIns="0" bIns="0" rtlCol="0" anchor="ctr"/>
          <a:lstStyle/>
          <a:p>
            <a:pPr indent="0" marL="0">
              <a:buNone/>
            </a:pPr>
            <a:r>
              <a:rPr lang="en-US" sz="1150" b="1" dirty="0">
                <a:solidFill>
                  <a:srgbClr val="151A21"/>
                </a:solidFill>
                <a:latin typeface="Calibri" pitchFamily="34" charset="0"/>
                <a:ea typeface="Calibri" pitchFamily="34" charset="-122"/>
                <a:cs typeface="Calibri" pitchFamily="34" charset="-120"/>
              </a:rPr>
              <a:t>Final timeline confirmed after Phase 1</a:t>
            </a:r>
            <a:endParaRPr lang="en-US" sz="1150" dirty="0"/>
          </a:p>
        </p:txBody>
      </p:sp>
      <p:sp>
        <p:nvSpPr>
          <p:cNvPr id="72" name="Text 50"/>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17   |   Nessus vs. CrowdStrike Falcon Platform  ·  Proposal for The Westin Resort Guam</a:t>
            </a:r>
            <a:endParaRPr lang="en-US" sz="900" dirty="0"/>
          </a:p>
        </p:txBody>
      </p:sp>
      <p:pic>
        <p:nvPicPr>
          <p:cNvPr id="73" name="Image 20" descr="/private/tmp/claude-501/-Users-jihanvin-Desktop-NIVNAH-AI/16a96446-d9b3-40e2-af9e-a3011ae3db84/scratchpad/assets/secukorea_dark.png">    </p:cNvPr>
          <p:cNvPicPr>
            <a:picLocks noChangeAspect="1"/>
          </p:cNvPicPr>
          <p:nvPr/>
        </p:nvPicPr>
        <p:blipFill>
          <a:blip r:embed="rId21"/>
          <a:stretch>
            <a:fillRect/>
          </a:stretch>
        </p:blipFill>
        <p:spPr>
          <a:xfrm>
            <a:off x="10661904" y="6400800"/>
            <a:ext cx="978408" cy="23317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17   EXPECTED BENEFITS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From Scan-Only to Always-On Protection</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4892040" cy="2788920"/>
          </a:xfrm>
          <a:prstGeom prst="roundRect">
            <a:avLst>
              <a:gd name="adj" fmla="val 3279"/>
            </a:avLst>
          </a:prstGeom>
          <a:solidFill>
            <a:srgbClr val="EAEEF3"/>
          </a:solidFill>
          <a:ln w="12700">
            <a:solidFill>
              <a:srgbClr val="EAEEF3"/>
            </a:solidFill>
            <a:prstDash val="solid"/>
          </a:ln>
        </p:spPr>
      </p:sp>
      <p:sp>
        <p:nvSpPr>
          <p:cNvPr id="6" name="Text 3"/>
          <p:cNvSpPr txBox="1"/>
          <p:nvPr/>
        </p:nvSpPr>
        <p:spPr>
          <a:xfrm>
            <a:off x="868680" y="1783080"/>
            <a:ext cx="4251960" cy="256032"/>
          </a:xfrm>
          <a:prstGeom prst="rect">
            <a:avLst/>
          </a:prstGeom>
          <a:noFill/>
          <a:ln/>
        </p:spPr>
        <p:txBody>
          <a:bodyPr wrap="square" lIns="0" tIns="0" rIns="0" bIns="0" rtlCol="0" anchor="t"/>
          <a:lstStyle/>
          <a:p>
            <a:pPr indent="0" marL="0">
              <a:buNone/>
            </a:pPr>
            <a:r>
              <a:rPr lang="en-US" sz="1100" b="1" spc="200" kern="0" dirty="0">
                <a:solidFill>
                  <a:srgbClr val="5D6B7E"/>
                </a:solidFill>
                <a:latin typeface="Calibri" pitchFamily="34" charset="0"/>
                <a:ea typeface="Calibri" pitchFamily="34" charset="-122"/>
                <a:cs typeface="Calibri" pitchFamily="34" charset="-120"/>
              </a:rPr>
              <a:t>TODAY  ·  NESSUS ONLY</a:t>
            </a:r>
            <a:endParaRPr lang="en-US" sz="1100" dirty="0"/>
          </a:p>
        </p:txBody>
      </p:sp>
      <p:pic>
        <p:nvPicPr>
          <p:cNvPr id="7" name="Image 1" descr="preencoded.png">    </p:cNvPr>
          <p:cNvPicPr>
            <a:picLocks noChangeAspect="1"/>
          </p:cNvPicPr>
          <p:nvPr/>
        </p:nvPicPr>
        <p:blipFill>
          <a:blip r:embed="rId2"/>
          <a:stretch>
            <a:fillRect/>
          </a:stretch>
        </p:blipFill>
        <p:spPr>
          <a:xfrm>
            <a:off x="868680" y="2240280"/>
            <a:ext cx="201168" cy="201168"/>
          </a:xfrm>
          <a:prstGeom prst="rect">
            <a:avLst/>
          </a:prstGeom>
        </p:spPr>
      </p:pic>
      <p:sp>
        <p:nvSpPr>
          <p:cNvPr id="8" name="Text 4"/>
          <p:cNvSpPr txBox="1"/>
          <p:nvPr/>
        </p:nvSpPr>
        <p:spPr>
          <a:xfrm>
            <a:off x="1207008" y="2194560"/>
            <a:ext cx="3977640" cy="292608"/>
          </a:xfrm>
          <a:prstGeom prst="rect">
            <a:avLst/>
          </a:prstGeom>
          <a:noFill/>
          <a:ln/>
        </p:spPr>
        <p:txBody>
          <a:bodyPr wrap="square" lIns="0" tIns="0" rIns="0" bIns="0" rtlCol="0" anchor="ctr"/>
          <a:lstStyle/>
          <a:p>
            <a:pPr indent="0" marL="0">
              <a:buNone/>
            </a:pPr>
            <a:r>
              <a:rPr lang="en-US" sz="1250" dirty="0">
                <a:solidFill>
                  <a:srgbClr val="151A21"/>
                </a:solidFill>
                <a:latin typeface="Calibri" pitchFamily="34" charset="0"/>
                <a:ea typeface="Calibri" pitchFamily="34" charset="-122"/>
                <a:cs typeface="Calibri" pitchFamily="34" charset="-120"/>
              </a:rPr>
              <a:t>Vulnerability reports, but no protection</a:t>
            </a:r>
            <a:endParaRPr lang="en-US" sz="1250" dirty="0"/>
          </a:p>
        </p:txBody>
      </p:sp>
      <p:pic>
        <p:nvPicPr>
          <p:cNvPr id="9" name="Image 2" descr="preencoded.png">    </p:cNvPr>
          <p:cNvPicPr>
            <a:picLocks noChangeAspect="1"/>
          </p:cNvPicPr>
          <p:nvPr/>
        </p:nvPicPr>
        <p:blipFill>
          <a:blip r:embed="rId3"/>
          <a:stretch>
            <a:fillRect/>
          </a:stretch>
        </p:blipFill>
        <p:spPr>
          <a:xfrm>
            <a:off x="868680" y="2642616"/>
            <a:ext cx="201168" cy="201168"/>
          </a:xfrm>
          <a:prstGeom prst="rect">
            <a:avLst/>
          </a:prstGeom>
        </p:spPr>
      </p:pic>
      <p:sp>
        <p:nvSpPr>
          <p:cNvPr id="10" name="Text 5"/>
          <p:cNvSpPr txBox="1"/>
          <p:nvPr/>
        </p:nvSpPr>
        <p:spPr>
          <a:xfrm>
            <a:off x="1207008" y="2596896"/>
            <a:ext cx="3977640" cy="292608"/>
          </a:xfrm>
          <a:prstGeom prst="rect">
            <a:avLst/>
          </a:prstGeom>
          <a:noFill/>
          <a:ln/>
        </p:spPr>
        <p:txBody>
          <a:bodyPr wrap="square" lIns="0" tIns="0" rIns="0" bIns="0" rtlCol="0" anchor="ctr"/>
          <a:lstStyle/>
          <a:p>
            <a:pPr indent="0" marL="0">
              <a:buNone/>
            </a:pPr>
            <a:r>
              <a:rPr lang="en-US" sz="1250" dirty="0">
                <a:solidFill>
                  <a:srgbClr val="151A21"/>
                </a:solidFill>
                <a:latin typeface="Calibri" pitchFamily="34" charset="0"/>
                <a:ea typeface="Calibri" pitchFamily="34" charset="-122"/>
                <a:cs typeface="Calibri" pitchFamily="34" charset="-120"/>
              </a:rPr>
              <a:t>Blind between scheduled scans</a:t>
            </a:r>
            <a:endParaRPr lang="en-US" sz="1250" dirty="0"/>
          </a:p>
        </p:txBody>
      </p:sp>
      <p:pic>
        <p:nvPicPr>
          <p:cNvPr id="11" name="Image 3" descr="preencoded.png">    </p:cNvPr>
          <p:cNvPicPr>
            <a:picLocks noChangeAspect="1"/>
          </p:cNvPicPr>
          <p:nvPr/>
        </p:nvPicPr>
        <p:blipFill>
          <a:blip r:embed="rId4"/>
          <a:stretch>
            <a:fillRect/>
          </a:stretch>
        </p:blipFill>
        <p:spPr>
          <a:xfrm>
            <a:off x="868680" y="3044952"/>
            <a:ext cx="201168" cy="201168"/>
          </a:xfrm>
          <a:prstGeom prst="rect">
            <a:avLst/>
          </a:prstGeom>
        </p:spPr>
      </p:pic>
      <p:sp>
        <p:nvSpPr>
          <p:cNvPr id="12" name="Text 6"/>
          <p:cNvSpPr txBox="1"/>
          <p:nvPr/>
        </p:nvSpPr>
        <p:spPr>
          <a:xfrm>
            <a:off x="1207008" y="2999232"/>
            <a:ext cx="3977640" cy="292608"/>
          </a:xfrm>
          <a:prstGeom prst="rect">
            <a:avLst/>
          </a:prstGeom>
          <a:noFill/>
          <a:ln/>
        </p:spPr>
        <p:txBody>
          <a:bodyPr wrap="square" lIns="0" tIns="0" rIns="0" bIns="0" rtlCol="0" anchor="ctr"/>
          <a:lstStyle/>
          <a:p>
            <a:pPr indent="0" marL="0">
              <a:buNone/>
            </a:pPr>
            <a:r>
              <a:rPr lang="en-US" sz="1250" dirty="0">
                <a:solidFill>
                  <a:srgbClr val="151A21"/>
                </a:solidFill>
                <a:latin typeface="Calibri" pitchFamily="34" charset="0"/>
                <a:ea typeface="Calibri" pitchFamily="34" charset="-122"/>
                <a:cs typeface="Calibri" pitchFamily="34" charset="-120"/>
              </a:rPr>
              <a:t>Manual patching and investigation</a:t>
            </a:r>
            <a:endParaRPr lang="en-US" sz="1250" dirty="0"/>
          </a:p>
        </p:txBody>
      </p:sp>
      <p:pic>
        <p:nvPicPr>
          <p:cNvPr id="13" name="Image 4" descr="preencoded.png">    </p:cNvPr>
          <p:cNvPicPr>
            <a:picLocks noChangeAspect="1"/>
          </p:cNvPicPr>
          <p:nvPr/>
        </p:nvPicPr>
        <p:blipFill>
          <a:blip r:embed="rId5"/>
          <a:stretch>
            <a:fillRect/>
          </a:stretch>
        </p:blipFill>
        <p:spPr>
          <a:xfrm>
            <a:off x="868680" y="3447288"/>
            <a:ext cx="201168" cy="201168"/>
          </a:xfrm>
          <a:prstGeom prst="rect">
            <a:avLst/>
          </a:prstGeom>
        </p:spPr>
      </p:pic>
      <p:sp>
        <p:nvSpPr>
          <p:cNvPr id="14" name="Text 7"/>
          <p:cNvSpPr txBox="1"/>
          <p:nvPr/>
        </p:nvSpPr>
        <p:spPr>
          <a:xfrm>
            <a:off x="1207008" y="3401568"/>
            <a:ext cx="3977640" cy="292608"/>
          </a:xfrm>
          <a:prstGeom prst="rect">
            <a:avLst/>
          </a:prstGeom>
          <a:noFill/>
          <a:ln/>
        </p:spPr>
        <p:txBody>
          <a:bodyPr wrap="square" lIns="0" tIns="0" rIns="0" bIns="0" rtlCol="0" anchor="ctr"/>
          <a:lstStyle/>
          <a:p>
            <a:pPr indent="0" marL="0">
              <a:buNone/>
            </a:pPr>
            <a:r>
              <a:rPr lang="en-US" sz="1250" dirty="0">
                <a:solidFill>
                  <a:srgbClr val="151A21"/>
                </a:solidFill>
                <a:latin typeface="Calibri" pitchFamily="34" charset="0"/>
                <a:ea typeface="Calibri" pitchFamily="34" charset="-122"/>
                <a:cs typeface="Calibri" pitchFamily="34" charset="-120"/>
              </a:rPr>
              <a:t>No defense against ransomware in progress</a:t>
            </a:r>
            <a:endParaRPr lang="en-US" sz="1250" dirty="0"/>
          </a:p>
        </p:txBody>
      </p:sp>
      <p:pic>
        <p:nvPicPr>
          <p:cNvPr id="15" name="Image 5" descr="preencoded.png">    </p:cNvPr>
          <p:cNvPicPr>
            <a:picLocks noChangeAspect="1"/>
          </p:cNvPicPr>
          <p:nvPr/>
        </p:nvPicPr>
        <p:blipFill>
          <a:blip r:embed="rId6"/>
          <a:stretch>
            <a:fillRect/>
          </a:stretch>
        </p:blipFill>
        <p:spPr>
          <a:xfrm>
            <a:off x="868680" y="3849624"/>
            <a:ext cx="201168" cy="201168"/>
          </a:xfrm>
          <a:prstGeom prst="rect">
            <a:avLst/>
          </a:prstGeom>
        </p:spPr>
      </p:pic>
      <p:sp>
        <p:nvSpPr>
          <p:cNvPr id="16" name="Text 8"/>
          <p:cNvSpPr txBox="1"/>
          <p:nvPr/>
        </p:nvSpPr>
        <p:spPr>
          <a:xfrm>
            <a:off x="1207008" y="3803904"/>
            <a:ext cx="3977640" cy="292608"/>
          </a:xfrm>
          <a:prstGeom prst="rect">
            <a:avLst/>
          </a:prstGeom>
          <a:noFill/>
          <a:ln/>
        </p:spPr>
        <p:txBody>
          <a:bodyPr wrap="square" lIns="0" tIns="0" rIns="0" bIns="0" rtlCol="0" anchor="ctr"/>
          <a:lstStyle/>
          <a:p>
            <a:pPr indent="0" marL="0">
              <a:buNone/>
            </a:pPr>
            <a:r>
              <a:rPr lang="en-US" sz="1250" dirty="0">
                <a:solidFill>
                  <a:srgbClr val="151A21"/>
                </a:solidFill>
                <a:latin typeface="Calibri" pitchFamily="34" charset="0"/>
                <a:ea typeface="Calibri" pitchFamily="34" charset="-122"/>
                <a:cs typeface="Calibri" pitchFamily="34" charset="-120"/>
              </a:rPr>
              <a:t>Limited insight for management</a:t>
            </a:r>
            <a:endParaRPr lang="en-US" sz="1250" dirty="0"/>
          </a:p>
        </p:txBody>
      </p:sp>
      <p:pic>
        <p:nvPicPr>
          <p:cNvPr id="17" name="Image 6" descr="preencoded.png">    </p:cNvPr>
          <p:cNvPicPr>
            <a:picLocks noChangeAspect="1"/>
          </p:cNvPicPr>
          <p:nvPr/>
        </p:nvPicPr>
        <p:blipFill>
          <a:blip r:embed="rId7"/>
          <a:stretch>
            <a:fillRect/>
          </a:stretch>
        </p:blipFill>
        <p:spPr>
          <a:xfrm>
            <a:off x="5821528" y="2674620"/>
            <a:ext cx="548640" cy="548640"/>
          </a:xfrm>
          <a:prstGeom prst="rect">
            <a:avLst/>
          </a:prstGeom>
        </p:spPr>
      </p:pic>
      <p:sp>
        <p:nvSpPr>
          <p:cNvPr id="18" name="Shape 9"/>
          <p:cNvSpPr/>
          <p:nvPr/>
        </p:nvSpPr>
        <p:spPr>
          <a:xfrm>
            <a:off x="6751015" y="1554480"/>
            <a:ext cx="4892040" cy="2788920"/>
          </a:xfrm>
          <a:prstGeom prst="roundRect">
            <a:avLst>
              <a:gd name="adj" fmla="val 3279"/>
            </a:avLst>
          </a:prstGeom>
          <a:solidFill>
            <a:srgbClr val="0B0D12"/>
          </a:solidFill>
          <a:ln w="12700">
            <a:solidFill>
              <a:srgbClr val="0B0D12"/>
            </a:solidFill>
            <a:prstDash val="solid"/>
          </a:ln>
        </p:spPr>
      </p:sp>
      <p:sp>
        <p:nvSpPr>
          <p:cNvPr id="19" name="Text 10"/>
          <p:cNvSpPr txBox="1"/>
          <p:nvPr/>
        </p:nvSpPr>
        <p:spPr>
          <a:xfrm>
            <a:off x="7071055" y="1783080"/>
            <a:ext cx="425196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Calibri" pitchFamily="34" charset="0"/>
                <a:ea typeface="Calibri" pitchFamily="34" charset="-122"/>
                <a:cs typeface="Calibri" pitchFamily="34" charset="-120"/>
              </a:rPr>
              <a:t>WITH CROWDSTRIKE FALCON</a:t>
            </a:r>
            <a:endParaRPr lang="en-US" sz="1100" dirty="0"/>
          </a:p>
        </p:txBody>
      </p:sp>
      <p:pic>
        <p:nvPicPr>
          <p:cNvPr id="20" name="Image 7" descr="preencoded.png">    </p:cNvPr>
          <p:cNvPicPr>
            <a:picLocks noChangeAspect="1"/>
          </p:cNvPicPr>
          <p:nvPr/>
        </p:nvPicPr>
        <p:blipFill>
          <a:blip r:embed="rId8"/>
          <a:stretch>
            <a:fillRect/>
          </a:stretch>
        </p:blipFill>
        <p:spPr>
          <a:xfrm>
            <a:off x="7071055" y="2240280"/>
            <a:ext cx="201168" cy="201168"/>
          </a:xfrm>
          <a:prstGeom prst="rect">
            <a:avLst/>
          </a:prstGeom>
        </p:spPr>
      </p:pic>
      <p:sp>
        <p:nvSpPr>
          <p:cNvPr id="21" name="Text 11"/>
          <p:cNvSpPr txBox="1"/>
          <p:nvPr/>
        </p:nvSpPr>
        <p:spPr>
          <a:xfrm>
            <a:off x="7409383" y="2194560"/>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Real-time prevention on every endpoint</a:t>
            </a:r>
            <a:endParaRPr lang="en-US" sz="1250" dirty="0"/>
          </a:p>
        </p:txBody>
      </p:sp>
      <p:pic>
        <p:nvPicPr>
          <p:cNvPr id="22" name="Image 8" descr="preencoded.png">    </p:cNvPr>
          <p:cNvPicPr>
            <a:picLocks noChangeAspect="1"/>
          </p:cNvPicPr>
          <p:nvPr/>
        </p:nvPicPr>
        <p:blipFill>
          <a:blip r:embed="rId9"/>
          <a:stretch>
            <a:fillRect/>
          </a:stretch>
        </p:blipFill>
        <p:spPr>
          <a:xfrm>
            <a:off x="7071055" y="2642616"/>
            <a:ext cx="201168" cy="201168"/>
          </a:xfrm>
          <a:prstGeom prst="rect">
            <a:avLst/>
          </a:prstGeom>
        </p:spPr>
      </p:pic>
      <p:sp>
        <p:nvSpPr>
          <p:cNvPr id="23" name="Text 12"/>
          <p:cNvSpPr txBox="1"/>
          <p:nvPr/>
        </p:nvSpPr>
        <p:spPr>
          <a:xfrm>
            <a:off x="7409383" y="2596896"/>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Continuous monitoring, 24/7</a:t>
            </a:r>
            <a:endParaRPr lang="en-US" sz="1250" dirty="0"/>
          </a:p>
        </p:txBody>
      </p:sp>
      <p:pic>
        <p:nvPicPr>
          <p:cNvPr id="24" name="Image 9" descr="preencoded.png">    </p:cNvPr>
          <p:cNvPicPr>
            <a:picLocks noChangeAspect="1"/>
          </p:cNvPicPr>
          <p:nvPr/>
        </p:nvPicPr>
        <p:blipFill>
          <a:blip r:embed="rId10"/>
          <a:stretch>
            <a:fillRect/>
          </a:stretch>
        </p:blipFill>
        <p:spPr>
          <a:xfrm>
            <a:off x="7071055" y="3044952"/>
            <a:ext cx="201168" cy="201168"/>
          </a:xfrm>
          <a:prstGeom prst="rect">
            <a:avLst/>
          </a:prstGeom>
        </p:spPr>
      </p:pic>
      <p:sp>
        <p:nvSpPr>
          <p:cNvPr id="25" name="Text 13"/>
          <p:cNvSpPr txBox="1"/>
          <p:nvPr/>
        </p:nvSpPr>
        <p:spPr>
          <a:xfrm>
            <a:off x="7409383" y="2999232"/>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Automated containment and response</a:t>
            </a:r>
            <a:endParaRPr lang="en-US" sz="1250" dirty="0"/>
          </a:p>
        </p:txBody>
      </p:sp>
      <p:pic>
        <p:nvPicPr>
          <p:cNvPr id="26" name="Image 10" descr="preencoded.png">    </p:cNvPr>
          <p:cNvPicPr>
            <a:picLocks noChangeAspect="1"/>
          </p:cNvPicPr>
          <p:nvPr/>
        </p:nvPicPr>
        <p:blipFill>
          <a:blip r:embed="rId11"/>
          <a:stretch>
            <a:fillRect/>
          </a:stretch>
        </p:blipFill>
        <p:spPr>
          <a:xfrm>
            <a:off x="7071055" y="3447288"/>
            <a:ext cx="201168" cy="201168"/>
          </a:xfrm>
          <a:prstGeom prst="rect">
            <a:avLst/>
          </a:prstGeom>
        </p:spPr>
      </p:pic>
      <p:sp>
        <p:nvSpPr>
          <p:cNvPr id="27" name="Text 14"/>
          <p:cNvSpPr txBox="1"/>
          <p:nvPr/>
        </p:nvSpPr>
        <p:spPr>
          <a:xfrm>
            <a:off x="7409383" y="3401568"/>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Proven ransomware protection</a:t>
            </a:r>
            <a:endParaRPr lang="en-US" sz="1250" dirty="0"/>
          </a:p>
        </p:txBody>
      </p:sp>
      <p:pic>
        <p:nvPicPr>
          <p:cNvPr id="28" name="Image 11" descr="preencoded.png">    </p:cNvPr>
          <p:cNvPicPr>
            <a:picLocks noChangeAspect="1"/>
          </p:cNvPicPr>
          <p:nvPr/>
        </p:nvPicPr>
        <p:blipFill>
          <a:blip r:embed="rId12"/>
          <a:stretch>
            <a:fillRect/>
          </a:stretch>
        </p:blipFill>
        <p:spPr>
          <a:xfrm>
            <a:off x="7071055" y="3849624"/>
            <a:ext cx="201168" cy="201168"/>
          </a:xfrm>
          <a:prstGeom prst="rect">
            <a:avLst/>
          </a:prstGeom>
        </p:spPr>
      </p:pic>
      <p:sp>
        <p:nvSpPr>
          <p:cNvPr id="29" name="Text 15"/>
          <p:cNvSpPr txBox="1"/>
          <p:nvPr/>
        </p:nvSpPr>
        <p:spPr>
          <a:xfrm>
            <a:off x="7409383" y="3803904"/>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Clear dashboards and executive reports</a:t>
            </a:r>
            <a:endParaRPr lang="en-US" sz="1250" dirty="0"/>
          </a:p>
        </p:txBody>
      </p:sp>
      <p:sp>
        <p:nvSpPr>
          <p:cNvPr id="30" name="Shape 16"/>
          <p:cNvSpPr/>
          <p:nvPr/>
        </p:nvSpPr>
        <p:spPr>
          <a:xfrm>
            <a:off x="548640" y="4617720"/>
            <a:ext cx="2567864" cy="1371600"/>
          </a:xfrm>
          <a:prstGeom prst="roundRect">
            <a:avLst>
              <a:gd name="adj" fmla="val 5333"/>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sp>
        <p:nvSpPr>
          <p:cNvPr id="31" name="Shape 17"/>
          <p:cNvSpPr/>
          <p:nvPr/>
        </p:nvSpPr>
        <p:spPr>
          <a:xfrm>
            <a:off x="777240" y="4846320"/>
            <a:ext cx="457200" cy="457200"/>
          </a:xfrm>
          <a:prstGeom prst="roundRect">
            <a:avLst>
              <a:gd name="adj" fmla="val 20000"/>
            </a:avLst>
          </a:prstGeom>
          <a:solidFill>
            <a:srgbClr val="FDECEC"/>
          </a:solidFill>
          <a:ln w="12700">
            <a:solidFill>
              <a:srgbClr val="FDECEC"/>
            </a:solidFill>
            <a:prstDash val="solid"/>
          </a:ln>
        </p:spPr>
      </p:sp>
      <p:pic>
        <p:nvPicPr>
          <p:cNvPr id="32" name="Image 12" descr="preencoded.png">    </p:cNvPr>
          <p:cNvPicPr>
            <a:picLocks noChangeAspect="1"/>
          </p:cNvPicPr>
          <p:nvPr/>
        </p:nvPicPr>
        <p:blipFill>
          <a:blip r:embed="rId13"/>
          <a:stretch>
            <a:fillRect/>
          </a:stretch>
        </p:blipFill>
        <p:spPr>
          <a:xfrm>
            <a:off x="877824" y="4946904"/>
            <a:ext cx="256032" cy="256032"/>
          </a:xfrm>
          <a:prstGeom prst="rect">
            <a:avLst/>
          </a:prstGeom>
        </p:spPr>
      </p:pic>
      <p:sp>
        <p:nvSpPr>
          <p:cNvPr id="33" name="Text 18"/>
          <p:cNvSpPr txBox="1"/>
          <p:nvPr/>
        </p:nvSpPr>
        <p:spPr>
          <a:xfrm>
            <a:off x="1371600" y="4846320"/>
            <a:ext cx="1607744" cy="45720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Protect guest trust</a:t>
            </a:r>
            <a:endParaRPr lang="en-US" sz="1300" dirty="0"/>
          </a:p>
        </p:txBody>
      </p:sp>
      <p:sp>
        <p:nvSpPr>
          <p:cNvPr id="34" name="Text 19"/>
          <p:cNvSpPr txBox="1"/>
          <p:nvPr/>
        </p:nvSpPr>
        <p:spPr>
          <a:xfrm>
            <a:off x="777240" y="5422392"/>
            <a:ext cx="2110664" cy="4572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Keep guest data and payments safe</a:t>
            </a:r>
            <a:endParaRPr lang="en-US" sz="1100" dirty="0"/>
          </a:p>
        </p:txBody>
      </p:sp>
      <p:sp>
        <p:nvSpPr>
          <p:cNvPr id="35" name="Shape 20"/>
          <p:cNvSpPr/>
          <p:nvPr/>
        </p:nvSpPr>
        <p:spPr>
          <a:xfrm>
            <a:off x="3390824" y="4617720"/>
            <a:ext cx="2567864" cy="1371600"/>
          </a:xfrm>
          <a:prstGeom prst="roundRect">
            <a:avLst>
              <a:gd name="adj" fmla="val 5333"/>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sp>
        <p:nvSpPr>
          <p:cNvPr id="36" name="Shape 21"/>
          <p:cNvSpPr/>
          <p:nvPr/>
        </p:nvSpPr>
        <p:spPr>
          <a:xfrm>
            <a:off x="3619424" y="4846320"/>
            <a:ext cx="457200" cy="457200"/>
          </a:xfrm>
          <a:prstGeom prst="roundRect">
            <a:avLst>
              <a:gd name="adj" fmla="val 20000"/>
            </a:avLst>
          </a:prstGeom>
          <a:solidFill>
            <a:srgbClr val="FDECEC"/>
          </a:solidFill>
          <a:ln w="12700">
            <a:solidFill>
              <a:srgbClr val="FDECEC"/>
            </a:solidFill>
            <a:prstDash val="solid"/>
          </a:ln>
        </p:spPr>
      </p:sp>
      <p:pic>
        <p:nvPicPr>
          <p:cNvPr id="37" name="Image 13" descr="preencoded.png">    </p:cNvPr>
          <p:cNvPicPr>
            <a:picLocks noChangeAspect="1"/>
          </p:cNvPicPr>
          <p:nvPr/>
        </p:nvPicPr>
        <p:blipFill>
          <a:blip r:embed="rId14"/>
          <a:stretch>
            <a:fillRect/>
          </a:stretch>
        </p:blipFill>
        <p:spPr>
          <a:xfrm>
            <a:off x="3720008" y="4946904"/>
            <a:ext cx="256032" cy="256032"/>
          </a:xfrm>
          <a:prstGeom prst="rect">
            <a:avLst/>
          </a:prstGeom>
        </p:spPr>
      </p:pic>
      <p:sp>
        <p:nvSpPr>
          <p:cNvPr id="38" name="Text 22"/>
          <p:cNvSpPr txBox="1"/>
          <p:nvPr/>
        </p:nvSpPr>
        <p:spPr>
          <a:xfrm>
            <a:off x="4213784" y="4846320"/>
            <a:ext cx="1607744" cy="45720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Business continuity</a:t>
            </a:r>
            <a:endParaRPr lang="en-US" sz="1300" dirty="0"/>
          </a:p>
        </p:txBody>
      </p:sp>
      <p:sp>
        <p:nvSpPr>
          <p:cNvPr id="39" name="Text 23"/>
          <p:cNvSpPr txBox="1"/>
          <p:nvPr/>
        </p:nvSpPr>
        <p:spPr>
          <a:xfrm>
            <a:off x="3619424" y="5422392"/>
            <a:ext cx="2110664" cy="4572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Avoid downtime at the front desk and back office</a:t>
            </a:r>
            <a:endParaRPr lang="en-US" sz="1100" dirty="0"/>
          </a:p>
        </p:txBody>
      </p:sp>
      <p:sp>
        <p:nvSpPr>
          <p:cNvPr id="40" name="Shape 24"/>
          <p:cNvSpPr/>
          <p:nvPr/>
        </p:nvSpPr>
        <p:spPr>
          <a:xfrm>
            <a:off x="6233008" y="4617720"/>
            <a:ext cx="2567864" cy="1371600"/>
          </a:xfrm>
          <a:prstGeom prst="roundRect">
            <a:avLst>
              <a:gd name="adj" fmla="val 5333"/>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sp>
        <p:nvSpPr>
          <p:cNvPr id="41" name="Shape 25"/>
          <p:cNvSpPr/>
          <p:nvPr/>
        </p:nvSpPr>
        <p:spPr>
          <a:xfrm>
            <a:off x="6461608" y="4846320"/>
            <a:ext cx="457200" cy="457200"/>
          </a:xfrm>
          <a:prstGeom prst="roundRect">
            <a:avLst>
              <a:gd name="adj" fmla="val 20000"/>
            </a:avLst>
          </a:prstGeom>
          <a:solidFill>
            <a:srgbClr val="FDECEC"/>
          </a:solidFill>
          <a:ln w="12700">
            <a:solidFill>
              <a:srgbClr val="FDECEC"/>
            </a:solidFill>
            <a:prstDash val="solid"/>
          </a:ln>
        </p:spPr>
      </p:sp>
      <p:pic>
        <p:nvPicPr>
          <p:cNvPr id="42" name="Image 14" descr="preencoded.png">    </p:cNvPr>
          <p:cNvPicPr>
            <a:picLocks noChangeAspect="1"/>
          </p:cNvPicPr>
          <p:nvPr/>
        </p:nvPicPr>
        <p:blipFill>
          <a:blip r:embed="rId15"/>
          <a:stretch>
            <a:fillRect/>
          </a:stretch>
        </p:blipFill>
        <p:spPr>
          <a:xfrm>
            <a:off x="6562192" y="4946904"/>
            <a:ext cx="256032" cy="256032"/>
          </a:xfrm>
          <a:prstGeom prst="rect">
            <a:avLst/>
          </a:prstGeom>
        </p:spPr>
      </p:pic>
      <p:sp>
        <p:nvSpPr>
          <p:cNvPr id="43" name="Text 26"/>
          <p:cNvSpPr txBox="1"/>
          <p:nvPr/>
        </p:nvSpPr>
        <p:spPr>
          <a:xfrm>
            <a:off x="7055968" y="4846320"/>
            <a:ext cx="1607744" cy="45720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Lower IT workload</a:t>
            </a:r>
            <a:endParaRPr lang="en-US" sz="1300" dirty="0"/>
          </a:p>
        </p:txBody>
      </p:sp>
      <p:sp>
        <p:nvSpPr>
          <p:cNvPr id="44" name="Text 27"/>
          <p:cNvSpPr txBox="1"/>
          <p:nvPr/>
        </p:nvSpPr>
        <p:spPr>
          <a:xfrm>
            <a:off x="6461608" y="5422392"/>
            <a:ext cx="2110664" cy="4572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Automation plus optional 24/7 experts</a:t>
            </a:r>
            <a:endParaRPr lang="en-US" sz="1100" dirty="0"/>
          </a:p>
        </p:txBody>
      </p:sp>
      <p:sp>
        <p:nvSpPr>
          <p:cNvPr id="45" name="Shape 28"/>
          <p:cNvSpPr/>
          <p:nvPr/>
        </p:nvSpPr>
        <p:spPr>
          <a:xfrm>
            <a:off x="9075191" y="4617720"/>
            <a:ext cx="2567864" cy="1371600"/>
          </a:xfrm>
          <a:prstGeom prst="roundRect">
            <a:avLst>
              <a:gd name="adj" fmla="val 5333"/>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sp>
        <p:nvSpPr>
          <p:cNvPr id="46" name="Shape 29"/>
          <p:cNvSpPr/>
          <p:nvPr/>
        </p:nvSpPr>
        <p:spPr>
          <a:xfrm>
            <a:off x="9303791" y="4846320"/>
            <a:ext cx="457200" cy="457200"/>
          </a:xfrm>
          <a:prstGeom prst="roundRect">
            <a:avLst>
              <a:gd name="adj" fmla="val 20000"/>
            </a:avLst>
          </a:prstGeom>
          <a:solidFill>
            <a:srgbClr val="FDECEC"/>
          </a:solidFill>
          <a:ln w="12700">
            <a:solidFill>
              <a:srgbClr val="FDECEC"/>
            </a:solidFill>
            <a:prstDash val="solid"/>
          </a:ln>
        </p:spPr>
      </p:sp>
      <p:pic>
        <p:nvPicPr>
          <p:cNvPr id="47" name="Image 15" descr="preencoded.png">    </p:cNvPr>
          <p:cNvPicPr>
            <a:picLocks noChangeAspect="1"/>
          </p:cNvPicPr>
          <p:nvPr/>
        </p:nvPicPr>
        <p:blipFill>
          <a:blip r:embed="rId16"/>
          <a:stretch>
            <a:fillRect/>
          </a:stretch>
        </p:blipFill>
        <p:spPr>
          <a:xfrm>
            <a:off x="9404375" y="4946904"/>
            <a:ext cx="256032" cy="256032"/>
          </a:xfrm>
          <a:prstGeom prst="rect">
            <a:avLst/>
          </a:prstGeom>
        </p:spPr>
      </p:pic>
      <p:sp>
        <p:nvSpPr>
          <p:cNvPr id="48" name="Text 30"/>
          <p:cNvSpPr txBox="1"/>
          <p:nvPr/>
        </p:nvSpPr>
        <p:spPr>
          <a:xfrm>
            <a:off x="9898151" y="4846320"/>
            <a:ext cx="1607744" cy="45720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Compliance support</a:t>
            </a:r>
            <a:endParaRPr lang="en-US" sz="1300" dirty="0"/>
          </a:p>
        </p:txBody>
      </p:sp>
      <p:sp>
        <p:nvSpPr>
          <p:cNvPr id="49" name="Text 31"/>
          <p:cNvSpPr txBox="1"/>
          <p:nvPr/>
        </p:nvSpPr>
        <p:spPr>
          <a:xfrm>
            <a:off x="9303791" y="5422392"/>
            <a:ext cx="2110664" cy="4572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Supports PCI DSS and data-protection requirements</a:t>
            </a:r>
            <a:endParaRPr lang="en-US" sz="1100" dirty="0"/>
          </a:p>
        </p:txBody>
      </p:sp>
      <p:sp>
        <p:nvSpPr>
          <p:cNvPr id="50" name="Text 3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19   |   Nessus vs. CrowdStrike Falcon Platform  ·  Proposal for The Westin Resort Guam</a:t>
            </a:r>
            <a:endParaRPr lang="en-US" sz="900" dirty="0"/>
          </a:p>
        </p:txBody>
      </p:sp>
      <p:pic>
        <p:nvPicPr>
          <p:cNvPr id="51" name="Image 16" descr="/private/tmp/claude-501/-Users-jihanvin-Desktop-NIVNAH-AI/16a96446-d9b3-40e2-af9e-a3011ae3db84/scratchpad/assets/secukorea_dark.png">    </p:cNvPr>
          <p:cNvPicPr>
            <a:picLocks noChangeAspect="1"/>
          </p:cNvPicPr>
          <p:nvPr/>
        </p:nvPicPr>
        <p:blipFill>
          <a:blip r:embed="rId17"/>
          <a:stretch>
            <a:fillRect/>
          </a:stretch>
        </p:blipFill>
        <p:spPr>
          <a:xfrm>
            <a:off x="10661904" y="6400800"/>
            <a:ext cx="978408" cy="23317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18   NEXT STEPS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Proposed Next Steps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691640"/>
            <a:ext cx="1097280" cy="731520"/>
          </a:xfrm>
          <a:prstGeom prst="rect">
            <a:avLst/>
          </a:prstGeom>
          <a:noFill/>
          <a:ln/>
        </p:spPr>
        <p:txBody>
          <a:bodyPr wrap="square" lIns="0" tIns="0" rIns="0" bIns="0" rtlCol="0" anchor="ctr"/>
          <a:lstStyle/>
          <a:p>
            <a:pPr indent="0" marL="0">
              <a:buNone/>
            </a:pPr>
            <a:r>
              <a:rPr lang="en-US" sz="4400" b="1" dirty="0">
                <a:solidFill>
                  <a:srgbClr val="E3202A"/>
                </a:solidFill>
                <a:latin typeface="Arial" pitchFamily="34" charset="0"/>
                <a:ea typeface="Arial" pitchFamily="34" charset="-122"/>
                <a:cs typeface="Arial" pitchFamily="34" charset="-120"/>
              </a:rPr>
              <a:t>01</a:t>
            </a:r>
            <a:endParaRPr lang="en-US" sz="4400" dirty="0"/>
          </a:p>
        </p:txBody>
      </p:sp>
      <p:sp>
        <p:nvSpPr>
          <p:cNvPr id="6" name="Shape 3"/>
          <p:cNvSpPr/>
          <p:nvPr/>
        </p:nvSpPr>
        <p:spPr>
          <a:xfrm>
            <a:off x="2549576" y="1801368"/>
            <a:ext cx="512064" cy="512064"/>
          </a:xfrm>
          <a:prstGeom prst="roundRect">
            <a:avLst>
              <a:gd name="adj" fmla="val 17857"/>
            </a:avLst>
          </a:prstGeom>
          <a:solidFill>
            <a:srgbClr val="E3202A"/>
          </a:solidFill>
          <a:ln w="12700">
            <a:solidFill>
              <a:srgbClr val="E3202A"/>
            </a:solidFill>
            <a:prstDash val="solid"/>
          </a:ln>
        </p:spPr>
      </p:sp>
      <p:pic>
        <p:nvPicPr>
          <p:cNvPr id="7" name="Image 1" descr="preencoded.png">    </p:cNvPr>
          <p:cNvPicPr>
            <a:picLocks noChangeAspect="1"/>
          </p:cNvPicPr>
          <p:nvPr/>
        </p:nvPicPr>
        <p:blipFill>
          <a:blip r:embed="rId2"/>
          <a:stretch>
            <a:fillRect/>
          </a:stretch>
        </p:blipFill>
        <p:spPr>
          <a:xfrm>
            <a:off x="2662230" y="1914022"/>
            <a:ext cx="286756" cy="286756"/>
          </a:xfrm>
          <a:prstGeom prst="rect">
            <a:avLst/>
          </a:prstGeom>
        </p:spPr>
      </p:pic>
      <p:sp>
        <p:nvSpPr>
          <p:cNvPr id="8" name="Shape 4"/>
          <p:cNvSpPr/>
          <p:nvPr/>
        </p:nvSpPr>
        <p:spPr>
          <a:xfrm>
            <a:off x="548640" y="2587752"/>
            <a:ext cx="2567864" cy="0"/>
          </a:xfrm>
          <a:prstGeom prst="line">
            <a:avLst/>
          </a:prstGeom>
          <a:noFill/>
          <a:ln w="25400">
            <a:solidFill>
              <a:srgbClr val="E3202A"/>
            </a:solidFill>
            <a:prstDash val="solid"/>
          </a:ln>
        </p:spPr>
      </p:sp>
      <p:sp>
        <p:nvSpPr>
          <p:cNvPr id="9" name="Text 5"/>
          <p:cNvSpPr txBox="1"/>
          <p:nvPr/>
        </p:nvSpPr>
        <p:spPr>
          <a:xfrm>
            <a:off x="548640" y="2743200"/>
            <a:ext cx="25678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Scoping workshop</a:t>
            </a:r>
            <a:endParaRPr lang="en-US" sz="1500" dirty="0"/>
          </a:p>
        </p:txBody>
      </p:sp>
      <p:sp>
        <p:nvSpPr>
          <p:cNvPr id="10" name="Text 6"/>
          <p:cNvSpPr txBox="1"/>
          <p:nvPr/>
        </p:nvSpPr>
        <p:spPr>
          <a:xfrm>
            <a:off x="548640" y="3108960"/>
            <a:ext cx="2567864" cy="914400"/>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Confirm endpoint count, operating systems and critical systems in a short remote session.</a:t>
            </a:r>
            <a:endParaRPr lang="en-US" sz="1200" dirty="0"/>
          </a:p>
        </p:txBody>
      </p:sp>
      <p:sp>
        <p:nvSpPr>
          <p:cNvPr id="11" name="Text 7"/>
          <p:cNvSpPr txBox="1"/>
          <p:nvPr/>
        </p:nvSpPr>
        <p:spPr>
          <a:xfrm>
            <a:off x="3390824" y="1691640"/>
            <a:ext cx="1097280" cy="731520"/>
          </a:xfrm>
          <a:prstGeom prst="rect">
            <a:avLst/>
          </a:prstGeom>
          <a:noFill/>
          <a:ln/>
        </p:spPr>
        <p:txBody>
          <a:bodyPr wrap="square" lIns="0" tIns="0" rIns="0" bIns="0" rtlCol="0" anchor="ctr"/>
          <a:lstStyle/>
          <a:p>
            <a:pPr indent="0" marL="0">
              <a:buNone/>
            </a:pPr>
            <a:r>
              <a:rPr lang="en-US" sz="4400" b="1" dirty="0">
                <a:solidFill>
                  <a:srgbClr val="D5DAE1"/>
                </a:solidFill>
                <a:latin typeface="Arial" pitchFamily="34" charset="0"/>
                <a:ea typeface="Arial" pitchFamily="34" charset="-122"/>
                <a:cs typeface="Arial" pitchFamily="34" charset="-120"/>
              </a:rPr>
              <a:t>02</a:t>
            </a:r>
            <a:endParaRPr lang="en-US" sz="4400" dirty="0"/>
          </a:p>
        </p:txBody>
      </p:sp>
      <p:sp>
        <p:nvSpPr>
          <p:cNvPr id="12" name="Shape 8"/>
          <p:cNvSpPr/>
          <p:nvPr/>
        </p:nvSpPr>
        <p:spPr>
          <a:xfrm>
            <a:off x="5391760" y="1801368"/>
            <a:ext cx="512064" cy="512064"/>
          </a:xfrm>
          <a:prstGeom prst="roundRect">
            <a:avLst>
              <a:gd name="adj" fmla="val 17857"/>
            </a:avLst>
          </a:prstGeom>
          <a:solidFill>
            <a:srgbClr val="EAEEF3"/>
          </a:solidFill>
          <a:ln w="12700">
            <a:solidFill>
              <a:srgbClr val="EAEEF3"/>
            </a:solidFill>
            <a:prstDash val="solid"/>
          </a:ln>
        </p:spPr>
      </p:sp>
      <p:pic>
        <p:nvPicPr>
          <p:cNvPr id="13" name="Image 2" descr="preencoded.png">    </p:cNvPr>
          <p:cNvPicPr>
            <a:picLocks noChangeAspect="1"/>
          </p:cNvPicPr>
          <p:nvPr/>
        </p:nvPicPr>
        <p:blipFill>
          <a:blip r:embed="rId3"/>
          <a:stretch>
            <a:fillRect/>
          </a:stretch>
        </p:blipFill>
        <p:spPr>
          <a:xfrm>
            <a:off x="5504414" y="1914022"/>
            <a:ext cx="286756" cy="286756"/>
          </a:xfrm>
          <a:prstGeom prst="rect">
            <a:avLst/>
          </a:prstGeom>
        </p:spPr>
      </p:pic>
      <p:sp>
        <p:nvSpPr>
          <p:cNvPr id="14" name="Shape 9"/>
          <p:cNvSpPr/>
          <p:nvPr/>
        </p:nvSpPr>
        <p:spPr>
          <a:xfrm>
            <a:off x="3390824" y="2587752"/>
            <a:ext cx="2567864" cy="0"/>
          </a:xfrm>
          <a:prstGeom prst="line">
            <a:avLst/>
          </a:prstGeom>
          <a:noFill/>
          <a:ln w="25400">
            <a:solidFill>
              <a:srgbClr val="DCE1E7"/>
            </a:solidFill>
            <a:prstDash val="solid"/>
          </a:ln>
        </p:spPr>
      </p:sp>
      <p:sp>
        <p:nvSpPr>
          <p:cNvPr id="15" name="Text 10"/>
          <p:cNvSpPr txBox="1"/>
          <p:nvPr/>
        </p:nvSpPr>
        <p:spPr>
          <a:xfrm>
            <a:off x="3390824" y="2743200"/>
            <a:ext cx="25678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Pilot / proof of value</a:t>
            </a:r>
            <a:endParaRPr lang="en-US" sz="1500" dirty="0"/>
          </a:p>
        </p:txBody>
      </p:sp>
      <p:sp>
        <p:nvSpPr>
          <p:cNvPr id="16" name="Text 11"/>
          <p:cNvSpPr txBox="1"/>
          <p:nvPr/>
        </p:nvSpPr>
        <p:spPr>
          <a:xfrm>
            <a:off x="3390824" y="3108960"/>
            <a:ext cx="2567864" cy="914400"/>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Deploy Falcon on a representative group of endpoints and review detections together.</a:t>
            </a:r>
            <a:endParaRPr lang="en-US" sz="1200" dirty="0"/>
          </a:p>
        </p:txBody>
      </p:sp>
      <p:sp>
        <p:nvSpPr>
          <p:cNvPr id="17" name="Text 12"/>
          <p:cNvSpPr txBox="1"/>
          <p:nvPr/>
        </p:nvSpPr>
        <p:spPr>
          <a:xfrm>
            <a:off x="6233008" y="1691640"/>
            <a:ext cx="1097280" cy="731520"/>
          </a:xfrm>
          <a:prstGeom prst="rect">
            <a:avLst/>
          </a:prstGeom>
          <a:noFill/>
          <a:ln/>
        </p:spPr>
        <p:txBody>
          <a:bodyPr wrap="square" lIns="0" tIns="0" rIns="0" bIns="0" rtlCol="0" anchor="ctr"/>
          <a:lstStyle/>
          <a:p>
            <a:pPr indent="0" marL="0">
              <a:buNone/>
            </a:pPr>
            <a:r>
              <a:rPr lang="en-US" sz="4400" b="1" dirty="0">
                <a:solidFill>
                  <a:srgbClr val="D5DAE1"/>
                </a:solidFill>
                <a:latin typeface="Arial" pitchFamily="34" charset="0"/>
                <a:ea typeface="Arial" pitchFamily="34" charset="-122"/>
                <a:cs typeface="Arial" pitchFamily="34" charset="-120"/>
              </a:rPr>
              <a:t>03</a:t>
            </a:r>
            <a:endParaRPr lang="en-US" sz="4400" dirty="0"/>
          </a:p>
        </p:txBody>
      </p:sp>
      <p:sp>
        <p:nvSpPr>
          <p:cNvPr id="18" name="Shape 13"/>
          <p:cNvSpPr/>
          <p:nvPr/>
        </p:nvSpPr>
        <p:spPr>
          <a:xfrm>
            <a:off x="8233943" y="1801368"/>
            <a:ext cx="512064" cy="512064"/>
          </a:xfrm>
          <a:prstGeom prst="roundRect">
            <a:avLst>
              <a:gd name="adj" fmla="val 17857"/>
            </a:avLst>
          </a:prstGeom>
          <a:solidFill>
            <a:srgbClr val="EAEEF3"/>
          </a:solidFill>
          <a:ln w="12700">
            <a:solidFill>
              <a:srgbClr val="EAEEF3"/>
            </a:solidFill>
            <a:prstDash val="solid"/>
          </a:ln>
        </p:spPr>
      </p:sp>
      <p:pic>
        <p:nvPicPr>
          <p:cNvPr id="19" name="Image 3" descr="preencoded.png">    </p:cNvPr>
          <p:cNvPicPr>
            <a:picLocks noChangeAspect="1"/>
          </p:cNvPicPr>
          <p:nvPr/>
        </p:nvPicPr>
        <p:blipFill>
          <a:blip r:embed="rId4"/>
          <a:stretch>
            <a:fillRect/>
          </a:stretch>
        </p:blipFill>
        <p:spPr>
          <a:xfrm>
            <a:off x="8346597" y="1914022"/>
            <a:ext cx="286756" cy="286756"/>
          </a:xfrm>
          <a:prstGeom prst="rect">
            <a:avLst/>
          </a:prstGeom>
        </p:spPr>
      </p:pic>
      <p:sp>
        <p:nvSpPr>
          <p:cNvPr id="20" name="Shape 14"/>
          <p:cNvSpPr/>
          <p:nvPr/>
        </p:nvSpPr>
        <p:spPr>
          <a:xfrm>
            <a:off x="6233008" y="2587752"/>
            <a:ext cx="2567864" cy="0"/>
          </a:xfrm>
          <a:prstGeom prst="line">
            <a:avLst/>
          </a:prstGeom>
          <a:noFill/>
          <a:ln w="25400">
            <a:solidFill>
              <a:srgbClr val="DCE1E7"/>
            </a:solidFill>
            <a:prstDash val="solid"/>
          </a:ln>
        </p:spPr>
      </p:sp>
      <p:sp>
        <p:nvSpPr>
          <p:cNvPr id="21" name="Text 15"/>
          <p:cNvSpPr txBox="1"/>
          <p:nvPr/>
        </p:nvSpPr>
        <p:spPr>
          <a:xfrm>
            <a:off x="6233008" y="2743200"/>
            <a:ext cx="25678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Results review</a:t>
            </a:r>
            <a:endParaRPr lang="en-US" sz="1500" dirty="0"/>
          </a:p>
        </p:txBody>
      </p:sp>
      <p:sp>
        <p:nvSpPr>
          <p:cNvPr id="22" name="Text 16"/>
          <p:cNvSpPr txBox="1"/>
          <p:nvPr/>
        </p:nvSpPr>
        <p:spPr>
          <a:xfrm>
            <a:off x="6233008" y="3108960"/>
            <a:ext cx="2567864" cy="914400"/>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Share pilot findings and a tailored proposal with the recommended option and module scope.</a:t>
            </a:r>
            <a:endParaRPr lang="en-US" sz="1200" dirty="0"/>
          </a:p>
        </p:txBody>
      </p:sp>
      <p:sp>
        <p:nvSpPr>
          <p:cNvPr id="23" name="Text 17"/>
          <p:cNvSpPr txBox="1"/>
          <p:nvPr/>
        </p:nvSpPr>
        <p:spPr>
          <a:xfrm>
            <a:off x="9075191" y="1691640"/>
            <a:ext cx="1097280" cy="731520"/>
          </a:xfrm>
          <a:prstGeom prst="rect">
            <a:avLst/>
          </a:prstGeom>
          <a:noFill/>
          <a:ln/>
        </p:spPr>
        <p:txBody>
          <a:bodyPr wrap="square" lIns="0" tIns="0" rIns="0" bIns="0" rtlCol="0" anchor="ctr"/>
          <a:lstStyle/>
          <a:p>
            <a:pPr indent="0" marL="0">
              <a:buNone/>
            </a:pPr>
            <a:r>
              <a:rPr lang="en-US" sz="4400" b="1" dirty="0">
                <a:solidFill>
                  <a:srgbClr val="D5DAE1"/>
                </a:solidFill>
                <a:latin typeface="Arial" pitchFamily="34" charset="0"/>
                <a:ea typeface="Arial" pitchFamily="34" charset="-122"/>
                <a:cs typeface="Arial" pitchFamily="34" charset="-120"/>
              </a:rPr>
              <a:t>04</a:t>
            </a:r>
            <a:endParaRPr lang="en-US" sz="4400" dirty="0"/>
          </a:p>
        </p:txBody>
      </p:sp>
      <p:sp>
        <p:nvSpPr>
          <p:cNvPr id="24" name="Shape 18"/>
          <p:cNvSpPr/>
          <p:nvPr/>
        </p:nvSpPr>
        <p:spPr>
          <a:xfrm>
            <a:off x="11076127" y="1801368"/>
            <a:ext cx="512064" cy="512064"/>
          </a:xfrm>
          <a:prstGeom prst="roundRect">
            <a:avLst>
              <a:gd name="adj" fmla="val 17857"/>
            </a:avLst>
          </a:prstGeom>
          <a:solidFill>
            <a:srgbClr val="EAEEF3"/>
          </a:solidFill>
          <a:ln w="12700">
            <a:solidFill>
              <a:srgbClr val="EAEEF3"/>
            </a:solidFill>
            <a:prstDash val="solid"/>
          </a:ln>
        </p:spPr>
      </p:sp>
      <p:pic>
        <p:nvPicPr>
          <p:cNvPr id="25" name="Image 4" descr="preencoded.png">    </p:cNvPr>
          <p:cNvPicPr>
            <a:picLocks noChangeAspect="1"/>
          </p:cNvPicPr>
          <p:nvPr/>
        </p:nvPicPr>
        <p:blipFill>
          <a:blip r:embed="rId5"/>
          <a:stretch>
            <a:fillRect/>
          </a:stretch>
        </p:blipFill>
        <p:spPr>
          <a:xfrm>
            <a:off x="11188781" y="1914022"/>
            <a:ext cx="286756" cy="286756"/>
          </a:xfrm>
          <a:prstGeom prst="rect">
            <a:avLst/>
          </a:prstGeom>
        </p:spPr>
      </p:pic>
      <p:sp>
        <p:nvSpPr>
          <p:cNvPr id="26" name="Shape 19"/>
          <p:cNvSpPr/>
          <p:nvPr/>
        </p:nvSpPr>
        <p:spPr>
          <a:xfrm>
            <a:off x="9075191" y="2587752"/>
            <a:ext cx="2567864" cy="0"/>
          </a:xfrm>
          <a:prstGeom prst="line">
            <a:avLst/>
          </a:prstGeom>
          <a:noFill/>
          <a:ln w="25400">
            <a:solidFill>
              <a:srgbClr val="DCE1E7"/>
            </a:solidFill>
            <a:prstDash val="solid"/>
          </a:ln>
        </p:spPr>
      </p:sp>
      <p:sp>
        <p:nvSpPr>
          <p:cNvPr id="27" name="Text 20"/>
          <p:cNvSpPr txBox="1"/>
          <p:nvPr/>
        </p:nvSpPr>
        <p:spPr>
          <a:xfrm>
            <a:off x="9075191" y="2743200"/>
            <a:ext cx="25678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Rollout</a:t>
            </a:r>
            <a:endParaRPr lang="en-US" sz="1500" dirty="0"/>
          </a:p>
        </p:txBody>
      </p:sp>
      <p:sp>
        <p:nvSpPr>
          <p:cNvPr id="28" name="Text 21"/>
          <p:cNvSpPr txBox="1"/>
          <p:nvPr/>
        </p:nvSpPr>
        <p:spPr>
          <a:xfrm>
            <a:off x="9075191" y="3108960"/>
            <a:ext cx="2567864" cy="914400"/>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Full deployment following the phased roadmap, with ongoing SECUKOREA technical support and reporting.</a:t>
            </a:r>
            <a:endParaRPr lang="en-US" sz="1200" dirty="0"/>
          </a:p>
        </p:txBody>
      </p:sp>
      <p:sp>
        <p:nvSpPr>
          <p:cNvPr id="29" name="Shape 22"/>
          <p:cNvSpPr/>
          <p:nvPr/>
        </p:nvSpPr>
        <p:spPr>
          <a:xfrm>
            <a:off x="548640" y="4343400"/>
            <a:ext cx="11094415" cy="1554480"/>
          </a:xfrm>
          <a:prstGeom prst="rect">
            <a:avLst/>
          </a:prstGeom>
          <a:solidFill>
            <a:srgbClr val="000000"/>
          </a:solidFill>
          <a:ln w="12700">
            <a:solidFill>
              <a:srgbClr val="000000"/>
            </a:solidFill>
            <a:prstDash val="solid"/>
          </a:ln>
        </p:spPr>
      </p:sp>
      <p:pic>
        <p:nvPicPr>
          <p:cNvPr id="30" name="Image 5" descr="/private/tmp/claude-501/-Users-jihanvin-Desktop-NIVNAH-AI/16a96446-d9b3-40e2-af9e-a3011ae3db84/scratchpad/assets/bg_redwave.jpg">    </p:cNvPr>
          <p:cNvPicPr>
            <a:picLocks noChangeAspect="1"/>
          </p:cNvPicPr>
          <p:nvPr/>
        </p:nvPicPr>
        <p:blipFill>
          <a:blip r:embed="rId6"/>
          <a:srcRect l="0" r="0" t="0" b="0"/>
          <a:stretch/>
        </p:blipFill>
        <p:spPr>
          <a:xfrm>
            <a:off x="7528255" y="4343400"/>
            <a:ext cx="4114800" cy="1554480"/>
          </a:xfrm>
          <a:prstGeom prst="rect">
            <a:avLst/>
          </a:prstGeom>
        </p:spPr>
      </p:pic>
      <p:sp>
        <p:nvSpPr>
          <p:cNvPr id="31" name="Text 23"/>
          <p:cNvSpPr txBox="1"/>
          <p:nvPr/>
        </p:nvSpPr>
        <p:spPr>
          <a:xfrm>
            <a:off x="960120" y="4572000"/>
            <a:ext cx="6400800" cy="237744"/>
          </a:xfrm>
          <a:prstGeom prst="rect">
            <a:avLst/>
          </a:prstGeom>
          <a:noFill/>
          <a:ln/>
        </p:spPr>
        <p:txBody>
          <a:bodyPr wrap="square" lIns="0" tIns="0" rIns="0" bIns="0" rtlCol="0" anchor="t"/>
          <a:lstStyle/>
          <a:p>
            <a:pPr indent="0" marL="0">
              <a:buNone/>
            </a:pPr>
            <a:r>
              <a:rPr lang="en-US" sz="1000" b="1" spc="200" kern="0" dirty="0">
                <a:solidFill>
                  <a:srgbClr val="E3202A"/>
                </a:solidFill>
                <a:latin typeface="Calibri" pitchFamily="34" charset="0"/>
                <a:ea typeface="Calibri" pitchFamily="34" charset="-122"/>
                <a:cs typeface="Calibri" pitchFamily="34" charset="-120"/>
              </a:rPr>
              <a:t>FIRST STEP</a:t>
            </a:r>
            <a:endParaRPr lang="en-US" sz="1000" dirty="0"/>
          </a:p>
        </p:txBody>
      </p:sp>
      <p:sp>
        <p:nvSpPr>
          <p:cNvPr id="32" name="Text 24"/>
          <p:cNvSpPr txBox="1"/>
          <p:nvPr/>
        </p:nvSpPr>
        <p:spPr>
          <a:xfrm>
            <a:off x="960120" y="4846320"/>
            <a:ext cx="6766560" cy="8686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Let's schedule a 1-hour scoping workshop to confirm the endpoint scope and pilot group.</a:t>
            </a:r>
            <a:endParaRPr lang="en-US" sz="1800" dirty="0"/>
          </a:p>
        </p:txBody>
      </p:sp>
      <p:sp>
        <p:nvSpPr>
          <p:cNvPr id="33" name="Text 25"/>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20   |   Nessus vs. CrowdStrike Falcon Platform  ·  Proposal for The Westin Resort Guam</a:t>
            </a:r>
            <a:endParaRPr lang="en-US" sz="900" dirty="0"/>
          </a:p>
        </p:txBody>
      </p:sp>
      <p:pic>
        <p:nvPicPr>
          <p:cNvPr id="34" name="Image 6" descr="/private/tmp/claude-501/-Users-jihanvin-Desktop-NIVNAH-AI/16a96446-d9b3-40e2-af9e-a3011ae3db84/scratchpad/assets/secukorea_dark.png">    </p:cNvPr>
          <p:cNvPicPr>
            <a:picLocks noChangeAspect="1"/>
          </p:cNvPicPr>
          <p:nvPr/>
        </p:nvPicPr>
        <p:blipFill>
          <a:blip r:embed="rId7"/>
          <a:stretch>
            <a:fillRect/>
          </a:stretch>
        </p:blipFill>
        <p:spPr>
          <a:xfrm>
            <a:off x="10661904" y="6400800"/>
            <a:ext cx="978408" cy="23317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private/tmp/claude-501/-Users-jihanvin-Desktop-NIVNAH-AI/16a96446-d9b3-40e2-af9e-a3011ae3db84/scratchpad/assets/bg_lines.jpg">    </p:cNvPr>
          <p:cNvPicPr>
            <a:picLocks noChangeAspect="1"/>
          </p:cNvPicPr>
          <p:nvPr/>
        </p:nvPicPr>
        <p:blipFill>
          <a:blip r:embed="rId1"/>
          <a:stretch>
            <a:fillRect/>
          </a:stretch>
        </p:blipFill>
        <p:spPr>
          <a:xfrm>
            <a:off x="4428439" y="0"/>
            <a:ext cx="7763256" cy="6858000"/>
          </a:xfrm>
          <a:prstGeom prst="rect">
            <a:avLst/>
          </a:prstGeom>
        </p:spPr>
      </p:pic>
      <p:pic>
        <p:nvPicPr>
          <p:cNvPr id="3" name="Image 1" descr="/private/tmp/claude-501/-Users-jihanvin-Desktop-NIVNAH-AI/16a96446-d9b3-40e2-af9e-a3011ae3db84/scratchpad/assets/westin_white.png">    </p:cNvPr>
          <p:cNvPicPr>
            <a:picLocks noChangeAspect="1"/>
          </p:cNvPicPr>
          <p:nvPr/>
        </p:nvPicPr>
        <p:blipFill>
          <a:blip r:embed="rId2"/>
          <a:stretch>
            <a:fillRect/>
          </a:stretch>
        </p:blipFill>
        <p:spPr>
          <a:xfrm>
            <a:off x="548640" y="502920"/>
            <a:ext cx="1371600" cy="411480"/>
          </a:xfrm>
          <a:prstGeom prst="rect">
            <a:avLst/>
          </a:prstGeom>
        </p:spPr>
      </p:pic>
      <p:sp>
        <p:nvSpPr>
          <p:cNvPr id="4" name="Text 0"/>
          <p:cNvSpPr txBox="1"/>
          <p:nvPr/>
        </p:nvSpPr>
        <p:spPr>
          <a:xfrm>
            <a:off x="548640" y="2011680"/>
            <a:ext cx="7315200" cy="365760"/>
          </a:xfrm>
          <a:prstGeom prst="rect">
            <a:avLst/>
          </a:prstGeom>
          <a:noFill/>
          <a:ln/>
        </p:spPr>
        <p:txBody>
          <a:bodyPr wrap="square" lIns="0" tIns="0" rIns="0" bIns="0" rtlCol="0" anchor="t"/>
          <a:lstStyle/>
          <a:p>
            <a:pPr indent="0" marL="0">
              <a:buNone/>
            </a:pPr>
            <a:r>
              <a:rPr lang="en-US" sz="1400" b="1" spc="300" kern="0" dirty="0">
                <a:solidFill>
                  <a:srgbClr val="E3202A"/>
                </a:solidFill>
                <a:latin typeface="Calibri" pitchFamily="34" charset="0"/>
                <a:ea typeface="Calibri" pitchFamily="34" charset="-122"/>
                <a:cs typeface="Calibri" pitchFamily="34" charset="-120"/>
              </a:rPr>
              <a:t>Q &amp; A</a:t>
            </a:r>
            <a:endParaRPr lang="en-US" sz="1400" dirty="0"/>
          </a:p>
        </p:txBody>
      </p:sp>
      <p:sp>
        <p:nvSpPr>
          <p:cNvPr id="5" name="Text 1"/>
          <p:cNvSpPr txBox="1"/>
          <p:nvPr/>
        </p:nvSpPr>
        <p:spPr>
          <a:xfrm>
            <a:off x="548640" y="2423160"/>
            <a:ext cx="7315200"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6" name="Text 2"/>
          <p:cNvSpPr txBox="1"/>
          <p:nvPr/>
        </p:nvSpPr>
        <p:spPr>
          <a:xfrm>
            <a:off x="548640" y="3611880"/>
            <a:ext cx="8961120" cy="457200"/>
          </a:xfrm>
          <a:prstGeom prst="rect">
            <a:avLst/>
          </a:prstGeom>
          <a:noFill/>
          <a:ln/>
        </p:spPr>
        <p:txBody>
          <a:bodyPr wrap="square" lIns="0" tIns="0" rIns="0" bIns="0" rtlCol="0" anchor="t"/>
          <a:lstStyle/>
          <a:p>
            <a:pPr indent="0" marL="0">
              <a:buNone/>
            </a:pPr>
            <a:r>
              <a:rPr lang="en-US" sz="1600" dirty="0">
                <a:solidFill>
                  <a:srgbClr val="C9CED6"/>
                </a:solidFill>
                <a:latin typeface="Calibri" pitchFamily="34" charset="0"/>
                <a:ea typeface="Calibri" pitchFamily="34" charset="-122"/>
                <a:cs typeface="Calibri" pitchFamily="34" charset="-120"/>
              </a:rPr>
              <a:t>Real-time endpoint protection for The Westin Resort Guam — powered by CrowdStrike Falcon.</a:t>
            </a:r>
            <a:endParaRPr lang="en-US" sz="1600" dirty="0"/>
          </a:p>
        </p:txBody>
      </p:sp>
      <p:pic>
        <p:nvPicPr>
          <p:cNvPr id="7" name="Image 2" descr="preencoded.png">    </p:cNvPr>
          <p:cNvPicPr>
            <a:picLocks noChangeAspect="1"/>
          </p:cNvPicPr>
          <p:nvPr/>
        </p:nvPicPr>
        <p:blipFill>
          <a:blip r:embed="rId3"/>
          <a:stretch>
            <a:fillRect/>
          </a:stretch>
        </p:blipFill>
        <p:spPr>
          <a:xfrm>
            <a:off x="548640" y="4626864"/>
            <a:ext cx="219456" cy="219456"/>
          </a:xfrm>
          <a:prstGeom prst="rect">
            <a:avLst/>
          </a:prstGeom>
        </p:spPr>
      </p:pic>
      <p:sp>
        <p:nvSpPr>
          <p:cNvPr id="8" name="Text 3"/>
          <p:cNvSpPr txBox="1"/>
          <p:nvPr/>
        </p:nvSpPr>
        <p:spPr>
          <a:xfrm>
            <a:off x="932688" y="4572000"/>
            <a:ext cx="4572000" cy="32918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secukorea@secukorea.com</a:t>
            </a:r>
            <a:endParaRPr lang="en-US" sz="1400" dirty="0"/>
          </a:p>
        </p:txBody>
      </p:sp>
      <p:pic>
        <p:nvPicPr>
          <p:cNvPr id="9" name="Image 3" descr="preencoded.png">    </p:cNvPr>
          <p:cNvPicPr>
            <a:picLocks noChangeAspect="1"/>
          </p:cNvPicPr>
          <p:nvPr/>
        </p:nvPicPr>
        <p:blipFill>
          <a:blip r:embed="rId4"/>
          <a:stretch>
            <a:fillRect/>
          </a:stretch>
        </p:blipFill>
        <p:spPr>
          <a:xfrm>
            <a:off x="548640" y="5038344"/>
            <a:ext cx="219456" cy="219456"/>
          </a:xfrm>
          <a:prstGeom prst="rect">
            <a:avLst/>
          </a:prstGeom>
        </p:spPr>
      </p:pic>
      <p:sp>
        <p:nvSpPr>
          <p:cNvPr id="10" name="Text 4"/>
          <p:cNvSpPr txBox="1"/>
          <p:nvPr/>
        </p:nvSpPr>
        <p:spPr>
          <a:xfrm>
            <a:off x="932688" y="4983480"/>
            <a:ext cx="4572000" cy="32918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+82-2-3400-0877</a:t>
            </a:r>
            <a:endParaRPr lang="en-US" sz="1400" dirty="0"/>
          </a:p>
        </p:txBody>
      </p:sp>
      <p:pic>
        <p:nvPicPr>
          <p:cNvPr id="11" name="Image 4" descr="preencoded.png">    </p:cNvPr>
          <p:cNvPicPr>
            <a:picLocks noChangeAspect="1"/>
          </p:cNvPicPr>
          <p:nvPr/>
        </p:nvPicPr>
        <p:blipFill>
          <a:blip r:embed="rId5"/>
          <a:stretch>
            <a:fillRect/>
          </a:stretch>
        </p:blipFill>
        <p:spPr>
          <a:xfrm>
            <a:off x="548640" y="5449824"/>
            <a:ext cx="219456" cy="219456"/>
          </a:xfrm>
          <a:prstGeom prst="rect">
            <a:avLst/>
          </a:prstGeom>
        </p:spPr>
      </p:pic>
      <p:sp>
        <p:nvSpPr>
          <p:cNvPr id="12" name="Text 5"/>
          <p:cNvSpPr txBox="1"/>
          <p:nvPr/>
        </p:nvSpPr>
        <p:spPr>
          <a:xfrm>
            <a:off x="932688" y="5394960"/>
            <a:ext cx="4572000" cy="32918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www.secukorea.com</a:t>
            </a:r>
            <a:endParaRPr lang="en-US" sz="1400" dirty="0"/>
          </a:p>
        </p:txBody>
      </p:sp>
      <p:sp>
        <p:nvSpPr>
          <p:cNvPr id="13" name="Text 6"/>
          <p:cNvSpPr txBox="1"/>
          <p:nvPr/>
        </p:nvSpPr>
        <p:spPr>
          <a:xfrm>
            <a:off x="7589520" y="6217920"/>
            <a:ext cx="822960" cy="219456"/>
          </a:xfrm>
          <a:prstGeom prst="rect">
            <a:avLst/>
          </a:prstGeom>
          <a:noFill/>
          <a:ln/>
        </p:spPr>
        <p:txBody>
          <a:bodyPr wrap="square" lIns="0" tIns="0" rIns="0" bIns="0" rtlCol="0" anchor="ctr"/>
          <a:lstStyle/>
          <a:p>
            <a:pPr indent="0" marL="0">
              <a:buNone/>
            </a:pPr>
            <a:r>
              <a:rPr lang="en-US" sz="900" dirty="0">
                <a:solidFill>
                  <a:srgbClr val="8A93A0"/>
                </a:solidFill>
                <a:latin typeface="Calibri" pitchFamily="34" charset="0"/>
                <a:ea typeface="Calibri" pitchFamily="34" charset="-122"/>
                <a:cs typeface="Calibri" pitchFamily="34" charset="-120"/>
              </a:rPr>
              <a:t>Solution</a:t>
            </a:r>
            <a:endParaRPr lang="en-US" sz="900" dirty="0"/>
          </a:p>
        </p:txBody>
      </p:sp>
      <p:pic>
        <p:nvPicPr>
          <p:cNvPr id="14" name="Image 5" descr="/private/tmp/claude-501/-Users-jihanvin-Desktop-NIVNAH-AI/16a96446-d9b3-40e2-af9e-a3011ae3db84/scratchpad/assets/cs_logo_white.png">    </p:cNvPr>
          <p:cNvPicPr>
            <a:picLocks noChangeAspect="1"/>
          </p:cNvPicPr>
          <p:nvPr/>
        </p:nvPicPr>
        <p:blipFill>
          <a:blip r:embed="rId6"/>
          <a:stretch>
            <a:fillRect/>
          </a:stretch>
        </p:blipFill>
        <p:spPr>
          <a:xfrm>
            <a:off x="8275320" y="6236208"/>
            <a:ext cx="1600200" cy="182880"/>
          </a:xfrm>
          <a:prstGeom prst="rect">
            <a:avLst/>
          </a:prstGeom>
        </p:spPr>
      </p:pic>
      <p:pic>
        <p:nvPicPr>
          <p:cNvPr id="15" name="Image 6" descr="/private/tmp/claude-501/-Users-jihanvin-Desktop-NIVNAH-AI/16a96446-d9b3-40e2-af9e-a3011ae3db84/scratchpad/assets/secukorea_light.png">    </p:cNvPr>
          <p:cNvPicPr>
            <a:picLocks noChangeAspect="1"/>
          </p:cNvPicPr>
          <p:nvPr/>
        </p:nvPicPr>
        <p:blipFill>
          <a:blip r:embed="rId7"/>
          <a:stretch>
            <a:fillRect/>
          </a:stretch>
        </p:blipFill>
        <p:spPr>
          <a:xfrm>
            <a:off x="10314432" y="6163056"/>
            <a:ext cx="1325880" cy="31546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16   TECHNICAL SUPPORT</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SECUKOREA 24/7 Technical Support</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600200"/>
            <a:ext cx="566928" cy="566928"/>
          </a:xfrm>
          <a:prstGeom prst="roundRect">
            <a:avLst>
              <a:gd name="adj" fmla="val 16129"/>
            </a:avLst>
          </a:prstGeom>
          <a:solidFill>
            <a:srgbClr val="EAEEF3"/>
          </a:solidFill>
          <a:ln w="12700">
            <a:solidFill>
              <a:srgbClr val="EAEEF3"/>
            </a:solidFill>
            <a:prstDash val="solid"/>
          </a:ln>
        </p:spPr>
      </p:sp>
      <p:pic>
        <p:nvPicPr>
          <p:cNvPr id="6" name="Image 1" descr="preencoded.png">    </p:cNvPr>
          <p:cNvPicPr>
            <a:picLocks noChangeAspect="1"/>
          </p:cNvPicPr>
          <p:nvPr/>
        </p:nvPicPr>
        <p:blipFill>
          <a:blip r:embed="rId2"/>
          <a:stretch>
            <a:fillRect/>
          </a:stretch>
        </p:blipFill>
        <p:spPr>
          <a:xfrm>
            <a:off x="673364" y="1724924"/>
            <a:ext cx="317480" cy="317480"/>
          </a:xfrm>
          <a:prstGeom prst="rect">
            <a:avLst/>
          </a:prstGeom>
        </p:spPr>
      </p:pic>
      <p:sp>
        <p:nvSpPr>
          <p:cNvPr id="7" name="Text 3"/>
          <p:cNvSpPr txBox="1"/>
          <p:nvPr/>
        </p:nvSpPr>
        <p:spPr>
          <a:xfrm>
            <a:off x="1325880" y="158191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24/7 Remote Support for Overseas Sites</a:t>
            </a:r>
            <a:endParaRPr lang="en-US" sz="1500" dirty="0"/>
          </a:p>
        </p:txBody>
      </p:sp>
      <p:sp>
        <p:nvSpPr>
          <p:cNvPr id="8" name="Text 4"/>
          <p:cNvSpPr txBox="1"/>
          <p:nvPr/>
        </p:nvSpPr>
        <p:spPr>
          <a:xfrm>
            <a:off x="1325880" y="192938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Round-the-clock remote support built for overseas operations — help is available regardless of time zone or local business hours.</a:t>
            </a:r>
            <a:endParaRPr lang="en-US" sz="1200" dirty="0"/>
          </a:p>
        </p:txBody>
      </p:sp>
      <p:sp>
        <p:nvSpPr>
          <p:cNvPr id="9" name="Shape 5"/>
          <p:cNvSpPr/>
          <p:nvPr/>
        </p:nvSpPr>
        <p:spPr>
          <a:xfrm>
            <a:off x="548640" y="2697480"/>
            <a:ext cx="566928" cy="566928"/>
          </a:xfrm>
          <a:prstGeom prst="roundRect">
            <a:avLst>
              <a:gd name="adj" fmla="val 16129"/>
            </a:avLst>
          </a:prstGeom>
          <a:solidFill>
            <a:srgbClr val="EAEEF3"/>
          </a:solidFill>
          <a:ln w="12700">
            <a:solidFill>
              <a:srgbClr val="EAEEF3"/>
            </a:solidFill>
            <a:prstDash val="solid"/>
          </a:ln>
        </p:spPr>
      </p:sp>
      <p:pic>
        <p:nvPicPr>
          <p:cNvPr id="10" name="Image 2" descr="preencoded.png">    </p:cNvPr>
          <p:cNvPicPr>
            <a:picLocks noChangeAspect="1"/>
          </p:cNvPicPr>
          <p:nvPr/>
        </p:nvPicPr>
        <p:blipFill>
          <a:blip r:embed="rId3"/>
          <a:stretch>
            <a:fillRect/>
          </a:stretch>
        </p:blipFill>
        <p:spPr>
          <a:xfrm>
            <a:off x="673364" y="2822204"/>
            <a:ext cx="317480" cy="317480"/>
          </a:xfrm>
          <a:prstGeom prst="rect">
            <a:avLst/>
          </a:prstGeom>
        </p:spPr>
      </p:pic>
      <p:sp>
        <p:nvSpPr>
          <p:cNvPr id="11" name="Text 6"/>
          <p:cNvSpPr txBox="1"/>
          <p:nvPr/>
        </p:nvSpPr>
        <p:spPr>
          <a:xfrm>
            <a:off x="1325880" y="267919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Dedicated Engineer Matching</a:t>
            </a:r>
            <a:endParaRPr lang="en-US" sz="1500" dirty="0"/>
          </a:p>
        </p:txBody>
      </p:sp>
      <p:sp>
        <p:nvSpPr>
          <p:cNvPr id="12" name="Text 7"/>
          <p:cNvSpPr txBox="1"/>
          <p:nvPr/>
        </p:nvSpPr>
        <p:spPr>
          <a:xfrm>
            <a:off x="1325880" y="302666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A named SECUKOREA engineer who knows the resort’s environment handles rollout, policy tuning and day-to-day requests.</a:t>
            </a:r>
            <a:endParaRPr lang="en-US" sz="1200" dirty="0"/>
          </a:p>
        </p:txBody>
      </p:sp>
      <p:sp>
        <p:nvSpPr>
          <p:cNvPr id="13" name="Shape 8"/>
          <p:cNvSpPr/>
          <p:nvPr/>
        </p:nvSpPr>
        <p:spPr>
          <a:xfrm>
            <a:off x="548640" y="3794760"/>
            <a:ext cx="566928" cy="566928"/>
          </a:xfrm>
          <a:prstGeom prst="roundRect">
            <a:avLst>
              <a:gd name="adj" fmla="val 16129"/>
            </a:avLst>
          </a:prstGeom>
          <a:solidFill>
            <a:srgbClr val="EAEEF3"/>
          </a:solidFill>
          <a:ln w="12700">
            <a:solidFill>
              <a:srgbClr val="EAEEF3"/>
            </a:solidFill>
            <a:prstDash val="solid"/>
          </a:ln>
        </p:spPr>
      </p:sp>
      <p:pic>
        <p:nvPicPr>
          <p:cNvPr id="14" name="Image 3" descr="preencoded.png">    </p:cNvPr>
          <p:cNvPicPr>
            <a:picLocks noChangeAspect="1"/>
          </p:cNvPicPr>
          <p:nvPr/>
        </p:nvPicPr>
        <p:blipFill>
          <a:blip r:embed="rId4"/>
          <a:stretch>
            <a:fillRect/>
          </a:stretch>
        </p:blipFill>
        <p:spPr>
          <a:xfrm>
            <a:off x="673364" y="3919484"/>
            <a:ext cx="317480" cy="317480"/>
          </a:xfrm>
          <a:prstGeom prst="rect">
            <a:avLst/>
          </a:prstGeom>
        </p:spPr>
      </p:pic>
      <p:sp>
        <p:nvSpPr>
          <p:cNvPr id="15" name="Text 9"/>
          <p:cNvSpPr txBox="1"/>
          <p:nvPr/>
        </p:nvSpPr>
        <p:spPr>
          <a:xfrm>
            <a:off x="1325880" y="377647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Stable, Well-Maintained Operations</a:t>
            </a:r>
            <a:endParaRPr lang="en-US" sz="1500" dirty="0"/>
          </a:p>
        </p:txBody>
      </p:sp>
      <p:sp>
        <p:nvSpPr>
          <p:cNvPr id="16" name="Text 10"/>
          <p:cNvSpPr txBox="1"/>
          <p:nvPr/>
        </p:nvSpPr>
        <p:spPr>
          <a:xfrm>
            <a:off x="1325880" y="412394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Regular health checks of sensors, policies and updates, with reports to management, to keep the system running reliably.</a:t>
            </a:r>
            <a:endParaRPr lang="en-US" sz="1200" dirty="0"/>
          </a:p>
        </p:txBody>
      </p:sp>
      <p:sp>
        <p:nvSpPr>
          <p:cNvPr id="17" name="Shape 11"/>
          <p:cNvSpPr/>
          <p:nvPr/>
        </p:nvSpPr>
        <p:spPr>
          <a:xfrm>
            <a:off x="548640" y="4892040"/>
            <a:ext cx="566928" cy="566928"/>
          </a:xfrm>
          <a:prstGeom prst="roundRect">
            <a:avLst>
              <a:gd name="adj" fmla="val 16129"/>
            </a:avLst>
          </a:prstGeom>
          <a:solidFill>
            <a:srgbClr val="EAEEF3"/>
          </a:solidFill>
          <a:ln w="12700">
            <a:solidFill>
              <a:srgbClr val="EAEEF3"/>
            </a:solidFill>
            <a:prstDash val="solid"/>
          </a:ln>
        </p:spPr>
      </p:sp>
      <p:pic>
        <p:nvPicPr>
          <p:cNvPr id="18" name="Image 4" descr="preencoded.png">    </p:cNvPr>
          <p:cNvPicPr>
            <a:picLocks noChangeAspect="1"/>
          </p:cNvPicPr>
          <p:nvPr/>
        </p:nvPicPr>
        <p:blipFill>
          <a:blip r:embed="rId5"/>
          <a:stretch>
            <a:fillRect/>
          </a:stretch>
        </p:blipFill>
        <p:spPr>
          <a:xfrm>
            <a:off x="673364" y="5016764"/>
            <a:ext cx="317480" cy="317480"/>
          </a:xfrm>
          <a:prstGeom prst="rect">
            <a:avLst/>
          </a:prstGeom>
        </p:spPr>
      </p:pic>
      <p:sp>
        <p:nvSpPr>
          <p:cNvPr id="19" name="Text 12"/>
          <p:cNvSpPr txBox="1"/>
          <p:nvPr/>
        </p:nvSpPr>
        <p:spPr>
          <a:xfrm>
            <a:off x="1325880" y="487375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One Point of Contact</a:t>
            </a:r>
            <a:endParaRPr lang="en-US" sz="1500" dirty="0"/>
          </a:p>
        </p:txBody>
      </p:sp>
      <p:sp>
        <p:nvSpPr>
          <p:cNvPr id="20" name="Text 13"/>
          <p:cNvSpPr txBox="1"/>
          <p:nvPr/>
        </p:nvSpPr>
        <p:spPr>
          <a:xfrm>
            <a:off x="1325880" y="522122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Support, licensing and renewals through one partner, with escalation to SK shieldus and CrowdStrike when needed.</a:t>
            </a:r>
            <a:endParaRPr lang="en-US" sz="1200" dirty="0"/>
          </a:p>
        </p:txBody>
      </p:sp>
      <p:sp>
        <p:nvSpPr>
          <p:cNvPr id="21" name="Shape 14"/>
          <p:cNvSpPr/>
          <p:nvPr/>
        </p:nvSpPr>
        <p:spPr>
          <a:xfrm>
            <a:off x="7452360" y="1554480"/>
            <a:ext cx="4190695" cy="4434840"/>
          </a:xfrm>
          <a:prstGeom prst="roundRect">
            <a:avLst>
              <a:gd name="adj" fmla="val 2182"/>
            </a:avLst>
          </a:prstGeom>
          <a:solidFill>
            <a:srgbClr val="0B0D12"/>
          </a:solidFill>
          <a:ln w="12700">
            <a:solidFill>
              <a:srgbClr val="0B0D12"/>
            </a:solidFill>
            <a:prstDash val="solid"/>
          </a:ln>
        </p:spPr>
      </p:sp>
      <p:sp>
        <p:nvSpPr>
          <p:cNvPr id="22" name="Text 15"/>
          <p:cNvSpPr txBox="1"/>
          <p:nvPr/>
        </p:nvSpPr>
        <p:spPr>
          <a:xfrm>
            <a:off x="7818120" y="1828800"/>
            <a:ext cx="3459175" cy="274320"/>
          </a:xfrm>
          <a:prstGeom prst="rect">
            <a:avLst/>
          </a:prstGeom>
          <a:noFill/>
          <a:ln/>
        </p:spPr>
        <p:txBody>
          <a:bodyPr wrap="square" lIns="0" tIns="0" rIns="0" bIns="0" rtlCol="0" anchor="t"/>
          <a:lstStyle/>
          <a:p>
            <a:pPr indent="0" marL="0">
              <a:buNone/>
            </a:pPr>
            <a:r>
              <a:rPr lang="en-US" sz="1100" b="1" spc="200" kern="0" dirty="0">
                <a:solidFill>
                  <a:srgbClr val="E3202A"/>
                </a:solidFill>
                <a:latin typeface="Calibri" pitchFamily="34" charset="0"/>
                <a:ea typeface="Calibri" pitchFamily="34" charset="-122"/>
                <a:cs typeface="Calibri" pitchFamily="34" charset="-120"/>
              </a:rPr>
              <a:t>ESCALATION  ·  SK SHIELDUS</a:t>
            </a:r>
            <a:endParaRPr lang="en-US" sz="1100" dirty="0"/>
          </a:p>
        </p:txBody>
      </p:sp>
      <p:pic>
        <p:nvPicPr>
          <p:cNvPr id="23" name="Image 5" descr="preencoded.png">    </p:cNvPr>
          <p:cNvPicPr>
            <a:picLocks noChangeAspect="1"/>
          </p:cNvPicPr>
          <p:nvPr/>
        </p:nvPicPr>
        <p:blipFill>
          <a:blip r:embed="rId6"/>
          <a:stretch>
            <a:fillRect/>
          </a:stretch>
        </p:blipFill>
        <p:spPr>
          <a:xfrm>
            <a:off x="7818120" y="2322576"/>
            <a:ext cx="237744" cy="237744"/>
          </a:xfrm>
          <a:prstGeom prst="rect">
            <a:avLst/>
          </a:prstGeom>
        </p:spPr>
      </p:pic>
      <p:sp>
        <p:nvSpPr>
          <p:cNvPr id="24" name="Text 16"/>
          <p:cNvSpPr txBox="1"/>
          <p:nvPr/>
        </p:nvSpPr>
        <p:spPr>
          <a:xfrm>
            <a:off x="8183880" y="2286000"/>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Incident response specialists on duty 24/7</a:t>
            </a:r>
            <a:endParaRPr lang="en-US" sz="1300" dirty="0"/>
          </a:p>
        </p:txBody>
      </p:sp>
      <p:pic>
        <p:nvPicPr>
          <p:cNvPr id="25" name="Image 6" descr="preencoded.png">    </p:cNvPr>
          <p:cNvPicPr>
            <a:picLocks noChangeAspect="1"/>
          </p:cNvPicPr>
          <p:nvPr/>
        </p:nvPicPr>
        <p:blipFill>
          <a:blip r:embed="rId7"/>
          <a:stretch>
            <a:fillRect/>
          </a:stretch>
        </p:blipFill>
        <p:spPr>
          <a:xfrm>
            <a:off x="7818120" y="2852928"/>
            <a:ext cx="237744" cy="237744"/>
          </a:xfrm>
          <a:prstGeom prst="rect">
            <a:avLst/>
          </a:prstGeom>
        </p:spPr>
      </p:pic>
      <p:sp>
        <p:nvSpPr>
          <p:cNvPr id="26" name="Text 17"/>
          <p:cNvSpPr txBox="1"/>
          <p:nvPr/>
        </p:nvSpPr>
        <p:spPr>
          <a:xfrm>
            <a:off x="8183880" y="2816352"/>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Critical alerts: call within 30 min, first action within 2 hrs (SLA)</a:t>
            </a:r>
            <a:endParaRPr lang="en-US" sz="1300" dirty="0"/>
          </a:p>
        </p:txBody>
      </p:sp>
      <p:pic>
        <p:nvPicPr>
          <p:cNvPr id="27" name="Image 7" descr="preencoded.png">    </p:cNvPr>
          <p:cNvPicPr>
            <a:picLocks noChangeAspect="1"/>
          </p:cNvPicPr>
          <p:nvPr/>
        </p:nvPicPr>
        <p:blipFill>
          <a:blip r:embed="rId8"/>
          <a:stretch>
            <a:fillRect/>
          </a:stretch>
        </p:blipFill>
        <p:spPr>
          <a:xfrm>
            <a:off x="7818120" y="3383280"/>
            <a:ext cx="237744" cy="237744"/>
          </a:xfrm>
          <a:prstGeom prst="rect">
            <a:avLst/>
          </a:prstGeom>
        </p:spPr>
      </p:pic>
      <p:sp>
        <p:nvSpPr>
          <p:cNvPr id="28" name="Text 18"/>
          <p:cNvSpPr txBox="1"/>
          <p:nvPr/>
        </p:nvSpPr>
        <p:spPr>
          <a:xfrm>
            <a:off x="8183880" y="3346704"/>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Investigation across network devices and servers</a:t>
            </a:r>
            <a:endParaRPr lang="en-US" sz="1300" dirty="0"/>
          </a:p>
        </p:txBody>
      </p:sp>
      <p:pic>
        <p:nvPicPr>
          <p:cNvPr id="29" name="Image 8" descr="preencoded.png">    </p:cNvPr>
          <p:cNvPicPr>
            <a:picLocks noChangeAspect="1"/>
          </p:cNvPicPr>
          <p:nvPr/>
        </p:nvPicPr>
        <p:blipFill>
          <a:blip r:embed="rId9"/>
          <a:stretch>
            <a:fillRect/>
          </a:stretch>
        </p:blipFill>
        <p:spPr>
          <a:xfrm>
            <a:off x="7818120" y="3913632"/>
            <a:ext cx="237744" cy="237744"/>
          </a:xfrm>
          <a:prstGeom prst="rect">
            <a:avLst/>
          </a:prstGeom>
        </p:spPr>
      </p:pic>
      <p:sp>
        <p:nvSpPr>
          <p:cNvPr id="30" name="Text 19"/>
          <p:cNvSpPr txBox="1"/>
          <p:nvPr/>
        </p:nvSpPr>
        <p:spPr>
          <a:xfrm>
            <a:off x="8183880" y="3877056"/>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EDR events correlated with other security logs</a:t>
            </a:r>
            <a:endParaRPr lang="en-US" sz="1300" dirty="0"/>
          </a:p>
        </p:txBody>
      </p:sp>
      <p:pic>
        <p:nvPicPr>
          <p:cNvPr id="31" name="Image 9" descr="preencoded.png">    </p:cNvPr>
          <p:cNvPicPr>
            <a:picLocks noChangeAspect="1"/>
          </p:cNvPicPr>
          <p:nvPr/>
        </p:nvPicPr>
        <p:blipFill>
          <a:blip r:embed="rId10"/>
          <a:stretch>
            <a:fillRect/>
          </a:stretch>
        </p:blipFill>
        <p:spPr>
          <a:xfrm>
            <a:off x="7818120" y="4443984"/>
            <a:ext cx="237744" cy="237744"/>
          </a:xfrm>
          <a:prstGeom prst="rect">
            <a:avLst/>
          </a:prstGeom>
        </p:spPr>
      </p:pic>
      <p:sp>
        <p:nvSpPr>
          <p:cNvPr id="32" name="Text 20"/>
          <p:cNvSpPr txBox="1"/>
          <p:nvPr/>
        </p:nvSpPr>
        <p:spPr>
          <a:xfrm>
            <a:off x="8183880" y="4407408"/>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Malware analysis by experienced IR analysts</a:t>
            </a:r>
            <a:endParaRPr lang="en-US" sz="1300" dirty="0"/>
          </a:p>
        </p:txBody>
      </p:sp>
      <p:sp>
        <p:nvSpPr>
          <p:cNvPr id="33" name="Text 21"/>
          <p:cNvSpPr txBox="1"/>
          <p:nvPr/>
        </p:nvSpPr>
        <p:spPr>
          <a:xfrm>
            <a:off x="7818120" y="5120640"/>
            <a:ext cx="3459175" cy="548640"/>
          </a:xfrm>
          <a:prstGeom prst="rect">
            <a:avLst/>
          </a:prstGeom>
          <a:noFill/>
          <a:ln/>
        </p:spPr>
        <p:txBody>
          <a:bodyPr wrap="square" lIns="0" tIns="0" rIns="0" bIns="0" rtlCol="0" anchor="ctr"/>
          <a:lstStyle/>
          <a:p>
            <a:pPr indent="0" marL="0">
              <a:buNone/>
            </a:pPr>
            <a:r>
              <a:rPr lang="en-US" sz="1400" b="1" i="1" dirty="0">
                <a:solidFill>
                  <a:srgbClr val="FFFFFF"/>
                </a:solidFill>
                <a:latin typeface="Calibri" pitchFamily="34" charset="0"/>
                <a:ea typeface="Calibri" pitchFamily="34" charset="-122"/>
                <a:cs typeface="Calibri" pitchFamily="34" charset="-120"/>
              </a:rPr>
              <a:t>When needed, CrowdStrike partner SK shieldus steps in.</a:t>
            </a:r>
            <a:endParaRPr lang="en-US" sz="1400" dirty="0"/>
          </a:p>
        </p:txBody>
      </p:sp>
      <p:sp>
        <p:nvSpPr>
          <p:cNvPr id="34" name="Text 2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18   |   Nessus vs. CrowdStrike Falcon Platform  ·  Proposal for The Westin Resort Guam</a:t>
            </a:r>
            <a:endParaRPr lang="en-US" sz="900" dirty="0"/>
          </a:p>
        </p:txBody>
      </p:sp>
      <p:pic>
        <p:nvPicPr>
          <p:cNvPr id="35" name="Image 10" descr="/private/tmp/claude-501/-Users-jihanvin-Desktop-NIVNAH-AI/16a96446-d9b3-40e2-af9e-a3011ae3db84/scratchpad/assets/secukorea_dark.png">    </p:cNvPr>
          <p:cNvPicPr>
            <a:picLocks noChangeAspect="1"/>
          </p:cNvPicPr>
          <p:nvPr/>
        </p:nvPicPr>
        <p:blipFill>
          <a:blip r:embed="rId11"/>
          <a:stretch>
            <a:fillRect/>
          </a:stretch>
        </p:blipFill>
        <p:spPr>
          <a:xfrm>
            <a:off x="10661904" y="6400800"/>
            <a:ext cx="978408" cy="23317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SECUKOREA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Nessus vs. CrowdStrike Falcon Platform — Proposal for The Westin Resort Guam</dc:title>
  <dc:subject>PptxGenJS Presentation</dc:subject>
  <dc:creator>SECUKOREA Inc.</dc:creator>
  <cp:lastModifiedBy>SECUKOREA Inc.</cp:lastModifiedBy>
  <cp:revision>1</cp:revision>
  <dcterms:created xsi:type="dcterms:W3CDTF">2026-09-23T07:33:43Z</dcterms:created>
  <dcterms:modified xsi:type="dcterms:W3CDTF">2026-09-23T07:33:43Z</dcterms:modified>
</cp:coreProperties>
</file>