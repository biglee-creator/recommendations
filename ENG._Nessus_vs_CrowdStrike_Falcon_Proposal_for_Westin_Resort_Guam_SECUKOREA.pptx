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3"/>
  </p:notesMasterIdLst>
  <p:sldIdLst>
    <p:sldId id="256" r:id="rId2"/>
    <p:sldId id="257" r:id="rId3"/>
    <p:sldId id="258" r:id="rId4"/>
    <p:sldId id="259" r:id="rId5"/>
    <p:sldId id="260" r:id="rId6"/>
    <p:sldId id="261" r:id="rId7"/>
    <p:sldId id="262" r:id="rId8"/>
    <p:sldId id="263" r:id="rId9"/>
    <p:sldId id="264" r:id="rId10"/>
    <p:sldId id="265" r:id="rId11"/>
    <p:sldId id="267" r:id="rId13"/>
    <p:sldId id="268" r:id="rId14"/>
    <p:sldId id="269" r:id="rId15"/>
    <p:sldId id="270" r:id="rId16"/>
    <p:sldId id="271" r:id="rId17"/>
    <p:sldId id="276" r:id="rId19"/>
    <p:sldId id="273" r:id="rId20"/>
    <p:sldId id="275" r:id="rId2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72" y="-326"/>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6358736"/>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This proposal compares the resort's current tool, Nessus, with the CrowdStrike Falcon platform and recommends adding real-time endpoint protection.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message: Nessus tells us where we are exposed; Falcon stops attacks in real time. Walk through the situation, the gap, and the proposal, then point to the independent proof points.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scene: a 24/7 resort with a lean IT team. Nessus is useful, but it only produces findings; the resort needs protection that acts on its own.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threat has changed. Breakout time is measured in seconds, and zero-days are exploited before any scanner can check for them. Scanning alone cannot keep pace.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fair to Nessus: it is a good vulnerability scanner. But its job ends with a report. Prevention, detection, response and remediation are all left to the IT team.</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Analogy for non-technical stakeholders: Nessus is the scheduled fire-safety inspection. Falcon is the smoke detectors, sprinklers and security team that act when a fire actually starts.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timeline. Attacks do not wait for the next scan. Falcon runs continuously, so each of these events is blocked or contained when it happens. Event examples are illustrative.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Falcon is one lightweight sensor and one cloud console. There is no on-site server to install or maintain. The same sensor protects the resort’s workstations, laptops and servers.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Prevention starts on the sensor with machine learning and behavioral Indicators of Attack, and continues in the cloud with larger models and threat intelligence. The result is automatic blocking and fast containment.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covers two Falcon licenses: Falcon Prevent (next-gen antivirus) and Falcon Insight (EDR), both on the same single sensor. They are backed by SECUKOREA’s 24/7 remote technical support and a dedicated engineer.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intrusion documented by CrowdStrike. The first step used a device without a Falcon sensor; from lateral movement onward, Falcon detected or blocked every step. A scanner would at best have flagged the VPN vulnerability.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Side-by-side summary. Nessus remains strong at periodic vulnerability discovery; Falcon adds everything needed to actually stop attacks, with lower day-to-day workload.</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Independent evidence: perfect MITRE ATT&amp;CK 2025 result, Gartner Magic Quadrant leadership, SE Labs ransomware testing, Forrester ROI and Gartner Peer Insights customer ratings.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customer outcomes: speed of deployment in hospitality, much faster incident resolution in education, and far fewer, more accurate alerts in a distributed multi-brand organization.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low-risk path: Falcon is added to every endpoint without changing existing Nessus processes. Periodic and audit-driven vulnerability scans continue exactly as they do today.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SECUKOREA is the first line of support: 24/7 remote technical support tailored to overseas sites, and a dedicated engineer matched to the resort for stable day-to-day operation. When deeper help is needed, CrowdStrike partner SK shieldus provides escalation support: 24/7 incident response specialists, a 30-minute call and 2-hour initial response SLA for critical events, investigation across network devices and servers, correlation with other security logs, and malware analysis.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before and after, then the four business outcomes that matter to hotel management: guest trust, continuity, IT workload and compliance.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audience and open the floor for questions.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5.png"/><Relationship Id="rId7"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5.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9.png"/><Relationship Id="rId11" Type="http://schemas.openxmlformats.org/officeDocument/2006/relationships/image" Target="../media/image9.png"/><Relationship Id="rId5" Type="http://schemas.openxmlformats.org/officeDocument/2006/relationships/image" Target="../media/image18.png"/><Relationship Id="rId10" Type="http://schemas.openxmlformats.org/officeDocument/2006/relationships/image" Target="../media/image23.png"/><Relationship Id="rId4" Type="http://schemas.openxmlformats.org/officeDocument/2006/relationships/image" Target="../media/image12.png"/><Relationship Id="rId9" Type="http://schemas.openxmlformats.org/officeDocument/2006/relationships/image" Target="../media/image22.png"/></Relationships>
</file>

<file path=ppt/slides/_rels/slide6.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5.png"/><Relationship Id="rId7" Type="http://schemas.openxmlformats.org/officeDocument/2006/relationships/image" Target="../media/image2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 Id="rId9"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30.png"/><Relationship Id="rId4" Type="http://schemas.openxmlformats.org/officeDocument/2006/relationships/image" Target="../media/image29.png"/></Relationships>
</file>

<file path=ppt/slides/_rels/slide8.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image" Target="../media/image40.png"/><Relationship Id="rId3" Type="http://schemas.openxmlformats.org/officeDocument/2006/relationships/image" Target="../media/image5.png"/><Relationship Id="rId7" Type="http://schemas.openxmlformats.org/officeDocument/2006/relationships/image" Target="../media/image34.png"/><Relationship Id="rId12" Type="http://schemas.openxmlformats.org/officeDocument/2006/relationships/image" Target="../media/image66.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33.png"/><Relationship Id="rId11" Type="http://schemas.openxmlformats.org/officeDocument/2006/relationships/image" Target="../media/image38.png"/><Relationship Id="rId5" Type="http://schemas.openxmlformats.org/officeDocument/2006/relationships/image" Target="../media/image32.png"/><Relationship Id="rId15" Type="http://schemas.openxmlformats.org/officeDocument/2006/relationships/image" Target="../media/image9.png"/><Relationship Id="rId10" Type="http://schemas.openxmlformats.org/officeDocument/2006/relationships/image" Target="../media/image37.png"/><Relationship Id="rId4" Type="http://schemas.openxmlformats.org/officeDocument/2006/relationships/image" Target="../media/image31.png"/><Relationship Id="rId9" Type="http://schemas.openxmlformats.org/officeDocument/2006/relationships/image" Target="../media/image36.jpg"/><Relationship Id="rId14" Type="http://schemas.openxmlformats.org/officeDocument/2006/relationships/image" Target="../media/image41.png"/></Relationships>
</file>

<file path=ppt/slides/_rels/slide9.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2.png"/><Relationship Id="rId7" Type="http://schemas.openxmlformats.org/officeDocument/2006/relationships/image" Target="../media/image44.png"/><Relationship Id="rId12"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43.png"/><Relationship Id="rId11" Type="http://schemas.openxmlformats.org/officeDocument/2006/relationships/image" Target="../media/image47.png"/><Relationship Id="rId5" Type="http://schemas.openxmlformats.org/officeDocument/2006/relationships/image" Target="../media/image14.png"/><Relationship Id="rId10" Type="http://schemas.openxmlformats.org/officeDocument/2006/relationships/image" Target="../media/image46.png"/><Relationship Id="rId4" Type="http://schemas.openxmlformats.org/officeDocument/2006/relationships/image" Target="../media/image42.png"/><Relationship Id="rId9" Type="http://schemas.openxmlformats.org/officeDocument/2006/relationships/image" Target="../media/image45.png"/></Relationships>
</file>

<file path=ppt/slides/_rels/slide10.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5.png"/><Relationship Id="rId7" Type="http://schemas.openxmlformats.org/officeDocument/2006/relationships/image" Target="../media/image50.png"/><Relationship Id="rId12"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8.png"/><Relationship Id="rId9"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60.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61.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5.png"/><Relationship Id="rId7" Type="http://schemas.openxmlformats.org/officeDocument/2006/relationships/image" Target="../media/image65.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64.png"/><Relationship Id="rId5" Type="http://schemas.openxmlformats.org/officeDocument/2006/relationships/image" Target="../media/image63.png"/><Relationship Id="rId4" Type="http://schemas.openxmlformats.org/officeDocument/2006/relationships/image" Target="../media/image62.png"/></Relationships>
</file>

<file path=ppt/slides/_rels/slide16.xml.rels><?xml version="1.0" encoding="UTF-8" standalone="yes"?>
<Relationships xmlns="http://schemas.openxmlformats.org/package/2006/relationships"><Relationship Id="rId8" Type="http://schemas.openxmlformats.org/officeDocument/2006/relationships/image" Target="../media/image900.png"/><Relationship Id="rId3" Type="http://schemas.openxmlformats.org/officeDocument/2006/relationships/image" Target="../media/image5.png"/><Relationship Id="rId7" Type="http://schemas.openxmlformats.org/officeDocument/2006/relationships/image" Target="../media/image3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66.png"/><Relationship Id="rId11" Type="http://schemas.openxmlformats.org/officeDocument/2006/relationships/image" Target="../media/image9.png"/><Relationship Id="rId5" Type="http://schemas.openxmlformats.org/officeDocument/2006/relationships/image" Target="../media/image37.png"/><Relationship Id="rId10" Type="http://schemas.openxmlformats.org/officeDocument/2006/relationships/image" Target="../media/image67.png"/><Relationship Id="rId4" Type="http://schemas.openxmlformats.org/officeDocument/2006/relationships/image" Target="../media/image35.png"/><Relationship Id="rId9" Type="http://schemas.openxmlformats.org/officeDocument/2006/relationships/image" Target="../media/image12.png"/></Relationships>
</file>

<file path=ppt/slides/_rels/slide18.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1.png"/><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8" Type="http://schemas.openxmlformats.org/officeDocument/2006/relationships/image" Target="../media/image79.png"/><Relationship Id="rId3" Type="http://schemas.openxmlformats.org/officeDocument/2006/relationships/image" Target="../media/image5.png"/><Relationship Id="rId7" Type="http://schemas.openxmlformats.org/officeDocument/2006/relationships/image" Target="../media/image78.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14.png"/><Relationship Id="rId11" Type="http://schemas.openxmlformats.org/officeDocument/2006/relationships/image" Target="../media/image9.png"/><Relationship Id="rId5" Type="http://schemas.openxmlformats.org/officeDocument/2006/relationships/image" Target="../media/image77.png"/><Relationship Id="rId10" Type="http://schemas.openxmlformats.org/officeDocument/2006/relationships/image" Target="../media/image81.png"/><Relationship Id="rId4" Type="http://schemas.openxmlformats.org/officeDocument/2006/relationships/image" Target="../media/image76.png"/><Relationship Id="rId9" Type="http://schemas.openxmlformats.org/officeDocument/2006/relationships/image" Target="../media/image80.png"/></Relationships>
</file>

<file path=ppt/slides/_rels/slide21.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image" Target="../media/image1.jpg"/><Relationship Id="rId7" Type="http://schemas.openxmlformats.org/officeDocument/2006/relationships/image" Target="../media/image89.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2.png"/><Relationship Id="rId9"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2" name="Image 0" descr="/private/tmp/claude-501/-Users-jihanvin-Desktop-NIVNAH-AI/16a96446-d9b3-40e2-af9e-a3011ae3db84/scratchpad/assets/bg_lines.jpg"/>
          <p:cNvPicPr>
            <a:picLocks noChangeAspect="1"/>
          </p:cNvPicPr>
          <p:nvPr/>
        </p:nvPicPr>
        <p:blipFill>
          <a:blip r:embed="rId3"/>
          <a:stretch>
            <a:fillRect/>
          </a:stretch>
        </p:blipFill>
        <p:spPr>
          <a:xfrm>
            <a:off x="4428439" y="0"/>
            <a:ext cx="7763256" cy="6858000"/>
          </a:xfrm>
          <a:prstGeom prst="rect">
            <a:avLst/>
          </a:prstGeom>
        </p:spPr>
      </p:pic>
      <p:pic>
        <p:nvPicPr>
          <p:cNvPr id="3" name="Image 1" descr="/private/tmp/claude-501/-Users-jihanvin-Desktop-NIVNAH-AI/16a96446-d9b3-40e2-af9e-a3011ae3db84/scratchpad/assets/westin_white.png"/>
          <p:cNvPicPr>
            <a:picLocks noChangeAspect="1"/>
          </p:cNvPicPr>
          <p:nvPr/>
        </p:nvPicPr>
        <p:blipFill>
          <a:blip r:embed="rId4"/>
          <a:stretch>
            <a:fillRect/>
          </a:stretch>
        </p:blipFill>
        <p:spPr>
          <a:xfrm>
            <a:off x="548640" y="502920"/>
            <a:ext cx="1371600" cy="411480"/>
          </a:xfrm>
          <a:prstGeom prst="rect">
            <a:avLst/>
          </a:prstGeom>
        </p:spPr>
      </p:pic>
      <p:sp>
        <p:nvSpPr>
          <p:cNvPr id="4" name="Text 0"/>
          <p:cNvSpPr txBox="1"/>
          <p:nvPr/>
        </p:nvSpPr>
        <p:spPr>
          <a:xfrm>
            <a:off x="548640" y="1783080"/>
            <a:ext cx="8229600" cy="292608"/>
          </a:xfrm>
          <a:prstGeom prst="rect">
            <a:avLst/>
          </a:prstGeom>
          <a:noFill/>
          <a:ln/>
        </p:spPr>
        <p:txBody>
          <a:bodyPr wrap="square" lIns="0" tIns="0" rIns="0" bIns="0" rtlCol="0" anchor="t"/>
          <a:lstStyle/>
          <a:p>
            <a:pPr marL="0" indent="0">
              <a:buNone/>
            </a:pPr>
            <a:r>
              <a:rPr lang="en-US" sz="1200" b="1" kern="0" spc="300" dirty="0">
                <a:solidFill>
                  <a:srgbClr val="E3202A"/>
                </a:solidFill>
                <a:latin typeface="Arial" pitchFamily="34" charset="0"/>
                <a:ea typeface="Arial" pitchFamily="34" charset="-122"/>
                <a:cs typeface="Arial" pitchFamily="34" charset="-120"/>
              </a:rPr>
              <a:t>BUSINESS PROPOSAL   |   ENDPOINT SECURITY</a:t>
            </a:r>
            <a:endParaRPr lang="en-US" sz="1200" dirty="0"/>
          </a:p>
        </p:txBody>
      </p:sp>
      <p:sp>
        <p:nvSpPr>
          <p:cNvPr id="5" name="Text 1"/>
          <p:cNvSpPr txBox="1"/>
          <p:nvPr/>
        </p:nvSpPr>
        <p:spPr>
          <a:xfrm>
            <a:off x="548640" y="2148840"/>
            <a:ext cx="8778240" cy="1508760"/>
          </a:xfrm>
          <a:prstGeom prst="rect">
            <a:avLst/>
          </a:prstGeom>
          <a:noFill/>
          <a:ln/>
        </p:spPr>
        <p:txBody>
          <a:bodyPr wrap="square" lIns="0" tIns="0" rIns="0" bIns="0" rtlCol="0" anchor="ctr"/>
          <a:lstStyle/>
          <a:p>
            <a:pPr marL="0" indent="0">
              <a:buNone/>
            </a:pPr>
            <a:r>
              <a:rPr lang="en-US" sz="4000" b="1" dirty="0">
                <a:solidFill>
                  <a:srgbClr val="FFFFFF"/>
                </a:solidFill>
                <a:latin typeface="Arial" pitchFamily="34" charset="0"/>
                <a:ea typeface="Arial" pitchFamily="34" charset="-122"/>
                <a:cs typeface="Arial" pitchFamily="34" charset="-120"/>
              </a:rPr>
              <a:t>From Vulnerability Scanning to Real-Time Endpoint Protection</a:t>
            </a:r>
            <a:endParaRPr lang="en-US" sz="4000" dirty="0"/>
          </a:p>
        </p:txBody>
      </p:sp>
      <p:sp>
        <p:nvSpPr>
          <p:cNvPr id="6" name="Text 2"/>
          <p:cNvSpPr txBox="1"/>
          <p:nvPr/>
        </p:nvSpPr>
        <p:spPr>
          <a:xfrm>
            <a:off x="548640" y="3794760"/>
            <a:ext cx="8778240" cy="731520"/>
          </a:xfrm>
          <a:prstGeom prst="rect">
            <a:avLst/>
          </a:prstGeom>
          <a:noFill/>
          <a:ln/>
        </p:spPr>
        <p:txBody>
          <a:bodyPr wrap="square" lIns="0" tIns="0" rIns="0" bIns="0" rtlCol="0" anchor="t"/>
          <a:lstStyle/>
          <a:p>
            <a:pPr marL="0" indent="0">
              <a:spcAft>
                <a:spcPts val="400"/>
              </a:spcAft>
              <a:buNone/>
            </a:pPr>
            <a:r>
              <a:rPr lang="en-US" sz="1800" b="1" dirty="0">
                <a:solidFill>
                  <a:srgbClr val="FFFFFF"/>
                </a:solidFill>
                <a:latin typeface="Calibri" pitchFamily="34" charset="0"/>
                <a:ea typeface="Calibri" pitchFamily="34" charset="-122"/>
                <a:cs typeface="Calibri" pitchFamily="34" charset="-120"/>
              </a:rPr>
              <a:t>Nessus vs. CrowdStrike Falcon® Platform (EPP / EDR)</a:t>
            </a:r>
            <a:endParaRPr lang="en-US" sz="1800" dirty="0"/>
          </a:p>
          <a:p>
            <a:pPr marL="0" indent="0">
              <a:spcAft>
                <a:spcPts val="400"/>
              </a:spcAft>
              <a:buNone/>
            </a:pPr>
            <a:r>
              <a:rPr lang="en-US" sz="1800" dirty="0">
                <a:solidFill>
                  <a:srgbClr val="C9CED6"/>
                </a:solidFill>
                <a:latin typeface="Calibri" pitchFamily="34" charset="0"/>
                <a:ea typeface="Calibri" pitchFamily="34" charset="-122"/>
                <a:cs typeface="Calibri" pitchFamily="34" charset="-120"/>
              </a:rPr>
              <a:t>A comparative proposal for The Westin Resort Guam</a:t>
            </a:r>
            <a:endParaRPr lang="en-US" sz="1800" dirty="0"/>
          </a:p>
        </p:txBody>
      </p:sp>
      <p:sp>
        <p:nvSpPr>
          <p:cNvPr id="7" name="Text 3"/>
          <p:cNvSpPr txBox="1"/>
          <p:nvPr/>
        </p:nvSpPr>
        <p:spPr>
          <a:xfrm>
            <a:off x="548640" y="4983480"/>
            <a:ext cx="2560320" cy="219456"/>
          </a:xfrm>
          <a:prstGeom prst="rect">
            <a:avLst/>
          </a:prstGeom>
          <a:noFill/>
          <a:ln/>
        </p:spPr>
        <p:txBody>
          <a:bodyPr wrap="square" lIns="0" tIns="0" rIns="0" bIns="0" rtlCol="0" anchor="t"/>
          <a:lstStyle/>
          <a:p>
            <a:pPr marL="0" indent="0">
              <a:buNone/>
            </a:pPr>
            <a:r>
              <a:rPr lang="en-US" sz="1000" b="1" kern="0" spc="200" dirty="0">
                <a:solidFill>
                  <a:srgbClr val="E3202A"/>
                </a:solidFill>
                <a:latin typeface="Calibri" pitchFamily="34" charset="0"/>
                <a:ea typeface="Calibri" pitchFamily="34" charset="-122"/>
                <a:cs typeface="Calibri" pitchFamily="34" charset="-120"/>
              </a:rPr>
              <a:t>PROPOSER</a:t>
            </a:r>
            <a:endParaRPr lang="en-US" sz="1000" dirty="0"/>
          </a:p>
        </p:txBody>
      </p:sp>
      <p:sp>
        <p:nvSpPr>
          <p:cNvPr id="8" name="Text 4"/>
          <p:cNvSpPr txBox="1"/>
          <p:nvPr/>
        </p:nvSpPr>
        <p:spPr>
          <a:xfrm>
            <a:off x="548640" y="5230368"/>
            <a:ext cx="2560320" cy="310896"/>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SECUKOREA Inc.</a:t>
            </a:r>
            <a:endParaRPr lang="en-US" sz="1500" dirty="0"/>
          </a:p>
        </p:txBody>
      </p:sp>
      <p:sp>
        <p:nvSpPr>
          <p:cNvPr id="9" name="Text 5"/>
          <p:cNvSpPr txBox="1"/>
          <p:nvPr/>
        </p:nvSpPr>
        <p:spPr>
          <a:xfrm>
            <a:off x="3291840" y="4983480"/>
            <a:ext cx="2560320" cy="219456"/>
          </a:xfrm>
          <a:prstGeom prst="rect">
            <a:avLst/>
          </a:prstGeom>
          <a:noFill/>
          <a:ln/>
        </p:spPr>
        <p:txBody>
          <a:bodyPr wrap="square" lIns="0" tIns="0" rIns="0" bIns="0" rtlCol="0" anchor="t"/>
          <a:lstStyle/>
          <a:p>
            <a:pPr marL="0" indent="0">
              <a:buNone/>
            </a:pPr>
            <a:r>
              <a:rPr lang="en-US" sz="1000" b="1" kern="0" spc="200" dirty="0">
                <a:solidFill>
                  <a:srgbClr val="E3202A"/>
                </a:solidFill>
                <a:latin typeface="Calibri" pitchFamily="34" charset="0"/>
                <a:ea typeface="Calibri" pitchFamily="34" charset="-122"/>
                <a:cs typeface="Calibri" pitchFamily="34" charset="-120"/>
              </a:rPr>
              <a:t>CLIENT</a:t>
            </a:r>
            <a:endParaRPr lang="en-US" sz="1000" dirty="0"/>
          </a:p>
        </p:txBody>
      </p:sp>
      <p:sp>
        <p:nvSpPr>
          <p:cNvPr id="10" name="Text 6"/>
          <p:cNvSpPr txBox="1"/>
          <p:nvPr/>
        </p:nvSpPr>
        <p:spPr>
          <a:xfrm>
            <a:off x="3291840" y="5230368"/>
            <a:ext cx="2560320" cy="310896"/>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The Westin Resort Guam</a:t>
            </a:r>
            <a:endParaRPr lang="en-US" sz="1500" dirty="0"/>
          </a:p>
        </p:txBody>
      </p:sp>
      <p:sp>
        <p:nvSpPr>
          <p:cNvPr id="11" name="Text 7"/>
          <p:cNvSpPr txBox="1"/>
          <p:nvPr/>
        </p:nvSpPr>
        <p:spPr>
          <a:xfrm>
            <a:off x="6035040" y="4983480"/>
            <a:ext cx="2560320" cy="219456"/>
          </a:xfrm>
          <a:prstGeom prst="rect">
            <a:avLst/>
          </a:prstGeom>
          <a:noFill/>
          <a:ln/>
        </p:spPr>
        <p:txBody>
          <a:bodyPr wrap="square" lIns="0" tIns="0" rIns="0" bIns="0" rtlCol="0" anchor="t"/>
          <a:lstStyle/>
          <a:p>
            <a:pPr marL="0" indent="0">
              <a:buNone/>
            </a:pPr>
            <a:r>
              <a:rPr lang="en-US" sz="1000" b="1" kern="0" spc="200" dirty="0">
                <a:solidFill>
                  <a:srgbClr val="E3202A"/>
                </a:solidFill>
                <a:latin typeface="Calibri" pitchFamily="34" charset="0"/>
                <a:ea typeface="Calibri" pitchFamily="34" charset="-122"/>
                <a:cs typeface="Calibri" pitchFamily="34" charset="-120"/>
              </a:rPr>
              <a:t>DATE</a:t>
            </a:r>
            <a:endParaRPr lang="en-US" sz="1000" dirty="0"/>
          </a:p>
        </p:txBody>
      </p:sp>
      <p:sp>
        <p:nvSpPr>
          <p:cNvPr id="12" name="Text 8"/>
          <p:cNvSpPr txBox="1"/>
          <p:nvPr/>
        </p:nvSpPr>
        <p:spPr>
          <a:xfrm>
            <a:off x="6035040" y="5230368"/>
            <a:ext cx="2560320" cy="310896"/>
          </a:xfrm>
          <a:prstGeom prst="rect">
            <a:avLst/>
          </a:prstGeom>
          <a:noFill/>
          <a:ln/>
        </p:spPr>
        <p:txBody>
          <a:bodyPr wrap="square" lIns="0" tIns="0" rIns="0" bIns="0" rtlCol="0" anchor="t"/>
          <a:lstStyle/>
          <a:p>
            <a:pPr marL="0" indent="0">
              <a:buNone/>
            </a:pPr>
            <a:r>
              <a:rPr lang="en-US" sz="1500" dirty="0">
                <a:solidFill>
                  <a:srgbClr val="FFFFFF"/>
                </a:solidFill>
                <a:latin typeface="Calibri" pitchFamily="34" charset="0"/>
                <a:ea typeface="Calibri" pitchFamily="34" charset="-122"/>
                <a:cs typeface="Calibri" pitchFamily="34" charset="-120"/>
              </a:rPr>
              <a:t>September 2026</a:t>
            </a:r>
            <a:endParaRPr lang="en-US" sz="1500" dirty="0"/>
          </a:p>
        </p:txBody>
      </p:sp>
      <p:sp>
        <p:nvSpPr>
          <p:cNvPr id="13" name="Text 9"/>
          <p:cNvSpPr txBox="1"/>
          <p:nvPr/>
        </p:nvSpPr>
        <p:spPr>
          <a:xfrm>
            <a:off x="7589520" y="6217920"/>
            <a:ext cx="822960" cy="219456"/>
          </a:xfrm>
          <a:prstGeom prst="rect">
            <a:avLst/>
          </a:prstGeom>
          <a:noFill/>
          <a:ln/>
        </p:spPr>
        <p:txBody>
          <a:bodyPr wrap="square" lIns="0" tIns="0" rIns="0" bIns="0" rtlCol="0" anchor="ctr"/>
          <a:lstStyle/>
          <a:p>
            <a:pPr marL="0" indent="0">
              <a:buNone/>
            </a:pPr>
            <a:r>
              <a:rPr lang="en-US" sz="900" dirty="0">
                <a:solidFill>
                  <a:srgbClr val="8A93A0"/>
                </a:solidFill>
                <a:latin typeface="Calibri" pitchFamily="34" charset="0"/>
                <a:ea typeface="Calibri" pitchFamily="34" charset="-122"/>
                <a:cs typeface="Calibri" pitchFamily="34" charset="-120"/>
              </a:rPr>
              <a:t>Solution</a:t>
            </a:r>
            <a:endParaRPr lang="en-US" sz="900" dirty="0"/>
          </a:p>
        </p:txBody>
      </p:sp>
      <p:pic>
        <p:nvPicPr>
          <p:cNvPr id="14" name="Image 2" descr="/private/tmp/claude-501/-Users-jihanvin-Desktop-NIVNAH-AI/16a96446-d9b3-40e2-af9e-a3011ae3db84/scratchpad/assets/cs_logo_white.png"/>
          <p:cNvPicPr>
            <a:picLocks noChangeAspect="1"/>
          </p:cNvPicPr>
          <p:nvPr/>
        </p:nvPicPr>
        <p:blipFill>
          <a:blip r:embed="rId5"/>
          <a:stretch>
            <a:fillRect/>
          </a:stretch>
        </p:blipFill>
        <p:spPr>
          <a:xfrm>
            <a:off x="8275320" y="6236208"/>
            <a:ext cx="1600200" cy="182880"/>
          </a:xfrm>
          <a:prstGeom prst="rect">
            <a:avLst/>
          </a:prstGeom>
        </p:spPr>
      </p:pic>
      <p:pic>
        <p:nvPicPr>
          <p:cNvPr id="15" name="Image 3" descr="/private/tmp/claude-501/-Users-jihanvin-Desktop-NIVNAH-AI/16a96446-d9b3-40e2-af9e-a3011ae3db84/scratchpad/assets/secukorea_light.png"/>
          <p:cNvPicPr>
            <a:picLocks noChangeAspect="1"/>
          </p:cNvPicPr>
          <p:nvPr/>
        </p:nvPicPr>
        <p:blipFill>
          <a:blip r:embed="rId6"/>
          <a:stretch>
            <a:fillRect/>
          </a:stretch>
        </p:blipFill>
        <p:spPr>
          <a:xfrm>
            <a:off x="10314432" y="6163056"/>
            <a:ext cx="1325880" cy="31546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EXECUTIVE SUMMARY</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Nessus Finds Weaknesses. Falcon Stops Attacks.</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Text 2"/>
          <p:cNvSpPr txBox="1"/>
          <p:nvPr/>
        </p:nvSpPr>
        <p:spPr>
          <a:xfrm>
            <a:off x="548640" y="1417320"/>
            <a:ext cx="11094415" cy="566928"/>
          </a:xfrm>
          <a:prstGeom prst="rect">
            <a:avLst/>
          </a:prstGeom>
          <a:noFill/>
          <a:ln/>
        </p:spPr>
        <p:txBody>
          <a:bodyPr wrap="square" lIns="0" tIns="0" rIns="0" bIns="0" rtlCol="0" anchor="t"/>
          <a:lstStyle/>
          <a:p>
            <a:pPr marL="0" indent="0">
              <a:buNone/>
            </a:pPr>
            <a:r>
              <a:rPr lang="en-US" sz="1400" dirty="0">
                <a:solidFill>
                  <a:srgbClr val="5E6978"/>
                </a:solidFill>
                <a:latin typeface="Calibri" pitchFamily="34" charset="0"/>
                <a:ea typeface="Calibri" pitchFamily="34" charset="-122"/>
                <a:cs typeface="Calibri" pitchFamily="34" charset="-120"/>
              </a:rPr>
              <a:t>The Westin Resort Guam already scans for vulnerabilities with Nessus. This proposal adds what scanning cannot provide: real-time prevention, detection and response on every endpoint — delivered from the cloud and backed by 24/7 experts.</a:t>
            </a:r>
            <a:endParaRPr lang="en-US" sz="1400" dirty="0"/>
          </a:p>
        </p:txBody>
      </p:sp>
      <p:sp>
        <p:nvSpPr>
          <p:cNvPr id="6" name="Shape 3"/>
          <p:cNvSpPr/>
          <p:nvPr/>
        </p:nvSpPr>
        <p:spPr>
          <a:xfrm>
            <a:off x="548640" y="2148840"/>
            <a:ext cx="3515258" cy="2487168"/>
          </a:xfrm>
          <a:prstGeom prst="roundRect">
            <a:avLst>
              <a:gd name="adj" fmla="val 2941"/>
            </a:avLst>
          </a:prstGeom>
          <a:solidFill>
            <a:srgbClr val="F3F5F8"/>
          </a:solidFill>
          <a:ln w="9525">
            <a:solidFill>
              <a:srgbClr val="DCE1E7"/>
            </a:solidFill>
            <a:prstDash val="solid"/>
          </a:ln>
        </p:spPr>
      </p:sp>
      <p:sp>
        <p:nvSpPr>
          <p:cNvPr id="7" name="Shape 4"/>
          <p:cNvSpPr/>
          <p:nvPr/>
        </p:nvSpPr>
        <p:spPr>
          <a:xfrm>
            <a:off x="822960" y="2423160"/>
            <a:ext cx="502920" cy="502920"/>
          </a:xfrm>
          <a:prstGeom prst="roundRect">
            <a:avLst>
              <a:gd name="adj" fmla="val 18182"/>
            </a:avLst>
          </a:prstGeom>
          <a:solidFill>
            <a:srgbClr val="EAEEF3"/>
          </a:solidFill>
          <a:ln w="12700">
            <a:solidFill>
              <a:srgbClr val="EAEEF3"/>
            </a:solidFill>
            <a:prstDash val="solid"/>
          </a:ln>
        </p:spPr>
      </p:sp>
      <p:pic>
        <p:nvPicPr>
          <p:cNvPr id="8" name="Image 1" descr="preencoded.png"/>
          <p:cNvPicPr>
            <a:picLocks noChangeAspect="1"/>
          </p:cNvPicPr>
          <p:nvPr/>
        </p:nvPicPr>
        <p:blipFill>
          <a:blip r:embed="rId4"/>
          <a:stretch>
            <a:fillRect/>
          </a:stretch>
        </p:blipFill>
        <p:spPr>
          <a:xfrm>
            <a:off x="933602" y="2533802"/>
            <a:ext cx="281635" cy="281635"/>
          </a:xfrm>
          <a:prstGeom prst="rect">
            <a:avLst/>
          </a:prstGeom>
        </p:spPr>
      </p:pic>
      <p:sp>
        <p:nvSpPr>
          <p:cNvPr id="9" name="Text 5"/>
          <p:cNvSpPr txBox="1"/>
          <p:nvPr/>
        </p:nvSpPr>
        <p:spPr>
          <a:xfrm>
            <a:off x="1463040" y="2532888"/>
            <a:ext cx="2417978" cy="274320"/>
          </a:xfrm>
          <a:prstGeom prst="rect">
            <a:avLst/>
          </a:prstGeom>
          <a:noFill/>
          <a:ln/>
        </p:spPr>
        <p:txBody>
          <a:bodyPr wrap="square" lIns="0" tIns="0" rIns="0" bIns="0" rtlCol="0" anchor="ctr"/>
          <a:lstStyle/>
          <a:p>
            <a:pPr marL="0" indent="0">
              <a:buNone/>
            </a:pPr>
            <a:r>
              <a:rPr lang="en-US" sz="1050" b="1" kern="0" spc="150" dirty="0">
                <a:solidFill>
                  <a:srgbClr val="5D6B7E"/>
                </a:solidFill>
                <a:latin typeface="Calibri" pitchFamily="34" charset="0"/>
                <a:ea typeface="Calibri" pitchFamily="34" charset="-122"/>
                <a:cs typeface="Calibri" pitchFamily="34" charset="-120"/>
              </a:rPr>
              <a:t>WHERE WE ARE</a:t>
            </a:r>
            <a:endParaRPr lang="en-US" sz="1050" dirty="0"/>
          </a:p>
        </p:txBody>
      </p:sp>
      <p:sp>
        <p:nvSpPr>
          <p:cNvPr id="10" name="Text 6"/>
          <p:cNvSpPr txBox="1"/>
          <p:nvPr/>
        </p:nvSpPr>
        <p:spPr>
          <a:xfrm>
            <a:off x="822960" y="3063240"/>
            <a:ext cx="2966618" cy="566928"/>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24/7 resort, lean IT team, scan-only security</a:t>
            </a:r>
            <a:endParaRPr lang="en-US" sz="1500" dirty="0"/>
          </a:p>
        </p:txBody>
      </p:sp>
      <p:sp>
        <p:nvSpPr>
          <p:cNvPr id="11" name="Text 7"/>
          <p:cNvSpPr txBox="1"/>
          <p:nvPr/>
        </p:nvSpPr>
        <p:spPr>
          <a:xfrm>
            <a:off x="822960" y="3657600"/>
            <a:ext cx="2966618" cy="960120"/>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Guest data, payments and front-desk systems must stay protected around the clock. Today Nessus reports vulnerabilities, but every fix and every incident depends on staff effort.</a:t>
            </a:r>
            <a:endParaRPr lang="en-US" sz="1200" dirty="0"/>
          </a:p>
        </p:txBody>
      </p:sp>
      <p:sp>
        <p:nvSpPr>
          <p:cNvPr id="12" name="Shape 8"/>
          <p:cNvSpPr/>
          <p:nvPr/>
        </p:nvSpPr>
        <p:spPr>
          <a:xfrm>
            <a:off x="4338218" y="2148840"/>
            <a:ext cx="3515258" cy="2487168"/>
          </a:xfrm>
          <a:prstGeom prst="roundRect">
            <a:avLst>
              <a:gd name="adj" fmla="val 2941"/>
            </a:avLst>
          </a:prstGeom>
          <a:solidFill>
            <a:srgbClr val="F3F5F8"/>
          </a:solidFill>
          <a:ln w="9525">
            <a:solidFill>
              <a:srgbClr val="DCE1E7"/>
            </a:solidFill>
            <a:prstDash val="solid"/>
          </a:ln>
        </p:spPr>
      </p:sp>
      <p:sp>
        <p:nvSpPr>
          <p:cNvPr id="13" name="Shape 9"/>
          <p:cNvSpPr/>
          <p:nvPr/>
        </p:nvSpPr>
        <p:spPr>
          <a:xfrm>
            <a:off x="4612538" y="2423160"/>
            <a:ext cx="502920" cy="502920"/>
          </a:xfrm>
          <a:prstGeom prst="roundRect">
            <a:avLst>
              <a:gd name="adj" fmla="val 18182"/>
            </a:avLst>
          </a:prstGeom>
          <a:solidFill>
            <a:srgbClr val="EAEEF3"/>
          </a:solidFill>
          <a:ln w="12700">
            <a:solidFill>
              <a:srgbClr val="EAEEF3"/>
            </a:solidFill>
            <a:prstDash val="solid"/>
          </a:ln>
        </p:spPr>
      </p:sp>
      <p:pic>
        <p:nvPicPr>
          <p:cNvPr id="14" name="Image 2" descr="preencoded.png"/>
          <p:cNvPicPr>
            <a:picLocks noChangeAspect="1"/>
          </p:cNvPicPr>
          <p:nvPr/>
        </p:nvPicPr>
        <p:blipFill>
          <a:blip r:embed="rId5"/>
          <a:stretch>
            <a:fillRect/>
          </a:stretch>
        </p:blipFill>
        <p:spPr>
          <a:xfrm>
            <a:off x="4723181" y="2533802"/>
            <a:ext cx="281635" cy="281635"/>
          </a:xfrm>
          <a:prstGeom prst="rect">
            <a:avLst/>
          </a:prstGeom>
        </p:spPr>
      </p:pic>
      <p:sp>
        <p:nvSpPr>
          <p:cNvPr id="15" name="Text 10"/>
          <p:cNvSpPr txBox="1"/>
          <p:nvPr/>
        </p:nvSpPr>
        <p:spPr>
          <a:xfrm>
            <a:off x="5252618" y="2532888"/>
            <a:ext cx="2417978" cy="274320"/>
          </a:xfrm>
          <a:prstGeom prst="rect">
            <a:avLst/>
          </a:prstGeom>
          <a:noFill/>
          <a:ln/>
        </p:spPr>
        <p:txBody>
          <a:bodyPr wrap="square" lIns="0" tIns="0" rIns="0" bIns="0" rtlCol="0" anchor="ctr"/>
          <a:lstStyle/>
          <a:p>
            <a:pPr marL="0" indent="0">
              <a:buNone/>
            </a:pPr>
            <a:r>
              <a:rPr lang="en-US" sz="1050" b="1" kern="0" spc="150" dirty="0">
                <a:solidFill>
                  <a:srgbClr val="5D6B7E"/>
                </a:solidFill>
                <a:latin typeface="Calibri" pitchFamily="34" charset="0"/>
                <a:ea typeface="Calibri" pitchFamily="34" charset="-122"/>
                <a:cs typeface="Calibri" pitchFamily="34" charset="-120"/>
              </a:rPr>
              <a:t>THE GAP</a:t>
            </a:r>
            <a:endParaRPr lang="en-US" sz="1050" dirty="0"/>
          </a:p>
        </p:txBody>
      </p:sp>
      <p:sp>
        <p:nvSpPr>
          <p:cNvPr id="16" name="Text 11"/>
          <p:cNvSpPr txBox="1"/>
          <p:nvPr/>
        </p:nvSpPr>
        <p:spPr>
          <a:xfrm>
            <a:off x="4612538" y="3063240"/>
            <a:ext cx="2966618" cy="566928"/>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Attacks move faster than scan cycles</a:t>
            </a:r>
            <a:endParaRPr lang="en-US" sz="1500" dirty="0"/>
          </a:p>
        </p:txBody>
      </p:sp>
      <p:sp>
        <p:nvSpPr>
          <p:cNvPr id="17" name="Text 12"/>
          <p:cNvSpPr txBox="1"/>
          <p:nvPr/>
        </p:nvSpPr>
        <p:spPr>
          <a:xfrm>
            <a:off x="4612538" y="3657600"/>
            <a:ext cx="2966618" cy="960120"/>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The fastest attackers now move from first access to other systems in 27 seconds. Between scans, a scanner cannot see or stop what happens on endpoints.</a:t>
            </a:r>
            <a:endParaRPr lang="en-US" sz="1200" dirty="0"/>
          </a:p>
        </p:txBody>
      </p:sp>
      <p:sp>
        <p:nvSpPr>
          <p:cNvPr id="18" name="Shape 13"/>
          <p:cNvSpPr/>
          <p:nvPr/>
        </p:nvSpPr>
        <p:spPr>
          <a:xfrm>
            <a:off x="8127797" y="2148840"/>
            <a:ext cx="3515258" cy="2487168"/>
          </a:xfrm>
          <a:prstGeom prst="roundRect">
            <a:avLst>
              <a:gd name="adj" fmla="val 2941"/>
            </a:avLst>
          </a:prstGeom>
          <a:solidFill>
            <a:srgbClr val="FDECEC"/>
          </a:solidFill>
          <a:ln w="9525">
            <a:solidFill>
              <a:srgbClr val="F6C9CB"/>
            </a:solidFill>
            <a:prstDash val="solid"/>
          </a:ln>
        </p:spPr>
      </p:sp>
      <p:sp>
        <p:nvSpPr>
          <p:cNvPr id="19" name="Shape 14"/>
          <p:cNvSpPr/>
          <p:nvPr/>
        </p:nvSpPr>
        <p:spPr>
          <a:xfrm>
            <a:off x="8402117" y="2423160"/>
            <a:ext cx="502920" cy="502920"/>
          </a:xfrm>
          <a:prstGeom prst="roundRect">
            <a:avLst>
              <a:gd name="adj" fmla="val 18182"/>
            </a:avLst>
          </a:prstGeom>
          <a:solidFill>
            <a:srgbClr val="E3202A"/>
          </a:solidFill>
          <a:ln w="12700">
            <a:solidFill>
              <a:srgbClr val="E3202A"/>
            </a:solidFill>
            <a:prstDash val="solid"/>
          </a:ln>
        </p:spPr>
      </p:sp>
      <p:pic>
        <p:nvPicPr>
          <p:cNvPr id="20" name="Image 3" descr="preencoded.png"/>
          <p:cNvPicPr>
            <a:picLocks noChangeAspect="1"/>
          </p:cNvPicPr>
          <p:nvPr/>
        </p:nvPicPr>
        <p:blipFill>
          <a:blip r:embed="rId6"/>
          <a:stretch>
            <a:fillRect/>
          </a:stretch>
        </p:blipFill>
        <p:spPr>
          <a:xfrm>
            <a:off x="8512759" y="2533802"/>
            <a:ext cx="281635" cy="281635"/>
          </a:xfrm>
          <a:prstGeom prst="rect">
            <a:avLst/>
          </a:prstGeom>
        </p:spPr>
      </p:pic>
      <p:sp>
        <p:nvSpPr>
          <p:cNvPr id="21" name="Text 15"/>
          <p:cNvSpPr txBox="1"/>
          <p:nvPr/>
        </p:nvSpPr>
        <p:spPr>
          <a:xfrm>
            <a:off x="9042197" y="2532888"/>
            <a:ext cx="2417978" cy="274320"/>
          </a:xfrm>
          <a:prstGeom prst="rect">
            <a:avLst/>
          </a:prstGeom>
          <a:noFill/>
          <a:ln/>
        </p:spPr>
        <p:txBody>
          <a:bodyPr wrap="square" lIns="0" tIns="0" rIns="0" bIns="0" rtlCol="0" anchor="ctr"/>
          <a:lstStyle/>
          <a:p>
            <a:pPr marL="0" indent="0">
              <a:buNone/>
            </a:pPr>
            <a:r>
              <a:rPr lang="en-US" sz="1050" b="1" kern="0" spc="150" dirty="0">
                <a:solidFill>
                  <a:srgbClr val="E3202A"/>
                </a:solidFill>
                <a:latin typeface="Calibri" pitchFamily="34" charset="0"/>
                <a:ea typeface="Calibri" pitchFamily="34" charset="-122"/>
                <a:cs typeface="Calibri" pitchFamily="34" charset="-120"/>
              </a:rPr>
              <a:t>OUR PROPOSAL</a:t>
            </a:r>
            <a:endParaRPr lang="en-US" sz="1050" dirty="0"/>
          </a:p>
        </p:txBody>
      </p:sp>
      <p:sp>
        <p:nvSpPr>
          <p:cNvPr id="22" name="Text 16"/>
          <p:cNvSpPr txBox="1"/>
          <p:nvPr/>
        </p:nvSpPr>
        <p:spPr>
          <a:xfrm>
            <a:off x="8402117" y="3063240"/>
            <a:ext cx="2966618" cy="566928"/>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CrowdStrike Falcon on every endpoint</a:t>
            </a:r>
            <a:endParaRPr lang="en-US" sz="1500" dirty="0"/>
          </a:p>
        </p:txBody>
      </p:sp>
      <p:sp>
        <p:nvSpPr>
          <p:cNvPr id="23" name="Text 17"/>
          <p:cNvSpPr txBox="1"/>
          <p:nvPr/>
        </p:nvSpPr>
        <p:spPr>
          <a:xfrm>
            <a:off x="8402117" y="3657600"/>
            <a:ext cx="2966618" cy="960120"/>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One lightweight sensor delivers next-gen antivirus (EPP) and EDR from the cloud — no on-site servers. SECUKOREA’s 24/7 support covers the staffing gap.</a:t>
            </a:r>
            <a:endParaRPr lang="en-US" sz="1200" dirty="0"/>
          </a:p>
        </p:txBody>
      </p:sp>
      <p:sp>
        <p:nvSpPr>
          <p:cNvPr id="24" name="Shape 18"/>
          <p:cNvSpPr/>
          <p:nvPr/>
        </p:nvSpPr>
        <p:spPr>
          <a:xfrm>
            <a:off x="548640" y="4846320"/>
            <a:ext cx="11094415" cy="1115568"/>
          </a:xfrm>
          <a:prstGeom prst="roundRect">
            <a:avLst>
              <a:gd name="adj" fmla="val 6557"/>
            </a:avLst>
          </a:prstGeom>
          <a:solidFill>
            <a:srgbClr val="0B0D12"/>
          </a:solidFill>
          <a:ln w="12700">
            <a:solidFill>
              <a:srgbClr val="0B0D12"/>
            </a:solidFill>
            <a:prstDash val="solid"/>
          </a:ln>
        </p:spPr>
      </p:sp>
      <p:sp>
        <p:nvSpPr>
          <p:cNvPr id="25" name="Text 19"/>
          <p:cNvSpPr txBox="1"/>
          <p:nvPr/>
        </p:nvSpPr>
        <p:spPr>
          <a:xfrm>
            <a:off x="868680" y="4974336"/>
            <a:ext cx="2224964" cy="457200"/>
          </a:xfrm>
          <a:prstGeom prst="rect">
            <a:avLst/>
          </a:prstGeom>
          <a:noFill/>
          <a:ln/>
        </p:spPr>
        <p:txBody>
          <a:bodyPr wrap="square" lIns="0" tIns="0" rIns="0" bIns="0" rtlCol="0" anchor="ctr"/>
          <a:lstStyle/>
          <a:p>
            <a:pPr marL="0" indent="0">
              <a:buNone/>
            </a:pPr>
            <a:r>
              <a:rPr lang="en-US" sz="2400" b="1" dirty="0">
                <a:solidFill>
                  <a:srgbClr val="E3202A"/>
                </a:solidFill>
                <a:latin typeface="Arial" pitchFamily="34" charset="0"/>
                <a:ea typeface="Arial" pitchFamily="34" charset="-122"/>
                <a:cs typeface="Arial" pitchFamily="34" charset="-120"/>
              </a:rPr>
              <a:t>100%</a:t>
            </a:r>
            <a:endParaRPr lang="en-US" sz="2400" dirty="0"/>
          </a:p>
        </p:txBody>
      </p:sp>
      <p:sp>
        <p:nvSpPr>
          <p:cNvPr id="26" name="Text 20"/>
          <p:cNvSpPr txBox="1"/>
          <p:nvPr/>
        </p:nvSpPr>
        <p:spPr>
          <a:xfrm>
            <a:off x="868680" y="5449824"/>
            <a:ext cx="2224964" cy="402336"/>
          </a:xfrm>
          <a:prstGeom prst="rect">
            <a:avLst/>
          </a:prstGeom>
          <a:noFill/>
          <a:ln/>
        </p:spPr>
        <p:txBody>
          <a:bodyPr wrap="square" lIns="0" tIns="0" rIns="0" bIns="0" rtlCol="0" anchor="t"/>
          <a:lstStyle/>
          <a:p>
            <a:pPr marL="0" indent="0">
              <a:buNone/>
            </a:pPr>
            <a:r>
              <a:rPr lang="en-US" sz="1050" dirty="0">
                <a:solidFill>
                  <a:srgbClr val="C9CED6"/>
                </a:solidFill>
                <a:latin typeface="Calibri" pitchFamily="34" charset="0"/>
                <a:ea typeface="Calibri" pitchFamily="34" charset="-122"/>
                <a:cs typeface="Calibri" pitchFamily="34" charset="-120"/>
              </a:rPr>
              <a:t>Detection &amp; protection, zero false positives (MITRE ATT&amp;CK® 2025)</a:t>
            </a:r>
            <a:endParaRPr lang="en-US" sz="1050" dirty="0"/>
          </a:p>
        </p:txBody>
      </p:sp>
      <p:sp>
        <p:nvSpPr>
          <p:cNvPr id="27" name="Text 21"/>
          <p:cNvSpPr txBox="1"/>
          <p:nvPr/>
        </p:nvSpPr>
        <p:spPr>
          <a:xfrm>
            <a:off x="3642284" y="4974336"/>
            <a:ext cx="2224964" cy="457200"/>
          </a:xfrm>
          <a:prstGeom prst="rect">
            <a:avLst/>
          </a:prstGeom>
          <a:noFill/>
          <a:ln/>
        </p:spPr>
        <p:txBody>
          <a:bodyPr wrap="square" lIns="0" tIns="0" rIns="0" bIns="0" rtlCol="0" anchor="ctr"/>
          <a:lstStyle/>
          <a:p>
            <a:pPr marL="0" indent="0">
              <a:buNone/>
            </a:pPr>
            <a:r>
              <a:rPr lang="en-US" sz="2400" b="1" dirty="0">
                <a:solidFill>
                  <a:srgbClr val="E3202A"/>
                </a:solidFill>
                <a:latin typeface="Arial" pitchFamily="34" charset="0"/>
                <a:ea typeface="Arial" pitchFamily="34" charset="-122"/>
                <a:cs typeface="Arial" pitchFamily="34" charset="-120"/>
              </a:rPr>
              <a:t>273%</a:t>
            </a:r>
            <a:endParaRPr lang="en-US" sz="2400" dirty="0"/>
          </a:p>
        </p:txBody>
      </p:sp>
      <p:sp>
        <p:nvSpPr>
          <p:cNvPr id="28" name="Text 22"/>
          <p:cNvSpPr txBox="1"/>
          <p:nvPr/>
        </p:nvSpPr>
        <p:spPr>
          <a:xfrm>
            <a:off x="3642284" y="5449824"/>
            <a:ext cx="2224964" cy="402336"/>
          </a:xfrm>
          <a:prstGeom prst="rect">
            <a:avLst/>
          </a:prstGeom>
          <a:noFill/>
          <a:ln/>
        </p:spPr>
        <p:txBody>
          <a:bodyPr wrap="square" lIns="0" tIns="0" rIns="0" bIns="0" rtlCol="0" anchor="t"/>
          <a:lstStyle/>
          <a:p>
            <a:pPr marL="0" indent="0">
              <a:buNone/>
            </a:pPr>
            <a:r>
              <a:rPr lang="en-US" sz="1050" dirty="0">
                <a:solidFill>
                  <a:srgbClr val="C9CED6"/>
                </a:solidFill>
                <a:latin typeface="Calibri" pitchFamily="34" charset="0"/>
                <a:ea typeface="Calibri" pitchFamily="34" charset="-122"/>
                <a:cs typeface="Calibri" pitchFamily="34" charset="-120"/>
              </a:rPr>
              <a:t>Three-year ROI (Forrester Total Economic Impact™ study)</a:t>
            </a:r>
            <a:endParaRPr lang="en-US" sz="1050" dirty="0"/>
          </a:p>
        </p:txBody>
      </p:sp>
      <p:sp>
        <p:nvSpPr>
          <p:cNvPr id="29" name="Text 23"/>
          <p:cNvSpPr txBox="1"/>
          <p:nvPr/>
        </p:nvSpPr>
        <p:spPr>
          <a:xfrm>
            <a:off x="6415888" y="4974336"/>
            <a:ext cx="2224964" cy="457200"/>
          </a:xfrm>
          <a:prstGeom prst="rect">
            <a:avLst/>
          </a:prstGeom>
          <a:noFill/>
          <a:ln/>
        </p:spPr>
        <p:txBody>
          <a:bodyPr wrap="square" lIns="0" tIns="0" rIns="0" bIns="0" rtlCol="0" anchor="ctr"/>
          <a:lstStyle/>
          <a:p>
            <a:pPr marL="0" indent="0">
              <a:buNone/>
            </a:pPr>
            <a:r>
              <a:rPr lang="en-US" sz="2400" b="1" dirty="0">
                <a:solidFill>
                  <a:srgbClr val="E3202A"/>
                </a:solidFill>
                <a:latin typeface="Arial" pitchFamily="34" charset="0"/>
                <a:ea typeface="Arial" pitchFamily="34" charset="-122"/>
                <a:cs typeface="Arial" pitchFamily="34" charset="-120"/>
              </a:rPr>
              <a:t>7×</a:t>
            </a:r>
            <a:endParaRPr lang="en-US" sz="2400" dirty="0"/>
          </a:p>
        </p:txBody>
      </p:sp>
      <p:sp>
        <p:nvSpPr>
          <p:cNvPr id="30" name="Text 24"/>
          <p:cNvSpPr txBox="1"/>
          <p:nvPr/>
        </p:nvSpPr>
        <p:spPr>
          <a:xfrm>
            <a:off x="6415888" y="5449824"/>
            <a:ext cx="2224964" cy="402336"/>
          </a:xfrm>
          <a:prstGeom prst="rect">
            <a:avLst/>
          </a:prstGeom>
          <a:noFill/>
          <a:ln/>
        </p:spPr>
        <p:txBody>
          <a:bodyPr wrap="square" lIns="0" tIns="0" rIns="0" bIns="0" rtlCol="0" anchor="t"/>
          <a:lstStyle/>
          <a:p>
            <a:pPr marL="0" indent="0">
              <a:buNone/>
            </a:pPr>
            <a:r>
              <a:rPr lang="en-US" sz="1050" dirty="0">
                <a:solidFill>
                  <a:srgbClr val="C9CED6"/>
                </a:solidFill>
                <a:latin typeface="Calibri" pitchFamily="34" charset="0"/>
                <a:ea typeface="Calibri" pitchFamily="34" charset="-122"/>
                <a:cs typeface="Calibri" pitchFamily="34" charset="-120"/>
              </a:rPr>
              <a:t>Named a Leader in the Gartner® Magic Quadrant™ for EPP</a:t>
            </a:r>
            <a:endParaRPr lang="en-US" sz="1050" dirty="0"/>
          </a:p>
        </p:txBody>
      </p:sp>
      <p:sp>
        <p:nvSpPr>
          <p:cNvPr id="31" name="Text 25"/>
          <p:cNvSpPr txBox="1"/>
          <p:nvPr/>
        </p:nvSpPr>
        <p:spPr>
          <a:xfrm>
            <a:off x="9189491" y="4974336"/>
            <a:ext cx="2224964" cy="457200"/>
          </a:xfrm>
          <a:prstGeom prst="rect">
            <a:avLst/>
          </a:prstGeom>
          <a:noFill/>
          <a:ln/>
        </p:spPr>
        <p:txBody>
          <a:bodyPr wrap="square" lIns="0" tIns="0" rIns="0" bIns="0" rtlCol="0" anchor="ctr"/>
          <a:lstStyle/>
          <a:p>
            <a:pPr marL="0" indent="0">
              <a:buNone/>
            </a:pPr>
            <a:r>
              <a:rPr lang="en-US" sz="2400" b="1" dirty="0">
                <a:solidFill>
                  <a:srgbClr val="E3202A"/>
                </a:solidFill>
                <a:latin typeface="Arial" pitchFamily="34" charset="0"/>
                <a:ea typeface="Arial" pitchFamily="34" charset="-122"/>
                <a:cs typeface="Arial" pitchFamily="34" charset="-120"/>
              </a:rPr>
              <a:t>97%</a:t>
            </a:r>
            <a:endParaRPr lang="en-US" sz="2400" dirty="0"/>
          </a:p>
        </p:txBody>
      </p:sp>
      <p:sp>
        <p:nvSpPr>
          <p:cNvPr id="32" name="Text 26"/>
          <p:cNvSpPr txBox="1"/>
          <p:nvPr/>
        </p:nvSpPr>
        <p:spPr>
          <a:xfrm>
            <a:off x="9189491" y="5449824"/>
            <a:ext cx="2224964" cy="402336"/>
          </a:xfrm>
          <a:prstGeom prst="rect">
            <a:avLst/>
          </a:prstGeom>
          <a:noFill/>
          <a:ln/>
        </p:spPr>
        <p:txBody>
          <a:bodyPr wrap="square" lIns="0" tIns="0" rIns="0" bIns="0" rtlCol="0" anchor="t"/>
          <a:lstStyle/>
          <a:p>
            <a:pPr marL="0" indent="0">
              <a:buNone/>
            </a:pPr>
            <a:r>
              <a:rPr lang="en-US" sz="1050" dirty="0">
                <a:solidFill>
                  <a:srgbClr val="C9CED6"/>
                </a:solidFill>
                <a:latin typeface="Calibri" pitchFamily="34" charset="0"/>
                <a:ea typeface="Calibri" pitchFamily="34" charset="-122"/>
                <a:cs typeface="Calibri" pitchFamily="34" charset="-120"/>
              </a:rPr>
              <a:t>Willing to recommend (Gartner® Peer Insights™ for EPP, 2026)</a:t>
            </a:r>
            <a:endParaRPr lang="en-US" sz="1050" dirty="0"/>
          </a:p>
        </p:txBody>
      </p:sp>
      <p:sp>
        <p:nvSpPr>
          <p:cNvPr id="33" name="Text 27"/>
          <p:cNvSpPr txBox="1"/>
          <p:nvPr/>
        </p:nvSpPr>
        <p:spPr>
          <a:xfrm>
            <a:off x="548640" y="6108192"/>
            <a:ext cx="11094415" cy="237744"/>
          </a:xfrm>
          <a:prstGeom prst="rect">
            <a:avLst/>
          </a:prstGeom>
          <a:noFill/>
          <a:ln/>
        </p:spPr>
        <p:txBody>
          <a:bodyPr wrap="square" lIns="0" tIns="0" rIns="0" bIns="0" rtlCol="0" anchor="b"/>
          <a:lstStyle/>
          <a:p>
            <a:pPr marL="0" indent="0">
              <a:buNone/>
            </a:pPr>
            <a:r>
              <a:rPr lang="en-US" sz="800" i="1" dirty="0">
                <a:solidFill>
                  <a:srgbClr val="8A94A1"/>
                </a:solidFill>
                <a:latin typeface="Calibri" pitchFamily="34" charset="0"/>
                <a:ea typeface="Calibri" pitchFamily="34" charset="-122"/>
                <a:cs typeface="Calibri" pitchFamily="34" charset="-120"/>
              </a:rPr>
              <a:t>Sources: CrowdStrike 2026 Global Threat Report; 2025 MITRE ATT&amp;CK® Enterprise Evaluations; Forrester TEI of CrowdStrike Endpoint Security (commissioned, Nov 2025); Gartner® MQ for EPP (May 2026); Gartner® Peer Insights™ Customers’ Choice for EPP (2026).</a:t>
            </a:r>
            <a:endParaRPr lang="en-US" sz="800" dirty="0"/>
          </a:p>
        </p:txBody>
      </p:sp>
      <p:sp>
        <p:nvSpPr>
          <p:cNvPr id="34" name="Text 28"/>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02   |   Nessus vs. CrowdStrike Falcon Platform  ·  Proposal for The Westin Resort Guam</a:t>
            </a:r>
            <a:endParaRPr lang="en-US" sz="900" dirty="0"/>
          </a:p>
        </p:txBody>
      </p:sp>
      <p:pic>
        <p:nvPicPr>
          <p:cNvPr id="35" name="Image 4" descr="/private/tmp/claude-501/-Users-jihanvin-Desktop-NIVNAH-AI/16a96446-d9b3-40e2-af9e-a3011ae3db84/scratchpad/assets/secukorea_dark.png"/>
          <p:cNvPicPr>
            <a:picLocks noChangeAspect="1"/>
          </p:cNvPicPr>
          <p:nvPr/>
        </p:nvPicPr>
        <p:blipFill>
          <a:blip r:embed="rId7"/>
          <a:stretch>
            <a:fillRect/>
          </a:stretch>
        </p:blipFill>
        <p:spPr>
          <a:xfrm>
            <a:off x="10661904" y="6400800"/>
            <a:ext cx="978408" cy="2331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01   CURRENT STATE</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Current Environment &amp; Security Challenges</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600200"/>
            <a:ext cx="566928" cy="566928"/>
          </a:xfrm>
          <a:prstGeom prst="roundRect">
            <a:avLst>
              <a:gd name="adj" fmla="val 16129"/>
            </a:avLst>
          </a:prstGeom>
          <a:solidFill>
            <a:srgbClr val="EAEEF3"/>
          </a:solidFill>
          <a:ln w="12700">
            <a:solidFill>
              <a:srgbClr val="EAEEF3"/>
            </a:solidFill>
            <a:prstDash val="solid"/>
          </a:ln>
        </p:spPr>
      </p:sp>
      <p:pic>
        <p:nvPicPr>
          <p:cNvPr id="6" name="Image 1" descr="preencoded.png"/>
          <p:cNvPicPr>
            <a:picLocks noChangeAspect="1"/>
          </p:cNvPicPr>
          <p:nvPr/>
        </p:nvPicPr>
        <p:blipFill>
          <a:blip r:embed="rId4"/>
          <a:stretch>
            <a:fillRect/>
          </a:stretch>
        </p:blipFill>
        <p:spPr>
          <a:xfrm>
            <a:off x="673364" y="1724924"/>
            <a:ext cx="317480" cy="317480"/>
          </a:xfrm>
          <a:prstGeom prst="rect">
            <a:avLst/>
          </a:prstGeom>
        </p:spPr>
      </p:pic>
      <p:sp>
        <p:nvSpPr>
          <p:cNvPr id="7" name="Text 3"/>
          <p:cNvSpPr txBox="1"/>
          <p:nvPr/>
        </p:nvSpPr>
        <p:spPr>
          <a:xfrm>
            <a:off x="1325880" y="1581912"/>
            <a:ext cx="576072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24/7 Non-Stop Hospitality Operations</a:t>
            </a:r>
            <a:endParaRPr lang="en-US" sz="1500" dirty="0"/>
          </a:p>
        </p:txBody>
      </p:sp>
      <p:sp>
        <p:nvSpPr>
          <p:cNvPr id="8" name="Text 4"/>
          <p:cNvSpPr txBox="1"/>
          <p:nvPr/>
        </p:nvSpPr>
        <p:spPr>
          <a:xfrm>
            <a:off x="1325880" y="1929384"/>
            <a:ext cx="5760720" cy="621792"/>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Guest personal data, payment processing, and front-desk and back-office systems must stay available and protected around the clock.</a:t>
            </a:r>
            <a:endParaRPr lang="en-US" sz="1200" dirty="0"/>
          </a:p>
        </p:txBody>
      </p:sp>
      <p:sp>
        <p:nvSpPr>
          <p:cNvPr id="9" name="Shape 5"/>
          <p:cNvSpPr/>
          <p:nvPr/>
        </p:nvSpPr>
        <p:spPr>
          <a:xfrm>
            <a:off x="548640" y="2697480"/>
            <a:ext cx="566928" cy="566928"/>
          </a:xfrm>
          <a:prstGeom prst="roundRect">
            <a:avLst>
              <a:gd name="adj" fmla="val 16129"/>
            </a:avLst>
          </a:prstGeom>
          <a:solidFill>
            <a:srgbClr val="EAEEF3"/>
          </a:solidFill>
          <a:ln w="12700">
            <a:solidFill>
              <a:srgbClr val="EAEEF3"/>
            </a:solidFill>
            <a:prstDash val="solid"/>
          </a:ln>
        </p:spPr>
      </p:sp>
      <p:pic>
        <p:nvPicPr>
          <p:cNvPr id="10" name="Image 2" descr="preencoded.png"/>
          <p:cNvPicPr>
            <a:picLocks noChangeAspect="1"/>
          </p:cNvPicPr>
          <p:nvPr/>
        </p:nvPicPr>
        <p:blipFill>
          <a:blip r:embed="rId5"/>
          <a:stretch>
            <a:fillRect/>
          </a:stretch>
        </p:blipFill>
        <p:spPr>
          <a:xfrm>
            <a:off x="673364" y="2822204"/>
            <a:ext cx="317480" cy="317480"/>
          </a:xfrm>
          <a:prstGeom prst="rect">
            <a:avLst/>
          </a:prstGeom>
        </p:spPr>
      </p:pic>
      <p:sp>
        <p:nvSpPr>
          <p:cNvPr id="11" name="Text 6"/>
          <p:cNvSpPr txBox="1"/>
          <p:nvPr/>
        </p:nvSpPr>
        <p:spPr>
          <a:xfrm>
            <a:off x="1325880" y="2679192"/>
            <a:ext cx="576072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Limited On-Site Security Staffing</a:t>
            </a:r>
            <a:endParaRPr lang="en-US" sz="1500" dirty="0"/>
          </a:p>
        </p:txBody>
      </p:sp>
      <p:sp>
        <p:nvSpPr>
          <p:cNvPr id="12" name="Text 7"/>
          <p:cNvSpPr txBox="1"/>
          <p:nvPr/>
        </p:nvSpPr>
        <p:spPr>
          <a:xfrm>
            <a:off x="1325880" y="3026664"/>
            <a:ext cx="5760720" cy="621792"/>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Without a dedicated security operations team, manual patching and case-by-case incident investigation are hard to sustain.</a:t>
            </a:r>
            <a:endParaRPr lang="en-US" sz="1200" dirty="0"/>
          </a:p>
        </p:txBody>
      </p:sp>
      <p:sp>
        <p:nvSpPr>
          <p:cNvPr id="13" name="Shape 8"/>
          <p:cNvSpPr/>
          <p:nvPr/>
        </p:nvSpPr>
        <p:spPr>
          <a:xfrm>
            <a:off x="548640" y="3794760"/>
            <a:ext cx="566928" cy="566928"/>
          </a:xfrm>
          <a:prstGeom prst="roundRect">
            <a:avLst>
              <a:gd name="adj" fmla="val 16129"/>
            </a:avLst>
          </a:prstGeom>
          <a:solidFill>
            <a:srgbClr val="EAEEF3"/>
          </a:solidFill>
          <a:ln w="12700">
            <a:solidFill>
              <a:srgbClr val="EAEEF3"/>
            </a:solidFill>
            <a:prstDash val="solid"/>
          </a:ln>
        </p:spPr>
      </p:sp>
      <p:pic>
        <p:nvPicPr>
          <p:cNvPr id="14" name="Image 3" descr="preencoded.png"/>
          <p:cNvPicPr>
            <a:picLocks noChangeAspect="1"/>
          </p:cNvPicPr>
          <p:nvPr/>
        </p:nvPicPr>
        <p:blipFill>
          <a:blip r:embed="rId6"/>
          <a:stretch>
            <a:fillRect/>
          </a:stretch>
        </p:blipFill>
        <p:spPr>
          <a:xfrm>
            <a:off x="673364" y="3919484"/>
            <a:ext cx="317480" cy="317480"/>
          </a:xfrm>
          <a:prstGeom prst="rect">
            <a:avLst/>
          </a:prstGeom>
        </p:spPr>
      </p:pic>
      <p:sp>
        <p:nvSpPr>
          <p:cNvPr id="15" name="Text 9"/>
          <p:cNvSpPr txBox="1"/>
          <p:nvPr/>
        </p:nvSpPr>
        <p:spPr>
          <a:xfrm>
            <a:off x="1325880" y="3776472"/>
            <a:ext cx="576072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Scan-Only Protection Today</a:t>
            </a:r>
            <a:endParaRPr lang="en-US" sz="1500" dirty="0"/>
          </a:p>
        </p:txBody>
      </p:sp>
      <p:sp>
        <p:nvSpPr>
          <p:cNvPr id="16" name="Text 10"/>
          <p:cNvSpPr txBox="1"/>
          <p:nvPr/>
        </p:nvSpPr>
        <p:spPr>
          <a:xfrm>
            <a:off x="1325880" y="4123944"/>
            <a:ext cx="5760720" cy="621792"/>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Nessus identifies vulnerabilities, but it does not block malware or stop an attack in progress. Every follow-up action is manual.</a:t>
            </a:r>
            <a:endParaRPr lang="en-US" sz="1200" dirty="0"/>
          </a:p>
        </p:txBody>
      </p:sp>
      <p:sp>
        <p:nvSpPr>
          <p:cNvPr id="17" name="Shape 11"/>
          <p:cNvSpPr/>
          <p:nvPr/>
        </p:nvSpPr>
        <p:spPr>
          <a:xfrm>
            <a:off x="548640" y="4892040"/>
            <a:ext cx="566928" cy="566928"/>
          </a:xfrm>
          <a:prstGeom prst="roundRect">
            <a:avLst>
              <a:gd name="adj" fmla="val 16129"/>
            </a:avLst>
          </a:prstGeom>
          <a:solidFill>
            <a:srgbClr val="EAEEF3"/>
          </a:solidFill>
          <a:ln w="12700">
            <a:solidFill>
              <a:srgbClr val="EAEEF3"/>
            </a:solidFill>
            <a:prstDash val="solid"/>
          </a:ln>
        </p:spPr>
      </p:sp>
      <p:pic>
        <p:nvPicPr>
          <p:cNvPr id="18" name="Image 4" descr="preencoded.png"/>
          <p:cNvPicPr>
            <a:picLocks noChangeAspect="1"/>
          </p:cNvPicPr>
          <p:nvPr/>
        </p:nvPicPr>
        <p:blipFill>
          <a:blip r:embed="rId7"/>
          <a:stretch>
            <a:fillRect/>
          </a:stretch>
        </p:blipFill>
        <p:spPr>
          <a:xfrm>
            <a:off x="673364" y="5016764"/>
            <a:ext cx="317480" cy="317480"/>
          </a:xfrm>
          <a:prstGeom prst="rect">
            <a:avLst/>
          </a:prstGeom>
        </p:spPr>
      </p:pic>
      <p:sp>
        <p:nvSpPr>
          <p:cNvPr id="19" name="Text 12"/>
          <p:cNvSpPr txBox="1"/>
          <p:nvPr/>
        </p:nvSpPr>
        <p:spPr>
          <a:xfrm>
            <a:off x="1325880" y="4873752"/>
            <a:ext cx="576072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A High-Value Target</a:t>
            </a:r>
            <a:endParaRPr lang="en-US" sz="1500" dirty="0"/>
          </a:p>
        </p:txBody>
      </p:sp>
      <p:sp>
        <p:nvSpPr>
          <p:cNvPr id="20" name="Text 13"/>
          <p:cNvSpPr txBox="1"/>
          <p:nvPr/>
        </p:nvSpPr>
        <p:spPr>
          <a:xfrm>
            <a:off x="1325880" y="5221224"/>
            <a:ext cx="5760720" cy="621792"/>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Hotels hold payment card data and guest identities — a frequent target for ransomware and data theft, with direct impact on brand trust.</a:t>
            </a:r>
            <a:endParaRPr lang="en-US" sz="1200" dirty="0"/>
          </a:p>
        </p:txBody>
      </p:sp>
      <p:sp>
        <p:nvSpPr>
          <p:cNvPr id="21" name="Shape 14"/>
          <p:cNvSpPr/>
          <p:nvPr/>
        </p:nvSpPr>
        <p:spPr>
          <a:xfrm>
            <a:off x="7452360" y="1554480"/>
            <a:ext cx="4190695" cy="4434840"/>
          </a:xfrm>
          <a:prstGeom prst="roundRect">
            <a:avLst>
              <a:gd name="adj" fmla="val 2182"/>
            </a:avLst>
          </a:prstGeom>
          <a:solidFill>
            <a:srgbClr val="0B0D12"/>
          </a:solidFill>
          <a:ln w="12700">
            <a:solidFill>
              <a:srgbClr val="0B0D12"/>
            </a:solidFill>
            <a:prstDash val="solid"/>
          </a:ln>
        </p:spPr>
      </p:sp>
      <p:sp>
        <p:nvSpPr>
          <p:cNvPr id="22" name="Text 15"/>
          <p:cNvSpPr txBox="1"/>
          <p:nvPr/>
        </p:nvSpPr>
        <p:spPr>
          <a:xfrm>
            <a:off x="7818120" y="1828800"/>
            <a:ext cx="3459175" cy="274320"/>
          </a:xfrm>
          <a:prstGeom prst="rect">
            <a:avLst/>
          </a:prstGeom>
          <a:noFill/>
          <a:ln/>
        </p:spPr>
        <p:txBody>
          <a:bodyPr wrap="square" lIns="0" tIns="0" rIns="0" bIns="0" rtlCol="0" anchor="t"/>
          <a:lstStyle/>
          <a:p>
            <a:pPr marL="0" indent="0">
              <a:buNone/>
            </a:pPr>
            <a:r>
              <a:rPr lang="en-US" sz="1100" b="1" kern="0" spc="200" dirty="0">
                <a:solidFill>
                  <a:srgbClr val="E3202A"/>
                </a:solidFill>
                <a:latin typeface="Calibri" pitchFamily="34" charset="0"/>
                <a:ea typeface="Calibri" pitchFamily="34" charset="-122"/>
                <a:cs typeface="Calibri" pitchFamily="34" charset="-120"/>
              </a:rPr>
              <a:t>WHAT THE RESORT NEEDS</a:t>
            </a:r>
            <a:endParaRPr lang="en-US" sz="1100" dirty="0"/>
          </a:p>
        </p:txBody>
      </p:sp>
      <p:pic>
        <p:nvPicPr>
          <p:cNvPr id="23" name="Image 5" descr="preencoded.png"/>
          <p:cNvPicPr>
            <a:picLocks noChangeAspect="1"/>
          </p:cNvPicPr>
          <p:nvPr/>
        </p:nvPicPr>
        <p:blipFill>
          <a:blip r:embed="rId8"/>
          <a:stretch>
            <a:fillRect/>
          </a:stretch>
        </p:blipFill>
        <p:spPr>
          <a:xfrm>
            <a:off x="7818120" y="2322576"/>
            <a:ext cx="237744" cy="237744"/>
          </a:xfrm>
          <a:prstGeom prst="rect">
            <a:avLst/>
          </a:prstGeom>
        </p:spPr>
      </p:pic>
      <p:sp>
        <p:nvSpPr>
          <p:cNvPr id="24" name="Text 16"/>
          <p:cNvSpPr txBox="1"/>
          <p:nvPr/>
        </p:nvSpPr>
        <p:spPr>
          <a:xfrm>
            <a:off x="8183880" y="2286000"/>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Automatic prevention of malware and ransomware</a:t>
            </a:r>
            <a:endParaRPr lang="en-US" sz="1300" dirty="0"/>
          </a:p>
        </p:txBody>
      </p:sp>
      <p:pic>
        <p:nvPicPr>
          <p:cNvPr id="25" name="Image 6" descr="preencoded.png"/>
          <p:cNvPicPr>
            <a:picLocks noChangeAspect="1"/>
          </p:cNvPicPr>
          <p:nvPr/>
        </p:nvPicPr>
        <p:blipFill>
          <a:blip r:embed="rId8"/>
          <a:stretch>
            <a:fillRect/>
          </a:stretch>
        </p:blipFill>
        <p:spPr>
          <a:xfrm>
            <a:off x="7818120" y="2852928"/>
            <a:ext cx="237744" cy="237744"/>
          </a:xfrm>
          <a:prstGeom prst="rect">
            <a:avLst/>
          </a:prstGeom>
        </p:spPr>
      </p:pic>
      <p:sp>
        <p:nvSpPr>
          <p:cNvPr id="26" name="Text 17"/>
          <p:cNvSpPr txBox="1"/>
          <p:nvPr/>
        </p:nvSpPr>
        <p:spPr>
          <a:xfrm>
            <a:off x="8183880" y="2816352"/>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Real-time detection and containment of attacks</a:t>
            </a:r>
            <a:endParaRPr lang="en-US" sz="1300" dirty="0"/>
          </a:p>
        </p:txBody>
      </p:sp>
      <p:pic>
        <p:nvPicPr>
          <p:cNvPr id="27" name="Image 7" descr="preencoded.png"/>
          <p:cNvPicPr>
            <a:picLocks noChangeAspect="1"/>
          </p:cNvPicPr>
          <p:nvPr/>
        </p:nvPicPr>
        <p:blipFill>
          <a:blip r:embed="rId8"/>
          <a:stretch>
            <a:fillRect/>
          </a:stretch>
        </p:blipFill>
        <p:spPr>
          <a:xfrm>
            <a:off x="7818120" y="3383280"/>
            <a:ext cx="237744" cy="237744"/>
          </a:xfrm>
          <a:prstGeom prst="rect">
            <a:avLst/>
          </a:prstGeom>
        </p:spPr>
      </p:pic>
      <p:sp>
        <p:nvSpPr>
          <p:cNvPr id="28" name="Text 18"/>
          <p:cNvSpPr txBox="1"/>
          <p:nvPr/>
        </p:nvSpPr>
        <p:spPr>
          <a:xfrm>
            <a:off x="8183880" y="3346704"/>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Low day-to-day workload for the IT team</a:t>
            </a:r>
            <a:endParaRPr lang="en-US" sz="1300" dirty="0"/>
          </a:p>
        </p:txBody>
      </p:sp>
      <p:pic>
        <p:nvPicPr>
          <p:cNvPr id="29" name="Image 8" descr="preencoded.png"/>
          <p:cNvPicPr>
            <a:picLocks noChangeAspect="1"/>
          </p:cNvPicPr>
          <p:nvPr/>
        </p:nvPicPr>
        <p:blipFill>
          <a:blip r:embed="rId8"/>
          <a:stretch>
            <a:fillRect/>
          </a:stretch>
        </p:blipFill>
        <p:spPr>
          <a:xfrm>
            <a:off x="7818120" y="3913632"/>
            <a:ext cx="237744" cy="237744"/>
          </a:xfrm>
          <a:prstGeom prst="rect">
            <a:avLst/>
          </a:prstGeom>
        </p:spPr>
      </p:pic>
      <p:sp>
        <p:nvSpPr>
          <p:cNvPr id="30" name="Text 19"/>
          <p:cNvSpPr txBox="1"/>
          <p:nvPr/>
        </p:nvSpPr>
        <p:spPr>
          <a:xfrm>
            <a:off x="8183880" y="3877056"/>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Expert help available 24/7</a:t>
            </a:r>
            <a:endParaRPr lang="en-US" sz="1300" dirty="0"/>
          </a:p>
        </p:txBody>
      </p:sp>
      <p:pic>
        <p:nvPicPr>
          <p:cNvPr id="31" name="Image 9" descr="preencoded.png"/>
          <p:cNvPicPr>
            <a:picLocks noChangeAspect="1"/>
          </p:cNvPicPr>
          <p:nvPr/>
        </p:nvPicPr>
        <p:blipFill>
          <a:blip r:embed="rId8"/>
          <a:stretch>
            <a:fillRect/>
          </a:stretch>
        </p:blipFill>
        <p:spPr>
          <a:xfrm>
            <a:off x="7818120" y="4443984"/>
            <a:ext cx="237744" cy="237744"/>
          </a:xfrm>
          <a:prstGeom prst="rect">
            <a:avLst/>
          </a:prstGeom>
        </p:spPr>
      </p:pic>
      <p:sp>
        <p:nvSpPr>
          <p:cNvPr id="32" name="Text 20"/>
          <p:cNvSpPr txBox="1"/>
          <p:nvPr/>
        </p:nvSpPr>
        <p:spPr>
          <a:xfrm>
            <a:off x="8183880" y="4407408"/>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Clear reporting for management and audits</a:t>
            </a:r>
            <a:endParaRPr lang="en-US" sz="1300" dirty="0"/>
          </a:p>
        </p:txBody>
      </p:sp>
      <p:sp>
        <p:nvSpPr>
          <p:cNvPr id="33" name="Text 21"/>
          <p:cNvSpPr txBox="1"/>
          <p:nvPr/>
        </p:nvSpPr>
        <p:spPr>
          <a:xfrm>
            <a:off x="7818120" y="5120640"/>
            <a:ext cx="3459175" cy="548640"/>
          </a:xfrm>
          <a:prstGeom prst="rect">
            <a:avLst/>
          </a:prstGeom>
          <a:noFill/>
          <a:ln/>
        </p:spPr>
        <p:txBody>
          <a:bodyPr wrap="square" lIns="0" tIns="0" rIns="0" bIns="0" rtlCol="0" anchor="ctr"/>
          <a:lstStyle/>
          <a:p>
            <a:pPr marL="0" indent="0">
              <a:buNone/>
            </a:pPr>
            <a:r>
              <a:rPr lang="en-US" sz="1400" b="1" i="1" dirty="0">
                <a:solidFill>
                  <a:srgbClr val="FFFFFF"/>
                </a:solidFill>
                <a:latin typeface="Calibri" pitchFamily="34" charset="0"/>
                <a:ea typeface="Calibri" pitchFamily="34" charset="-122"/>
                <a:cs typeface="Calibri" pitchFamily="34" charset="-120"/>
              </a:rPr>
              <a:t>The goal is not more reports — it is fewer incidents.</a:t>
            </a:r>
            <a:endParaRPr lang="en-US" sz="1400" dirty="0"/>
          </a:p>
        </p:txBody>
      </p:sp>
      <p:sp>
        <p:nvSpPr>
          <p:cNvPr id="34" name="Text 22"/>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03   |   Nessus vs. CrowdStrike Falcon Platform  ·  Proposal for The Westin Resort Guam</a:t>
            </a:r>
            <a:endParaRPr lang="en-US" sz="900" dirty="0"/>
          </a:p>
        </p:txBody>
      </p:sp>
      <p:pic>
        <p:nvPicPr>
          <p:cNvPr id="35" name="Image 10" descr="/private/tmp/claude-501/-Users-jihanvin-Desktop-NIVNAH-AI/16a96446-d9b3-40e2-af9e-a3011ae3db84/scratchpad/assets/secukorea_dark.png"/>
          <p:cNvPicPr>
            <a:picLocks noChangeAspect="1"/>
          </p:cNvPicPr>
          <p:nvPr/>
        </p:nvPicPr>
        <p:blipFill>
          <a:blip r:embed="rId9"/>
          <a:stretch>
            <a:fillRect/>
          </a:stretch>
        </p:blipFill>
        <p:spPr>
          <a:xfrm>
            <a:off x="10661904" y="6400800"/>
            <a:ext cx="978408" cy="23317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0D1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02   THREAT LANDSCAPE</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Attackers Now Move Faster Than Any Scan Cycle</a:t>
            </a:r>
            <a:endParaRPr lang="en-US" sz="2800" dirty="0"/>
          </a:p>
        </p:txBody>
      </p:sp>
      <p:pic>
        <p:nvPicPr>
          <p:cNvPr id="4" name="Image 0" descr="/private/tmp/claude-501/-Users-jihanvin-Desktop-NIVNAH-AI/16a96446-d9b3-40e2-af9e-a3011ae3db84/scratchpad/assets/westin_white.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600200"/>
            <a:ext cx="2567864" cy="2148840"/>
          </a:xfrm>
          <a:prstGeom prst="roundRect">
            <a:avLst>
              <a:gd name="adj" fmla="val 3404"/>
            </a:avLst>
          </a:prstGeom>
          <a:solidFill>
            <a:srgbClr val="171B22"/>
          </a:solidFill>
          <a:ln w="9525">
            <a:solidFill>
              <a:srgbClr val="2A303A"/>
            </a:solidFill>
            <a:prstDash val="solid"/>
          </a:ln>
        </p:spPr>
      </p:sp>
      <p:sp>
        <p:nvSpPr>
          <p:cNvPr id="6" name="Text 3"/>
          <p:cNvSpPr txBox="1"/>
          <p:nvPr/>
        </p:nvSpPr>
        <p:spPr>
          <a:xfrm>
            <a:off x="822960" y="1874520"/>
            <a:ext cx="2019224" cy="777240"/>
          </a:xfrm>
          <a:prstGeom prst="rect">
            <a:avLst/>
          </a:prstGeom>
          <a:noFill/>
          <a:ln/>
        </p:spPr>
        <p:txBody>
          <a:bodyPr wrap="square" lIns="0" tIns="0" rIns="0" bIns="0" rtlCol="0" anchor="ctr"/>
          <a:lstStyle/>
          <a:p>
            <a:pPr marL="0" indent="0">
              <a:buNone/>
            </a:pPr>
            <a:r>
              <a:rPr lang="en-US" sz="4000" b="1" dirty="0">
                <a:solidFill>
                  <a:srgbClr val="E3202A"/>
                </a:solidFill>
                <a:latin typeface="Arial" pitchFamily="34" charset="0"/>
                <a:ea typeface="Arial" pitchFamily="34" charset="-122"/>
                <a:cs typeface="Arial" pitchFamily="34" charset="-120"/>
              </a:rPr>
              <a:t>27 sec</a:t>
            </a:r>
            <a:endParaRPr lang="en-US" sz="4000" dirty="0"/>
          </a:p>
        </p:txBody>
      </p:sp>
      <p:sp>
        <p:nvSpPr>
          <p:cNvPr id="7" name="Text 4"/>
          <p:cNvSpPr txBox="1"/>
          <p:nvPr/>
        </p:nvSpPr>
        <p:spPr>
          <a:xfrm>
            <a:off x="822960" y="2715768"/>
            <a:ext cx="2019224"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Fastest eCrime breakout time on record — from first foothold to other systems</a:t>
            </a:r>
            <a:endParaRPr lang="en-US" sz="1200" dirty="0"/>
          </a:p>
        </p:txBody>
      </p:sp>
      <p:sp>
        <p:nvSpPr>
          <p:cNvPr id="8" name="Shape 5"/>
          <p:cNvSpPr/>
          <p:nvPr/>
        </p:nvSpPr>
        <p:spPr>
          <a:xfrm>
            <a:off x="3390824" y="1600200"/>
            <a:ext cx="2567864" cy="2148840"/>
          </a:xfrm>
          <a:prstGeom prst="roundRect">
            <a:avLst>
              <a:gd name="adj" fmla="val 3404"/>
            </a:avLst>
          </a:prstGeom>
          <a:solidFill>
            <a:srgbClr val="171B22"/>
          </a:solidFill>
          <a:ln w="9525">
            <a:solidFill>
              <a:srgbClr val="2A303A"/>
            </a:solidFill>
            <a:prstDash val="solid"/>
          </a:ln>
        </p:spPr>
      </p:sp>
      <p:sp>
        <p:nvSpPr>
          <p:cNvPr id="9" name="Text 6"/>
          <p:cNvSpPr txBox="1"/>
          <p:nvPr/>
        </p:nvSpPr>
        <p:spPr>
          <a:xfrm>
            <a:off x="3665144" y="1874520"/>
            <a:ext cx="2019224" cy="777240"/>
          </a:xfrm>
          <a:prstGeom prst="rect">
            <a:avLst/>
          </a:prstGeom>
          <a:noFill/>
          <a:ln/>
        </p:spPr>
        <p:txBody>
          <a:bodyPr wrap="square" lIns="0" tIns="0" rIns="0" bIns="0" rtlCol="0" anchor="ctr"/>
          <a:lstStyle/>
          <a:p>
            <a:pPr marL="0" indent="0">
              <a:buNone/>
            </a:pPr>
            <a:r>
              <a:rPr lang="en-US" sz="4000" b="1" dirty="0">
                <a:solidFill>
                  <a:srgbClr val="E3202A"/>
                </a:solidFill>
                <a:latin typeface="Arial" pitchFamily="34" charset="0"/>
                <a:ea typeface="Arial" pitchFamily="34" charset="-122"/>
                <a:cs typeface="Arial" pitchFamily="34" charset="-120"/>
              </a:rPr>
              <a:t>89%</a:t>
            </a:r>
            <a:endParaRPr lang="en-US" sz="4000" dirty="0"/>
          </a:p>
        </p:txBody>
      </p:sp>
      <p:sp>
        <p:nvSpPr>
          <p:cNvPr id="10" name="Text 7"/>
          <p:cNvSpPr txBox="1"/>
          <p:nvPr/>
        </p:nvSpPr>
        <p:spPr>
          <a:xfrm>
            <a:off x="3665144" y="2715768"/>
            <a:ext cx="2019224"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Increase in attacks by AI-enabled adversaries in 2025</a:t>
            </a:r>
            <a:endParaRPr lang="en-US" sz="1200" dirty="0"/>
          </a:p>
        </p:txBody>
      </p:sp>
      <p:sp>
        <p:nvSpPr>
          <p:cNvPr id="11" name="Shape 8"/>
          <p:cNvSpPr/>
          <p:nvPr/>
        </p:nvSpPr>
        <p:spPr>
          <a:xfrm>
            <a:off x="6233008" y="1600200"/>
            <a:ext cx="2567864" cy="2148840"/>
          </a:xfrm>
          <a:prstGeom prst="roundRect">
            <a:avLst>
              <a:gd name="adj" fmla="val 3404"/>
            </a:avLst>
          </a:prstGeom>
          <a:solidFill>
            <a:srgbClr val="171B22"/>
          </a:solidFill>
          <a:ln w="9525">
            <a:solidFill>
              <a:srgbClr val="2A303A"/>
            </a:solidFill>
            <a:prstDash val="solid"/>
          </a:ln>
        </p:spPr>
      </p:sp>
      <p:sp>
        <p:nvSpPr>
          <p:cNvPr id="12" name="Text 9"/>
          <p:cNvSpPr txBox="1"/>
          <p:nvPr/>
        </p:nvSpPr>
        <p:spPr>
          <a:xfrm>
            <a:off x="6507328" y="1874520"/>
            <a:ext cx="2019224" cy="777240"/>
          </a:xfrm>
          <a:prstGeom prst="rect">
            <a:avLst/>
          </a:prstGeom>
          <a:noFill/>
          <a:ln/>
        </p:spPr>
        <p:txBody>
          <a:bodyPr wrap="square" lIns="0" tIns="0" rIns="0" bIns="0" rtlCol="0" anchor="ctr"/>
          <a:lstStyle/>
          <a:p>
            <a:pPr marL="0" indent="0">
              <a:buNone/>
            </a:pPr>
            <a:r>
              <a:rPr lang="en-US" sz="4000" b="1" dirty="0">
                <a:solidFill>
                  <a:srgbClr val="E3202A"/>
                </a:solidFill>
                <a:latin typeface="Arial" pitchFamily="34" charset="0"/>
                <a:ea typeface="Arial" pitchFamily="34" charset="-122"/>
                <a:cs typeface="Arial" pitchFamily="34" charset="-120"/>
              </a:rPr>
              <a:t>42%</a:t>
            </a:r>
            <a:endParaRPr lang="en-US" sz="4000" dirty="0"/>
          </a:p>
        </p:txBody>
      </p:sp>
      <p:sp>
        <p:nvSpPr>
          <p:cNvPr id="13" name="Text 10"/>
          <p:cNvSpPr txBox="1"/>
          <p:nvPr/>
        </p:nvSpPr>
        <p:spPr>
          <a:xfrm>
            <a:off x="6507328" y="2715768"/>
            <a:ext cx="2019224"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Increase in zero-day vulnerabilities exploited before public disclosure</a:t>
            </a:r>
            <a:endParaRPr lang="en-US" sz="1200" dirty="0"/>
          </a:p>
        </p:txBody>
      </p:sp>
      <p:sp>
        <p:nvSpPr>
          <p:cNvPr id="14" name="Shape 11"/>
          <p:cNvSpPr/>
          <p:nvPr/>
        </p:nvSpPr>
        <p:spPr>
          <a:xfrm>
            <a:off x="9075191" y="1600200"/>
            <a:ext cx="2567864" cy="2148840"/>
          </a:xfrm>
          <a:prstGeom prst="roundRect">
            <a:avLst>
              <a:gd name="adj" fmla="val 3404"/>
            </a:avLst>
          </a:prstGeom>
          <a:solidFill>
            <a:srgbClr val="171B22"/>
          </a:solidFill>
          <a:ln w="9525">
            <a:solidFill>
              <a:srgbClr val="2A303A"/>
            </a:solidFill>
            <a:prstDash val="solid"/>
          </a:ln>
        </p:spPr>
      </p:sp>
      <p:sp>
        <p:nvSpPr>
          <p:cNvPr id="15" name="Text 12"/>
          <p:cNvSpPr txBox="1"/>
          <p:nvPr/>
        </p:nvSpPr>
        <p:spPr>
          <a:xfrm>
            <a:off x="9349511" y="1874520"/>
            <a:ext cx="2019224" cy="777240"/>
          </a:xfrm>
          <a:prstGeom prst="rect">
            <a:avLst/>
          </a:prstGeom>
          <a:noFill/>
          <a:ln/>
        </p:spPr>
        <p:txBody>
          <a:bodyPr wrap="square" lIns="0" tIns="0" rIns="0" bIns="0" rtlCol="0" anchor="ctr"/>
          <a:lstStyle/>
          <a:p>
            <a:pPr marL="0" indent="0">
              <a:buNone/>
            </a:pPr>
            <a:r>
              <a:rPr lang="en-US" sz="4000" b="1" dirty="0">
                <a:solidFill>
                  <a:srgbClr val="E3202A"/>
                </a:solidFill>
                <a:latin typeface="Arial" pitchFamily="34" charset="0"/>
                <a:ea typeface="Arial" pitchFamily="34" charset="-122"/>
                <a:cs typeface="Arial" pitchFamily="34" charset="-120"/>
              </a:rPr>
              <a:t>78%</a:t>
            </a:r>
            <a:endParaRPr lang="en-US" sz="4000" dirty="0"/>
          </a:p>
        </p:txBody>
      </p:sp>
      <p:sp>
        <p:nvSpPr>
          <p:cNvPr id="16" name="Text 13"/>
          <p:cNvSpPr txBox="1"/>
          <p:nvPr/>
        </p:nvSpPr>
        <p:spPr>
          <a:xfrm>
            <a:off x="9349511" y="2715768"/>
            <a:ext cx="2019224"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Of surveyed organizations were hit by ransomware in the past year</a:t>
            </a:r>
            <a:endParaRPr lang="en-US" sz="1200" dirty="0"/>
          </a:p>
        </p:txBody>
      </p:sp>
      <p:sp>
        <p:nvSpPr>
          <p:cNvPr id="17" name="Text 14"/>
          <p:cNvSpPr txBox="1"/>
          <p:nvPr/>
        </p:nvSpPr>
        <p:spPr>
          <a:xfrm>
            <a:off x="548640" y="4114800"/>
            <a:ext cx="11094415" cy="274320"/>
          </a:xfrm>
          <a:prstGeom prst="rect">
            <a:avLst/>
          </a:prstGeom>
          <a:noFill/>
          <a:ln/>
        </p:spPr>
        <p:txBody>
          <a:bodyPr wrap="square" lIns="0" tIns="0" rIns="0" bIns="0" rtlCol="0" anchor="t"/>
          <a:lstStyle/>
          <a:p>
            <a:pPr marL="0" indent="0">
              <a:buNone/>
            </a:pPr>
            <a:r>
              <a:rPr lang="en-US" sz="1100" b="1" kern="0" spc="200" dirty="0">
                <a:solidFill>
                  <a:srgbClr val="FFFFFF"/>
                </a:solidFill>
                <a:latin typeface="Calibri" pitchFamily="34" charset="0"/>
                <a:ea typeface="Calibri" pitchFamily="34" charset="-122"/>
                <a:cs typeface="Calibri" pitchFamily="34" charset="-120"/>
              </a:rPr>
              <a:t>WHAT THIS MEANS FOR A SCAN-BASED APPROACH</a:t>
            </a:r>
            <a:endParaRPr lang="en-US" sz="1100" dirty="0"/>
          </a:p>
        </p:txBody>
      </p:sp>
      <p:sp>
        <p:nvSpPr>
          <p:cNvPr id="18" name="Shape 15"/>
          <p:cNvSpPr/>
          <p:nvPr/>
        </p:nvSpPr>
        <p:spPr>
          <a:xfrm>
            <a:off x="548640" y="4572000"/>
            <a:ext cx="502920" cy="502920"/>
          </a:xfrm>
          <a:prstGeom prst="roundRect">
            <a:avLst>
              <a:gd name="adj" fmla="val 18182"/>
            </a:avLst>
          </a:prstGeom>
          <a:solidFill>
            <a:srgbClr val="E3202A"/>
          </a:solidFill>
          <a:ln w="12700">
            <a:solidFill>
              <a:srgbClr val="E3202A"/>
            </a:solidFill>
            <a:prstDash val="solid"/>
          </a:ln>
        </p:spPr>
      </p:sp>
      <p:pic>
        <p:nvPicPr>
          <p:cNvPr id="19" name="Image 1" descr="preencoded.png"/>
          <p:cNvPicPr>
            <a:picLocks noChangeAspect="1"/>
          </p:cNvPicPr>
          <p:nvPr/>
        </p:nvPicPr>
        <p:blipFill>
          <a:blip r:embed="rId4"/>
          <a:stretch>
            <a:fillRect/>
          </a:stretch>
        </p:blipFill>
        <p:spPr>
          <a:xfrm>
            <a:off x="659282" y="4682642"/>
            <a:ext cx="281635" cy="281635"/>
          </a:xfrm>
          <a:prstGeom prst="rect">
            <a:avLst/>
          </a:prstGeom>
        </p:spPr>
      </p:pic>
      <p:sp>
        <p:nvSpPr>
          <p:cNvPr id="20" name="Text 16"/>
          <p:cNvSpPr txBox="1"/>
          <p:nvPr/>
        </p:nvSpPr>
        <p:spPr>
          <a:xfrm>
            <a:off x="1234440" y="4553712"/>
            <a:ext cx="2783738" cy="292608"/>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Nothing to scan for</a:t>
            </a:r>
            <a:endParaRPr lang="en-US" sz="1400" dirty="0"/>
          </a:p>
        </p:txBody>
      </p:sp>
      <p:sp>
        <p:nvSpPr>
          <p:cNvPr id="21" name="Text 17"/>
          <p:cNvSpPr txBox="1"/>
          <p:nvPr/>
        </p:nvSpPr>
        <p:spPr>
          <a:xfrm>
            <a:off x="1234440" y="4882896"/>
            <a:ext cx="2783738" cy="86868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A zero-day exploited before disclosure has no scanner check yet — a scan cannot find what is not yet known.</a:t>
            </a:r>
            <a:endParaRPr lang="en-US" sz="1200" dirty="0"/>
          </a:p>
        </p:txBody>
      </p:sp>
      <p:sp>
        <p:nvSpPr>
          <p:cNvPr id="22" name="Shape 18"/>
          <p:cNvSpPr/>
          <p:nvPr/>
        </p:nvSpPr>
        <p:spPr>
          <a:xfrm>
            <a:off x="4338218" y="4572000"/>
            <a:ext cx="502920" cy="502920"/>
          </a:xfrm>
          <a:prstGeom prst="roundRect">
            <a:avLst>
              <a:gd name="adj" fmla="val 18182"/>
            </a:avLst>
          </a:prstGeom>
          <a:solidFill>
            <a:srgbClr val="E3202A"/>
          </a:solidFill>
          <a:ln w="12700">
            <a:solidFill>
              <a:srgbClr val="E3202A"/>
            </a:solidFill>
            <a:prstDash val="solid"/>
          </a:ln>
        </p:spPr>
      </p:sp>
      <p:pic>
        <p:nvPicPr>
          <p:cNvPr id="23" name="Image 2" descr="preencoded.png"/>
          <p:cNvPicPr>
            <a:picLocks noChangeAspect="1"/>
          </p:cNvPicPr>
          <p:nvPr/>
        </p:nvPicPr>
        <p:blipFill>
          <a:blip r:embed="rId5"/>
          <a:stretch>
            <a:fillRect/>
          </a:stretch>
        </p:blipFill>
        <p:spPr>
          <a:xfrm>
            <a:off x="4448861" y="4682642"/>
            <a:ext cx="281635" cy="281635"/>
          </a:xfrm>
          <a:prstGeom prst="rect">
            <a:avLst/>
          </a:prstGeom>
        </p:spPr>
      </p:pic>
      <p:sp>
        <p:nvSpPr>
          <p:cNvPr id="24" name="Text 19"/>
          <p:cNvSpPr txBox="1"/>
          <p:nvPr/>
        </p:nvSpPr>
        <p:spPr>
          <a:xfrm>
            <a:off x="5024018" y="4553712"/>
            <a:ext cx="2783738" cy="292608"/>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Seconds, not weeks</a:t>
            </a:r>
            <a:endParaRPr lang="en-US" sz="1400" dirty="0"/>
          </a:p>
        </p:txBody>
      </p:sp>
      <p:sp>
        <p:nvSpPr>
          <p:cNvPr id="25" name="Text 20"/>
          <p:cNvSpPr txBox="1"/>
          <p:nvPr/>
        </p:nvSpPr>
        <p:spPr>
          <a:xfrm>
            <a:off x="5024018" y="4882896"/>
            <a:ext cx="2783738" cy="86868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A weekly or monthly scan cannot catch an intrusion that spreads to other systems within seconds.</a:t>
            </a:r>
            <a:endParaRPr lang="en-US" sz="1200" dirty="0"/>
          </a:p>
        </p:txBody>
      </p:sp>
      <p:sp>
        <p:nvSpPr>
          <p:cNvPr id="26" name="Shape 21"/>
          <p:cNvSpPr/>
          <p:nvPr/>
        </p:nvSpPr>
        <p:spPr>
          <a:xfrm>
            <a:off x="8127797" y="4572000"/>
            <a:ext cx="502920" cy="502920"/>
          </a:xfrm>
          <a:prstGeom prst="roundRect">
            <a:avLst>
              <a:gd name="adj" fmla="val 18182"/>
            </a:avLst>
          </a:prstGeom>
          <a:solidFill>
            <a:srgbClr val="E3202A"/>
          </a:solidFill>
          <a:ln w="12700">
            <a:solidFill>
              <a:srgbClr val="E3202A"/>
            </a:solidFill>
            <a:prstDash val="solid"/>
          </a:ln>
        </p:spPr>
      </p:sp>
      <p:pic>
        <p:nvPicPr>
          <p:cNvPr id="27" name="Image 3" descr="preencoded.png"/>
          <p:cNvPicPr>
            <a:picLocks noChangeAspect="1"/>
          </p:cNvPicPr>
          <p:nvPr/>
        </p:nvPicPr>
        <p:blipFill>
          <a:blip r:embed="rId6"/>
          <a:stretch>
            <a:fillRect/>
          </a:stretch>
        </p:blipFill>
        <p:spPr>
          <a:xfrm>
            <a:off x="8238439" y="4682642"/>
            <a:ext cx="281635" cy="281635"/>
          </a:xfrm>
          <a:prstGeom prst="rect">
            <a:avLst/>
          </a:prstGeom>
        </p:spPr>
      </p:pic>
      <p:sp>
        <p:nvSpPr>
          <p:cNvPr id="28" name="Text 22"/>
          <p:cNvSpPr txBox="1"/>
          <p:nvPr/>
        </p:nvSpPr>
        <p:spPr>
          <a:xfrm>
            <a:off x="8813597" y="4553712"/>
            <a:ext cx="2783738" cy="292608"/>
          </a:xfrm>
          <a:prstGeom prst="rect">
            <a:avLst/>
          </a:prstGeom>
          <a:noFill/>
          <a:ln/>
        </p:spPr>
        <p:txBody>
          <a:bodyPr wrap="square" lIns="0" tIns="0" rIns="0" bIns="0" rtlCol="0" anchor="t"/>
          <a:lstStyle/>
          <a:p>
            <a:pPr marL="0" indent="0">
              <a:buNone/>
            </a:pPr>
            <a:r>
              <a:rPr lang="en-US" sz="1400" b="1" dirty="0">
                <a:solidFill>
                  <a:srgbClr val="FFFFFF"/>
                </a:solidFill>
                <a:latin typeface="Arial" pitchFamily="34" charset="0"/>
                <a:ea typeface="Arial" pitchFamily="34" charset="-122"/>
                <a:cs typeface="Arial" pitchFamily="34" charset="-120"/>
              </a:rPr>
              <a:t>Paying is no safety net</a:t>
            </a:r>
            <a:endParaRPr lang="en-US" sz="1400" dirty="0"/>
          </a:p>
        </p:txBody>
      </p:sp>
      <p:sp>
        <p:nvSpPr>
          <p:cNvPr id="29" name="Text 23"/>
          <p:cNvSpPr txBox="1"/>
          <p:nvPr/>
        </p:nvSpPr>
        <p:spPr>
          <a:xfrm>
            <a:off x="8813597" y="4882896"/>
            <a:ext cx="2783738" cy="86868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83% of victims who paid a ransom were attacked again, and 93% had data stolen anyway.</a:t>
            </a:r>
            <a:endParaRPr lang="en-US" sz="1200" dirty="0"/>
          </a:p>
        </p:txBody>
      </p:sp>
      <p:sp>
        <p:nvSpPr>
          <p:cNvPr id="30" name="Text 24"/>
          <p:cNvSpPr txBox="1"/>
          <p:nvPr/>
        </p:nvSpPr>
        <p:spPr>
          <a:xfrm>
            <a:off x="548640" y="6108192"/>
            <a:ext cx="11094415" cy="237744"/>
          </a:xfrm>
          <a:prstGeom prst="rect">
            <a:avLst/>
          </a:prstGeom>
          <a:noFill/>
          <a:ln/>
        </p:spPr>
        <p:txBody>
          <a:bodyPr wrap="square" lIns="0" tIns="0" rIns="0" bIns="0" rtlCol="0" anchor="b"/>
          <a:lstStyle/>
          <a:p>
            <a:pPr marL="0" indent="0">
              <a:buNone/>
            </a:pPr>
            <a:r>
              <a:rPr lang="en-US" sz="800" i="1" dirty="0">
                <a:solidFill>
                  <a:srgbClr val="7D8794"/>
                </a:solidFill>
                <a:latin typeface="Calibri" pitchFamily="34" charset="0"/>
                <a:ea typeface="Calibri" pitchFamily="34" charset="-122"/>
                <a:cs typeface="Calibri" pitchFamily="34" charset="-120"/>
              </a:rPr>
              <a:t>Sources: CrowdStrike 2026 Global Threat Report; CrowdStrike State of Ransomware Survey.</a:t>
            </a:r>
            <a:endParaRPr lang="en-US" sz="800" dirty="0"/>
          </a:p>
        </p:txBody>
      </p:sp>
      <p:sp>
        <p:nvSpPr>
          <p:cNvPr id="31" name="Text 25"/>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8A93A0"/>
                </a:solidFill>
                <a:latin typeface="Calibri" pitchFamily="34" charset="0"/>
                <a:ea typeface="Calibri" pitchFamily="34" charset="-122"/>
                <a:cs typeface="Calibri" pitchFamily="34" charset="-120"/>
              </a:rPr>
              <a:t>04   |   Nessus vs. CrowdStrike Falcon Platform  ·  Proposal for The Westin Resort Guam</a:t>
            </a:r>
            <a:endParaRPr lang="en-US" sz="900" dirty="0"/>
          </a:p>
        </p:txBody>
      </p:sp>
      <p:pic>
        <p:nvPicPr>
          <p:cNvPr id="32" name="Image 4" descr="/private/tmp/claude-501/-Users-jihanvin-Desktop-NIVNAH-AI/16a96446-d9b3-40e2-af9e-a3011ae3db84/scratchpad/assets/secukorea_light.png"/>
          <p:cNvPicPr>
            <a:picLocks noChangeAspect="1"/>
          </p:cNvPicPr>
          <p:nvPr/>
        </p:nvPicPr>
        <p:blipFill>
          <a:blip r:embed="rId7"/>
          <a:stretch>
            <a:fillRect/>
          </a:stretch>
        </p:blipFill>
        <p:spPr>
          <a:xfrm>
            <a:off x="10661904" y="6400800"/>
            <a:ext cx="978408" cy="23317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03   EXISTING TOOL</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What Nessus Does — and Where It Stops</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600200"/>
            <a:ext cx="2487168" cy="1417320"/>
          </a:xfrm>
          <a:prstGeom prst="roundRect">
            <a:avLst>
              <a:gd name="adj" fmla="val 5161"/>
            </a:avLst>
          </a:prstGeom>
          <a:solidFill>
            <a:srgbClr val="EAEEF3"/>
          </a:solidFill>
          <a:ln w="12700">
            <a:solidFill>
              <a:srgbClr val="EAEEF3"/>
            </a:solidFill>
            <a:prstDash val="solid"/>
          </a:ln>
        </p:spPr>
      </p:sp>
      <p:pic>
        <p:nvPicPr>
          <p:cNvPr id="6" name="Image 1" descr="preencoded.png"/>
          <p:cNvPicPr>
            <a:picLocks noChangeAspect="1"/>
          </p:cNvPicPr>
          <p:nvPr/>
        </p:nvPicPr>
        <p:blipFill>
          <a:blip r:embed="rId4"/>
          <a:stretch>
            <a:fillRect/>
          </a:stretch>
        </p:blipFill>
        <p:spPr>
          <a:xfrm>
            <a:off x="777240" y="1828800"/>
            <a:ext cx="292608" cy="292608"/>
          </a:xfrm>
          <a:prstGeom prst="rect">
            <a:avLst/>
          </a:prstGeom>
        </p:spPr>
      </p:pic>
      <p:sp>
        <p:nvSpPr>
          <p:cNvPr id="7" name="Text 3"/>
          <p:cNvSpPr txBox="1"/>
          <p:nvPr/>
        </p:nvSpPr>
        <p:spPr>
          <a:xfrm>
            <a:off x="1188720" y="1828800"/>
            <a:ext cx="1709928" cy="292608"/>
          </a:xfrm>
          <a:prstGeom prst="rect">
            <a:avLst/>
          </a:prstGeom>
          <a:noFill/>
          <a:ln/>
        </p:spPr>
        <p:txBody>
          <a:bodyPr wrap="square" lIns="0" tIns="0" rIns="0" bIns="0" rtlCol="0" anchor="ctr"/>
          <a:lstStyle/>
          <a:p>
            <a:pPr marL="0" indent="0">
              <a:buNone/>
            </a:pPr>
            <a:r>
              <a:rPr lang="en-US" sz="1150" b="1" kern="0" spc="100" dirty="0">
                <a:solidFill>
                  <a:srgbClr val="5D6B7E"/>
                </a:solidFill>
                <a:latin typeface="Calibri" pitchFamily="34" charset="0"/>
                <a:ea typeface="Calibri" pitchFamily="34" charset="-122"/>
                <a:cs typeface="Calibri" pitchFamily="34" charset="-120"/>
              </a:rPr>
              <a:t>1  SCAN</a:t>
            </a:r>
            <a:endParaRPr lang="en-US" sz="1150" dirty="0"/>
          </a:p>
        </p:txBody>
      </p:sp>
      <p:sp>
        <p:nvSpPr>
          <p:cNvPr id="8" name="Text 4"/>
          <p:cNvSpPr txBox="1"/>
          <p:nvPr/>
        </p:nvSpPr>
        <p:spPr>
          <a:xfrm>
            <a:off x="777240" y="2240280"/>
            <a:ext cx="2075688" cy="685800"/>
          </a:xfrm>
          <a:prstGeom prst="rect">
            <a:avLst/>
          </a:prstGeom>
          <a:noFill/>
          <a:ln/>
        </p:spPr>
        <p:txBody>
          <a:bodyPr wrap="square" lIns="0" tIns="0" rIns="0" bIns="0" rtlCol="0" anchor="t"/>
          <a:lstStyle/>
          <a:p>
            <a:pPr marL="0" indent="0">
              <a:buNone/>
            </a:pPr>
            <a:r>
              <a:rPr lang="en-US" sz="1150" dirty="0">
                <a:solidFill>
                  <a:srgbClr val="151A21"/>
                </a:solidFill>
                <a:latin typeface="Calibri" pitchFamily="34" charset="0"/>
                <a:ea typeface="Calibri" pitchFamily="34" charset="-122"/>
                <a:cs typeface="Calibri" pitchFamily="34" charset="-120"/>
              </a:rPr>
              <a:t>Periodic network and credentialed scans find vulnerabilities and misconfigurations</a:t>
            </a:r>
            <a:endParaRPr lang="en-US" sz="1150" dirty="0"/>
          </a:p>
        </p:txBody>
      </p:sp>
      <p:pic>
        <p:nvPicPr>
          <p:cNvPr id="9" name="Image 2" descr="preencoded.png"/>
          <p:cNvPicPr>
            <a:picLocks noChangeAspect="1"/>
          </p:cNvPicPr>
          <p:nvPr/>
        </p:nvPicPr>
        <p:blipFill>
          <a:blip r:embed="rId5"/>
          <a:stretch>
            <a:fillRect/>
          </a:stretch>
        </p:blipFill>
        <p:spPr>
          <a:xfrm>
            <a:off x="3127248" y="2208276"/>
            <a:ext cx="201168" cy="201168"/>
          </a:xfrm>
          <a:prstGeom prst="rect">
            <a:avLst/>
          </a:prstGeom>
        </p:spPr>
      </p:pic>
      <p:sp>
        <p:nvSpPr>
          <p:cNvPr id="10" name="Shape 5"/>
          <p:cNvSpPr/>
          <p:nvPr/>
        </p:nvSpPr>
        <p:spPr>
          <a:xfrm>
            <a:off x="3419856" y="1600200"/>
            <a:ext cx="2487168" cy="1417320"/>
          </a:xfrm>
          <a:prstGeom prst="roundRect">
            <a:avLst>
              <a:gd name="adj" fmla="val 5161"/>
            </a:avLst>
          </a:prstGeom>
          <a:solidFill>
            <a:srgbClr val="EAEEF3"/>
          </a:solidFill>
          <a:ln w="12700">
            <a:solidFill>
              <a:srgbClr val="EAEEF3"/>
            </a:solidFill>
            <a:prstDash val="solid"/>
          </a:ln>
        </p:spPr>
      </p:sp>
      <p:pic>
        <p:nvPicPr>
          <p:cNvPr id="11" name="Image 3" descr="preencoded.png"/>
          <p:cNvPicPr>
            <a:picLocks noChangeAspect="1"/>
          </p:cNvPicPr>
          <p:nvPr/>
        </p:nvPicPr>
        <p:blipFill>
          <a:blip r:embed="rId6"/>
          <a:stretch>
            <a:fillRect/>
          </a:stretch>
        </p:blipFill>
        <p:spPr>
          <a:xfrm>
            <a:off x="3648456" y="1828800"/>
            <a:ext cx="292608" cy="292608"/>
          </a:xfrm>
          <a:prstGeom prst="rect">
            <a:avLst/>
          </a:prstGeom>
        </p:spPr>
      </p:pic>
      <p:sp>
        <p:nvSpPr>
          <p:cNvPr id="12" name="Text 6"/>
          <p:cNvSpPr txBox="1"/>
          <p:nvPr/>
        </p:nvSpPr>
        <p:spPr>
          <a:xfrm>
            <a:off x="4059936" y="1828800"/>
            <a:ext cx="1709928" cy="292608"/>
          </a:xfrm>
          <a:prstGeom prst="rect">
            <a:avLst/>
          </a:prstGeom>
          <a:noFill/>
          <a:ln/>
        </p:spPr>
        <p:txBody>
          <a:bodyPr wrap="square" lIns="0" tIns="0" rIns="0" bIns="0" rtlCol="0" anchor="ctr"/>
          <a:lstStyle/>
          <a:p>
            <a:pPr marL="0" indent="0">
              <a:buNone/>
            </a:pPr>
            <a:r>
              <a:rPr lang="en-US" sz="1150" b="1" kern="0" spc="100" dirty="0">
                <a:solidFill>
                  <a:srgbClr val="5D6B7E"/>
                </a:solidFill>
                <a:latin typeface="Calibri" pitchFamily="34" charset="0"/>
                <a:ea typeface="Calibri" pitchFamily="34" charset="-122"/>
                <a:cs typeface="Calibri" pitchFamily="34" charset="-120"/>
              </a:rPr>
              <a:t>2  REPORT</a:t>
            </a:r>
            <a:endParaRPr lang="en-US" sz="1150" dirty="0"/>
          </a:p>
        </p:txBody>
      </p:sp>
      <p:sp>
        <p:nvSpPr>
          <p:cNvPr id="13" name="Text 7"/>
          <p:cNvSpPr txBox="1"/>
          <p:nvPr/>
        </p:nvSpPr>
        <p:spPr>
          <a:xfrm>
            <a:off x="3648456" y="2240280"/>
            <a:ext cx="2075688" cy="685800"/>
          </a:xfrm>
          <a:prstGeom prst="rect">
            <a:avLst/>
          </a:prstGeom>
          <a:noFill/>
          <a:ln/>
        </p:spPr>
        <p:txBody>
          <a:bodyPr wrap="square" lIns="0" tIns="0" rIns="0" bIns="0" rtlCol="0" anchor="t"/>
          <a:lstStyle/>
          <a:p>
            <a:pPr marL="0" indent="0">
              <a:buNone/>
            </a:pPr>
            <a:r>
              <a:rPr lang="en-US" sz="1150" dirty="0">
                <a:solidFill>
                  <a:srgbClr val="151A21"/>
                </a:solidFill>
                <a:latin typeface="Calibri" pitchFamily="34" charset="0"/>
                <a:ea typeface="Calibri" pitchFamily="34" charset="-122"/>
                <a:cs typeface="Calibri" pitchFamily="34" charset="-120"/>
              </a:rPr>
              <a:t>Findings are listed with severity ratings to help prioritize</a:t>
            </a:r>
            <a:endParaRPr lang="en-US" sz="1150" dirty="0"/>
          </a:p>
        </p:txBody>
      </p:sp>
      <p:pic>
        <p:nvPicPr>
          <p:cNvPr id="14" name="Image 4" descr="preencoded.png"/>
          <p:cNvPicPr>
            <a:picLocks noChangeAspect="1"/>
          </p:cNvPicPr>
          <p:nvPr/>
        </p:nvPicPr>
        <p:blipFill>
          <a:blip r:embed="rId5"/>
          <a:stretch>
            <a:fillRect/>
          </a:stretch>
        </p:blipFill>
        <p:spPr>
          <a:xfrm>
            <a:off x="5998464" y="2208276"/>
            <a:ext cx="201168" cy="201168"/>
          </a:xfrm>
          <a:prstGeom prst="rect">
            <a:avLst/>
          </a:prstGeom>
        </p:spPr>
      </p:pic>
      <p:sp>
        <p:nvSpPr>
          <p:cNvPr id="15" name="Shape 8"/>
          <p:cNvSpPr/>
          <p:nvPr/>
        </p:nvSpPr>
        <p:spPr>
          <a:xfrm>
            <a:off x="6291072" y="1600200"/>
            <a:ext cx="2487168" cy="1417320"/>
          </a:xfrm>
          <a:prstGeom prst="roundRect">
            <a:avLst>
              <a:gd name="adj" fmla="val 5161"/>
            </a:avLst>
          </a:prstGeom>
          <a:solidFill>
            <a:srgbClr val="EAEEF3"/>
          </a:solidFill>
          <a:ln w="12700">
            <a:solidFill>
              <a:srgbClr val="EAEEF3"/>
            </a:solidFill>
            <a:prstDash val="solid"/>
          </a:ln>
        </p:spPr>
      </p:sp>
      <p:pic>
        <p:nvPicPr>
          <p:cNvPr id="16" name="Image 5" descr="preencoded.png"/>
          <p:cNvPicPr>
            <a:picLocks noChangeAspect="1"/>
          </p:cNvPicPr>
          <p:nvPr/>
        </p:nvPicPr>
        <p:blipFill>
          <a:blip r:embed="rId7"/>
          <a:stretch>
            <a:fillRect/>
          </a:stretch>
        </p:blipFill>
        <p:spPr>
          <a:xfrm>
            <a:off x="6519672" y="1828800"/>
            <a:ext cx="292608" cy="292608"/>
          </a:xfrm>
          <a:prstGeom prst="rect">
            <a:avLst/>
          </a:prstGeom>
        </p:spPr>
      </p:pic>
      <p:sp>
        <p:nvSpPr>
          <p:cNvPr id="17" name="Text 9"/>
          <p:cNvSpPr txBox="1"/>
          <p:nvPr/>
        </p:nvSpPr>
        <p:spPr>
          <a:xfrm>
            <a:off x="6931152" y="1828800"/>
            <a:ext cx="1709928" cy="292608"/>
          </a:xfrm>
          <a:prstGeom prst="rect">
            <a:avLst/>
          </a:prstGeom>
          <a:noFill/>
          <a:ln/>
        </p:spPr>
        <p:txBody>
          <a:bodyPr wrap="square" lIns="0" tIns="0" rIns="0" bIns="0" rtlCol="0" anchor="ctr"/>
          <a:lstStyle/>
          <a:p>
            <a:pPr marL="0" indent="0">
              <a:buNone/>
            </a:pPr>
            <a:r>
              <a:rPr lang="en-US" sz="1150" b="1" kern="0" spc="100" dirty="0">
                <a:solidFill>
                  <a:srgbClr val="5D6B7E"/>
                </a:solidFill>
                <a:latin typeface="Calibri" pitchFamily="34" charset="0"/>
                <a:ea typeface="Calibri" pitchFamily="34" charset="-122"/>
                <a:cs typeface="Calibri" pitchFamily="34" charset="-120"/>
              </a:rPr>
              <a:t>3  MANUAL FOLLOW-UP</a:t>
            </a:r>
            <a:endParaRPr lang="en-US" sz="1150" dirty="0"/>
          </a:p>
        </p:txBody>
      </p:sp>
      <p:sp>
        <p:nvSpPr>
          <p:cNvPr id="18" name="Text 10"/>
          <p:cNvSpPr txBox="1"/>
          <p:nvPr/>
        </p:nvSpPr>
        <p:spPr>
          <a:xfrm>
            <a:off x="6519672" y="2240280"/>
            <a:ext cx="2075688" cy="685800"/>
          </a:xfrm>
          <a:prstGeom prst="rect">
            <a:avLst/>
          </a:prstGeom>
          <a:noFill/>
          <a:ln/>
        </p:spPr>
        <p:txBody>
          <a:bodyPr wrap="square" lIns="0" tIns="0" rIns="0" bIns="0" rtlCol="0" anchor="t"/>
          <a:lstStyle/>
          <a:p>
            <a:pPr marL="0" indent="0">
              <a:buNone/>
            </a:pPr>
            <a:r>
              <a:rPr lang="en-US" sz="1150" dirty="0">
                <a:solidFill>
                  <a:srgbClr val="151A21"/>
                </a:solidFill>
                <a:latin typeface="Calibri" pitchFamily="34" charset="0"/>
                <a:ea typeface="Calibri" pitchFamily="34" charset="-122"/>
                <a:cs typeface="Calibri" pitchFamily="34" charset="-120"/>
              </a:rPr>
              <a:t>IT staff research, patch and verify each finding by hand</a:t>
            </a:r>
            <a:endParaRPr lang="en-US" sz="1150" dirty="0"/>
          </a:p>
        </p:txBody>
      </p:sp>
      <p:pic>
        <p:nvPicPr>
          <p:cNvPr id="19" name="Image 6" descr="preencoded.png"/>
          <p:cNvPicPr>
            <a:picLocks noChangeAspect="1"/>
          </p:cNvPicPr>
          <p:nvPr/>
        </p:nvPicPr>
        <p:blipFill>
          <a:blip r:embed="rId5"/>
          <a:stretch>
            <a:fillRect/>
          </a:stretch>
        </p:blipFill>
        <p:spPr>
          <a:xfrm>
            <a:off x="8869680" y="2208276"/>
            <a:ext cx="201168" cy="201168"/>
          </a:xfrm>
          <a:prstGeom prst="rect">
            <a:avLst/>
          </a:prstGeom>
        </p:spPr>
      </p:pic>
      <p:sp>
        <p:nvSpPr>
          <p:cNvPr id="20" name="Shape 11"/>
          <p:cNvSpPr/>
          <p:nvPr/>
        </p:nvSpPr>
        <p:spPr>
          <a:xfrm>
            <a:off x="9162288" y="1600200"/>
            <a:ext cx="2480767" cy="1417320"/>
          </a:xfrm>
          <a:prstGeom prst="roundRect">
            <a:avLst>
              <a:gd name="adj" fmla="val 5161"/>
            </a:avLst>
          </a:prstGeom>
          <a:solidFill>
            <a:srgbClr val="FDECEC"/>
          </a:solidFill>
          <a:ln w="15875">
            <a:solidFill>
              <a:srgbClr val="E3202A"/>
            </a:solidFill>
            <a:prstDash val="solid"/>
          </a:ln>
        </p:spPr>
      </p:sp>
      <p:pic>
        <p:nvPicPr>
          <p:cNvPr id="21" name="Image 7" descr="preencoded.png"/>
          <p:cNvPicPr>
            <a:picLocks noChangeAspect="1"/>
          </p:cNvPicPr>
          <p:nvPr/>
        </p:nvPicPr>
        <p:blipFill>
          <a:blip r:embed="rId8"/>
          <a:stretch>
            <a:fillRect/>
          </a:stretch>
        </p:blipFill>
        <p:spPr>
          <a:xfrm>
            <a:off x="9390888" y="1828800"/>
            <a:ext cx="292608" cy="292608"/>
          </a:xfrm>
          <a:prstGeom prst="rect">
            <a:avLst/>
          </a:prstGeom>
        </p:spPr>
      </p:pic>
      <p:sp>
        <p:nvSpPr>
          <p:cNvPr id="22" name="Text 12"/>
          <p:cNvSpPr txBox="1"/>
          <p:nvPr/>
        </p:nvSpPr>
        <p:spPr>
          <a:xfrm>
            <a:off x="9802368" y="1828800"/>
            <a:ext cx="1703527" cy="292608"/>
          </a:xfrm>
          <a:prstGeom prst="rect">
            <a:avLst/>
          </a:prstGeom>
          <a:noFill/>
          <a:ln/>
        </p:spPr>
        <p:txBody>
          <a:bodyPr wrap="square" lIns="0" tIns="0" rIns="0" bIns="0" rtlCol="0" anchor="ctr"/>
          <a:lstStyle/>
          <a:p>
            <a:pPr marL="0" indent="0">
              <a:buNone/>
            </a:pPr>
            <a:r>
              <a:rPr lang="en-US" sz="1150" b="1" kern="0" spc="100" dirty="0">
                <a:solidFill>
                  <a:srgbClr val="E3202A"/>
                </a:solidFill>
                <a:latin typeface="Calibri" pitchFamily="34" charset="0"/>
                <a:ea typeface="Calibri" pitchFamily="34" charset="-122"/>
                <a:cs typeface="Calibri" pitchFamily="34" charset="-120"/>
              </a:rPr>
              <a:t>ENDS HERE</a:t>
            </a:r>
            <a:endParaRPr lang="en-US" sz="1150" dirty="0"/>
          </a:p>
        </p:txBody>
      </p:sp>
      <p:sp>
        <p:nvSpPr>
          <p:cNvPr id="23" name="Text 13"/>
          <p:cNvSpPr txBox="1"/>
          <p:nvPr/>
        </p:nvSpPr>
        <p:spPr>
          <a:xfrm>
            <a:off x="9390888" y="2240280"/>
            <a:ext cx="2069287" cy="685800"/>
          </a:xfrm>
          <a:prstGeom prst="rect">
            <a:avLst/>
          </a:prstGeom>
          <a:noFill/>
          <a:ln/>
        </p:spPr>
        <p:txBody>
          <a:bodyPr wrap="square" lIns="0" tIns="0" rIns="0" bIns="0" rtlCol="0" anchor="t"/>
          <a:lstStyle/>
          <a:p>
            <a:pPr marL="0" indent="0">
              <a:buNone/>
            </a:pPr>
            <a:r>
              <a:rPr lang="en-US" sz="1150" b="1" dirty="0">
                <a:solidFill>
                  <a:srgbClr val="B0141C"/>
                </a:solidFill>
                <a:latin typeface="Calibri" pitchFamily="34" charset="0"/>
                <a:ea typeface="Calibri" pitchFamily="34" charset="-122"/>
                <a:cs typeface="Calibri" pitchFamily="34" charset="-120"/>
              </a:rPr>
              <a:t>No prevention · No detection · No response to live attacks</a:t>
            </a:r>
            <a:endParaRPr lang="en-US" sz="1150" dirty="0"/>
          </a:p>
        </p:txBody>
      </p:sp>
      <p:sp>
        <p:nvSpPr>
          <p:cNvPr id="24" name="Shape 14"/>
          <p:cNvSpPr/>
          <p:nvPr/>
        </p:nvSpPr>
        <p:spPr>
          <a:xfrm>
            <a:off x="548640" y="3310128"/>
            <a:ext cx="4297680" cy="2697480"/>
          </a:xfrm>
          <a:prstGeom prst="roundRect">
            <a:avLst>
              <a:gd name="adj" fmla="val 2712"/>
            </a:avLst>
          </a:prstGeom>
          <a:solidFill>
            <a:srgbClr val="F3F5F8"/>
          </a:solidFill>
          <a:ln w="9525">
            <a:solidFill>
              <a:srgbClr val="DCE1E7"/>
            </a:solidFill>
            <a:prstDash val="solid"/>
          </a:ln>
        </p:spPr>
      </p:sp>
      <p:sp>
        <p:nvSpPr>
          <p:cNvPr id="25" name="Text 15"/>
          <p:cNvSpPr txBox="1"/>
          <p:nvPr/>
        </p:nvSpPr>
        <p:spPr>
          <a:xfrm>
            <a:off x="822960" y="3538728"/>
            <a:ext cx="374904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Where Nessus adds value</a:t>
            </a:r>
            <a:endParaRPr lang="en-US" sz="1500" dirty="0"/>
          </a:p>
        </p:txBody>
      </p:sp>
      <p:pic>
        <p:nvPicPr>
          <p:cNvPr id="26" name="Image 8" descr="preencoded.png"/>
          <p:cNvPicPr>
            <a:picLocks noChangeAspect="1"/>
          </p:cNvPicPr>
          <p:nvPr/>
        </p:nvPicPr>
        <p:blipFill>
          <a:blip r:embed="rId9"/>
          <a:stretch>
            <a:fillRect/>
          </a:stretch>
        </p:blipFill>
        <p:spPr>
          <a:xfrm>
            <a:off x="822960" y="4069080"/>
            <a:ext cx="219456" cy="219456"/>
          </a:xfrm>
          <a:prstGeom prst="rect">
            <a:avLst/>
          </a:prstGeom>
        </p:spPr>
      </p:pic>
      <p:sp>
        <p:nvSpPr>
          <p:cNvPr id="27" name="Text 16"/>
          <p:cNvSpPr txBox="1"/>
          <p:nvPr/>
        </p:nvSpPr>
        <p:spPr>
          <a:xfrm>
            <a:off x="1170432" y="4041648"/>
            <a:ext cx="3383280" cy="512064"/>
          </a:xfrm>
          <a:prstGeom prst="rect">
            <a:avLst/>
          </a:prstGeom>
          <a:noFill/>
          <a:ln/>
        </p:spPr>
        <p:txBody>
          <a:bodyPr wrap="square" lIns="0" tIns="0" rIns="0" bIns="0" rtlCol="0" anchor="t"/>
          <a:lstStyle/>
          <a:p>
            <a:pPr marL="0" indent="0">
              <a:buNone/>
            </a:pPr>
            <a:r>
              <a:rPr lang="en-US" sz="1200" dirty="0">
                <a:solidFill>
                  <a:srgbClr val="151A21"/>
                </a:solidFill>
                <a:latin typeface="Calibri" pitchFamily="34" charset="0"/>
                <a:ea typeface="Calibri" pitchFamily="34" charset="-122"/>
                <a:cs typeface="Calibri" pitchFamily="34" charset="-120"/>
              </a:rPr>
              <a:t>Broad discovery of known vulnerabilities and misconfigurations</a:t>
            </a:r>
            <a:endParaRPr lang="en-US" sz="1200" dirty="0"/>
          </a:p>
        </p:txBody>
      </p:sp>
      <p:pic>
        <p:nvPicPr>
          <p:cNvPr id="28" name="Image 9" descr="preencoded.png"/>
          <p:cNvPicPr>
            <a:picLocks noChangeAspect="1"/>
          </p:cNvPicPr>
          <p:nvPr/>
        </p:nvPicPr>
        <p:blipFill>
          <a:blip r:embed="rId9"/>
          <a:stretch>
            <a:fillRect/>
          </a:stretch>
        </p:blipFill>
        <p:spPr>
          <a:xfrm>
            <a:off x="822960" y="4672584"/>
            <a:ext cx="219456" cy="219456"/>
          </a:xfrm>
          <a:prstGeom prst="rect">
            <a:avLst/>
          </a:prstGeom>
        </p:spPr>
      </p:pic>
      <p:sp>
        <p:nvSpPr>
          <p:cNvPr id="29" name="Text 17"/>
          <p:cNvSpPr txBox="1"/>
          <p:nvPr/>
        </p:nvSpPr>
        <p:spPr>
          <a:xfrm>
            <a:off x="1170432" y="4645152"/>
            <a:ext cx="3383280" cy="512064"/>
          </a:xfrm>
          <a:prstGeom prst="rect">
            <a:avLst/>
          </a:prstGeom>
          <a:noFill/>
          <a:ln/>
        </p:spPr>
        <p:txBody>
          <a:bodyPr wrap="square" lIns="0" tIns="0" rIns="0" bIns="0" rtlCol="0" anchor="t"/>
          <a:lstStyle/>
          <a:p>
            <a:pPr marL="0" indent="0">
              <a:buNone/>
            </a:pPr>
            <a:r>
              <a:rPr lang="en-US" sz="1200" dirty="0">
                <a:solidFill>
                  <a:srgbClr val="151A21"/>
                </a:solidFill>
                <a:latin typeface="Calibri" pitchFamily="34" charset="0"/>
                <a:ea typeface="Calibri" pitchFamily="34" charset="-122"/>
                <a:cs typeface="Calibri" pitchFamily="34" charset="-120"/>
              </a:rPr>
              <a:t>Risk-rated findings that help set priorities</a:t>
            </a:r>
            <a:endParaRPr lang="en-US" sz="1200" dirty="0"/>
          </a:p>
        </p:txBody>
      </p:sp>
      <p:pic>
        <p:nvPicPr>
          <p:cNvPr id="30" name="Image 10" descr="preencoded.png"/>
          <p:cNvPicPr>
            <a:picLocks noChangeAspect="1"/>
          </p:cNvPicPr>
          <p:nvPr/>
        </p:nvPicPr>
        <p:blipFill>
          <a:blip r:embed="rId9"/>
          <a:stretch>
            <a:fillRect/>
          </a:stretch>
        </p:blipFill>
        <p:spPr>
          <a:xfrm>
            <a:off x="822960" y="5276088"/>
            <a:ext cx="219456" cy="219456"/>
          </a:xfrm>
          <a:prstGeom prst="rect">
            <a:avLst/>
          </a:prstGeom>
        </p:spPr>
      </p:pic>
      <p:sp>
        <p:nvSpPr>
          <p:cNvPr id="31" name="Text 18"/>
          <p:cNvSpPr txBox="1"/>
          <p:nvPr/>
        </p:nvSpPr>
        <p:spPr>
          <a:xfrm>
            <a:off x="1170432" y="5248656"/>
            <a:ext cx="3383280" cy="512064"/>
          </a:xfrm>
          <a:prstGeom prst="rect">
            <a:avLst/>
          </a:prstGeom>
          <a:noFill/>
          <a:ln/>
        </p:spPr>
        <p:txBody>
          <a:bodyPr wrap="square" lIns="0" tIns="0" rIns="0" bIns="0" rtlCol="0" anchor="t"/>
          <a:lstStyle/>
          <a:p>
            <a:pPr marL="0" indent="0">
              <a:buNone/>
            </a:pPr>
            <a:r>
              <a:rPr lang="en-US" sz="1200" dirty="0">
                <a:solidFill>
                  <a:srgbClr val="151A21"/>
                </a:solidFill>
                <a:latin typeface="Calibri" pitchFamily="34" charset="0"/>
                <a:ea typeface="Calibri" pitchFamily="34" charset="-122"/>
                <a:cs typeface="Calibri" pitchFamily="34" charset="-120"/>
              </a:rPr>
              <a:t>Useful for periodic audits and compliance checks</a:t>
            </a:r>
            <a:endParaRPr lang="en-US" sz="1200" dirty="0"/>
          </a:p>
        </p:txBody>
      </p:sp>
      <p:sp>
        <p:nvSpPr>
          <p:cNvPr id="32" name="Shape 19"/>
          <p:cNvSpPr/>
          <p:nvPr/>
        </p:nvSpPr>
        <p:spPr>
          <a:xfrm>
            <a:off x="5120640" y="3310128"/>
            <a:ext cx="6522415" cy="2697480"/>
          </a:xfrm>
          <a:prstGeom prst="roundRect">
            <a:avLst>
              <a:gd name="adj" fmla="val 2712"/>
            </a:avLst>
          </a:prstGeom>
          <a:solidFill>
            <a:srgbClr val="FFFFFF"/>
          </a:solidFill>
          <a:ln w="9525">
            <a:solidFill>
              <a:srgbClr val="DCE1E7"/>
            </a:solidFill>
            <a:prstDash val="solid"/>
          </a:ln>
        </p:spPr>
      </p:sp>
      <p:sp>
        <p:nvSpPr>
          <p:cNvPr id="33" name="Text 20"/>
          <p:cNvSpPr txBox="1"/>
          <p:nvPr/>
        </p:nvSpPr>
        <p:spPr>
          <a:xfrm>
            <a:off x="5394960" y="3538728"/>
            <a:ext cx="5973775"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Where it falls short for the resort</a:t>
            </a:r>
            <a:endParaRPr lang="en-US" sz="1500" dirty="0"/>
          </a:p>
        </p:txBody>
      </p:sp>
      <p:pic>
        <p:nvPicPr>
          <p:cNvPr id="34" name="Image 11" descr="preencoded.png"/>
          <p:cNvPicPr>
            <a:picLocks noChangeAspect="1"/>
          </p:cNvPicPr>
          <p:nvPr/>
        </p:nvPicPr>
        <p:blipFill>
          <a:blip r:embed="rId10"/>
          <a:stretch>
            <a:fillRect/>
          </a:stretch>
        </p:blipFill>
        <p:spPr>
          <a:xfrm>
            <a:off x="5394960" y="4059936"/>
            <a:ext cx="201168" cy="201168"/>
          </a:xfrm>
          <a:prstGeom prst="rect">
            <a:avLst/>
          </a:prstGeom>
        </p:spPr>
      </p:pic>
      <p:sp>
        <p:nvSpPr>
          <p:cNvPr id="35" name="Text 21"/>
          <p:cNvSpPr txBox="1"/>
          <p:nvPr/>
        </p:nvSpPr>
        <p:spPr>
          <a:xfrm>
            <a:off x="5715000" y="4023360"/>
            <a:ext cx="5653735" cy="292608"/>
          </a:xfrm>
          <a:prstGeom prst="rect">
            <a:avLst/>
          </a:prstGeom>
          <a:noFill/>
          <a:ln/>
        </p:spPr>
        <p:txBody>
          <a:bodyPr wrap="square" lIns="0" tIns="0" rIns="0" bIns="0" rtlCol="0" anchor="ctr"/>
          <a:lstStyle/>
          <a:p>
            <a:pPr marL="0" indent="0">
              <a:buNone/>
            </a:pPr>
            <a:r>
              <a:rPr lang="en-US" sz="1200" b="1" dirty="0">
                <a:solidFill>
                  <a:srgbClr val="151A21"/>
                </a:solidFill>
                <a:latin typeface="Calibri" pitchFamily="34" charset="0"/>
                <a:ea typeface="Calibri" pitchFamily="34" charset="-122"/>
                <a:cs typeface="Calibri" pitchFamily="34" charset="-120"/>
              </a:rPr>
              <a:t>Point-in-time only</a:t>
            </a:r>
            <a:r>
              <a:rPr lang="en-US" sz="1200" dirty="0">
                <a:solidFill>
                  <a:srgbClr val="5E6978"/>
                </a:solidFill>
                <a:latin typeface="Calibri" pitchFamily="34" charset="0"/>
                <a:ea typeface="Calibri" pitchFamily="34" charset="-122"/>
                <a:cs typeface="Calibri" pitchFamily="34" charset="-120"/>
              </a:rPr>
              <a:t>  —  no visibility between scans</a:t>
            </a:r>
            <a:endParaRPr lang="en-US" sz="1200" dirty="0"/>
          </a:p>
        </p:txBody>
      </p:sp>
      <p:pic>
        <p:nvPicPr>
          <p:cNvPr id="36" name="Image 12" descr="preencoded.png"/>
          <p:cNvPicPr>
            <a:picLocks noChangeAspect="1"/>
          </p:cNvPicPr>
          <p:nvPr/>
        </p:nvPicPr>
        <p:blipFill>
          <a:blip r:embed="rId10"/>
          <a:stretch>
            <a:fillRect/>
          </a:stretch>
        </p:blipFill>
        <p:spPr>
          <a:xfrm>
            <a:off x="5394960" y="4434840"/>
            <a:ext cx="201168" cy="201168"/>
          </a:xfrm>
          <a:prstGeom prst="rect">
            <a:avLst/>
          </a:prstGeom>
        </p:spPr>
      </p:pic>
      <p:sp>
        <p:nvSpPr>
          <p:cNvPr id="37" name="Text 22"/>
          <p:cNvSpPr txBox="1"/>
          <p:nvPr/>
        </p:nvSpPr>
        <p:spPr>
          <a:xfrm>
            <a:off x="5715000" y="4398264"/>
            <a:ext cx="5653735" cy="292608"/>
          </a:xfrm>
          <a:prstGeom prst="rect">
            <a:avLst/>
          </a:prstGeom>
          <a:noFill/>
          <a:ln/>
        </p:spPr>
        <p:txBody>
          <a:bodyPr wrap="square" lIns="0" tIns="0" rIns="0" bIns="0" rtlCol="0" anchor="ctr"/>
          <a:lstStyle/>
          <a:p>
            <a:pPr marL="0" indent="0">
              <a:buNone/>
            </a:pPr>
            <a:r>
              <a:rPr lang="en-US" sz="1200" b="1" dirty="0">
                <a:solidFill>
                  <a:srgbClr val="151A21"/>
                </a:solidFill>
                <a:latin typeface="Calibri" pitchFamily="34" charset="0"/>
                <a:ea typeface="Calibri" pitchFamily="34" charset="-122"/>
                <a:cs typeface="Calibri" pitchFamily="34" charset="-120"/>
              </a:rPr>
              <a:t>No malware or ransomware prevention</a:t>
            </a:r>
            <a:r>
              <a:rPr lang="en-US" sz="1200" dirty="0">
                <a:solidFill>
                  <a:srgbClr val="5E6978"/>
                </a:solidFill>
                <a:latin typeface="Calibri" pitchFamily="34" charset="0"/>
                <a:ea typeface="Calibri" pitchFamily="34" charset="-122"/>
                <a:cs typeface="Calibri" pitchFamily="34" charset="-120"/>
              </a:rPr>
              <a:t>  —  a separate antivirus is still needed (EPP)</a:t>
            </a:r>
            <a:endParaRPr lang="en-US" sz="1200" dirty="0"/>
          </a:p>
        </p:txBody>
      </p:sp>
      <p:pic>
        <p:nvPicPr>
          <p:cNvPr id="38" name="Image 13" descr="preencoded.png"/>
          <p:cNvPicPr>
            <a:picLocks noChangeAspect="1"/>
          </p:cNvPicPr>
          <p:nvPr/>
        </p:nvPicPr>
        <p:blipFill>
          <a:blip r:embed="rId10"/>
          <a:stretch>
            <a:fillRect/>
          </a:stretch>
        </p:blipFill>
        <p:spPr>
          <a:xfrm>
            <a:off x="5394960" y="4809744"/>
            <a:ext cx="201168" cy="201168"/>
          </a:xfrm>
          <a:prstGeom prst="rect">
            <a:avLst/>
          </a:prstGeom>
        </p:spPr>
      </p:pic>
      <p:sp>
        <p:nvSpPr>
          <p:cNvPr id="39" name="Text 23"/>
          <p:cNvSpPr txBox="1"/>
          <p:nvPr/>
        </p:nvSpPr>
        <p:spPr>
          <a:xfrm>
            <a:off x="5715000" y="4773168"/>
            <a:ext cx="5653735" cy="292608"/>
          </a:xfrm>
          <a:prstGeom prst="rect">
            <a:avLst/>
          </a:prstGeom>
          <a:noFill/>
          <a:ln/>
        </p:spPr>
        <p:txBody>
          <a:bodyPr wrap="square" lIns="0" tIns="0" rIns="0" bIns="0" rtlCol="0" anchor="ctr"/>
          <a:lstStyle/>
          <a:p>
            <a:pPr marL="0" indent="0">
              <a:buNone/>
            </a:pPr>
            <a:r>
              <a:rPr lang="en-US" sz="1200" b="1" dirty="0">
                <a:solidFill>
                  <a:srgbClr val="151A21"/>
                </a:solidFill>
                <a:latin typeface="Calibri" pitchFamily="34" charset="0"/>
                <a:ea typeface="Calibri" pitchFamily="34" charset="-122"/>
                <a:cs typeface="Calibri" pitchFamily="34" charset="-120"/>
              </a:rPr>
              <a:t>No detection or response to active attacks</a:t>
            </a:r>
            <a:r>
              <a:rPr lang="en-US" sz="1200" dirty="0">
                <a:solidFill>
                  <a:srgbClr val="5E6978"/>
                </a:solidFill>
                <a:latin typeface="Calibri" pitchFamily="34" charset="0"/>
                <a:ea typeface="Calibri" pitchFamily="34" charset="-122"/>
                <a:cs typeface="Calibri" pitchFamily="34" charset="-120"/>
              </a:rPr>
              <a:t>  —  no EDR capability</a:t>
            </a:r>
            <a:endParaRPr lang="en-US" sz="1200" dirty="0"/>
          </a:p>
        </p:txBody>
      </p:sp>
      <p:pic>
        <p:nvPicPr>
          <p:cNvPr id="40" name="Image 14" descr="preencoded.png"/>
          <p:cNvPicPr>
            <a:picLocks noChangeAspect="1"/>
          </p:cNvPicPr>
          <p:nvPr/>
        </p:nvPicPr>
        <p:blipFill>
          <a:blip r:embed="rId10"/>
          <a:stretch>
            <a:fillRect/>
          </a:stretch>
        </p:blipFill>
        <p:spPr>
          <a:xfrm>
            <a:off x="5394960" y="5184648"/>
            <a:ext cx="201168" cy="201168"/>
          </a:xfrm>
          <a:prstGeom prst="rect">
            <a:avLst/>
          </a:prstGeom>
        </p:spPr>
      </p:pic>
      <p:sp>
        <p:nvSpPr>
          <p:cNvPr id="41" name="Text 24"/>
          <p:cNvSpPr txBox="1"/>
          <p:nvPr/>
        </p:nvSpPr>
        <p:spPr>
          <a:xfrm>
            <a:off x="5715000" y="5148072"/>
            <a:ext cx="5653735" cy="292608"/>
          </a:xfrm>
          <a:prstGeom prst="rect">
            <a:avLst/>
          </a:prstGeom>
          <a:noFill/>
          <a:ln/>
        </p:spPr>
        <p:txBody>
          <a:bodyPr wrap="square" lIns="0" tIns="0" rIns="0" bIns="0" rtlCol="0" anchor="ctr"/>
          <a:lstStyle/>
          <a:p>
            <a:pPr marL="0" indent="0">
              <a:buNone/>
            </a:pPr>
            <a:r>
              <a:rPr lang="en-US" sz="1200" b="1" dirty="0">
                <a:solidFill>
                  <a:srgbClr val="151A21"/>
                </a:solidFill>
                <a:latin typeface="Calibri" pitchFamily="34" charset="0"/>
                <a:ea typeface="Calibri" pitchFamily="34" charset="-122"/>
                <a:cs typeface="Calibri" pitchFamily="34" charset="-120"/>
              </a:rPr>
              <a:t>Remediation is fully manual</a:t>
            </a:r>
            <a:r>
              <a:rPr lang="en-US" sz="1200" dirty="0">
                <a:solidFill>
                  <a:srgbClr val="5E6978"/>
                </a:solidFill>
                <a:latin typeface="Calibri" pitchFamily="34" charset="0"/>
                <a:ea typeface="Calibri" pitchFamily="34" charset="-122"/>
                <a:cs typeface="Calibri" pitchFamily="34" charset="-120"/>
              </a:rPr>
              <a:t>  —  every finding adds IT workload</a:t>
            </a:r>
            <a:endParaRPr lang="en-US" sz="1200" dirty="0"/>
          </a:p>
        </p:txBody>
      </p:sp>
      <p:pic>
        <p:nvPicPr>
          <p:cNvPr id="42" name="Image 15" descr="preencoded.png"/>
          <p:cNvPicPr>
            <a:picLocks noChangeAspect="1"/>
          </p:cNvPicPr>
          <p:nvPr/>
        </p:nvPicPr>
        <p:blipFill>
          <a:blip r:embed="rId10"/>
          <a:stretch>
            <a:fillRect/>
          </a:stretch>
        </p:blipFill>
        <p:spPr>
          <a:xfrm>
            <a:off x="5394960" y="5559552"/>
            <a:ext cx="201168" cy="201168"/>
          </a:xfrm>
          <a:prstGeom prst="rect">
            <a:avLst/>
          </a:prstGeom>
        </p:spPr>
      </p:pic>
      <p:sp>
        <p:nvSpPr>
          <p:cNvPr id="43" name="Text 25"/>
          <p:cNvSpPr txBox="1"/>
          <p:nvPr/>
        </p:nvSpPr>
        <p:spPr>
          <a:xfrm>
            <a:off x="5715000" y="5522976"/>
            <a:ext cx="5653735" cy="292608"/>
          </a:xfrm>
          <a:prstGeom prst="rect">
            <a:avLst/>
          </a:prstGeom>
          <a:noFill/>
          <a:ln/>
        </p:spPr>
        <p:txBody>
          <a:bodyPr wrap="square" lIns="0" tIns="0" rIns="0" bIns="0" rtlCol="0" anchor="ctr"/>
          <a:lstStyle/>
          <a:p>
            <a:pPr marL="0" indent="0">
              <a:buNone/>
            </a:pPr>
            <a:r>
              <a:rPr lang="en-US" sz="1200" b="1" dirty="0">
                <a:solidFill>
                  <a:srgbClr val="151A21"/>
                </a:solidFill>
                <a:latin typeface="Calibri" pitchFamily="34" charset="0"/>
                <a:ea typeface="Calibri" pitchFamily="34" charset="-122"/>
                <a:cs typeface="Calibri" pitchFamily="34" charset="-120"/>
              </a:rPr>
              <a:t>Sees known weaknesses, not attacker behavior</a:t>
            </a:r>
            <a:r>
              <a:rPr lang="en-US" sz="1200" dirty="0">
                <a:solidFill>
                  <a:srgbClr val="5E6978"/>
                </a:solidFill>
                <a:latin typeface="Calibri" pitchFamily="34" charset="0"/>
                <a:ea typeface="Calibri" pitchFamily="34" charset="-122"/>
                <a:cs typeface="Calibri" pitchFamily="34" charset="-120"/>
              </a:rPr>
              <a:t>  —  stealthy or new attacks go unnoticed</a:t>
            </a:r>
            <a:endParaRPr lang="en-US" sz="1200" dirty="0"/>
          </a:p>
        </p:txBody>
      </p:sp>
      <p:sp>
        <p:nvSpPr>
          <p:cNvPr id="44" name="Text 26"/>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05   |   Nessus vs. CrowdStrike Falcon Platform  ·  Proposal for The Westin Resort Guam</a:t>
            </a:r>
            <a:endParaRPr lang="en-US" sz="900" dirty="0"/>
          </a:p>
        </p:txBody>
      </p:sp>
      <p:pic>
        <p:nvPicPr>
          <p:cNvPr id="45" name="Image 16" descr="/private/tmp/claude-501/-Users-jihanvin-Desktop-NIVNAH-AI/16a96446-d9b3-40e2-af9e-a3011ae3db84/scratchpad/assets/secukorea_dark.png"/>
          <p:cNvPicPr>
            <a:picLocks noChangeAspect="1"/>
          </p:cNvPicPr>
          <p:nvPr/>
        </p:nvPicPr>
        <p:blipFill>
          <a:blip r:embed="rId11"/>
          <a:stretch>
            <a:fillRect/>
          </a:stretch>
        </p:blipFill>
        <p:spPr>
          <a:xfrm>
            <a:off x="10661904" y="6400800"/>
            <a:ext cx="978408" cy="2331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04   A SIMPLE WAY TO SEE IT</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A Safety Inspection vs. a 24/7 Security Team</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554480"/>
            <a:ext cx="5074920" cy="3611880"/>
          </a:xfrm>
          <a:prstGeom prst="roundRect">
            <a:avLst>
              <a:gd name="adj" fmla="val 2532"/>
            </a:avLst>
          </a:prstGeom>
          <a:solidFill>
            <a:srgbClr val="F3F5F8"/>
          </a:solidFill>
          <a:ln w="9525">
            <a:solidFill>
              <a:srgbClr val="DCE1E7"/>
            </a:solidFill>
            <a:prstDash val="solid"/>
          </a:ln>
        </p:spPr>
      </p:sp>
      <p:sp>
        <p:nvSpPr>
          <p:cNvPr id="6" name="Shape 3"/>
          <p:cNvSpPr/>
          <p:nvPr/>
        </p:nvSpPr>
        <p:spPr>
          <a:xfrm>
            <a:off x="868680" y="1874520"/>
            <a:ext cx="640080" cy="640080"/>
          </a:xfrm>
          <a:prstGeom prst="roundRect">
            <a:avLst>
              <a:gd name="adj" fmla="val 14286"/>
            </a:avLst>
          </a:prstGeom>
          <a:solidFill>
            <a:srgbClr val="EAEEF3"/>
          </a:solidFill>
          <a:ln w="12700">
            <a:solidFill>
              <a:srgbClr val="EAEEF3"/>
            </a:solidFill>
            <a:prstDash val="solid"/>
          </a:ln>
        </p:spPr>
      </p:sp>
      <p:pic>
        <p:nvPicPr>
          <p:cNvPr id="7" name="Image 1" descr="preencoded.png"/>
          <p:cNvPicPr>
            <a:picLocks noChangeAspect="1"/>
          </p:cNvPicPr>
          <p:nvPr/>
        </p:nvPicPr>
        <p:blipFill>
          <a:blip r:embed="rId4"/>
          <a:stretch>
            <a:fillRect/>
          </a:stretch>
        </p:blipFill>
        <p:spPr>
          <a:xfrm>
            <a:off x="1009498" y="2015338"/>
            <a:ext cx="358445" cy="358445"/>
          </a:xfrm>
          <a:prstGeom prst="rect">
            <a:avLst/>
          </a:prstGeom>
        </p:spPr>
      </p:pic>
      <p:sp>
        <p:nvSpPr>
          <p:cNvPr id="8" name="Text 4"/>
          <p:cNvSpPr txBox="1"/>
          <p:nvPr/>
        </p:nvSpPr>
        <p:spPr>
          <a:xfrm>
            <a:off x="1691640" y="1901952"/>
            <a:ext cx="3703320" cy="237744"/>
          </a:xfrm>
          <a:prstGeom prst="rect">
            <a:avLst/>
          </a:prstGeom>
          <a:noFill/>
          <a:ln/>
        </p:spPr>
        <p:txBody>
          <a:bodyPr wrap="square" lIns="0" tIns="0" rIns="0" bIns="0" rtlCol="0" anchor="t"/>
          <a:lstStyle/>
          <a:p>
            <a:pPr marL="0" indent="0">
              <a:buNone/>
            </a:pPr>
            <a:r>
              <a:rPr lang="en-US" sz="1100" b="1" kern="0" spc="200" dirty="0">
                <a:solidFill>
                  <a:srgbClr val="5D6B7E"/>
                </a:solidFill>
                <a:latin typeface="Calibri" pitchFamily="34" charset="0"/>
                <a:ea typeface="Calibri" pitchFamily="34" charset="-122"/>
                <a:cs typeface="Calibri" pitchFamily="34" charset="-120"/>
              </a:rPr>
              <a:t>NESSUS</a:t>
            </a:r>
            <a:endParaRPr lang="en-US" sz="1100" dirty="0"/>
          </a:p>
        </p:txBody>
      </p:sp>
      <p:sp>
        <p:nvSpPr>
          <p:cNvPr id="9" name="Text 5"/>
          <p:cNvSpPr txBox="1"/>
          <p:nvPr/>
        </p:nvSpPr>
        <p:spPr>
          <a:xfrm>
            <a:off x="1691640" y="2157984"/>
            <a:ext cx="3703320" cy="566928"/>
          </a:xfrm>
          <a:prstGeom prst="rect">
            <a:avLst/>
          </a:prstGeom>
          <a:noFill/>
          <a:ln/>
        </p:spPr>
        <p:txBody>
          <a:bodyPr wrap="square" lIns="0" tIns="0" rIns="0" bIns="0" rtlCol="0" anchor="t"/>
          <a:lstStyle/>
          <a:p>
            <a:pPr marL="0" indent="0">
              <a:buNone/>
            </a:pPr>
            <a:r>
              <a:rPr lang="en-US" sz="1700" b="1" dirty="0">
                <a:solidFill>
                  <a:srgbClr val="151A21"/>
                </a:solidFill>
                <a:latin typeface="Arial" pitchFamily="34" charset="0"/>
                <a:ea typeface="Arial" pitchFamily="34" charset="-122"/>
                <a:cs typeface="Arial" pitchFamily="34" charset="-120"/>
              </a:rPr>
              <a:t>The Fire-Safety Inspection</a:t>
            </a:r>
            <a:endParaRPr lang="en-US" sz="1700" dirty="0"/>
          </a:p>
        </p:txBody>
      </p:sp>
      <p:sp>
        <p:nvSpPr>
          <p:cNvPr id="10" name="Text 6"/>
          <p:cNvSpPr txBox="1"/>
          <p:nvPr/>
        </p:nvSpPr>
        <p:spPr>
          <a:xfrm>
            <a:off x="868680" y="2880360"/>
            <a:ext cx="4434840" cy="960120"/>
          </a:xfrm>
          <a:prstGeom prst="rect">
            <a:avLst/>
          </a:prstGeom>
          <a:noFill/>
          <a:ln/>
        </p:spPr>
        <p:txBody>
          <a:bodyPr wrap="square" lIns="0" tIns="0" rIns="0" bIns="0" rtlCol="0" anchor="t"/>
          <a:lstStyle/>
          <a:p>
            <a:pPr marL="0" indent="0">
              <a:buNone/>
            </a:pPr>
            <a:r>
              <a:rPr lang="en-US" sz="1250" dirty="0">
                <a:solidFill>
                  <a:srgbClr val="5E6978"/>
                </a:solidFill>
                <a:latin typeface="Calibri" pitchFamily="34" charset="0"/>
                <a:ea typeface="Calibri" pitchFamily="34" charset="-122"/>
                <a:cs typeface="Calibri" pitchFamily="34" charset="-120"/>
              </a:rPr>
              <a:t>An inspector walks the building on a schedule, lists what needs fixing, and hands over a report. Valuable — but the inspector is gone when a fire actually starts.</a:t>
            </a:r>
            <a:endParaRPr lang="en-US" sz="1250" dirty="0"/>
          </a:p>
        </p:txBody>
      </p:sp>
      <p:pic>
        <p:nvPicPr>
          <p:cNvPr id="11" name="Image 2" descr="preencoded.png"/>
          <p:cNvPicPr>
            <a:picLocks noChangeAspect="1"/>
          </p:cNvPicPr>
          <p:nvPr/>
        </p:nvPicPr>
        <p:blipFill>
          <a:blip r:embed="rId5"/>
          <a:stretch>
            <a:fillRect/>
          </a:stretch>
        </p:blipFill>
        <p:spPr>
          <a:xfrm>
            <a:off x="868680" y="4023360"/>
            <a:ext cx="182880" cy="182880"/>
          </a:xfrm>
          <a:prstGeom prst="rect">
            <a:avLst/>
          </a:prstGeom>
        </p:spPr>
      </p:pic>
      <p:sp>
        <p:nvSpPr>
          <p:cNvPr id="12" name="Text 7"/>
          <p:cNvSpPr txBox="1"/>
          <p:nvPr/>
        </p:nvSpPr>
        <p:spPr>
          <a:xfrm>
            <a:off x="1188720" y="3977640"/>
            <a:ext cx="4160520" cy="274320"/>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Finds known issues</a:t>
            </a:r>
            <a:endParaRPr lang="en-US" sz="1250" dirty="0"/>
          </a:p>
        </p:txBody>
      </p:sp>
      <p:pic>
        <p:nvPicPr>
          <p:cNvPr id="13" name="Image 3" descr="preencoded.png"/>
          <p:cNvPicPr>
            <a:picLocks noChangeAspect="1"/>
          </p:cNvPicPr>
          <p:nvPr/>
        </p:nvPicPr>
        <p:blipFill>
          <a:blip r:embed="rId5"/>
          <a:stretch>
            <a:fillRect/>
          </a:stretch>
        </p:blipFill>
        <p:spPr>
          <a:xfrm>
            <a:off x="868680" y="4389120"/>
            <a:ext cx="182880" cy="182880"/>
          </a:xfrm>
          <a:prstGeom prst="rect">
            <a:avLst/>
          </a:prstGeom>
        </p:spPr>
      </p:pic>
      <p:sp>
        <p:nvSpPr>
          <p:cNvPr id="14" name="Text 8"/>
          <p:cNvSpPr txBox="1"/>
          <p:nvPr/>
        </p:nvSpPr>
        <p:spPr>
          <a:xfrm>
            <a:off x="1188720" y="4343400"/>
            <a:ext cx="4160520" cy="274320"/>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Reports on a schedule</a:t>
            </a:r>
            <a:endParaRPr lang="en-US" sz="1250" dirty="0"/>
          </a:p>
        </p:txBody>
      </p:sp>
      <p:pic>
        <p:nvPicPr>
          <p:cNvPr id="15" name="Image 4" descr="preencoded.png"/>
          <p:cNvPicPr>
            <a:picLocks noChangeAspect="1"/>
          </p:cNvPicPr>
          <p:nvPr/>
        </p:nvPicPr>
        <p:blipFill>
          <a:blip r:embed="rId6"/>
          <a:stretch>
            <a:fillRect/>
          </a:stretch>
        </p:blipFill>
        <p:spPr>
          <a:xfrm>
            <a:off x="868680" y="4754880"/>
            <a:ext cx="182880" cy="182880"/>
          </a:xfrm>
          <a:prstGeom prst="rect">
            <a:avLst/>
          </a:prstGeom>
        </p:spPr>
      </p:pic>
      <p:sp>
        <p:nvSpPr>
          <p:cNvPr id="16" name="Text 9"/>
          <p:cNvSpPr txBox="1"/>
          <p:nvPr/>
        </p:nvSpPr>
        <p:spPr>
          <a:xfrm>
            <a:off x="1188720" y="4709160"/>
            <a:ext cx="4160520" cy="274320"/>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Leaves the fixing to you</a:t>
            </a:r>
            <a:endParaRPr lang="en-US" sz="1250" dirty="0"/>
          </a:p>
        </p:txBody>
      </p:sp>
      <p:sp>
        <p:nvSpPr>
          <p:cNvPr id="17" name="Shape 10"/>
          <p:cNvSpPr/>
          <p:nvPr/>
        </p:nvSpPr>
        <p:spPr>
          <a:xfrm>
            <a:off x="6568135" y="1554480"/>
            <a:ext cx="5074920" cy="3611880"/>
          </a:xfrm>
          <a:prstGeom prst="roundRect">
            <a:avLst>
              <a:gd name="adj" fmla="val 2532"/>
            </a:avLst>
          </a:prstGeom>
          <a:solidFill>
            <a:srgbClr val="FDECEC"/>
          </a:solidFill>
          <a:ln w="9525">
            <a:solidFill>
              <a:srgbClr val="F6C9CB"/>
            </a:solidFill>
            <a:prstDash val="solid"/>
          </a:ln>
        </p:spPr>
      </p:sp>
      <p:sp>
        <p:nvSpPr>
          <p:cNvPr id="18" name="Shape 11"/>
          <p:cNvSpPr/>
          <p:nvPr/>
        </p:nvSpPr>
        <p:spPr>
          <a:xfrm>
            <a:off x="6888175" y="1874520"/>
            <a:ext cx="640080" cy="640080"/>
          </a:xfrm>
          <a:prstGeom prst="roundRect">
            <a:avLst>
              <a:gd name="adj" fmla="val 14286"/>
            </a:avLst>
          </a:prstGeom>
          <a:solidFill>
            <a:srgbClr val="E3202A"/>
          </a:solidFill>
          <a:ln w="12700">
            <a:solidFill>
              <a:srgbClr val="E3202A"/>
            </a:solidFill>
            <a:prstDash val="solid"/>
          </a:ln>
        </p:spPr>
      </p:sp>
      <p:pic>
        <p:nvPicPr>
          <p:cNvPr id="19" name="Image 5" descr="preencoded.png"/>
          <p:cNvPicPr>
            <a:picLocks noChangeAspect="1"/>
          </p:cNvPicPr>
          <p:nvPr/>
        </p:nvPicPr>
        <p:blipFill>
          <a:blip r:embed="rId7"/>
          <a:stretch>
            <a:fillRect/>
          </a:stretch>
        </p:blipFill>
        <p:spPr>
          <a:xfrm>
            <a:off x="7028993" y="2015338"/>
            <a:ext cx="358445" cy="358445"/>
          </a:xfrm>
          <a:prstGeom prst="rect">
            <a:avLst/>
          </a:prstGeom>
        </p:spPr>
      </p:pic>
      <p:sp>
        <p:nvSpPr>
          <p:cNvPr id="20" name="Text 12"/>
          <p:cNvSpPr txBox="1"/>
          <p:nvPr/>
        </p:nvSpPr>
        <p:spPr>
          <a:xfrm>
            <a:off x="7711135" y="1901952"/>
            <a:ext cx="3703320" cy="237744"/>
          </a:xfrm>
          <a:prstGeom prst="rect">
            <a:avLst/>
          </a:prstGeom>
          <a:noFill/>
          <a:ln/>
        </p:spPr>
        <p:txBody>
          <a:bodyPr wrap="square" lIns="0" tIns="0" rIns="0" bIns="0" rtlCol="0" anchor="t"/>
          <a:lstStyle/>
          <a:p>
            <a:pPr marL="0" indent="0">
              <a:buNone/>
            </a:pPr>
            <a:r>
              <a:rPr lang="en-US" sz="1100" b="1" kern="0" spc="200" dirty="0">
                <a:solidFill>
                  <a:srgbClr val="E3202A"/>
                </a:solidFill>
                <a:latin typeface="Calibri" pitchFamily="34" charset="0"/>
                <a:ea typeface="Calibri" pitchFamily="34" charset="-122"/>
                <a:cs typeface="Calibri" pitchFamily="34" charset="-120"/>
              </a:rPr>
              <a:t>CROWDSTRIKE FALCON</a:t>
            </a:r>
            <a:endParaRPr lang="en-US" sz="1100" dirty="0"/>
          </a:p>
        </p:txBody>
      </p:sp>
      <p:sp>
        <p:nvSpPr>
          <p:cNvPr id="21" name="Text 13"/>
          <p:cNvSpPr txBox="1"/>
          <p:nvPr/>
        </p:nvSpPr>
        <p:spPr>
          <a:xfrm>
            <a:off x="7711135" y="2157984"/>
            <a:ext cx="3703320" cy="566928"/>
          </a:xfrm>
          <a:prstGeom prst="rect">
            <a:avLst/>
          </a:prstGeom>
          <a:noFill/>
          <a:ln/>
        </p:spPr>
        <p:txBody>
          <a:bodyPr wrap="square" lIns="0" tIns="0" rIns="0" bIns="0" rtlCol="0" anchor="t"/>
          <a:lstStyle/>
          <a:p>
            <a:pPr marL="0" indent="0">
              <a:buNone/>
            </a:pPr>
            <a:r>
              <a:rPr lang="en-US" sz="1700" b="1" dirty="0">
                <a:solidFill>
                  <a:srgbClr val="151A21"/>
                </a:solidFill>
                <a:latin typeface="Arial" pitchFamily="34" charset="0"/>
                <a:ea typeface="Arial" pitchFamily="34" charset="-122"/>
                <a:cs typeface="Arial" pitchFamily="34" charset="-120"/>
              </a:rPr>
              <a:t>Smoke Detectors, Sprinklers &amp; a 24/7 Security Team</a:t>
            </a:r>
            <a:endParaRPr lang="en-US" sz="1700" dirty="0"/>
          </a:p>
        </p:txBody>
      </p:sp>
      <p:sp>
        <p:nvSpPr>
          <p:cNvPr id="22" name="Text 14"/>
          <p:cNvSpPr txBox="1"/>
          <p:nvPr/>
        </p:nvSpPr>
        <p:spPr>
          <a:xfrm>
            <a:off x="6888175" y="2880360"/>
            <a:ext cx="4434840" cy="960120"/>
          </a:xfrm>
          <a:prstGeom prst="rect">
            <a:avLst/>
          </a:prstGeom>
          <a:noFill/>
          <a:ln/>
        </p:spPr>
        <p:txBody>
          <a:bodyPr wrap="square" lIns="0" tIns="0" rIns="0" bIns="0" rtlCol="0" anchor="t"/>
          <a:lstStyle/>
          <a:p>
            <a:pPr marL="0" indent="0">
              <a:buNone/>
            </a:pPr>
            <a:r>
              <a:rPr lang="en-US" sz="1250" dirty="0">
                <a:solidFill>
                  <a:srgbClr val="5E6978"/>
                </a:solidFill>
                <a:latin typeface="Calibri" pitchFamily="34" charset="0"/>
                <a:ea typeface="Calibri" pitchFamily="34" charset="-122"/>
                <a:cs typeface="Calibri" pitchFamily="34" charset="-120"/>
              </a:rPr>
              <a:t>Sensors on every endpoint spot danger the moment it appears, stop it automatically, and escalate to experts who are on duty around the clock.</a:t>
            </a:r>
            <a:endParaRPr lang="en-US" sz="1250" dirty="0"/>
          </a:p>
        </p:txBody>
      </p:sp>
      <p:pic>
        <p:nvPicPr>
          <p:cNvPr id="23" name="Image 6" descr="preencoded.png"/>
          <p:cNvPicPr>
            <a:picLocks noChangeAspect="1"/>
          </p:cNvPicPr>
          <p:nvPr/>
        </p:nvPicPr>
        <p:blipFill>
          <a:blip r:embed="rId8"/>
          <a:stretch>
            <a:fillRect/>
          </a:stretch>
        </p:blipFill>
        <p:spPr>
          <a:xfrm>
            <a:off x="6888175" y="4023360"/>
            <a:ext cx="182880" cy="182880"/>
          </a:xfrm>
          <a:prstGeom prst="rect">
            <a:avLst/>
          </a:prstGeom>
        </p:spPr>
      </p:pic>
      <p:sp>
        <p:nvSpPr>
          <p:cNvPr id="24" name="Text 15"/>
          <p:cNvSpPr txBox="1"/>
          <p:nvPr/>
        </p:nvSpPr>
        <p:spPr>
          <a:xfrm>
            <a:off x="7208215" y="3977640"/>
            <a:ext cx="4160520" cy="274320"/>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Detects threats instantly</a:t>
            </a:r>
            <a:endParaRPr lang="en-US" sz="1250" dirty="0"/>
          </a:p>
        </p:txBody>
      </p:sp>
      <p:pic>
        <p:nvPicPr>
          <p:cNvPr id="25" name="Image 7" descr="preencoded.png"/>
          <p:cNvPicPr>
            <a:picLocks noChangeAspect="1"/>
          </p:cNvPicPr>
          <p:nvPr/>
        </p:nvPicPr>
        <p:blipFill>
          <a:blip r:embed="rId8"/>
          <a:stretch>
            <a:fillRect/>
          </a:stretch>
        </p:blipFill>
        <p:spPr>
          <a:xfrm>
            <a:off x="6888175" y="4389120"/>
            <a:ext cx="182880" cy="182880"/>
          </a:xfrm>
          <a:prstGeom prst="rect">
            <a:avLst/>
          </a:prstGeom>
        </p:spPr>
      </p:pic>
      <p:sp>
        <p:nvSpPr>
          <p:cNvPr id="26" name="Text 16"/>
          <p:cNvSpPr txBox="1"/>
          <p:nvPr/>
        </p:nvSpPr>
        <p:spPr>
          <a:xfrm>
            <a:off x="7208215" y="4343400"/>
            <a:ext cx="4160520" cy="274320"/>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Stops attacks automatically</a:t>
            </a:r>
            <a:endParaRPr lang="en-US" sz="1250" dirty="0"/>
          </a:p>
        </p:txBody>
      </p:sp>
      <p:pic>
        <p:nvPicPr>
          <p:cNvPr id="27" name="Image 8" descr="preencoded.png"/>
          <p:cNvPicPr>
            <a:picLocks noChangeAspect="1"/>
          </p:cNvPicPr>
          <p:nvPr/>
        </p:nvPicPr>
        <p:blipFill>
          <a:blip r:embed="rId8"/>
          <a:stretch>
            <a:fillRect/>
          </a:stretch>
        </p:blipFill>
        <p:spPr>
          <a:xfrm>
            <a:off x="6888175" y="4754880"/>
            <a:ext cx="182880" cy="182880"/>
          </a:xfrm>
          <a:prstGeom prst="rect">
            <a:avLst/>
          </a:prstGeom>
        </p:spPr>
      </p:pic>
      <p:sp>
        <p:nvSpPr>
          <p:cNvPr id="28" name="Text 17"/>
          <p:cNvSpPr txBox="1"/>
          <p:nvPr/>
        </p:nvSpPr>
        <p:spPr>
          <a:xfrm>
            <a:off x="7208215" y="4709160"/>
            <a:ext cx="4160520" cy="274320"/>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Experts respond 24/7</a:t>
            </a:r>
            <a:endParaRPr lang="en-US" sz="1250" dirty="0"/>
          </a:p>
        </p:txBody>
      </p:sp>
      <p:sp>
        <p:nvSpPr>
          <p:cNvPr id="29" name="Shape 18"/>
          <p:cNvSpPr/>
          <p:nvPr/>
        </p:nvSpPr>
        <p:spPr>
          <a:xfrm>
            <a:off x="5775808" y="3040380"/>
            <a:ext cx="640080" cy="640080"/>
          </a:xfrm>
          <a:prstGeom prst="ellipse">
            <a:avLst/>
          </a:prstGeom>
          <a:solidFill>
            <a:srgbClr val="0B0D12"/>
          </a:solidFill>
          <a:ln w="25400">
            <a:solidFill>
              <a:srgbClr val="FFFFFF"/>
            </a:solidFill>
            <a:prstDash val="solid"/>
          </a:ln>
        </p:spPr>
      </p:sp>
      <p:sp>
        <p:nvSpPr>
          <p:cNvPr id="30" name="Text 19"/>
          <p:cNvSpPr txBox="1"/>
          <p:nvPr/>
        </p:nvSpPr>
        <p:spPr>
          <a:xfrm>
            <a:off x="5775808" y="3040380"/>
            <a:ext cx="640080" cy="640080"/>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VS</a:t>
            </a:r>
            <a:endParaRPr lang="en-US" sz="1500" dirty="0"/>
          </a:p>
        </p:txBody>
      </p:sp>
      <p:sp>
        <p:nvSpPr>
          <p:cNvPr id="31" name="Text 20"/>
          <p:cNvSpPr txBox="1"/>
          <p:nvPr/>
        </p:nvSpPr>
        <p:spPr>
          <a:xfrm>
            <a:off x="548640" y="5532120"/>
            <a:ext cx="1828800" cy="274320"/>
          </a:xfrm>
          <a:prstGeom prst="rect">
            <a:avLst/>
          </a:prstGeom>
          <a:noFill/>
          <a:ln/>
        </p:spPr>
        <p:txBody>
          <a:bodyPr wrap="square" lIns="0" tIns="0" rIns="0" bIns="0" rtlCol="0" anchor="ctr"/>
          <a:lstStyle/>
          <a:p>
            <a:pPr marL="0" indent="0">
              <a:buNone/>
            </a:pPr>
            <a:r>
              <a:rPr lang="en-US" sz="1000" b="1" kern="0" spc="150" dirty="0">
                <a:solidFill>
                  <a:srgbClr val="5E6978"/>
                </a:solidFill>
                <a:latin typeface="Calibri" pitchFamily="34" charset="0"/>
                <a:ea typeface="Calibri" pitchFamily="34" charset="-122"/>
                <a:cs typeface="Calibri" pitchFamily="34" charset="-120"/>
              </a:rPr>
              <a:t>SECURITY LIFECYCLE</a:t>
            </a:r>
            <a:endParaRPr lang="en-US" sz="1000" dirty="0"/>
          </a:p>
        </p:txBody>
      </p:sp>
      <p:sp>
        <p:nvSpPr>
          <p:cNvPr id="32" name="Shape 21"/>
          <p:cNvSpPr/>
          <p:nvPr/>
        </p:nvSpPr>
        <p:spPr>
          <a:xfrm>
            <a:off x="2468880" y="5440680"/>
            <a:ext cx="1234440" cy="457200"/>
          </a:xfrm>
          <a:prstGeom prst="roundRect">
            <a:avLst>
              <a:gd name="adj" fmla="val 50000"/>
            </a:avLst>
          </a:prstGeom>
          <a:solidFill>
            <a:srgbClr val="5D6B7E"/>
          </a:solidFill>
          <a:ln w="12700">
            <a:solidFill>
              <a:srgbClr val="5D6B7E"/>
            </a:solidFill>
            <a:prstDash val="solid"/>
          </a:ln>
        </p:spPr>
      </p:sp>
      <p:sp>
        <p:nvSpPr>
          <p:cNvPr id="33" name="Text 22"/>
          <p:cNvSpPr txBox="1"/>
          <p:nvPr/>
        </p:nvSpPr>
        <p:spPr>
          <a:xfrm>
            <a:off x="2468880" y="5440680"/>
            <a:ext cx="12344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Discover</a:t>
            </a:r>
            <a:endParaRPr lang="en-US" sz="1250" dirty="0"/>
          </a:p>
        </p:txBody>
      </p:sp>
      <p:sp>
        <p:nvSpPr>
          <p:cNvPr id="34" name="Shape 23"/>
          <p:cNvSpPr/>
          <p:nvPr/>
        </p:nvSpPr>
        <p:spPr>
          <a:xfrm>
            <a:off x="3867912" y="5440680"/>
            <a:ext cx="1234440" cy="457200"/>
          </a:xfrm>
          <a:prstGeom prst="roundRect">
            <a:avLst>
              <a:gd name="adj" fmla="val 50000"/>
            </a:avLst>
          </a:prstGeom>
          <a:solidFill>
            <a:srgbClr val="E3202A"/>
          </a:solidFill>
          <a:ln w="12700">
            <a:solidFill>
              <a:srgbClr val="E3202A"/>
            </a:solidFill>
            <a:prstDash val="solid"/>
          </a:ln>
        </p:spPr>
      </p:sp>
      <p:sp>
        <p:nvSpPr>
          <p:cNvPr id="35" name="Text 24"/>
          <p:cNvSpPr txBox="1"/>
          <p:nvPr/>
        </p:nvSpPr>
        <p:spPr>
          <a:xfrm>
            <a:off x="3867912" y="5440680"/>
            <a:ext cx="12344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Prevent</a:t>
            </a:r>
            <a:endParaRPr lang="en-US" sz="1250" dirty="0"/>
          </a:p>
        </p:txBody>
      </p:sp>
      <p:sp>
        <p:nvSpPr>
          <p:cNvPr id="36" name="Shape 25"/>
          <p:cNvSpPr/>
          <p:nvPr/>
        </p:nvSpPr>
        <p:spPr>
          <a:xfrm>
            <a:off x="5266944" y="5440680"/>
            <a:ext cx="1234440" cy="457200"/>
          </a:xfrm>
          <a:prstGeom prst="roundRect">
            <a:avLst>
              <a:gd name="adj" fmla="val 50000"/>
            </a:avLst>
          </a:prstGeom>
          <a:solidFill>
            <a:srgbClr val="E3202A"/>
          </a:solidFill>
          <a:ln w="12700">
            <a:solidFill>
              <a:srgbClr val="E3202A"/>
            </a:solidFill>
            <a:prstDash val="solid"/>
          </a:ln>
        </p:spPr>
      </p:sp>
      <p:sp>
        <p:nvSpPr>
          <p:cNvPr id="37" name="Text 26"/>
          <p:cNvSpPr txBox="1"/>
          <p:nvPr/>
        </p:nvSpPr>
        <p:spPr>
          <a:xfrm>
            <a:off x="5266944" y="5440680"/>
            <a:ext cx="12344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Detect</a:t>
            </a:r>
            <a:endParaRPr lang="en-US" sz="1250" dirty="0"/>
          </a:p>
        </p:txBody>
      </p:sp>
      <p:sp>
        <p:nvSpPr>
          <p:cNvPr id="38" name="Shape 27"/>
          <p:cNvSpPr/>
          <p:nvPr/>
        </p:nvSpPr>
        <p:spPr>
          <a:xfrm>
            <a:off x="6665976" y="5440680"/>
            <a:ext cx="1234440" cy="457200"/>
          </a:xfrm>
          <a:prstGeom prst="roundRect">
            <a:avLst>
              <a:gd name="adj" fmla="val 50000"/>
            </a:avLst>
          </a:prstGeom>
          <a:solidFill>
            <a:srgbClr val="E3202A"/>
          </a:solidFill>
          <a:ln w="12700">
            <a:solidFill>
              <a:srgbClr val="E3202A"/>
            </a:solidFill>
            <a:prstDash val="solid"/>
          </a:ln>
        </p:spPr>
      </p:sp>
      <p:sp>
        <p:nvSpPr>
          <p:cNvPr id="39" name="Text 28"/>
          <p:cNvSpPr txBox="1"/>
          <p:nvPr/>
        </p:nvSpPr>
        <p:spPr>
          <a:xfrm>
            <a:off x="6665976" y="5440680"/>
            <a:ext cx="12344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Respond</a:t>
            </a:r>
            <a:endParaRPr lang="en-US" sz="1250" dirty="0"/>
          </a:p>
        </p:txBody>
      </p:sp>
      <p:sp>
        <p:nvSpPr>
          <p:cNvPr id="40" name="Shape 29"/>
          <p:cNvSpPr/>
          <p:nvPr/>
        </p:nvSpPr>
        <p:spPr>
          <a:xfrm>
            <a:off x="8065008" y="5440680"/>
            <a:ext cx="1234440" cy="457200"/>
          </a:xfrm>
          <a:prstGeom prst="roundRect">
            <a:avLst>
              <a:gd name="adj" fmla="val 50000"/>
            </a:avLst>
          </a:prstGeom>
          <a:solidFill>
            <a:srgbClr val="E3202A"/>
          </a:solidFill>
          <a:ln w="12700">
            <a:solidFill>
              <a:srgbClr val="E3202A"/>
            </a:solidFill>
            <a:prstDash val="solid"/>
          </a:ln>
        </p:spPr>
      </p:sp>
      <p:sp>
        <p:nvSpPr>
          <p:cNvPr id="41" name="Text 30"/>
          <p:cNvSpPr txBox="1"/>
          <p:nvPr/>
        </p:nvSpPr>
        <p:spPr>
          <a:xfrm>
            <a:off x="8065008" y="5440680"/>
            <a:ext cx="123444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Recover</a:t>
            </a:r>
            <a:endParaRPr lang="en-US" sz="1250" dirty="0"/>
          </a:p>
        </p:txBody>
      </p:sp>
      <p:sp>
        <p:nvSpPr>
          <p:cNvPr id="42" name="Text 31"/>
          <p:cNvSpPr txBox="1"/>
          <p:nvPr/>
        </p:nvSpPr>
        <p:spPr>
          <a:xfrm>
            <a:off x="9555480" y="5440680"/>
            <a:ext cx="2087575" cy="457200"/>
          </a:xfrm>
          <a:prstGeom prst="rect">
            <a:avLst/>
          </a:prstGeom>
          <a:noFill/>
          <a:ln/>
        </p:spPr>
        <p:txBody>
          <a:bodyPr wrap="square" lIns="0" tIns="0" rIns="0" bIns="0" rtlCol="0" anchor="ctr"/>
          <a:lstStyle/>
          <a:p>
            <a:pPr marL="0" indent="0">
              <a:buNone/>
            </a:pPr>
            <a:r>
              <a:rPr lang="en-US" sz="1150" b="1" dirty="0">
                <a:solidFill>
                  <a:srgbClr val="5D6B7E"/>
                </a:solidFill>
                <a:latin typeface="Calibri" pitchFamily="34" charset="0"/>
                <a:ea typeface="Calibri" pitchFamily="34" charset="-122"/>
                <a:cs typeface="Calibri" pitchFamily="34" charset="-120"/>
              </a:rPr>
              <a:t>Nessus</a:t>
            </a:r>
            <a:r>
              <a:rPr lang="en-US" sz="1150" dirty="0">
                <a:solidFill>
                  <a:srgbClr val="5E6978"/>
                </a:solidFill>
                <a:latin typeface="Calibri" pitchFamily="34" charset="0"/>
                <a:ea typeface="Calibri" pitchFamily="34" charset="-122"/>
                <a:cs typeface="Calibri" pitchFamily="34" charset="-120"/>
              </a:rPr>
              <a:t> covers Discover.  </a:t>
            </a:r>
            <a:r>
              <a:rPr lang="en-US" sz="1150" b="1" dirty="0">
                <a:solidFill>
                  <a:srgbClr val="E3202A"/>
                </a:solidFill>
                <a:latin typeface="Calibri" pitchFamily="34" charset="0"/>
                <a:ea typeface="Calibri" pitchFamily="34" charset="-122"/>
                <a:cs typeface="Calibri" pitchFamily="34" charset="-120"/>
              </a:rPr>
              <a:t>Falcon</a:t>
            </a:r>
            <a:r>
              <a:rPr lang="en-US" sz="1150" dirty="0">
                <a:solidFill>
                  <a:srgbClr val="5E6978"/>
                </a:solidFill>
                <a:latin typeface="Calibri" pitchFamily="34" charset="0"/>
                <a:ea typeface="Calibri" pitchFamily="34" charset="-122"/>
                <a:cs typeface="Calibri" pitchFamily="34" charset="-120"/>
              </a:rPr>
              <a:t> covers the rest.</a:t>
            </a:r>
            <a:endParaRPr lang="en-US" sz="1150" dirty="0"/>
          </a:p>
        </p:txBody>
      </p:sp>
      <p:sp>
        <p:nvSpPr>
          <p:cNvPr id="43" name="Text 32"/>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06   |   Nessus vs. CrowdStrike Falcon Platform  ·  Proposal for The Westin Resort Guam</a:t>
            </a:r>
            <a:endParaRPr lang="en-US" sz="900" dirty="0"/>
          </a:p>
        </p:txBody>
      </p:sp>
      <p:pic>
        <p:nvPicPr>
          <p:cNvPr id="44" name="Image 9" descr="/private/tmp/claude-501/-Users-jihanvin-Desktop-NIVNAH-AI/16a96446-d9b3-40e2-af9e-a3011ae3db84/scratchpad/assets/secukorea_dark.png"/>
          <p:cNvPicPr>
            <a:picLocks noChangeAspect="1"/>
          </p:cNvPicPr>
          <p:nvPr/>
        </p:nvPicPr>
        <p:blipFill>
          <a:blip r:embed="rId9"/>
          <a:stretch>
            <a:fillRect/>
          </a:stretch>
        </p:blipFill>
        <p:spPr>
          <a:xfrm>
            <a:off x="10661904" y="6400800"/>
            <a:ext cx="978408" cy="23317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05   THE VISIBILITY GAP</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Between Scans, Endpoints Are Unwatched</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Text 2"/>
          <p:cNvSpPr txBox="1"/>
          <p:nvPr/>
        </p:nvSpPr>
        <p:spPr>
          <a:xfrm>
            <a:off x="548640" y="3063240"/>
            <a:ext cx="1371600" cy="365760"/>
          </a:xfrm>
          <a:prstGeom prst="rect">
            <a:avLst/>
          </a:prstGeom>
          <a:noFill/>
          <a:ln/>
        </p:spPr>
        <p:txBody>
          <a:bodyPr wrap="square" lIns="0" tIns="0" rIns="0" bIns="0" rtlCol="0" anchor="ctr"/>
          <a:lstStyle/>
          <a:p>
            <a:pPr marL="0" indent="0">
              <a:buNone/>
            </a:pPr>
            <a:r>
              <a:rPr lang="en-US" sz="1500" b="1" dirty="0">
                <a:solidFill>
                  <a:srgbClr val="5D6B7E"/>
                </a:solidFill>
                <a:latin typeface="Arial" pitchFamily="34" charset="0"/>
                <a:ea typeface="Arial" pitchFamily="34" charset="-122"/>
                <a:cs typeface="Arial" pitchFamily="34" charset="-120"/>
              </a:rPr>
              <a:t>Nessus</a:t>
            </a:r>
            <a:endParaRPr lang="en-US" sz="1500" dirty="0"/>
          </a:p>
        </p:txBody>
      </p:sp>
      <p:sp>
        <p:nvSpPr>
          <p:cNvPr id="6" name="Text 3"/>
          <p:cNvSpPr txBox="1"/>
          <p:nvPr/>
        </p:nvSpPr>
        <p:spPr>
          <a:xfrm>
            <a:off x="548640" y="3410712"/>
            <a:ext cx="1463040" cy="256032"/>
          </a:xfrm>
          <a:prstGeom prst="rect">
            <a:avLst/>
          </a:prstGeom>
          <a:noFill/>
          <a:ln/>
        </p:spPr>
        <p:txBody>
          <a:bodyPr wrap="square" lIns="0" tIns="0" rIns="0" bIns="0" rtlCol="0" anchor="t"/>
          <a:lstStyle/>
          <a:p>
            <a:pPr marL="0" indent="0">
              <a:buNone/>
            </a:pPr>
            <a:r>
              <a:rPr lang="en-US" sz="1000" dirty="0">
                <a:solidFill>
                  <a:srgbClr val="5E6978"/>
                </a:solidFill>
                <a:latin typeface="Calibri" pitchFamily="34" charset="0"/>
                <a:ea typeface="Calibri" pitchFamily="34" charset="-122"/>
                <a:cs typeface="Calibri" pitchFamily="34" charset="-120"/>
              </a:rPr>
              <a:t>Scheduled scans</a:t>
            </a:r>
            <a:endParaRPr lang="en-US" sz="1000" dirty="0"/>
          </a:p>
        </p:txBody>
      </p:sp>
      <p:sp>
        <p:nvSpPr>
          <p:cNvPr id="7" name="Text 4"/>
          <p:cNvSpPr txBox="1"/>
          <p:nvPr/>
        </p:nvSpPr>
        <p:spPr>
          <a:xfrm>
            <a:off x="548640" y="4206240"/>
            <a:ext cx="1463040" cy="548640"/>
          </a:xfrm>
          <a:prstGeom prst="rect">
            <a:avLst/>
          </a:prstGeom>
          <a:noFill/>
          <a:ln/>
        </p:spPr>
        <p:txBody>
          <a:bodyPr wrap="square" lIns="0" tIns="0" rIns="0" bIns="0" rtlCol="0" anchor="ctr"/>
          <a:lstStyle/>
          <a:p>
            <a:pPr marL="0" indent="0">
              <a:buNone/>
            </a:pPr>
            <a:r>
              <a:rPr lang="en-US" sz="1500" b="1" dirty="0">
                <a:solidFill>
                  <a:srgbClr val="E3202A"/>
                </a:solidFill>
                <a:latin typeface="Arial" pitchFamily="34" charset="0"/>
                <a:ea typeface="Arial" pitchFamily="34" charset="-122"/>
                <a:cs typeface="Arial" pitchFamily="34" charset="-120"/>
              </a:rPr>
              <a:t>CrowdStrike Falcon</a:t>
            </a:r>
            <a:endParaRPr lang="en-US" sz="1500" dirty="0"/>
          </a:p>
        </p:txBody>
      </p:sp>
      <p:sp>
        <p:nvSpPr>
          <p:cNvPr id="8" name="Text 5"/>
          <p:cNvSpPr txBox="1"/>
          <p:nvPr/>
        </p:nvSpPr>
        <p:spPr>
          <a:xfrm>
            <a:off x="548640" y="4782312"/>
            <a:ext cx="1463040" cy="256032"/>
          </a:xfrm>
          <a:prstGeom prst="rect">
            <a:avLst/>
          </a:prstGeom>
          <a:noFill/>
          <a:ln/>
        </p:spPr>
        <p:txBody>
          <a:bodyPr wrap="square" lIns="0" tIns="0" rIns="0" bIns="0" rtlCol="0" anchor="t"/>
          <a:lstStyle/>
          <a:p>
            <a:pPr marL="0" indent="0">
              <a:buNone/>
            </a:pPr>
            <a:r>
              <a:rPr lang="en-US" sz="1000" dirty="0">
                <a:solidFill>
                  <a:srgbClr val="5E6978"/>
                </a:solidFill>
                <a:latin typeface="Calibri" pitchFamily="34" charset="0"/>
                <a:ea typeface="Calibri" pitchFamily="34" charset="-122"/>
                <a:cs typeface="Calibri" pitchFamily="34" charset="-120"/>
              </a:rPr>
              <a:t>Always on</a:t>
            </a:r>
            <a:endParaRPr lang="en-US" sz="1000" dirty="0"/>
          </a:p>
        </p:txBody>
      </p:sp>
      <p:sp>
        <p:nvSpPr>
          <p:cNvPr id="9" name="Text 6"/>
          <p:cNvSpPr txBox="1"/>
          <p:nvPr/>
        </p:nvSpPr>
        <p:spPr>
          <a:xfrm>
            <a:off x="1554480" y="5074920"/>
            <a:ext cx="1097280" cy="237744"/>
          </a:xfrm>
          <a:prstGeom prst="rect">
            <a:avLst/>
          </a:prstGeom>
          <a:noFill/>
          <a:ln/>
        </p:spPr>
        <p:txBody>
          <a:bodyPr wrap="square" lIns="0" tIns="0" rIns="0" bIns="0" rtlCol="0" anchor="t"/>
          <a:lstStyle/>
          <a:p>
            <a:pPr marL="0" indent="0" algn="ctr">
              <a:buNone/>
            </a:pPr>
            <a:r>
              <a:rPr lang="en-US" sz="1000" dirty="0">
                <a:solidFill>
                  <a:srgbClr val="5E6978"/>
                </a:solidFill>
                <a:latin typeface="Calibri" pitchFamily="34" charset="0"/>
                <a:ea typeface="Calibri" pitchFamily="34" charset="-122"/>
                <a:cs typeface="Calibri" pitchFamily="34" charset="-120"/>
              </a:rPr>
              <a:t>Scan day</a:t>
            </a:r>
            <a:endParaRPr lang="en-US" sz="1000" dirty="0"/>
          </a:p>
        </p:txBody>
      </p:sp>
      <p:sp>
        <p:nvSpPr>
          <p:cNvPr id="10" name="Text 7"/>
          <p:cNvSpPr txBox="1"/>
          <p:nvPr/>
        </p:nvSpPr>
        <p:spPr>
          <a:xfrm>
            <a:off x="3098749" y="5074920"/>
            <a:ext cx="1097280" cy="237744"/>
          </a:xfrm>
          <a:prstGeom prst="rect">
            <a:avLst/>
          </a:prstGeom>
          <a:noFill/>
          <a:ln/>
        </p:spPr>
        <p:txBody>
          <a:bodyPr wrap="square" lIns="0" tIns="0" rIns="0" bIns="0" rtlCol="0" anchor="t"/>
          <a:lstStyle/>
          <a:p>
            <a:pPr marL="0" indent="0" algn="ctr">
              <a:buNone/>
            </a:pPr>
            <a:r>
              <a:rPr lang="en-US" sz="1000" dirty="0">
                <a:solidFill>
                  <a:srgbClr val="5E6978"/>
                </a:solidFill>
                <a:latin typeface="Calibri" pitchFamily="34" charset="0"/>
                <a:ea typeface="Calibri" pitchFamily="34" charset="-122"/>
                <a:cs typeface="Calibri" pitchFamily="34" charset="-120"/>
              </a:rPr>
              <a:t>Week 2</a:t>
            </a:r>
            <a:endParaRPr lang="en-US" sz="1000" dirty="0"/>
          </a:p>
        </p:txBody>
      </p:sp>
      <p:sp>
        <p:nvSpPr>
          <p:cNvPr id="11" name="Text 8"/>
          <p:cNvSpPr txBox="1"/>
          <p:nvPr/>
        </p:nvSpPr>
        <p:spPr>
          <a:xfrm>
            <a:off x="4643018" y="5074920"/>
            <a:ext cx="1097280" cy="237744"/>
          </a:xfrm>
          <a:prstGeom prst="rect">
            <a:avLst/>
          </a:prstGeom>
          <a:noFill/>
          <a:ln/>
        </p:spPr>
        <p:txBody>
          <a:bodyPr wrap="square" lIns="0" tIns="0" rIns="0" bIns="0" rtlCol="0" anchor="t"/>
          <a:lstStyle/>
          <a:p>
            <a:pPr marL="0" indent="0" algn="ctr">
              <a:buNone/>
            </a:pPr>
            <a:r>
              <a:rPr lang="en-US" sz="1000" dirty="0">
                <a:solidFill>
                  <a:srgbClr val="5E6978"/>
                </a:solidFill>
                <a:latin typeface="Calibri" pitchFamily="34" charset="0"/>
                <a:ea typeface="Calibri" pitchFamily="34" charset="-122"/>
                <a:cs typeface="Calibri" pitchFamily="34" charset="-120"/>
              </a:rPr>
              <a:t>Week 4</a:t>
            </a:r>
            <a:endParaRPr lang="en-US" sz="1000" dirty="0"/>
          </a:p>
        </p:txBody>
      </p:sp>
      <p:sp>
        <p:nvSpPr>
          <p:cNvPr id="12" name="Text 9"/>
          <p:cNvSpPr txBox="1"/>
          <p:nvPr/>
        </p:nvSpPr>
        <p:spPr>
          <a:xfrm>
            <a:off x="6187288" y="5074920"/>
            <a:ext cx="1097280" cy="237744"/>
          </a:xfrm>
          <a:prstGeom prst="rect">
            <a:avLst/>
          </a:prstGeom>
          <a:noFill/>
          <a:ln/>
        </p:spPr>
        <p:txBody>
          <a:bodyPr wrap="square" lIns="0" tIns="0" rIns="0" bIns="0" rtlCol="0" anchor="t"/>
          <a:lstStyle/>
          <a:p>
            <a:pPr marL="0" indent="0" algn="ctr">
              <a:buNone/>
            </a:pPr>
            <a:r>
              <a:rPr lang="en-US" sz="1000" dirty="0">
                <a:solidFill>
                  <a:srgbClr val="5E6978"/>
                </a:solidFill>
                <a:latin typeface="Calibri" pitchFamily="34" charset="0"/>
                <a:ea typeface="Calibri" pitchFamily="34" charset="-122"/>
                <a:cs typeface="Calibri" pitchFamily="34" charset="-120"/>
              </a:rPr>
              <a:t>Week 6</a:t>
            </a:r>
            <a:endParaRPr lang="en-US" sz="1000" dirty="0"/>
          </a:p>
        </p:txBody>
      </p:sp>
      <p:sp>
        <p:nvSpPr>
          <p:cNvPr id="13" name="Text 10"/>
          <p:cNvSpPr txBox="1"/>
          <p:nvPr/>
        </p:nvSpPr>
        <p:spPr>
          <a:xfrm>
            <a:off x="7731557" y="5074920"/>
            <a:ext cx="1097280" cy="237744"/>
          </a:xfrm>
          <a:prstGeom prst="rect">
            <a:avLst/>
          </a:prstGeom>
          <a:noFill/>
          <a:ln/>
        </p:spPr>
        <p:txBody>
          <a:bodyPr wrap="square" lIns="0" tIns="0" rIns="0" bIns="0" rtlCol="0" anchor="t"/>
          <a:lstStyle/>
          <a:p>
            <a:pPr marL="0" indent="0" algn="ctr">
              <a:buNone/>
            </a:pPr>
            <a:r>
              <a:rPr lang="en-US" sz="1000" dirty="0">
                <a:solidFill>
                  <a:srgbClr val="5E6978"/>
                </a:solidFill>
                <a:latin typeface="Calibri" pitchFamily="34" charset="0"/>
                <a:ea typeface="Calibri" pitchFamily="34" charset="-122"/>
                <a:cs typeface="Calibri" pitchFamily="34" charset="-120"/>
              </a:rPr>
              <a:t>Week 8</a:t>
            </a:r>
            <a:endParaRPr lang="en-US" sz="1000" dirty="0"/>
          </a:p>
        </p:txBody>
      </p:sp>
      <p:sp>
        <p:nvSpPr>
          <p:cNvPr id="14" name="Text 11"/>
          <p:cNvSpPr txBox="1"/>
          <p:nvPr/>
        </p:nvSpPr>
        <p:spPr>
          <a:xfrm>
            <a:off x="9275826" y="5074920"/>
            <a:ext cx="1097280" cy="237744"/>
          </a:xfrm>
          <a:prstGeom prst="rect">
            <a:avLst/>
          </a:prstGeom>
          <a:noFill/>
          <a:ln/>
        </p:spPr>
        <p:txBody>
          <a:bodyPr wrap="square" lIns="0" tIns="0" rIns="0" bIns="0" rtlCol="0" anchor="t"/>
          <a:lstStyle/>
          <a:p>
            <a:pPr marL="0" indent="0" algn="ctr">
              <a:buNone/>
            </a:pPr>
            <a:r>
              <a:rPr lang="en-US" sz="1000" dirty="0">
                <a:solidFill>
                  <a:srgbClr val="5E6978"/>
                </a:solidFill>
                <a:latin typeface="Calibri" pitchFamily="34" charset="0"/>
                <a:ea typeface="Calibri" pitchFamily="34" charset="-122"/>
                <a:cs typeface="Calibri" pitchFamily="34" charset="-120"/>
              </a:rPr>
              <a:t>Week 10</a:t>
            </a:r>
            <a:endParaRPr lang="en-US" sz="1000" dirty="0"/>
          </a:p>
        </p:txBody>
      </p:sp>
      <p:sp>
        <p:nvSpPr>
          <p:cNvPr id="15" name="Text 12"/>
          <p:cNvSpPr txBox="1"/>
          <p:nvPr/>
        </p:nvSpPr>
        <p:spPr>
          <a:xfrm>
            <a:off x="10820095" y="5074920"/>
            <a:ext cx="1097280" cy="237744"/>
          </a:xfrm>
          <a:prstGeom prst="rect">
            <a:avLst/>
          </a:prstGeom>
          <a:noFill/>
          <a:ln/>
        </p:spPr>
        <p:txBody>
          <a:bodyPr wrap="square" lIns="0" tIns="0" rIns="0" bIns="0" rtlCol="0" anchor="t"/>
          <a:lstStyle/>
          <a:p>
            <a:pPr marL="0" indent="0" algn="ctr">
              <a:buNone/>
            </a:pPr>
            <a:r>
              <a:rPr lang="en-US" sz="1000" dirty="0">
                <a:solidFill>
                  <a:srgbClr val="5E6978"/>
                </a:solidFill>
                <a:latin typeface="Calibri" pitchFamily="34" charset="0"/>
                <a:ea typeface="Calibri" pitchFamily="34" charset="-122"/>
                <a:cs typeface="Calibri" pitchFamily="34" charset="-120"/>
              </a:rPr>
              <a:t>Next scan</a:t>
            </a:r>
            <a:endParaRPr lang="en-US" sz="1000" dirty="0"/>
          </a:p>
        </p:txBody>
      </p:sp>
      <p:sp>
        <p:nvSpPr>
          <p:cNvPr id="16" name="Shape 13"/>
          <p:cNvSpPr/>
          <p:nvPr/>
        </p:nvSpPr>
        <p:spPr>
          <a:xfrm>
            <a:off x="2103120" y="3246120"/>
            <a:ext cx="9265615" cy="0"/>
          </a:xfrm>
          <a:prstGeom prst="line">
            <a:avLst/>
          </a:prstGeom>
          <a:noFill/>
          <a:ln w="19050">
            <a:solidFill>
              <a:srgbClr val="AEB7C2"/>
            </a:solidFill>
            <a:prstDash val="dash"/>
          </a:ln>
        </p:spPr>
      </p:sp>
      <p:sp>
        <p:nvSpPr>
          <p:cNvPr id="17" name="Shape 14"/>
          <p:cNvSpPr/>
          <p:nvPr/>
        </p:nvSpPr>
        <p:spPr>
          <a:xfrm>
            <a:off x="1874520" y="3017520"/>
            <a:ext cx="457200" cy="457200"/>
          </a:xfrm>
          <a:prstGeom prst="ellipse">
            <a:avLst/>
          </a:prstGeom>
          <a:solidFill>
            <a:srgbClr val="5D6B7E"/>
          </a:solidFill>
          <a:ln w="12700">
            <a:solidFill>
              <a:srgbClr val="5D6B7E"/>
            </a:solidFill>
            <a:prstDash val="solid"/>
          </a:ln>
        </p:spPr>
      </p:sp>
      <p:pic>
        <p:nvPicPr>
          <p:cNvPr id="18" name="Image 1" descr="preencoded.png"/>
          <p:cNvPicPr>
            <a:picLocks noChangeAspect="1"/>
          </p:cNvPicPr>
          <p:nvPr/>
        </p:nvPicPr>
        <p:blipFill>
          <a:blip r:embed="rId4"/>
          <a:stretch>
            <a:fillRect/>
          </a:stretch>
        </p:blipFill>
        <p:spPr>
          <a:xfrm>
            <a:off x="1993392" y="3136392"/>
            <a:ext cx="219456" cy="219456"/>
          </a:xfrm>
          <a:prstGeom prst="rect">
            <a:avLst/>
          </a:prstGeom>
        </p:spPr>
      </p:pic>
      <p:sp>
        <p:nvSpPr>
          <p:cNvPr id="19" name="Shape 15"/>
          <p:cNvSpPr/>
          <p:nvPr/>
        </p:nvSpPr>
        <p:spPr>
          <a:xfrm>
            <a:off x="11140135" y="3017520"/>
            <a:ext cx="457200" cy="457200"/>
          </a:xfrm>
          <a:prstGeom prst="ellipse">
            <a:avLst/>
          </a:prstGeom>
          <a:solidFill>
            <a:srgbClr val="5D6B7E"/>
          </a:solidFill>
          <a:ln w="12700">
            <a:solidFill>
              <a:srgbClr val="5D6B7E"/>
            </a:solidFill>
            <a:prstDash val="solid"/>
          </a:ln>
        </p:spPr>
      </p:sp>
      <p:pic>
        <p:nvPicPr>
          <p:cNvPr id="20" name="Image 2" descr="preencoded.png"/>
          <p:cNvPicPr>
            <a:picLocks noChangeAspect="1"/>
          </p:cNvPicPr>
          <p:nvPr/>
        </p:nvPicPr>
        <p:blipFill>
          <a:blip r:embed="rId4"/>
          <a:stretch>
            <a:fillRect/>
          </a:stretch>
        </p:blipFill>
        <p:spPr>
          <a:xfrm>
            <a:off x="11259007" y="3136392"/>
            <a:ext cx="219456" cy="219456"/>
          </a:xfrm>
          <a:prstGeom prst="rect">
            <a:avLst/>
          </a:prstGeom>
        </p:spPr>
      </p:pic>
      <p:sp>
        <p:nvSpPr>
          <p:cNvPr id="21" name="Shape 16"/>
          <p:cNvSpPr/>
          <p:nvPr/>
        </p:nvSpPr>
        <p:spPr>
          <a:xfrm>
            <a:off x="4157365" y="3063240"/>
            <a:ext cx="2377440" cy="365760"/>
          </a:xfrm>
          <a:prstGeom prst="roundRect">
            <a:avLst>
              <a:gd name="adj" fmla="val 50000"/>
            </a:avLst>
          </a:prstGeom>
          <a:solidFill>
            <a:srgbClr val="FFFFFF"/>
          </a:solidFill>
          <a:ln w="9525">
            <a:solidFill>
              <a:srgbClr val="AEB7C2"/>
            </a:solidFill>
            <a:prstDash val="solid"/>
          </a:ln>
        </p:spPr>
      </p:sp>
      <p:sp>
        <p:nvSpPr>
          <p:cNvPr id="22" name="Text 17"/>
          <p:cNvSpPr txBox="1"/>
          <p:nvPr/>
        </p:nvSpPr>
        <p:spPr>
          <a:xfrm>
            <a:off x="4157365" y="3063240"/>
            <a:ext cx="2377440" cy="365760"/>
          </a:xfrm>
          <a:prstGeom prst="rect">
            <a:avLst/>
          </a:prstGeom>
          <a:noFill/>
          <a:ln/>
        </p:spPr>
        <p:txBody>
          <a:bodyPr wrap="square" lIns="0" tIns="0" rIns="0" bIns="0" rtlCol="0" anchor="ctr"/>
          <a:lstStyle/>
          <a:p>
            <a:pPr marL="0" indent="0" algn="ctr">
              <a:buNone/>
            </a:pPr>
            <a:r>
              <a:rPr lang="en-US" sz="1150" b="1" dirty="0">
                <a:solidFill>
                  <a:srgbClr val="5D6B7E"/>
                </a:solidFill>
                <a:latin typeface="Calibri" pitchFamily="34" charset="0"/>
                <a:ea typeface="Calibri" pitchFamily="34" charset="-122"/>
                <a:cs typeface="Calibri" pitchFamily="34" charset="-120"/>
              </a:rPr>
              <a:t>No visibility between scans</a:t>
            </a:r>
            <a:endParaRPr lang="en-US" sz="1150" dirty="0"/>
          </a:p>
        </p:txBody>
      </p:sp>
      <p:sp>
        <p:nvSpPr>
          <p:cNvPr id="23" name="Shape 18"/>
          <p:cNvSpPr/>
          <p:nvPr/>
        </p:nvSpPr>
        <p:spPr>
          <a:xfrm>
            <a:off x="2103120" y="4443984"/>
            <a:ext cx="9265615" cy="164592"/>
          </a:xfrm>
          <a:prstGeom prst="rect">
            <a:avLst/>
          </a:prstGeom>
          <a:solidFill>
            <a:srgbClr val="E3202A"/>
          </a:solidFill>
          <a:ln w="12700">
            <a:solidFill>
              <a:srgbClr val="E3202A"/>
            </a:solidFill>
            <a:prstDash val="solid"/>
          </a:ln>
        </p:spPr>
      </p:sp>
      <p:pic>
        <p:nvPicPr>
          <p:cNvPr id="24" name="Image 3" descr="preencoded.png"/>
          <p:cNvPicPr>
            <a:picLocks noChangeAspect="1"/>
          </p:cNvPicPr>
          <p:nvPr/>
        </p:nvPicPr>
        <p:blipFill>
          <a:blip r:embed="rId5"/>
          <a:stretch>
            <a:fillRect/>
          </a:stretch>
        </p:blipFill>
        <p:spPr>
          <a:xfrm>
            <a:off x="3773363" y="2148840"/>
            <a:ext cx="365760" cy="365760"/>
          </a:xfrm>
          <a:prstGeom prst="rect">
            <a:avLst/>
          </a:prstGeom>
        </p:spPr>
      </p:pic>
      <p:sp>
        <p:nvSpPr>
          <p:cNvPr id="25" name="Text 19"/>
          <p:cNvSpPr txBox="1"/>
          <p:nvPr/>
        </p:nvSpPr>
        <p:spPr>
          <a:xfrm>
            <a:off x="2813243" y="1572768"/>
            <a:ext cx="2286000" cy="530352"/>
          </a:xfrm>
          <a:prstGeom prst="rect">
            <a:avLst/>
          </a:prstGeom>
          <a:noFill/>
          <a:ln/>
        </p:spPr>
        <p:txBody>
          <a:bodyPr wrap="square" lIns="0" tIns="0" rIns="0" bIns="0" rtlCol="0" anchor="b"/>
          <a:lstStyle/>
          <a:p>
            <a:pPr marL="0" indent="0" algn="ctr">
              <a:buNone/>
            </a:pPr>
            <a:r>
              <a:rPr lang="en-US" sz="1100" b="1" dirty="0">
                <a:solidFill>
                  <a:srgbClr val="151A21"/>
                </a:solidFill>
                <a:latin typeface="Calibri" pitchFamily="34" charset="0"/>
                <a:ea typeface="Calibri" pitchFamily="34" charset="-122"/>
                <a:cs typeface="Calibri" pitchFamily="34" charset="-120"/>
              </a:rPr>
              <a:t>Zero-day disclosed and exploited</a:t>
            </a:r>
            <a:endParaRPr lang="en-US" sz="1100" dirty="0"/>
          </a:p>
        </p:txBody>
      </p:sp>
      <p:sp>
        <p:nvSpPr>
          <p:cNvPr id="26" name="Shape 20"/>
          <p:cNvSpPr/>
          <p:nvPr/>
        </p:nvSpPr>
        <p:spPr>
          <a:xfrm>
            <a:off x="3956243" y="2560320"/>
            <a:ext cx="0" cy="1737360"/>
          </a:xfrm>
          <a:prstGeom prst="line">
            <a:avLst/>
          </a:prstGeom>
          <a:noFill/>
          <a:ln w="12700">
            <a:solidFill>
              <a:srgbClr val="E7A1A4"/>
            </a:solidFill>
            <a:prstDash val="sysDot"/>
          </a:ln>
        </p:spPr>
      </p:sp>
      <p:sp>
        <p:nvSpPr>
          <p:cNvPr id="27" name="Shape 21"/>
          <p:cNvSpPr/>
          <p:nvPr/>
        </p:nvSpPr>
        <p:spPr>
          <a:xfrm>
            <a:off x="3755075" y="4325112"/>
            <a:ext cx="402336" cy="402336"/>
          </a:xfrm>
          <a:prstGeom prst="ellipse">
            <a:avLst/>
          </a:prstGeom>
          <a:solidFill>
            <a:srgbClr val="FFFFFF"/>
          </a:solidFill>
          <a:ln w="12700">
            <a:solidFill>
              <a:srgbClr val="FFFFFF"/>
            </a:solidFill>
            <a:prstDash val="solid"/>
          </a:ln>
        </p:spPr>
      </p:sp>
      <p:pic>
        <p:nvPicPr>
          <p:cNvPr id="28" name="Image 4" descr="preencoded.png"/>
          <p:cNvPicPr>
            <a:picLocks noChangeAspect="1"/>
          </p:cNvPicPr>
          <p:nvPr/>
        </p:nvPicPr>
        <p:blipFill>
          <a:blip r:embed="rId6"/>
          <a:stretch>
            <a:fillRect/>
          </a:stretch>
        </p:blipFill>
        <p:spPr>
          <a:xfrm>
            <a:off x="3859682" y="4429719"/>
            <a:ext cx="193121" cy="193121"/>
          </a:xfrm>
          <a:prstGeom prst="rect">
            <a:avLst/>
          </a:prstGeom>
        </p:spPr>
      </p:pic>
      <p:sp>
        <p:nvSpPr>
          <p:cNvPr id="29" name="Shape 22"/>
          <p:cNvSpPr/>
          <p:nvPr/>
        </p:nvSpPr>
        <p:spPr>
          <a:xfrm>
            <a:off x="3755075" y="4325112"/>
            <a:ext cx="402336" cy="402336"/>
          </a:xfrm>
          <a:prstGeom prst="ellipse">
            <a:avLst/>
          </a:prstGeom>
          <a:ln w="25400">
            <a:solidFill>
              <a:srgbClr val="E3202A"/>
            </a:solidFill>
            <a:prstDash val="solid"/>
          </a:ln>
        </p:spPr>
      </p:sp>
      <p:sp>
        <p:nvSpPr>
          <p:cNvPr id="30" name="Text 23"/>
          <p:cNvSpPr txBox="1"/>
          <p:nvPr/>
        </p:nvSpPr>
        <p:spPr>
          <a:xfrm>
            <a:off x="2950403" y="4782312"/>
            <a:ext cx="2011680" cy="256032"/>
          </a:xfrm>
          <a:prstGeom prst="rect">
            <a:avLst/>
          </a:prstGeom>
          <a:noFill/>
          <a:ln/>
        </p:spPr>
        <p:txBody>
          <a:bodyPr wrap="square" lIns="0" tIns="0" rIns="0" bIns="0" rtlCol="0" anchor="t"/>
          <a:lstStyle/>
          <a:p>
            <a:pPr marL="0" indent="0" algn="ctr">
              <a:buNone/>
            </a:pPr>
            <a:r>
              <a:rPr lang="en-US" sz="1050" b="1" dirty="0">
                <a:solidFill>
                  <a:srgbClr val="E3202A"/>
                </a:solidFill>
                <a:latin typeface="Calibri" pitchFamily="34" charset="0"/>
                <a:ea typeface="Calibri" pitchFamily="34" charset="-122"/>
                <a:cs typeface="Calibri" pitchFamily="34" charset="-120"/>
              </a:rPr>
              <a:t>Blocked by behavior</a:t>
            </a:r>
            <a:endParaRPr lang="en-US" sz="1050" dirty="0"/>
          </a:p>
        </p:txBody>
      </p:sp>
      <p:pic>
        <p:nvPicPr>
          <p:cNvPr id="31" name="Image 5" descr="preencoded.png"/>
          <p:cNvPicPr>
            <a:picLocks noChangeAspect="1"/>
          </p:cNvPicPr>
          <p:nvPr/>
        </p:nvPicPr>
        <p:blipFill>
          <a:blip r:embed="rId5"/>
          <a:stretch>
            <a:fillRect/>
          </a:stretch>
        </p:blipFill>
        <p:spPr>
          <a:xfrm>
            <a:off x="6553048" y="2148840"/>
            <a:ext cx="365760" cy="365760"/>
          </a:xfrm>
          <a:prstGeom prst="rect">
            <a:avLst/>
          </a:prstGeom>
        </p:spPr>
      </p:pic>
      <p:sp>
        <p:nvSpPr>
          <p:cNvPr id="32" name="Text 24"/>
          <p:cNvSpPr txBox="1"/>
          <p:nvPr/>
        </p:nvSpPr>
        <p:spPr>
          <a:xfrm>
            <a:off x="5592928" y="1572768"/>
            <a:ext cx="2286000" cy="530352"/>
          </a:xfrm>
          <a:prstGeom prst="rect">
            <a:avLst/>
          </a:prstGeom>
          <a:noFill/>
          <a:ln/>
        </p:spPr>
        <p:txBody>
          <a:bodyPr wrap="square" lIns="0" tIns="0" rIns="0" bIns="0" rtlCol="0" anchor="b"/>
          <a:lstStyle/>
          <a:p>
            <a:pPr marL="0" indent="0" algn="ctr">
              <a:buNone/>
            </a:pPr>
            <a:r>
              <a:rPr lang="en-US" sz="1100" b="1" dirty="0">
                <a:solidFill>
                  <a:srgbClr val="151A21"/>
                </a:solidFill>
                <a:latin typeface="Calibri" pitchFamily="34" charset="0"/>
                <a:ea typeface="Calibri" pitchFamily="34" charset="-122"/>
                <a:cs typeface="Calibri" pitchFamily="34" charset="-120"/>
              </a:rPr>
              <a:t>Phishing email opens a backdoor</a:t>
            </a:r>
            <a:endParaRPr lang="en-US" sz="1100" dirty="0"/>
          </a:p>
        </p:txBody>
      </p:sp>
      <p:sp>
        <p:nvSpPr>
          <p:cNvPr id="33" name="Shape 25"/>
          <p:cNvSpPr/>
          <p:nvPr/>
        </p:nvSpPr>
        <p:spPr>
          <a:xfrm>
            <a:off x="6735928" y="2560320"/>
            <a:ext cx="0" cy="1737360"/>
          </a:xfrm>
          <a:prstGeom prst="line">
            <a:avLst/>
          </a:prstGeom>
          <a:noFill/>
          <a:ln w="12700">
            <a:solidFill>
              <a:srgbClr val="E7A1A4"/>
            </a:solidFill>
            <a:prstDash val="sysDot"/>
          </a:ln>
        </p:spPr>
      </p:sp>
      <p:sp>
        <p:nvSpPr>
          <p:cNvPr id="34" name="Shape 26"/>
          <p:cNvSpPr/>
          <p:nvPr/>
        </p:nvSpPr>
        <p:spPr>
          <a:xfrm>
            <a:off x="6534760" y="4325112"/>
            <a:ext cx="402336" cy="402336"/>
          </a:xfrm>
          <a:prstGeom prst="ellipse">
            <a:avLst/>
          </a:prstGeom>
          <a:solidFill>
            <a:srgbClr val="FFFFFF"/>
          </a:solidFill>
          <a:ln w="12700">
            <a:solidFill>
              <a:srgbClr val="FFFFFF"/>
            </a:solidFill>
            <a:prstDash val="solid"/>
          </a:ln>
        </p:spPr>
      </p:sp>
      <p:pic>
        <p:nvPicPr>
          <p:cNvPr id="35" name="Image 6" descr="preencoded.png"/>
          <p:cNvPicPr>
            <a:picLocks noChangeAspect="1"/>
          </p:cNvPicPr>
          <p:nvPr/>
        </p:nvPicPr>
        <p:blipFill>
          <a:blip r:embed="rId6"/>
          <a:stretch>
            <a:fillRect/>
          </a:stretch>
        </p:blipFill>
        <p:spPr>
          <a:xfrm>
            <a:off x="6639367" y="4429719"/>
            <a:ext cx="193121" cy="193121"/>
          </a:xfrm>
          <a:prstGeom prst="rect">
            <a:avLst/>
          </a:prstGeom>
        </p:spPr>
      </p:pic>
      <p:sp>
        <p:nvSpPr>
          <p:cNvPr id="36" name="Shape 27"/>
          <p:cNvSpPr/>
          <p:nvPr/>
        </p:nvSpPr>
        <p:spPr>
          <a:xfrm>
            <a:off x="6534760" y="4325112"/>
            <a:ext cx="402336" cy="402336"/>
          </a:xfrm>
          <a:prstGeom prst="ellipse">
            <a:avLst/>
          </a:prstGeom>
          <a:ln w="25400">
            <a:solidFill>
              <a:srgbClr val="E3202A"/>
            </a:solidFill>
            <a:prstDash val="solid"/>
          </a:ln>
        </p:spPr>
      </p:sp>
      <p:sp>
        <p:nvSpPr>
          <p:cNvPr id="37" name="Text 28"/>
          <p:cNvSpPr txBox="1"/>
          <p:nvPr/>
        </p:nvSpPr>
        <p:spPr>
          <a:xfrm>
            <a:off x="5730088" y="4782312"/>
            <a:ext cx="2011680" cy="256032"/>
          </a:xfrm>
          <a:prstGeom prst="rect">
            <a:avLst/>
          </a:prstGeom>
          <a:noFill/>
          <a:ln/>
        </p:spPr>
        <p:txBody>
          <a:bodyPr wrap="square" lIns="0" tIns="0" rIns="0" bIns="0" rtlCol="0" anchor="t"/>
          <a:lstStyle/>
          <a:p>
            <a:pPr marL="0" indent="0" algn="ctr">
              <a:buNone/>
            </a:pPr>
            <a:r>
              <a:rPr lang="en-US" sz="1050" b="1" dirty="0">
                <a:solidFill>
                  <a:srgbClr val="E3202A"/>
                </a:solidFill>
                <a:latin typeface="Calibri" pitchFamily="34" charset="0"/>
                <a:ea typeface="Calibri" pitchFamily="34" charset="-122"/>
                <a:cs typeface="Calibri" pitchFamily="34" charset="-120"/>
              </a:rPr>
              <a:t>Detected and contained</a:t>
            </a:r>
            <a:endParaRPr lang="en-US" sz="1050" dirty="0"/>
          </a:p>
        </p:txBody>
      </p:sp>
      <p:pic>
        <p:nvPicPr>
          <p:cNvPr id="38" name="Image 7" descr="preencoded.png"/>
          <p:cNvPicPr>
            <a:picLocks noChangeAspect="1"/>
          </p:cNvPicPr>
          <p:nvPr/>
        </p:nvPicPr>
        <p:blipFill>
          <a:blip r:embed="rId5"/>
          <a:stretch>
            <a:fillRect/>
          </a:stretch>
        </p:blipFill>
        <p:spPr>
          <a:xfrm>
            <a:off x="9332732" y="2148840"/>
            <a:ext cx="365760" cy="365760"/>
          </a:xfrm>
          <a:prstGeom prst="rect">
            <a:avLst/>
          </a:prstGeom>
        </p:spPr>
      </p:pic>
      <p:sp>
        <p:nvSpPr>
          <p:cNvPr id="39" name="Text 29"/>
          <p:cNvSpPr txBox="1"/>
          <p:nvPr/>
        </p:nvSpPr>
        <p:spPr>
          <a:xfrm>
            <a:off x="8372612" y="1572768"/>
            <a:ext cx="2286000" cy="530352"/>
          </a:xfrm>
          <a:prstGeom prst="rect">
            <a:avLst/>
          </a:prstGeom>
          <a:noFill/>
          <a:ln/>
        </p:spPr>
        <p:txBody>
          <a:bodyPr wrap="square" lIns="0" tIns="0" rIns="0" bIns="0" rtlCol="0" anchor="b"/>
          <a:lstStyle/>
          <a:p>
            <a:pPr marL="0" indent="0" algn="ctr">
              <a:buNone/>
            </a:pPr>
            <a:r>
              <a:rPr lang="en-US" sz="1100" b="1" dirty="0">
                <a:solidFill>
                  <a:srgbClr val="151A21"/>
                </a:solidFill>
                <a:latin typeface="Calibri" pitchFamily="34" charset="0"/>
                <a:ea typeface="Calibri" pitchFamily="34" charset="-122"/>
                <a:cs typeface="Calibri" pitchFamily="34" charset="-120"/>
              </a:rPr>
              <a:t>Ransomware hits a front-desk PC</a:t>
            </a:r>
            <a:endParaRPr lang="en-US" sz="1100" dirty="0"/>
          </a:p>
        </p:txBody>
      </p:sp>
      <p:sp>
        <p:nvSpPr>
          <p:cNvPr id="40" name="Shape 30"/>
          <p:cNvSpPr/>
          <p:nvPr/>
        </p:nvSpPr>
        <p:spPr>
          <a:xfrm>
            <a:off x="9515612" y="2560320"/>
            <a:ext cx="0" cy="1737360"/>
          </a:xfrm>
          <a:prstGeom prst="line">
            <a:avLst/>
          </a:prstGeom>
          <a:noFill/>
          <a:ln w="12700">
            <a:solidFill>
              <a:srgbClr val="E7A1A4"/>
            </a:solidFill>
            <a:prstDash val="sysDot"/>
          </a:ln>
        </p:spPr>
      </p:sp>
      <p:sp>
        <p:nvSpPr>
          <p:cNvPr id="41" name="Shape 31"/>
          <p:cNvSpPr/>
          <p:nvPr/>
        </p:nvSpPr>
        <p:spPr>
          <a:xfrm>
            <a:off x="9314444" y="4325112"/>
            <a:ext cx="402336" cy="402336"/>
          </a:xfrm>
          <a:prstGeom prst="ellipse">
            <a:avLst/>
          </a:prstGeom>
          <a:solidFill>
            <a:srgbClr val="FFFFFF"/>
          </a:solidFill>
          <a:ln w="12700">
            <a:solidFill>
              <a:srgbClr val="FFFFFF"/>
            </a:solidFill>
            <a:prstDash val="solid"/>
          </a:ln>
        </p:spPr>
      </p:sp>
      <p:pic>
        <p:nvPicPr>
          <p:cNvPr id="42" name="Image 8" descr="preencoded.png"/>
          <p:cNvPicPr>
            <a:picLocks noChangeAspect="1"/>
          </p:cNvPicPr>
          <p:nvPr/>
        </p:nvPicPr>
        <p:blipFill>
          <a:blip r:embed="rId6"/>
          <a:stretch>
            <a:fillRect/>
          </a:stretch>
        </p:blipFill>
        <p:spPr>
          <a:xfrm>
            <a:off x="9419052" y="4429719"/>
            <a:ext cx="193121" cy="193121"/>
          </a:xfrm>
          <a:prstGeom prst="rect">
            <a:avLst/>
          </a:prstGeom>
        </p:spPr>
      </p:pic>
      <p:sp>
        <p:nvSpPr>
          <p:cNvPr id="43" name="Shape 32"/>
          <p:cNvSpPr/>
          <p:nvPr/>
        </p:nvSpPr>
        <p:spPr>
          <a:xfrm>
            <a:off x="9314444" y="4325112"/>
            <a:ext cx="402336" cy="402336"/>
          </a:xfrm>
          <a:prstGeom prst="ellipse">
            <a:avLst/>
          </a:prstGeom>
          <a:ln w="25400">
            <a:solidFill>
              <a:srgbClr val="E3202A"/>
            </a:solidFill>
            <a:prstDash val="solid"/>
          </a:ln>
        </p:spPr>
      </p:sp>
      <p:sp>
        <p:nvSpPr>
          <p:cNvPr id="44" name="Text 33"/>
          <p:cNvSpPr txBox="1"/>
          <p:nvPr/>
        </p:nvSpPr>
        <p:spPr>
          <a:xfrm>
            <a:off x="8509772" y="4782312"/>
            <a:ext cx="2011680" cy="256032"/>
          </a:xfrm>
          <a:prstGeom prst="rect">
            <a:avLst/>
          </a:prstGeom>
          <a:noFill/>
          <a:ln/>
        </p:spPr>
        <p:txBody>
          <a:bodyPr wrap="square" lIns="0" tIns="0" rIns="0" bIns="0" rtlCol="0" anchor="t"/>
          <a:lstStyle/>
          <a:p>
            <a:pPr marL="0" indent="0" algn="ctr">
              <a:buNone/>
            </a:pPr>
            <a:r>
              <a:rPr lang="en-US" sz="1050" b="1" dirty="0">
                <a:solidFill>
                  <a:srgbClr val="E3202A"/>
                </a:solidFill>
                <a:latin typeface="Calibri" pitchFamily="34" charset="0"/>
                <a:ea typeface="Calibri" pitchFamily="34" charset="-122"/>
                <a:cs typeface="Calibri" pitchFamily="34" charset="-120"/>
              </a:rPr>
              <a:t>Stopped before encryption</a:t>
            </a:r>
            <a:endParaRPr lang="en-US" sz="1050" dirty="0"/>
          </a:p>
        </p:txBody>
      </p:sp>
      <p:sp>
        <p:nvSpPr>
          <p:cNvPr id="45" name="Shape 34"/>
          <p:cNvSpPr/>
          <p:nvPr/>
        </p:nvSpPr>
        <p:spPr>
          <a:xfrm>
            <a:off x="548640" y="5468112"/>
            <a:ext cx="11094415" cy="566928"/>
          </a:xfrm>
          <a:prstGeom prst="roundRect">
            <a:avLst>
              <a:gd name="adj" fmla="val 12903"/>
            </a:avLst>
          </a:prstGeom>
          <a:solidFill>
            <a:srgbClr val="0B0D12"/>
          </a:solidFill>
          <a:ln w="12700">
            <a:solidFill>
              <a:srgbClr val="0B0D12"/>
            </a:solidFill>
            <a:prstDash val="solid"/>
          </a:ln>
        </p:spPr>
      </p:sp>
      <p:sp>
        <p:nvSpPr>
          <p:cNvPr id="46" name="Text 35"/>
          <p:cNvSpPr txBox="1"/>
          <p:nvPr/>
        </p:nvSpPr>
        <p:spPr>
          <a:xfrm>
            <a:off x="868680" y="5468112"/>
            <a:ext cx="10454335" cy="566928"/>
          </a:xfrm>
          <a:prstGeom prst="rect">
            <a:avLst/>
          </a:prstGeom>
          <a:noFill/>
          <a:ln/>
        </p:spPr>
        <p:txBody>
          <a:bodyPr wrap="square" lIns="0" tIns="0" rIns="0" bIns="0" rtlCol="0" anchor="ctr"/>
          <a:lstStyle/>
          <a:p>
            <a:pPr marL="0" indent="0">
              <a:buNone/>
            </a:pPr>
            <a:r>
              <a:rPr lang="en-US" sz="1350" dirty="0">
                <a:solidFill>
                  <a:srgbClr val="C9CED6"/>
                </a:solidFill>
                <a:latin typeface="Calibri" pitchFamily="34" charset="0"/>
                <a:ea typeface="Calibri" pitchFamily="34" charset="-122"/>
                <a:cs typeface="Calibri" pitchFamily="34" charset="-120"/>
              </a:rPr>
              <a:t>A scan shows where you were exposed on the day it ran. </a:t>
            </a:r>
            <a:r>
              <a:rPr lang="en-US" sz="1350" b="1" dirty="0">
                <a:solidFill>
                  <a:srgbClr val="FFFFFF"/>
                </a:solidFill>
                <a:latin typeface="Calibri" pitchFamily="34" charset="0"/>
                <a:ea typeface="Calibri" pitchFamily="34" charset="-122"/>
                <a:cs typeface="Calibri" pitchFamily="34" charset="-120"/>
              </a:rPr>
              <a:t>Falcon protects every endpoint every moment in between.</a:t>
            </a:r>
            <a:endParaRPr lang="en-US" sz="1350" dirty="0"/>
          </a:p>
        </p:txBody>
      </p:sp>
      <p:sp>
        <p:nvSpPr>
          <p:cNvPr id="47" name="Text 36"/>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07   |   Nessus vs. CrowdStrike Falcon Platform  ·  Proposal for The Westin Resort Guam</a:t>
            </a:r>
            <a:endParaRPr lang="en-US" sz="900" dirty="0"/>
          </a:p>
        </p:txBody>
      </p:sp>
      <p:pic>
        <p:nvPicPr>
          <p:cNvPr id="48" name="Image 9" descr="/private/tmp/claude-501/-Users-jihanvin-Desktop-NIVNAH-AI/16a96446-d9b3-40e2-af9e-a3011ae3db84/scratchpad/assets/secukorea_dark.png"/>
          <p:cNvPicPr>
            <a:picLocks noChangeAspect="1"/>
          </p:cNvPicPr>
          <p:nvPr/>
        </p:nvPicPr>
        <p:blipFill>
          <a:blip r:embed="rId7"/>
          <a:stretch>
            <a:fillRect/>
          </a:stretch>
        </p:blipFill>
        <p:spPr>
          <a:xfrm>
            <a:off x="10661904" y="6400800"/>
            <a:ext cx="978408" cy="233172"/>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06   THE SOLUTION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CrowdStrike Falcon: One Sensor. One Platform.</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554480"/>
            <a:ext cx="502920" cy="502920"/>
          </a:xfrm>
          <a:prstGeom prst="roundRect">
            <a:avLst>
              <a:gd name="adj" fmla="val 18182"/>
            </a:avLst>
          </a:prstGeom>
          <a:solidFill>
            <a:srgbClr val="FDECEC"/>
          </a:solidFill>
          <a:ln w="12700">
            <a:solidFill>
              <a:srgbClr val="FDECEC"/>
            </a:solidFill>
            <a:prstDash val="solid"/>
          </a:ln>
        </p:spPr>
      </p:sp>
      <p:pic>
        <p:nvPicPr>
          <p:cNvPr id="6" name="Image 1" descr="preencoded.png"/>
          <p:cNvPicPr>
            <a:picLocks noChangeAspect="1"/>
          </p:cNvPicPr>
          <p:nvPr/>
        </p:nvPicPr>
        <p:blipFill>
          <a:blip r:embed="rId4"/>
          <a:stretch>
            <a:fillRect/>
          </a:stretch>
        </p:blipFill>
        <p:spPr>
          <a:xfrm>
            <a:off x="659282" y="1665122"/>
            <a:ext cx="281635" cy="281635"/>
          </a:xfrm>
          <a:prstGeom prst="rect">
            <a:avLst/>
          </a:prstGeom>
        </p:spPr>
      </p:pic>
      <p:sp>
        <p:nvSpPr>
          <p:cNvPr id="7" name="Text 3"/>
          <p:cNvSpPr txBox="1"/>
          <p:nvPr/>
        </p:nvSpPr>
        <p:spPr>
          <a:xfrm>
            <a:off x="1261872" y="1527048"/>
            <a:ext cx="4572000" cy="292608"/>
          </a:xfrm>
          <a:prstGeom prst="rect">
            <a:avLst/>
          </a:prstGeom>
          <a:noFill/>
          <a:ln/>
        </p:spPr>
        <p:txBody>
          <a:bodyPr wrap="square" lIns="0" tIns="0" rIns="0" bIns="0" rtlCol="0" anchor="t"/>
          <a:lstStyle/>
          <a:p>
            <a:pPr marL="0" indent="0">
              <a:buNone/>
            </a:pPr>
            <a:r>
              <a:rPr lang="en-US" sz="1400" b="1" dirty="0">
                <a:solidFill>
                  <a:srgbClr val="151A21"/>
                </a:solidFill>
                <a:latin typeface="Arial" pitchFamily="34" charset="0"/>
                <a:ea typeface="Arial" pitchFamily="34" charset="-122"/>
                <a:cs typeface="Arial" pitchFamily="34" charset="-120"/>
              </a:rPr>
              <a:t>Lightweight single sensor</a:t>
            </a:r>
            <a:endParaRPr lang="en-US" sz="1400" dirty="0"/>
          </a:p>
        </p:txBody>
      </p:sp>
      <p:sp>
        <p:nvSpPr>
          <p:cNvPr id="8" name="Text 4"/>
          <p:cNvSpPr txBox="1"/>
          <p:nvPr/>
        </p:nvSpPr>
        <p:spPr>
          <a:xfrm>
            <a:off x="1261872" y="1828800"/>
            <a:ext cx="4572000" cy="512064"/>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Deploys in minutes with no complex tuning; covers all major operating systems, online or offline.</a:t>
            </a:r>
            <a:endParaRPr lang="en-US" sz="1150" dirty="0"/>
          </a:p>
        </p:txBody>
      </p:sp>
      <p:sp>
        <p:nvSpPr>
          <p:cNvPr id="9" name="Shape 5"/>
          <p:cNvSpPr/>
          <p:nvPr/>
        </p:nvSpPr>
        <p:spPr>
          <a:xfrm>
            <a:off x="548640" y="2441448"/>
            <a:ext cx="502920" cy="502920"/>
          </a:xfrm>
          <a:prstGeom prst="roundRect">
            <a:avLst>
              <a:gd name="adj" fmla="val 18182"/>
            </a:avLst>
          </a:prstGeom>
          <a:solidFill>
            <a:srgbClr val="FDECEC"/>
          </a:solidFill>
          <a:ln w="12700">
            <a:solidFill>
              <a:srgbClr val="FDECEC"/>
            </a:solidFill>
            <a:prstDash val="solid"/>
          </a:ln>
        </p:spPr>
      </p:sp>
      <p:pic>
        <p:nvPicPr>
          <p:cNvPr id="10" name="Image 2" descr="preencoded.png"/>
          <p:cNvPicPr>
            <a:picLocks noChangeAspect="1"/>
          </p:cNvPicPr>
          <p:nvPr/>
        </p:nvPicPr>
        <p:blipFill>
          <a:blip r:embed="rId5"/>
          <a:stretch>
            <a:fillRect/>
          </a:stretch>
        </p:blipFill>
        <p:spPr>
          <a:xfrm>
            <a:off x="659282" y="2552090"/>
            <a:ext cx="281635" cy="281635"/>
          </a:xfrm>
          <a:prstGeom prst="rect">
            <a:avLst/>
          </a:prstGeom>
        </p:spPr>
      </p:pic>
      <p:sp>
        <p:nvSpPr>
          <p:cNvPr id="11" name="Text 6"/>
          <p:cNvSpPr txBox="1"/>
          <p:nvPr/>
        </p:nvSpPr>
        <p:spPr>
          <a:xfrm>
            <a:off x="1261872" y="2414016"/>
            <a:ext cx="4572000" cy="292608"/>
          </a:xfrm>
          <a:prstGeom prst="rect">
            <a:avLst/>
          </a:prstGeom>
          <a:noFill/>
          <a:ln/>
        </p:spPr>
        <p:txBody>
          <a:bodyPr wrap="square" lIns="0" tIns="0" rIns="0" bIns="0" rtlCol="0" anchor="t"/>
          <a:lstStyle/>
          <a:p>
            <a:pPr marL="0" indent="0">
              <a:buNone/>
            </a:pPr>
            <a:r>
              <a:rPr lang="en-US" sz="1400" b="1" dirty="0">
                <a:solidFill>
                  <a:srgbClr val="151A21"/>
                </a:solidFill>
                <a:latin typeface="Arial" pitchFamily="34" charset="0"/>
                <a:ea typeface="Arial" pitchFamily="34" charset="-122"/>
                <a:cs typeface="Arial" pitchFamily="34" charset="-120"/>
              </a:rPr>
              <a:t>AI-native protection</a:t>
            </a:r>
            <a:endParaRPr lang="en-US" sz="1400" dirty="0"/>
          </a:p>
        </p:txBody>
      </p:sp>
      <p:sp>
        <p:nvSpPr>
          <p:cNvPr id="12" name="Text 7"/>
          <p:cNvSpPr txBox="1"/>
          <p:nvPr/>
        </p:nvSpPr>
        <p:spPr>
          <a:xfrm>
            <a:off x="1261872" y="2715768"/>
            <a:ext cx="4572000" cy="512064"/>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Machine learning on the sensor and in the cloud stops malware, fileless and zero-day attacks.</a:t>
            </a:r>
            <a:endParaRPr lang="en-US" sz="1150" dirty="0"/>
          </a:p>
        </p:txBody>
      </p:sp>
      <p:sp>
        <p:nvSpPr>
          <p:cNvPr id="13" name="Shape 8"/>
          <p:cNvSpPr/>
          <p:nvPr/>
        </p:nvSpPr>
        <p:spPr>
          <a:xfrm>
            <a:off x="548640" y="3328416"/>
            <a:ext cx="502920" cy="502920"/>
          </a:xfrm>
          <a:prstGeom prst="roundRect">
            <a:avLst>
              <a:gd name="adj" fmla="val 18182"/>
            </a:avLst>
          </a:prstGeom>
          <a:solidFill>
            <a:srgbClr val="FDECEC"/>
          </a:solidFill>
          <a:ln w="12700">
            <a:solidFill>
              <a:srgbClr val="FDECEC"/>
            </a:solidFill>
            <a:prstDash val="solid"/>
          </a:ln>
        </p:spPr>
      </p:sp>
      <p:pic>
        <p:nvPicPr>
          <p:cNvPr id="14" name="Image 3" descr="preencoded.png"/>
          <p:cNvPicPr>
            <a:picLocks noChangeAspect="1"/>
          </p:cNvPicPr>
          <p:nvPr/>
        </p:nvPicPr>
        <p:blipFill>
          <a:blip r:embed="rId6"/>
          <a:stretch>
            <a:fillRect/>
          </a:stretch>
        </p:blipFill>
        <p:spPr>
          <a:xfrm>
            <a:off x="659282" y="3439058"/>
            <a:ext cx="281635" cy="281635"/>
          </a:xfrm>
          <a:prstGeom prst="rect">
            <a:avLst/>
          </a:prstGeom>
        </p:spPr>
      </p:pic>
      <p:sp>
        <p:nvSpPr>
          <p:cNvPr id="15" name="Text 9"/>
          <p:cNvSpPr txBox="1"/>
          <p:nvPr/>
        </p:nvSpPr>
        <p:spPr>
          <a:xfrm>
            <a:off x="1261872" y="3300984"/>
            <a:ext cx="4572000" cy="292608"/>
          </a:xfrm>
          <a:prstGeom prst="rect">
            <a:avLst/>
          </a:prstGeom>
          <a:noFill/>
          <a:ln/>
        </p:spPr>
        <p:txBody>
          <a:bodyPr wrap="square" lIns="0" tIns="0" rIns="0" bIns="0" rtlCol="0" anchor="t"/>
          <a:lstStyle/>
          <a:p>
            <a:pPr marL="0" indent="0">
              <a:buNone/>
            </a:pPr>
            <a:r>
              <a:rPr lang="en-US" sz="1400" b="1" dirty="0">
                <a:solidFill>
                  <a:srgbClr val="151A21"/>
                </a:solidFill>
                <a:latin typeface="Arial" pitchFamily="34" charset="0"/>
                <a:ea typeface="Arial" pitchFamily="34" charset="-122"/>
                <a:cs typeface="Arial" pitchFamily="34" charset="-120"/>
              </a:rPr>
              <a:t>Intelligence-fueled</a:t>
            </a:r>
            <a:endParaRPr lang="en-US" sz="1400" dirty="0"/>
          </a:p>
        </p:txBody>
      </p:sp>
      <p:sp>
        <p:nvSpPr>
          <p:cNvPr id="16" name="Text 10"/>
          <p:cNvSpPr txBox="1"/>
          <p:nvPr/>
        </p:nvSpPr>
        <p:spPr>
          <a:xfrm>
            <a:off x="1261872" y="3602736"/>
            <a:ext cx="4572000" cy="512064"/>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Tracking of 281 adversary groups worldwide adds context to every detection.</a:t>
            </a:r>
            <a:endParaRPr lang="en-US" sz="1150" dirty="0"/>
          </a:p>
        </p:txBody>
      </p:sp>
      <p:sp>
        <p:nvSpPr>
          <p:cNvPr id="17" name="Shape 11"/>
          <p:cNvSpPr/>
          <p:nvPr/>
        </p:nvSpPr>
        <p:spPr>
          <a:xfrm>
            <a:off x="548640" y="4215384"/>
            <a:ext cx="502920" cy="502920"/>
          </a:xfrm>
          <a:prstGeom prst="roundRect">
            <a:avLst>
              <a:gd name="adj" fmla="val 18182"/>
            </a:avLst>
          </a:prstGeom>
          <a:solidFill>
            <a:srgbClr val="FDECEC"/>
          </a:solidFill>
          <a:ln w="12700">
            <a:solidFill>
              <a:srgbClr val="FDECEC"/>
            </a:solidFill>
            <a:prstDash val="solid"/>
          </a:ln>
        </p:spPr>
      </p:sp>
      <p:pic>
        <p:nvPicPr>
          <p:cNvPr id="18" name="Image 4" descr="preencoded.png"/>
          <p:cNvPicPr>
            <a:picLocks noChangeAspect="1"/>
          </p:cNvPicPr>
          <p:nvPr/>
        </p:nvPicPr>
        <p:blipFill>
          <a:blip r:embed="rId7"/>
          <a:stretch>
            <a:fillRect/>
          </a:stretch>
        </p:blipFill>
        <p:spPr>
          <a:xfrm>
            <a:off x="659282" y="4326026"/>
            <a:ext cx="281635" cy="281635"/>
          </a:xfrm>
          <a:prstGeom prst="rect">
            <a:avLst/>
          </a:prstGeom>
        </p:spPr>
      </p:pic>
      <p:sp>
        <p:nvSpPr>
          <p:cNvPr id="19" name="Text 12"/>
          <p:cNvSpPr txBox="1"/>
          <p:nvPr/>
        </p:nvSpPr>
        <p:spPr>
          <a:xfrm>
            <a:off x="1261872" y="4187952"/>
            <a:ext cx="4572000" cy="292608"/>
          </a:xfrm>
          <a:prstGeom prst="rect">
            <a:avLst/>
          </a:prstGeom>
          <a:noFill/>
          <a:ln/>
        </p:spPr>
        <p:txBody>
          <a:bodyPr wrap="square" lIns="0" tIns="0" rIns="0" bIns="0" rtlCol="0" anchor="t"/>
          <a:lstStyle/>
          <a:p>
            <a:pPr marL="0" indent="0">
              <a:buNone/>
            </a:pPr>
            <a:r>
              <a:rPr lang="en-US" sz="1400" b="1" dirty="0">
                <a:solidFill>
                  <a:srgbClr val="151A21"/>
                </a:solidFill>
                <a:latin typeface="Arial" pitchFamily="34" charset="0"/>
                <a:ea typeface="Arial" pitchFamily="34" charset="-122"/>
                <a:cs typeface="Arial" pitchFamily="34" charset="-120"/>
              </a:rPr>
              <a:t>Automated response</a:t>
            </a:r>
            <a:endParaRPr lang="en-US" sz="1400" dirty="0"/>
          </a:p>
        </p:txBody>
      </p:sp>
      <p:sp>
        <p:nvSpPr>
          <p:cNvPr id="20" name="Text 13"/>
          <p:cNvSpPr txBox="1"/>
          <p:nvPr/>
        </p:nvSpPr>
        <p:spPr>
          <a:xfrm>
            <a:off x="1261872" y="4489704"/>
            <a:ext cx="4572000" cy="512064"/>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Kills malicious processes, quarantines files and isolates hosts — automatically or in one click.</a:t>
            </a:r>
            <a:endParaRPr lang="en-US" sz="1150" dirty="0"/>
          </a:p>
        </p:txBody>
      </p:sp>
      <p:sp>
        <p:nvSpPr>
          <p:cNvPr id="21" name="Shape 14"/>
          <p:cNvSpPr/>
          <p:nvPr/>
        </p:nvSpPr>
        <p:spPr>
          <a:xfrm>
            <a:off x="548640" y="5102352"/>
            <a:ext cx="502920" cy="502920"/>
          </a:xfrm>
          <a:prstGeom prst="roundRect">
            <a:avLst>
              <a:gd name="adj" fmla="val 18182"/>
            </a:avLst>
          </a:prstGeom>
          <a:solidFill>
            <a:srgbClr val="FDECEC"/>
          </a:solidFill>
          <a:ln w="12700">
            <a:solidFill>
              <a:srgbClr val="FDECEC"/>
            </a:solidFill>
            <a:prstDash val="solid"/>
          </a:ln>
        </p:spPr>
      </p:sp>
      <p:pic>
        <p:nvPicPr>
          <p:cNvPr id="22" name="Image 5" descr="preencoded.png"/>
          <p:cNvPicPr>
            <a:picLocks noChangeAspect="1"/>
          </p:cNvPicPr>
          <p:nvPr/>
        </p:nvPicPr>
        <p:blipFill>
          <a:blip r:embed="rId8"/>
          <a:stretch>
            <a:fillRect/>
          </a:stretch>
        </p:blipFill>
        <p:spPr>
          <a:xfrm>
            <a:off x="659282" y="5212994"/>
            <a:ext cx="281635" cy="281635"/>
          </a:xfrm>
          <a:prstGeom prst="rect">
            <a:avLst/>
          </a:prstGeom>
        </p:spPr>
      </p:pic>
      <p:sp>
        <p:nvSpPr>
          <p:cNvPr id="23" name="Text 15"/>
          <p:cNvSpPr txBox="1"/>
          <p:nvPr/>
        </p:nvSpPr>
        <p:spPr>
          <a:xfrm>
            <a:off x="1261872" y="5074920"/>
            <a:ext cx="4572000" cy="292608"/>
          </a:xfrm>
          <a:prstGeom prst="rect">
            <a:avLst/>
          </a:prstGeom>
          <a:noFill/>
          <a:ln/>
        </p:spPr>
        <p:txBody>
          <a:bodyPr wrap="square" lIns="0" tIns="0" rIns="0" bIns="0" rtlCol="0" anchor="t"/>
          <a:lstStyle/>
          <a:p>
            <a:pPr marL="0" indent="0">
              <a:buNone/>
            </a:pPr>
            <a:r>
              <a:rPr lang="en-US" sz="1400" b="1" dirty="0">
                <a:solidFill>
                  <a:srgbClr val="151A21"/>
                </a:solidFill>
                <a:latin typeface="Arial" pitchFamily="34" charset="0"/>
                <a:ea typeface="Arial" pitchFamily="34" charset="-122"/>
                <a:cs typeface="Arial" pitchFamily="34" charset="-120"/>
              </a:rPr>
              <a:t>Cloud-native console</a:t>
            </a:r>
            <a:endParaRPr lang="en-US" sz="1400" dirty="0"/>
          </a:p>
        </p:txBody>
      </p:sp>
      <p:sp>
        <p:nvSpPr>
          <p:cNvPr id="24" name="Text 16"/>
          <p:cNvSpPr txBox="1"/>
          <p:nvPr/>
        </p:nvSpPr>
        <p:spPr>
          <a:xfrm>
            <a:off x="1261872" y="5376672"/>
            <a:ext cx="4572000" cy="512064"/>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No management server to install or maintain on site — manage everything from one web console.</a:t>
            </a:r>
            <a:endParaRPr lang="en-US" sz="1150" dirty="0"/>
          </a:p>
        </p:txBody>
      </p:sp>
      <p:sp>
        <p:nvSpPr>
          <p:cNvPr id="25" name="Shape 17"/>
          <p:cNvSpPr/>
          <p:nvPr/>
        </p:nvSpPr>
        <p:spPr>
          <a:xfrm>
            <a:off x="6117336" y="1499616"/>
            <a:ext cx="5580583" cy="3293937"/>
          </a:xfrm>
          <a:prstGeom prst="roundRect">
            <a:avLst>
              <a:gd name="adj" fmla="val 1666"/>
            </a:avLst>
          </a:prstGeom>
          <a:solidFill>
            <a:srgbClr val="0B0D12"/>
          </a:solidFill>
          <a:ln w="12700">
            <a:solidFill>
              <a:srgbClr val="0B0D12"/>
            </a:solidFill>
            <a:prstDash val="solid"/>
          </a:ln>
          <a:effectLst>
            <a:outerShdw blurRad="101600" dist="25400" dir="5400000" algn="bl" rotWithShape="0">
              <a:srgbClr val="000000">
                <a:alpha val="10000"/>
              </a:srgbClr>
            </a:outerShdw>
          </a:effectLst>
        </p:spPr>
      </p:sp>
      <p:pic>
        <p:nvPicPr>
          <p:cNvPr id="26" name="Image 6" descr="/private/tmp/claude-501/-Users-jihanvin-Desktop-NIVNAH-AI/16a96446-d9b3-40e2-af9e-a3011ae3db84/scratchpad/assets/console_graph.jpg"/>
          <p:cNvPicPr>
            <a:picLocks noChangeAspect="1"/>
          </p:cNvPicPr>
          <p:nvPr/>
        </p:nvPicPr>
        <p:blipFill>
          <a:blip r:embed="rId9"/>
          <a:stretch>
            <a:fillRect/>
          </a:stretch>
        </p:blipFill>
        <p:spPr>
          <a:xfrm>
            <a:off x="6172200" y="1554480"/>
            <a:ext cx="5470855" cy="3184209"/>
          </a:xfrm>
          <a:prstGeom prst="rect">
            <a:avLst/>
          </a:prstGeom>
        </p:spPr>
      </p:pic>
      <p:sp>
        <p:nvSpPr>
          <p:cNvPr id="27" name="Text 18"/>
          <p:cNvSpPr txBox="1"/>
          <p:nvPr/>
        </p:nvSpPr>
        <p:spPr>
          <a:xfrm>
            <a:off x="6172200" y="4848417"/>
            <a:ext cx="5470855" cy="237744"/>
          </a:xfrm>
          <a:prstGeom prst="rect">
            <a:avLst/>
          </a:prstGeom>
          <a:noFill/>
          <a:ln/>
        </p:spPr>
        <p:txBody>
          <a:bodyPr wrap="square" lIns="0" tIns="0" rIns="0" bIns="0" rtlCol="0" anchor="t"/>
          <a:lstStyle/>
          <a:p>
            <a:pPr marL="0" indent="0">
              <a:buNone/>
            </a:pPr>
            <a:r>
              <a:rPr lang="en-US" sz="900" i="1" dirty="0">
                <a:solidFill>
                  <a:srgbClr val="5E6978"/>
                </a:solidFill>
                <a:latin typeface="Calibri" pitchFamily="34" charset="0"/>
                <a:ea typeface="Calibri" pitchFamily="34" charset="-122"/>
                <a:cs typeface="Calibri" pitchFamily="34" charset="-120"/>
              </a:rPr>
              <a:t>Falcon console — investigation graph showing a detection's full attack path (illustrative)</a:t>
            </a:r>
            <a:endParaRPr lang="en-US" sz="900" dirty="0"/>
          </a:p>
        </p:txBody>
      </p:sp>
      <p:sp>
        <p:nvSpPr>
          <p:cNvPr id="28" name="Text 19"/>
          <p:cNvSpPr txBox="1"/>
          <p:nvPr/>
        </p:nvSpPr>
        <p:spPr>
          <a:xfrm>
            <a:off x="6172200" y="5120640"/>
            <a:ext cx="5470855" cy="237744"/>
          </a:xfrm>
          <a:prstGeom prst="rect">
            <a:avLst/>
          </a:prstGeom>
          <a:noFill/>
          <a:ln/>
        </p:spPr>
        <p:txBody>
          <a:bodyPr wrap="square" lIns="0" tIns="0" rIns="0" bIns="0" rtlCol="0" anchor="t"/>
          <a:lstStyle/>
          <a:p>
            <a:pPr marL="0" indent="0">
              <a:buNone/>
            </a:pPr>
            <a:r>
              <a:rPr lang="en-US" sz="1000" b="1" kern="0" spc="150" dirty="0">
                <a:solidFill>
                  <a:srgbClr val="E3202A"/>
                </a:solidFill>
                <a:latin typeface="Calibri" pitchFamily="34" charset="0"/>
                <a:ea typeface="Calibri" pitchFamily="34" charset="-122"/>
                <a:cs typeface="Calibri" pitchFamily="34" charset="-120"/>
              </a:rPr>
              <a:t>ONE SENSOR PROTECTS</a:t>
            </a:r>
            <a:endParaRPr lang="en-US" sz="1000" dirty="0"/>
          </a:p>
        </p:txBody>
      </p:sp>
      <p:sp>
        <p:nvSpPr>
          <p:cNvPr id="29" name="Shape 20"/>
          <p:cNvSpPr/>
          <p:nvPr/>
        </p:nvSpPr>
        <p:spPr>
          <a:xfrm>
            <a:off x="6172200" y="5431536"/>
            <a:ext cx="1762658" cy="658368"/>
          </a:xfrm>
          <a:prstGeom prst="roundRect">
            <a:avLst>
              <a:gd name="adj" fmla="val 11111"/>
            </a:avLst>
          </a:prstGeom>
          <a:solidFill>
            <a:srgbClr val="F3F5F8"/>
          </a:solidFill>
          <a:ln w="9525">
            <a:solidFill>
              <a:srgbClr val="DCE1E7"/>
            </a:solidFill>
            <a:prstDash val="solid"/>
          </a:ln>
        </p:spPr>
      </p:sp>
      <p:pic>
        <p:nvPicPr>
          <p:cNvPr id="30" name="Image 7" descr="preencoded.png"/>
          <p:cNvPicPr>
            <a:picLocks noChangeAspect="1"/>
          </p:cNvPicPr>
          <p:nvPr/>
        </p:nvPicPr>
        <p:blipFill>
          <a:blip r:embed="rId10"/>
          <a:stretch>
            <a:fillRect/>
          </a:stretch>
        </p:blipFill>
        <p:spPr>
          <a:xfrm>
            <a:off x="6943801" y="5504688"/>
            <a:ext cx="219456" cy="219456"/>
          </a:xfrm>
          <a:prstGeom prst="rect">
            <a:avLst/>
          </a:prstGeom>
        </p:spPr>
      </p:pic>
      <p:sp>
        <p:nvSpPr>
          <p:cNvPr id="31" name="Text 21"/>
          <p:cNvSpPr txBox="1"/>
          <p:nvPr/>
        </p:nvSpPr>
        <p:spPr>
          <a:xfrm>
            <a:off x="6208776" y="5779008"/>
            <a:ext cx="1689506" cy="256032"/>
          </a:xfrm>
          <a:prstGeom prst="rect">
            <a:avLst/>
          </a:prstGeom>
          <a:noFill/>
          <a:ln/>
        </p:spPr>
        <p:txBody>
          <a:bodyPr wrap="square" lIns="0" tIns="0" rIns="0" bIns="0" rtlCol="0" anchor="ctr"/>
          <a:lstStyle/>
          <a:p>
            <a:pPr marL="0" indent="0" algn="ctr">
              <a:buNone/>
            </a:pPr>
            <a:r>
              <a:rPr lang="en-US" sz="1000" b="1" dirty="0">
                <a:solidFill>
                  <a:srgbClr val="151A21"/>
                </a:solidFill>
                <a:latin typeface="Calibri" pitchFamily="34" charset="0"/>
                <a:ea typeface="Calibri" pitchFamily="34" charset="-122"/>
                <a:cs typeface="Calibri" pitchFamily="34" charset="-120"/>
              </a:rPr>
              <a:t>Workstations</a:t>
            </a:r>
            <a:endParaRPr lang="en-US" sz="1000" dirty="0"/>
          </a:p>
        </p:txBody>
      </p:sp>
      <p:sp>
        <p:nvSpPr>
          <p:cNvPr id="32" name="Shape 22"/>
          <p:cNvSpPr/>
          <p:nvPr/>
        </p:nvSpPr>
        <p:spPr>
          <a:xfrm>
            <a:off x="9880396" y="5431536"/>
            <a:ext cx="1762658" cy="658368"/>
          </a:xfrm>
          <a:prstGeom prst="roundRect">
            <a:avLst>
              <a:gd name="adj" fmla="val 11111"/>
            </a:avLst>
          </a:prstGeom>
          <a:solidFill>
            <a:srgbClr val="F3F5F8"/>
          </a:solidFill>
          <a:ln w="9525">
            <a:solidFill>
              <a:srgbClr val="DCE1E7"/>
            </a:solidFill>
            <a:prstDash val="solid"/>
          </a:ln>
        </p:spPr>
      </p:sp>
      <p:pic>
        <p:nvPicPr>
          <p:cNvPr id="33" name="Image 8" descr="preencoded.png"/>
          <p:cNvPicPr>
            <a:picLocks noChangeAspect="1"/>
          </p:cNvPicPr>
          <p:nvPr/>
        </p:nvPicPr>
        <p:blipFill>
          <a:blip r:embed="rId11"/>
          <a:stretch>
            <a:fillRect/>
          </a:stretch>
        </p:blipFill>
        <p:spPr>
          <a:xfrm>
            <a:off x="10651997" y="5504688"/>
            <a:ext cx="219456" cy="219456"/>
          </a:xfrm>
          <a:prstGeom prst="rect">
            <a:avLst/>
          </a:prstGeom>
        </p:spPr>
      </p:pic>
      <p:sp>
        <p:nvSpPr>
          <p:cNvPr id="34" name="Text 23"/>
          <p:cNvSpPr txBox="1"/>
          <p:nvPr/>
        </p:nvSpPr>
        <p:spPr>
          <a:xfrm>
            <a:off x="9916972" y="5779008"/>
            <a:ext cx="1689506" cy="256032"/>
          </a:xfrm>
          <a:prstGeom prst="rect">
            <a:avLst/>
          </a:prstGeom>
          <a:noFill/>
          <a:ln/>
        </p:spPr>
        <p:txBody>
          <a:bodyPr wrap="square" lIns="0" tIns="0" rIns="0" bIns="0" rtlCol="0" anchor="ctr"/>
          <a:lstStyle/>
          <a:p>
            <a:pPr marL="0" indent="0" algn="ctr">
              <a:buNone/>
            </a:pPr>
            <a:r>
              <a:rPr lang="en-US" sz="1000" b="1" dirty="0">
                <a:solidFill>
                  <a:srgbClr val="151A21"/>
                </a:solidFill>
                <a:latin typeface="Calibri" pitchFamily="34" charset="0"/>
                <a:ea typeface="Calibri" pitchFamily="34" charset="-122"/>
                <a:cs typeface="Calibri" pitchFamily="34" charset="-120"/>
              </a:rPr>
              <a:t>Servers</a:t>
            </a:r>
            <a:endParaRPr lang="en-US" sz="1000" dirty="0"/>
          </a:p>
        </p:txBody>
      </p:sp>
      <p:sp>
        <p:nvSpPr>
          <p:cNvPr id="35" name="Shape 24"/>
          <p:cNvSpPr/>
          <p:nvPr/>
        </p:nvSpPr>
        <p:spPr>
          <a:xfrm>
            <a:off x="8026298" y="5431536"/>
            <a:ext cx="1762658" cy="658368"/>
          </a:xfrm>
          <a:prstGeom prst="roundRect">
            <a:avLst>
              <a:gd name="adj" fmla="val 11111"/>
            </a:avLst>
          </a:prstGeom>
          <a:solidFill>
            <a:srgbClr val="F3F5F8"/>
          </a:solidFill>
          <a:ln w="9525">
            <a:solidFill>
              <a:srgbClr val="DCE1E7"/>
            </a:solidFill>
            <a:prstDash val="solid"/>
          </a:ln>
        </p:spPr>
      </p:sp>
      <p:pic>
        <p:nvPicPr>
          <p:cNvPr id="36" name="Image 9" descr="preencoded.png"/>
          <p:cNvPicPr>
            <a:picLocks noChangeAspect="1"/>
          </p:cNvPicPr>
          <p:nvPr/>
        </p:nvPicPr>
        <p:blipFill>
          <a:blip r:embed="rId12"/>
          <a:stretch>
            <a:fillRect/>
          </a:stretch>
        </p:blipFill>
        <p:spPr>
          <a:xfrm>
            <a:off x="8797899" y="5504688"/>
            <a:ext cx="219456" cy="219456"/>
          </a:xfrm>
          <a:prstGeom prst="rect">
            <a:avLst/>
          </a:prstGeom>
        </p:spPr>
      </p:pic>
      <p:sp>
        <p:nvSpPr>
          <p:cNvPr id="37" name="Text 25"/>
          <p:cNvSpPr txBox="1"/>
          <p:nvPr/>
        </p:nvSpPr>
        <p:spPr>
          <a:xfrm>
            <a:off x="8062874" y="5779008"/>
            <a:ext cx="1689506" cy="256032"/>
          </a:xfrm>
          <a:prstGeom prst="rect">
            <a:avLst/>
          </a:prstGeom>
          <a:noFill/>
          <a:ln/>
        </p:spPr>
        <p:txBody>
          <a:bodyPr wrap="square" lIns="0" tIns="0" rIns="0" bIns="0" rtlCol="0" anchor="ctr"/>
          <a:lstStyle/>
          <a:p>
            <a:pPr marL="0" indent="0" algn="ctr">
              <a:buNone/>
            </a:pPr>
            <a:r>
              <a:rPr lang="en-US" sz="1000" b="1" dirty="0">
                <a:solidFill>
                  <a:srgbClr val="151A21"/>
                </a:solidFill>
                <a:latin typeface="Calibri" pitchFamily="34" charset="0"/>
                <a:ea typeface="Calibri" pitchFamily="34" charset="-122"/>
                <a:cs typeface="Calibri" pitchFamily="34" charset="-120"/>
              </a:rPr>
              <a:t>Laptops</a:t>
            </a:r>
            <a:endParaRPr lang="en-US" sz="1000" dirty="0"/>
          </a:p>
        </p:txBody>
      </p:sp>
      <p:sp>
        <p:nvSpPr>
          <p:cNvPr id="44" name="Text 30"/>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08   |   Nessus vs. CrowdStrike Falcon Platform  ·  Proposal for The Westin Resort Guam</a:t>
            </a:r>
            <a:endParaRPr lang="en-US" sz="900" dirty="0"/>
          </a:p>
        </p:txBody>
      </p:sp>
      <p:pic>
        <p:nvPicPr>
          <p:cNvPr id="45" name="Image 12" descr="/private/tmp/claude-501/-Users-jihanvin-Desktop-NIVNAH-AI/16a96446-d9b3-40e2-af9e-a3011ae3db84/scratchpad/assets/secukorea_dark.png"/>
          <p:cNvPicPr>
            <a:picLocks noChangeAspect="1"/>
          </p:cNvPicPr>
          <p:nvPr/>
        </p:nvPicPr>
        <p:blipFill>
          <a:blip r:embed="rId15"/>
          <a:stretch>
            <a:fillRect/>
          </a:stretch>
        </p:blipFill>
        <p:spPr>
          <a:xfrm>
            <a:off x="10661904" y="6400800"/>
            <a:ext cx="978408" cy="2331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0D1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07   HOW IT WORKS</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AI-Native Protection, From Sensor to Cloud</a:t>
            </a:r>
            <a:endParaRPr lang="en-US" sz="2800" dirty="0"/>
          </a:p>
        </p:txBody>
      </p:sp>
      <p:pic>
        <p:nvPicPr>
          <p:cNvPr id="4" name="Image 0" descr="/private/tmp/claude-501/-Users-jihanvin-Desktop-NIVNAH-AI/16a96446-d9b3-40e2-af9e-a3011ae3db84/scratchpad/assets/westin_white.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572768"/>
            <a:ext cx="3383280" cy="3840480"/>
          </a:xfrm>
          <a:prstGeom prst="roundRect">
            <a:avLst>
              <a:gd name="adj" fmla="val 2703"/>
            </a:avLst>
          </a:prstGeom>
          <a:solidFill>
            <a:srgbClr val="171B22"/>
          </a:solidFill>
          <a:ln w="9525">
            <a:solidFill>
              <a:srgbClr val="2A303A"/>
            </a:solidFill>
            <a:prstDash val="solid"/>
          </a:ln>
        </p:spPr>
      </p:sp>
      <p:sp>
        <p:nvSpPr>
          <p:cNvPr id="6" name="Text 3"/>
          <p:cNvSpPr txBox="1"/>
          <p:nvPr/>
        </p:nvSpPr>
        <p:spPr>
          <a:xfrm>
            <a:off x="822960" y="1801368"/>
            <a:ext cx="2834640" cy="237744"/>
          </a:xfrm>
          <a:prstGeom prst="rect">
            <a:avLst/>
          </a:prstGeom>
          <a:noFill/>
          <a:ln/>
        </p:spPr>
        <p:txBody>
          <a:bodyPr wrap="square" lIns="0" tIns="0" rIns="0" bIns="0" rtlCol="0" anchor="t"/>
          <a:lstStyle/>
          <a:p>
            <a:pPr marL="0" indent="0">
              <a:buNone/>
            </a:pPr>
            <a:r>
              <a:rPr lang="en-US" sz="1000" b="1" kern="0" spc="200" dirty="0">
                <a:solidFill>
                  <a:srgbClr val="E3202A"/>
                </a:solidFill>
                <a:latin typeface="Calibri" pitchFamily="34" charset="0"/>
                <a:ea typeface="Calibri" pitchFamily="34" charset="-122"/>
                <a:cs typeface="Calibri" pitchFamily="34" charset="-120"/>
              </a:rPr>
              <a:t>ON THE ENDPOINT</a:t>
            </a:r>
            <a:endParaRPr lang="en-US" sz="1000" dirty="0"/>
          </a:p>
        </p:txBody>
      </p:sp>
      <p:sp>
        <p:nvSpPr>
          <p:cNvPr id="7" name="Shape 4"/>
          <p:cNvSpPr/>
          <p:nvPr/>
        </p:nvSpPr>
        <p:spPr>
          <a:xfrm>
            <a:off x="822960" y="2139696"/>
            <a:ext cx="502920" cy="502920"/>
          </a:xfrm>
          <a:prstGeom prst="roundRect">
            <a:avLst>
              <a:gd name="adj" fmla="val 18182"/>
            </a:avLst>
          </a:prstGeom>
          <a:solidFill>
            <a:srgbClr val="E3202A"/>
          </a:solidFill>
          <a:ln w="12700">
            <a:solidFill>
              <a:srgbClr val="E3202A"/>
            </a:solidFill>
            <a:prstDash val="solid"/>
          </a:ln>
        </p:spPr>
      </p:sp>
      <p:pic>
        <p:nvPicPr>
          <p:cNvPr id="8" name="Image 1" descr="preencoded.png"/>
          <p:cNvPicPr>
            <a:picLocks noChangeAspect="1"/>
          </p:cNvPicPr>
          <p:nvPr/>
        </p:nvPicPr>
        <p:blipFill>
          <a:blip r:embed="rId4"/>
          <a:stretch>
            <a:fillRect/>
          </a:stretch>
        </p:blipFill>
        <p:spPr>
          <a:xfrm>
            <a:off x="933602" y="2250338"/>
            <a:ext cx="281635" cy="281635"/>
          </a:xfrm>
          <a:prstGeom prst="rect">
            <a:avLst/>
          </a:prstGeom>
        </p:spPr>
      </p:pic>
      <p:sp>
        <p:nvSpPr>
          <p:cNvPr id="9" name="Text 5"/>
          <p:cNvSpPr txBox="1"/>
          <p:nvPr/>
        </p:nvSpPr>
        <p:spPr>
          <a:xfrm>
            <a:off x="1481328" y="2139696"/>
            <a:ext cx="2286000" cy="50292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Falcon Sensor</a:t>
            </a:r>
            <a:endParaRPr lang="en-US" sz="1500" dirty="0"/>
          </a:p>
        </p:txBody>
      </p:sp>
      <p:pic>
        <p:nvPicPr>
          <p:cNvPr id="10" name="Image 2" descr="preencoded.png"/>
          <p:cNvPicPr>
            <a:picLocks noChangeAspect="1"/>
          </p:cNvPicPr>
          <p:nvPr/>
        </p:nvPicPr>
        <p:blipFill>
          <a:blip r:embed="rId5"/>
          <a:stretch>
            <a:fillRect/>
          </a:stretch>
        </p:blipFill>
        <p:spPr>
          <a:xfrm>
            <a:off x="822960" y="2980944"/>
            <a:ext cx="182880" cy="182880"/>
          </a:xfrm>
          <a:prstGeom prst="rect">
            <a:avLst/>
          </a:prstGeom>
        </p:spPr>
      </p:pic>
      <p:sp>
        <p:nvSpPr>
          <p:cNvPr id="11" name="Text 6"/>
          <p:cNvSpPr txBox="1"/>
          <p:nvPr/>
        </p:nvSpPr>
        <p:spPr>
          <a:xfrm>
            <a:off x="1115568" y="2944368"/>
            <a:ext cx="26060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Sensor machine learning</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Inline malware prevention</a:t>
            </a:r>
            <a:endParaRPr lang="en-US" sz="1100" dirty="0"/>
          </a:p>
        </p:txBody>
      </p:sp>
      <p:pic>
        <p:nvPicPr>
          <p:cNvPr id="12" name="Image 3" descr="preencoded.png"/>
          <p:cNvPicPr>
            <a:picLocks noChangeAspect="1"/>
          </p:cNvPicPr>
          <p:nvPr/>
        </p:nvPicPr>
        <p:blipFill>
          <a:blip r:embed="rId5"/>
          <a:stretch>
            <a:fillRect/>
          </a:stretch>
        </p:blipFill>
        <p:spPr>
          <a:xfrm>
            <a:off x="822960" y="3566160"/>
            <a:ext cx="182880" cy="182880"/>
          </a:xfrm>
          <a:prstGeom prst="rect">
            <a:avLst/>
          </a:prstGeom>
        </p:spPr>
      </p:pic>
      <p:sp>
        <p:nvSpPr>
          <p:cNvPr id="13" name="Text 7"/>
          <p:cNvSpPr txBox="1"/>
          <p:nvPr/>
        </p:nvSpPr>
        <p:spPr>
          <a:xfrm>
            <a:off x="1115568" y="3529584"/>
            <a:ext cx="26060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Indicators of Attack (IOAs)</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Stops malicious behavior, not just files</a:t>
            </a:r>
            <a:endParaRPr lang="en-US" sz="1100" dirty="0"/>
          </a:p>
        </p:txBody>
      </p:sp>
      <p:pic>
        <p:nvPicPr>
          <p:cNvPr id="14" name="Image 4" descr="preencoded.png"/>
          <p:cNvPicPr>
            <a:picLocks noChangeAspect="1"/>
          </p:cNvPicPr>
          <p:nvPr/>
        </p:nvPicPr>
        <p:blipFill>
          <a:blip r:embed="rId5"/>
          <a:stretch>
            <a:fillRect/>
          </a:stretch>
        </p:blipFill>
        <p:spPr>
          <a:xfrm>
            <a:off x="822960" y="4151376"/>
            <a:ext cx="182880" cy="182880"/>
          </a:xfrm>
          <a:prstGeom prst="rect">
            <a:avLst/>
          </a:prstGeom>
        </p:spPr>
      </p:pic>
      <p:sp>
        <p:nvSpPr>
          <p:cNvPr id="15" name="Text 8"/>
          <p:cNvSpPr txBox="1"/>
          <p:nvPr/>
        </p:nvSpPr>
        <p:spPr>
          <a:xfrm>
            <a:off x="1115568" y="4114800"/>
            <a:ext cx="26060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Online or offline</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Protection even without a connection</a:t>
            </a:r>
            <a:endParaRPr lang="en-US" sz="1100" dirty="0"/>
          </a:p>
        </p:txBody>
      </p:sp>
      <p:pic>
        <p:nvPicPr>
          <p:cNvPr id="16" name="Image 5" descr="preencoded.png"/>
          <p:cNvPicPr>
            <a:picLocks noChangeAspect="1"/>
          </p:cNvPicPr>
          <p:nvPr/>
        </p:nvPicPr>
        <p:blipFill>
          <a:blip r:embed="rId5"/>
          <a:stretch>
            <a:fillRect/>
          </a:stretch>
        </p:blipFill>
        <p:spPr>
          <a:xfrm>
            <a:off x="822960" y="4736592"/>
            <a:ext cx="182880" cy="182880"/>
          </a:xfrm>
          <a:prstGeom prst="rect">
            <a:avLst/>
          </a:prstGeom>
        </p:spPr>
      </p:pic>
      <p:sp>
        <p:nvSpPr>
          <p:cNvPr id="17" name="Text 9"/>
          <p:cNvSpPr txBox="1"/>
          <p:nvPr/>
        </p:nvSpPr>
        <p:spPr>
          <a:xfrm>
            <a:off x="1115568" y="4700016"/>
            <a:ext cx="26060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Lightweight</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Minimal impact on hotel systems</a:t>
            </a:r>
            <a:endParaRPr lang="en-US" sz="1100" dirty="0"/>
          </a:p>
        </p:txBody>
      </p:sp>
      <p:sp>
        <p:nvSpPr>
          <p:cNvPr id="18" name="Shape 10"/>
          <p:cNvSpPr/>
          <p:nvPr/>
        </p:nvSpPr>
        <p:spPr>
          <a:xfrm>
            <a:off x="4617720" y="1572768"/>
            <a:ext cx="3611880" cy="3840480"/>
          </a:xfrm>
          <a:prstGeom prst="roundRect">
            <a:avLst>
              <a:gd name="adj" fmla="val 2532"/>
            </a:avLst>
          </a:prstGeom>
          <a:solidFill>
            <a:srgbClr val="171B22"/>
          </a:solidFill>
          <a:ln w="9525">
            <a:solidFill>
              <a:srgbClr val="2A303A"/>
            </a:solidFill>
            <a:prstDash val="solid"/>
          </a:ln>
        </p:spPr>
      </p:sp>
      <p:sp>
        <p:nvSpPr>
          <p:cNvPr id="19" name="Text 11"/>
          <p:cNvSpPr txBox="1"/>
          <p:nvPr/>
        </p:nvSpPr>
        <p:spPr>
          <a:xfrm>
            <a:off x="4892040" y="1801368"/>
            <a:ext cx="3063240" cy="237744"/>
          </a:xfrm>
          <a:prstGeom prst="rect">
            <a:avLst/>
          </a:prstGeom>
          <a:noFill/>
          <a:ln/>
        </p:spPr>
        <p:txBody>
          <a:bodyPr wrap="square" lIns="0" tIns="0" rIns="0" bIns="0" rtlCol="0" anchor="t"/>
          <a:lstStyle/>
          <a:p>
            <a:pPr marL="0" indent="0">
              <a:buNone/>
            </a:pPr>
            <a:r>
              <a:rPr lang="en-US" sz="1000" b="1" kern="0" spc="200" dirty="0">
                <a:solidFill>
                  <a:srgbClr val="E3202A"/>
                </a:solidFill>
                <a:latin typeface="Calibri" pitchFamily="34" charset="0"/>
                <a:ea typeface="Calibri" pitchFamily="34" charset="-122"/>
                <a:cs typeface="Calibri" pitchFamily="34" charset="-120"/>
              </a:rPr>
              <a:t>IN THE CLOUD</a:t>
            </a:r>
            <a:endParaRPr lang="en-US" sz="1000" dirty="0"/>
          </a:p>
        </p:txBody>
      </p:sp>
      <p:sp>
        <p:nvSpPr>
          <p:cNvPr id="20" name="Shape 12"/>
          <p:cNvSpPr/>
          <p:nvPr/>
        </p:nvSpPr>
        <p:spPr>
          <a:xfrm>
            <a:off x="4892040" y="2139696"/>
            <a:ext cx="502920" cy="502920"/>
          </a:xfrm>
          <a:prstGeom prst="roundRect">
            <a:avLst>
              <a:gd name="adj" fmla="val 18182"/>
            </a:avLst>
          </a:prstGeom>
          <a:solidFill>
            <a:srgbClr val="E3202A"/>
          </a:solidFill>
          <a:ln w="12700">
            <a:solidFill>
              <a:srgbClr val="E3202A"/>
            </a:solidFill>
            <a:prstDash val="solid"/>
          </a:ln>
        </p:spPr>
      </p:sp>
      <p:pic>
        <p:nvPicPr>
          <p:cNvPr id="21" name="Image 6" descr="preencoded.png"/>
          <p:cNvPicPr>
            <a:picLocks noChangeAspect="1"/>
          </p:cNvPicPr>
          <p:nvPr/>
        </p:nvPicPr>
        <p:blipFill>
          <a:blip r:embed="rId6"/>
          <a:stretch>
            <a:fillRect/>
          </a:stretch>
        </p:blipFill>
        <p:spPr>
          <a:xfrm>
            <a:off x="5002682" y="2250338"/>
            <a:ext cx="281635" cy="281635"/>
          </a:xfrm>
          <a:prstGeom prst="rect">
            <a:avLst/>
          </a:prstGeom>
        </p:spPr>
      </p:pic>
      <p:sp>
        <p:nvSpPr>
          <p:cNvPr id="22" name="Text 13"/>
          <p:cNvSpPr txBox="1"/>
          <p:nvPr/>
        </p:nvSpPr>
        <p:spPr>
          <a:xfrm>
            <a:off x="5550408" y="2139696"/>
            <a:ext cx="2514600" cy="502920"/>
          </a:xfrm>
          <a:prstGeom prst="rect">
            <a:avLst/>
          </a:prstGeom>
          <a:noFill/>
          <a:ln/>
        </p:spPr>
        <p:txBody>
          <a:bodyPr wrap="square" lIns="0" tIns="0" rIns="0" bIns="0" rtlCol="0" anchor="ctr"/>
          <a:lstStyle/>
          <a:p>
            <a:pPr marL="0" indent="0">
              <a:buNone/>
            </a:pPr>
            <a:r>
              <a:rPr lang="en-US" sz="1500" b="1" dirty="0">
                <a:solidFill>
                  <a:srgbClr val="FFFFFF"/>
                </a:solidFill>
                <a:latin typeface="Arial" pitchFamily="34" charset="0"/>
                <a:ea typeface="Arial" pitchFamily="34" charset="-122"/>
                <a:cs typeface="Arial" pitchFamily="34" charset="-120"/>
              </a:rPr>
              <a:t>Falcon Platform</a:t>
            </a:r>
            <a:endParaRPr lang="en-US" sz="1500" dirty="0"/>
          </a:p>
        </p:txBody>
      </p:sp>
      <p:pic>
        <p:nvPicPr>
          <p:cNvPr id="23" name="Image 7" descr="preencoded.png"/>
          <p:cNvPicPr>
            <a:picLocks noChangeAspect="1"/>
          </p:cNvPicPr>
          <p:nvPr/>
        </p:nvPicPr>
        <p:blipFill>
          <a:blip r:embed="rId5"/>
          <a:stretch>
            <a:fillRect/>
          </a:stretch>
        </p:blipFill>
        <p:spPr>
          <a:xfrm>
            <a:off x="4892040" y="2980944"/>
            <a:ext cx="182880" cy="182880"/>
          </a:xfrm>
          <a:prstGeom prst="rect">
            <a:avLst/>
          </a:prstGeom>
        </p:spPr>
      </p:pic>
      <p:sp>
        <p:nvSpPr>
          <p:cNvPr id="24" name="Text 14"/>
          <p:cNvSpPr txBox="1"/>
          <p:nvPr/>
        </p:nvSpPr>
        <p:spPr>
          <a:xfrm>
            <a:off x="5184648" y="2944368"/>
            <a:ext cx="28346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Cloud machine learning</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Models run at cloud scale</a:t>
            </a:r>
            <a:endParaRPr lang="en-US" sz="1100" dirty="0"/>
          </a:p>
        </p:txBody>
      </p:sp>
      <p:pic>
        <p:nvPicPr>
          <p:cNvPr id="25" name="Image 8" descr="preencoded.png"/>
          <p:cNvPicPr>
            <a:picLocks noChangeAspect="1"/>
          </p:cNvPicPr>
          <p:nvPr/>
        </p:nvPicPr>
        <p:blipFill>
          <a:blip r:embed="rId5"/>
          <a:stretch>
            <a:fillRect/>
          </a:stretch>
        </p:blipFill>
        <p:spPr>
          <a:xfrm>
            <a:off x="4892040" y="3566160"/>
            <a:ext cx="182880" cy="182880"/>
          </a:xfrm>
          <a:prstGeom prst="rect">
            <a:avLst/>
          </a:prstGeom>
        </p:spPr>
      </p:pic>
      <p:sp>
        <p:nvSpPr>
          <p:cNvPr id="26" name="Text 15"/>
          <p:cNvSpPr txBox="1"/>
          <p:nvPr/>
        </p:nvSpPr>
        <p:spPr>
          <a:xfrm>
            <a:off x="5184648" y="3529584"/>
            <a:ext cx="28346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Adversary threat intelligence</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Context on who is attacking and how</a:t>
            </a:r>
            <a:endParaRPr lang="en-US" sz="1100" dirty="0"/>
          </a:p>
        </p:txBody>
      </p:sp>
      <p:pic>
        <p:nvPicPr>
          <p:cNvPr id="27" name="Image 9" descr="preencoded.png"/>
          <p:cNvPicPr>
            <a:picLocks noChangeAspect="1"/>
          </p:cNvPicPr>
          <p:nvPr/>
        </p:nvPicPr>
        <p:blipFill>
          <a:blip r:embed="rId5"/>
          <a:stretch>
            <a:fillRect/>
          </a:stretch>
        </p:blipFill>
        <p:spPr>
          <a:xfrm>
            <a:off x="4892040" y="4151376"/>
            <a:ext cx="182880" cy="182880"/>
          </a:xfrm>
          <a:prstGeom prst="rect">
            <a:avLst/>
          </a:prstGeom>
        </p:spPr>
      </p:pic>
      <p:sp>
        <p:nvSpPr>
          <p:cNvPr id="28" name="Text 16"/>
          <p:cNvSpPr txBox="1"/>
          <p:nvPr/>
        </p:nvSpPr>
        <p:spPr>
          <a:xfrm>
            <a:off x="5184648" y="4114800"/>
            <a:ext cx="28346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Automated Leads</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Surfaces subtle early signs of attack</a:t>
            </a:r>
            <a:endParaRPr lang="en-US" sz="1100" dirty="0"/>
          </a:p>
        </p:txBody>
      </p:sp>
      <p:pic>
        <p:nvPicPr>
          <p:cNvPr id="29" name="Image 10" descr="preencoded.png"/>
          <p:cNvPicPr>
            <a:picLocks noChangeAspect="1"/>
          </p:cNvPicPr>
          <p:nvPr/>
        </p:nvPicPr>
        <p:blipFill>
          <a:blip r:embed="rId5"/>
          <a:stretch>
            <a:fillRect/>
          </a:stretch>
        </p:blipFill>
        <p:spPr>
          <a:xfrm>
            <a:off x="4892040" y="4736592"/>
            <a:ext cx="182880" cy="182880"/>
          </a:xfrm>
          <a:prstGeom prst="rect">
            <a:avLst/>
          </a:prstGeom>
        </p:spPr>
      </p:pic>
      <p:sp>
        <p:nvSpPr>
          <p:cNvPr id="30" name="Text 17"/>
          <p:cNvSpPr txBox="1"/>
          <p:nvPr/>
        </p:nvSpPr>
        <p:spPr>
          <a:xfrm>
            <a:off x="5184648" y="4700016"/>
            <a:ext cx="2834640" cy="493776"/>
          </a:xfrm>
          <a:prstGeom prst="rect">
            <a:avLst/>
          </a:prstGeom>
          <a:noFill/>
          <a:ln/>
        </p:spPr>
        <p:txBody>
          <a:bodyPr wrap="square" lIns="0" tIns="0" rIns="0" bIns="0" rtlCol="0" anchor="t"/>
          <a:lstStyle/>
          <a:p>
            <a:pPr marL="0" indent="0">
              <a:buNone/>
            </a:pPr>
            <a:r>
              <a:rPr lang="en-US" sz="1100" b="1" dirty="0">
                <a:solidFill>
                  <a:srgbClr val="FFFFFF"/>
                </a:solidFill>
                <a:latin typeface="Calibri" pitchFamily="34" charset="0"/>
                <a:ea typeface="Calibri" pitchFamily="34" charset="-122"/>
                <a:cs typeface="Calibri" pitchFamily="34" charset="-120"/>
              </a:rPr>
              <a:t>Severity scoring</a:t>
            </a:r>
            <a:endParaRPr lang="en-US" sz="1100" dirty="0"/>
          </a:p>
          <a:p>
            <a:pPr marL="0" indent="0">
              <a:buNone/>
            </a:pPr>
            <a:r>
              <a:rPr lang="en-US" sz="1100" dirty="0">
                <a:solidFill>
                  <a:srgbClr val="A9B1BC"/>
                </a:solidFill>
                <a:latin typeface="Calibri" pitchFamily="34" charset="0"/>
                <a:ea typeface="Calibri" pitchFamily="34" charset="-122"/>
                <a:cs typeface="Calibri" pitchFamily="34" charset="-120"/>
              </a:rPr>
              <a:t>Ranks detections so critical ones come first</a:t>
            </a:r>
            <a:endParaRPr lang="en-US" sz="1100" dirty="0"/>
          </a:p>
        </p:txBody>
      </p:sp>
      <p:pic>
        <p:nvPicPr>
          <p:cNvPr id="31" name="Image 11" descr="preencoded.png"/>
          <p:cNvPicPr>
            <a:picLocks noChangeAspect="1"/>
          </p:cNvPicPr>
          <p:nvPr/>
        </p:nvPicPr>
        <p:blipFill>
          <a:blip r:embed="rId7"/>
          <a:stretch>
            <a:fillRect/>
          </a:stretch>
        </p:blipFill>
        <p:spPr>
          <a:xfrm>
            <a:off x="4059936" y="3282696"/>
            <a:ext cx="420624" cy="420624"/>
          </a:xfrm>
          <a:prstGeom prst="rect">
            <a:avLst/>
          </a:prstGeom>
        </p:spPr>
      </p:pic>
      <p:pic>
        <p:nvPicPr>
          <p:cNvPr id="32" name="Image 12" descr="preencoded.png"/>
          <p:cNvPicPr>
            <a:picLocks noChangeAspect="1"/>
          </p:cNvPicPr>
          <p:nvPr/>
        </p:nvPicPr>
        <p:blipFill>
          <a:blip r:embed="rId7"/>
          <a:stretch>
            <a:fillRect/>
          </a:stretch>
        </p:blipFill>
        <p:spPr>
          <a:xfrm>
            <a:off x="8357616" y="3282696"/>
            <a:ext cx="420624" cy="420624"/>
          </a:xfrm>
          <a:prstGeom prst="rect">
            <a:avLst/>
          </a:prstGeom>
        </p:spPr>
      </p:pic>
      <p:sp>
        <p:nvSpPr>
          <p:cNvPr id="33" name="Text 18"/>
          <p:cNvSpPr txBox="1"/>
          <p:nvPr/>
        </p:nvSpPr>
        <p:spPr>
          <a:xfrm>
            <a:off x="8915400" y="1801368"/>
            <a:ext cx="2727655" cy="237744"/>
          </a:xfrm>
          <a:prstGeom prst="rect">
            <a:avLst/>
          </a:prstGeom>
          <a:noFill/>
          <a:ln/>
        </p:spPr>
        <p:txBody>
          <a:bodyPr wrap="square" lIns="0" tIns="0" rIns="0" bIns="0" rtlCol="0" anchor="t"/>
          <a:lstStyle/>
          <a:p>
            <a:pPr marL="0" indent="0">
              <a:buNone/>
            </a:pPr>
            <a:r>
              <a:rPr lang="en-US" sz="1000" b="1" kern="0" spc="200" dirty="0">
                <a:solidFill>
                  <a:srgbClr val="E3202A"/>
                </a:solidFill>
                <a:latin typeface="Calibri" pitchFamily="34" charset="0"/>
                <a:ea typeface="Calibri" pitchFamily="34" charset="-122"/>
                <a:cs typeface="Calibri" pitchFamily="34" charset="-120"/>
              </a:rPr>
              <a:t>AUTOMATIC ACTIONS</a:t>
            </a:r>
            <a:endParaRPr lang="en-US" sz="1000" dirty="0"/>
          </a:p>
        </p:txBody>
      </p:sp>
      <p:sp>
        <p:nvSpPr>
          <p:cNvPr id="34" name="Shape 19"/>
          <p:cNvSpPr/>
          <p:nvPr/>
        </p:nvSpPr>
        <p:spPr>
          <a:xfrm>
            <a:off x="8915400" y="2139696"/>
            <a:ext cx="2727655" cy="713232"/>
          </a:xfrm>
          <a:prstGeom prst="roundRect">
            <a:avLst>
              <a:gd name="adj" fmla="val 10256"/>
            </a:avLst>
          </a:prstGeom>
          <a:solidFill>
            <a:srgbClr val="171B22"/>
          </a:solidFill>
          <a:ln w="12700">
            <a:solidFill>
              <a:srgbClr val="E3202A"/>
            </a:solidFill>
            <a:prstDash val="solid"/>
          </a:ln>
        </p:spPr>
      </p:sp>
      <p:pic>
        <p:nvPicPr>
          <p:cNvPr id="35" name="Image 13" descr="preencoded.png"/>
          <p:cNvPicPr>
            <a:picLocks noChangeAspect="1"/>
          </p:cNvPicPr>
          <p:nvPr/>
        </p:nvPicPr>
        <p:blipFill>
          <a:blip r:embed="rId8"/>
          <a:stretch>
            <a:fillRect/>
          </a:stretch>
        </p:blipFill>
        <p:spPr>
          <a:xfrm>
            <a:off x="9098280" y="2359152"/>
            <a:ext cx="274320" cy="274320"/>
          </a:xfrm>
          <a:prstGeom prst="rect">
            <a:avLst/>
          </a:prstGeom>
        </p:spPr>
      </p:pic>
      <p:sp>
        <p:nvSpPr>
          <p:cNvPr id="36" name="Text 20"/>
          <p:cNvSpPr txBox="1"/>
          <p:nvPr/>
        </p:nvSpPr>
        <p:spPr>
          <a:xfrm>
            <a:off x="9509760" y="2194560"/>
            <a:ext cx="2041855" cy="60350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Block</a:t>
            </a:r>
            <a:endParaRPr lang="en-US" sz="1200" dirty="0"/>
          </a:p>
          <a:p>
            <a:pPr marL="0" indent="0">
              <a:buNone/>
            </a:pPr>
            <a:r>
              <a:rPr lang="en-US" sz="1000" dirty="0">
                <a:solidFill>
                  <a:srgbClr val="A9B1BC"/>
                </a:solidFill>
                <a:latin typeface="Calibri" pitchFamily="34" charset="0"/>
                <a:ea typeface="Calibri" pitchFamily="34" charset="-122"/>
                <a:cs typeface="Calibri" pitchFamily="34" charset="-120"/>
              </a:rPr>
              <a:t>Kill malicious processes before damage</a:t>
            </a:r>
            <a:endParaRPr lang="en-US" sz="1200" dirty="0"/>
          </a:p>
        </p:txBody>
      </p:sp>
      <p:sp>
        <p:nvSpPr>
          <p:cNvPr id="37" name="Shape 21"/>
          <p:cNvSpPr/>
          <p:nvPr/>
        </p:nvSpPr>
        <p:spPr>
          <a:xfrm>
            <a:off x="8915400" y="2962656"/>
            <a:ext cx="2727655" cy="713232"/>
          </a:xfrm>
          <a:prstGeom prst="roundRect">
            <a:avLst>
              <a:gd name="adj" fmla="val 10256"/>
            </a:avLst>
          </a:prstGeom>
          <a:solidFill>
            <a:srgbClr val="171B22"/>
          </a:solidFill>
          <a:ln w="12700">
            <a:solidFill>
              <a:srgbClr val="E3202A"/>
            </a:solidFill>
            <a:prstDash val="solid"/>
          </a:ln>
        </p:spPr>
      </p:sp>
      <p:pic>
        <p:nvPicPr>
          <p:cNvPr id="38" name="Image 14" descr="preencoded.png"/>
          <p:cNvPicPr>
            <a:picLocks noChangeAspect="1"/>
          </p:cNvPicPr>
          <p:nvPr/>
        </p:nvPicPr>
        <p:blipFill>
          <a:blip r:embed="rId9"/>
          <a:stretch>
            <a:fillRect/>
          </a:stretch>
        </p:blipFill>
        <p:spPr>
          <a:xfrm>
            <a:off x="9098280" y="3182112"/>
            <a:ext cx="274320" cy="274320"/>
          </a:xfrm>
          <a:prstGeom prst="rect">
            <a:avLst/>
          </a:prstGeom>
        </p:spPr>
      </p:pic>
      <p:sp>
        <p:nvSpPr>
          <p:cNvPr id="39" name="Text 22"/>
          <p:cNvSpPr txBox="1"/>
          <p:nvPr/>
        </p:nvSpPr>
        <p:spPr>
          <a:xfrm>
            <a:off x="9509760" y="3017520"/>
            <a:ext cx="2041855" cy="60350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Contain</a:t>
            </a:r>
            <a:endParaRPr lang="en-US" sz="1200" dirty="0"/>
          </a:p>
          <a:p>
            <a:pPr marL="0" indent="0">
              <a:buNone/>
            </a:pPr>
            <a:r>
              <a:rPr lang="en-US" sz="1000" dirty="0">
                <a:solidFill>
                  <a:srgbClr val="A9B1BC"/>
                </a:solidFill>
                <a:latin typeface="Calibri" pitchFamily="34" charset="0"/>
                <a:ea typeface="Calibri" pitchFamily="34" charset="-122"/>
                <a:cs typeface="Calibri" pitchFamily="34" charset="-120"/>
              </a:rPr>
              <a:t>Isolate a host from the network in one click</a:t>
            </a:r>
            <a:endParaRPr lang="en-US" sz="1200" dirty="0"/>
          </a:p>
        </p:txBody>
      </p:sp>
      <p:sp>
        <p:nvSpPr>
          <p:cNvPr id="40" name="Shape 23"/>
          <p:cNvSpPr/>
          <p:nvPr/>
        </p:nvSpPr>
        <p:spPr>
          <a:xfrm>
            <a:off x="8915400" y="3785616"/>
            <a:ext cx="2727655" cy="713232"/>
          </a:xfrm>
          <a:prstGeom prst="roundRect">
            <a:avLst>
              <a:gd name="adj" fmla="val 10256"/>
            </a:avLst>
          </a:prstGeom>
          <a:solidFill>
            <a:srgbClr val="171B22"/>
          </a:solidFill>
          <a:ln w="12700">
            <a:solidFill>
              <a:srgbClr val="E3202A"/>
            </a:solidFill>
            <a:prstDash val="solid"/>
          </a:ln>
        </p:spPr>
      </p:sp>
      <p:pic>
        <p:nvPicPr>
          <p:cNvPr id="41" name="Image 15" descr="preencoded.png"/>
          <p:cNvPicPr>
            <a:picLocks noChangeAspect="1"/>
          </p:cNvPicPr>
          <p:nvPr/>
        </p:nvPicPr>
        <p:blipFill>
          <a:blip r:embed="rId10"/>
          <a:stretch>
            <a:fillRect/>
          </a:stretch>
        </p:blipFill>
        <p:spPr>
          <a:xfrm>
            <a:off x="9098280" y="4005072"/>
            <a:ext cx="274320" cy="274320"/>
          </a:xfrm>
          <a:prstGeom prst="rect">
            <a:avLst/>
          </a:prstGeom>
        </p:spPr>
      </p:pic>
      <p:sp>
        <p:nvSpPr>
          <p:cNvPr id="42" name="Text 24"/>
          <p:cNvSpPr txBox="1"/>
          <p:nvPr/>
        </p:nvSpPr>
        <p:spPr>
          <a:xfrm>
            <a:off x="9509760" y="3840480"/>
            <a:ext cx="2041855" cy="60350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Investigate</a:t>
            </a:r>
            <a:endParaRPr lang="en-US" sz="1200" dirty="0"/>
          </a:p>
          <a:p>
            <a:pPr marL="0" indent="0">
              <a:buNone/>
            </a:pPr>
            <a:r>
              <a:rPr lang="en-US" sz="1000" dirty="0">
                <a:solidFill>
                  <a:srgbClr val="A9B1BC"/>
                </a:solidFill>
                <a:latin typeface="Calibri" pitchFamily="34" charset="0"/>
                <a:ea typeface="Calibri" pitchFamily="34" charset="-122"/>
                <a:cs typeface="Calibri" pitchFamily="34" charset="-120"/>
              </a:rPr>
              <a:t>See the full attack path</a:t>
            </a:r>
            <a:endParaRPr lang="en-US" sz="1200" dirty="0"/>
          </a:p>
        </p:txBody>
      </p:sp>
      <p:sp>
        <p:nvSpPr>
          <p:cNvPr id="43" name="Shape 25"/>
          <p:cNvSpPr/>
          <p:nvPr/>
        </p:nvSpPr>
        <p:spPr>
          <a:xfrm>
            <a:off x="8915400" y="4608576"/>
            <a:ext cx="2727655" cy="713232"/>
          </a:xfrm>
          <a:prstGeom prst="roundRect">
            <a:avLst>
              <a:gd name="adj" fmla="val 10256"/>
            </a:avLst>
          </a:prstGeom>
          <a:solidFill>
            <a:srgbClr val="171B22"/>
          </a:solidFill>
          <a:ln w="12700">
            <a:solidFill>
              <a:srgbClr val="E3202A"/>
            </a:solidFill>
            <a:prstDash val="solid"/>
          </a:ln>
        </p:spPr>
      </p:sp>
      <p:pic>
        <p:nvPicPr>
          <p:cNvPr id="44" name="Image 16" descr="preencoded.png"/>
          <p:cNvPicPr>
            <a:picLocks noChangeAspect="1"/>
          </p:cNvPicPr>
          <p:nvPr/>
        </p:nvPicPr>
        <p:blipFill>
          <a:blip r:embed="rId11"/>
          <a:stretch>
            <a:fillRect/>
          </a:stretch>
        </p:blipFill>
        <p:spPr>
          <a:xfrm>
            <a:off x="9098280" y="4828032"/>
            <a:ext cx="274320" cy="274320"/>
          </a:xfrm>
          <a:prstGeom prst="rect">
            <a:avLst/>
          </a:prstGeom>
        </p:spPr>
      </p:pic>
      <p:sp>
        <p:nvSpPr>
          <p:cNvPr id="45" name="Text 26"/>
          <p:cNvSpPr txBox="1"/>
          <p:nvPr/>
        </p:nvSpPr>
        <p:spPr>
          <a:xfrm>
            <a:off x="9509760" y="4663440"/>
            <a:ext cx="2041855" cy="603504"/>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Automate</a:t>
            </a:r>
            <a:endParaRPr lang="en-US" sz="1200" dirty="0"/>
          </a:p>
          <a:p>
            <a:pPr marL="0" indent="0">
              <a:buNone/>
            </a:pPr>
            <a:r>
              <a:rPr lang="en-US" sz="1000" dirty="0">
                <a:solidFill>
                  <a:srgbClr val="A9B1BC"/>
                </a:solidFill>
                <a:latin typeface="Calibri" pitchFamily="34" charset="0"/>
                <a:ea typeface="Calibri" pitchFamily="34" charset="-122"/>
                <a:cs typeface="Calibri" pitchFamily="34" charset="-120"/>
              </a:rPr>
              <a:t>Run response workflows and playbooks</a:t>
            </a:r>
            <a:endParaRPr lang="en-US" sz="1200" dirty="0"/>
          </a:p>
        </p:txBody>
      </p:sp>
      <p:sp>
        <p:nvSpPr>
          <p:cNvPr id="46" name="Text 27"/>
          <p:cNvSpPr txBox="1"/>
          <p:nvPr/>
        </p:nvSpPr>
        <p:spPr>
          <a:xfrm>
            <a:off x="548640" y="5596128"/>
            <a:ext cx="11094415" cy="411480"/>
          </a:xfrm>
          <a:prstGeom prst="rect">
            <a:avLst/>
          </a:prstGeom>
          <a:noFill/>
          <a:ln/>
        </p:spPr>
        <p:txBody>
          <a:bodyPr wrap="square" lIns="0" tIns="0" rIns="0" bIns="0" rtlCol="0" anchor="ctr"/>
          <a:lstStyle/>
          <a:p>
            <a:pPr marL="0" indent="0">
              <a:buNone/>
            </a:pPr>
            <a:r>
              <a:rPr lang="en-US" sz="1400" dirty="0">
                <a:solidFill>
                  <a:srgbClr val="C9CED6"/>
                </a:solidFill>
                <a:latin typeface="Calibri" pitchFamily="34" charset="0"/>
                <a:ea typeface="Calibri" pitchFamily="34" charset="-122"/>
                <a:cs typeface="Calibri" pitchFamily="34" charset="-120"/>
              </a:rPr>
              <a:t>Detects by behavior, not only by signature — </a:t>
            </a:r>
            <a:r>
              <a:rPr lang="en-US" sz="1400" b="1" dirty="0">
                <a:solidFill>
                  <a:srgbClr val="FFFFFF"/>
                </a:solidFill>
                <a:latin typeface="Calibri" pitchFamily="34" charset="0"/>
                <a:ea typeface="Calibri" pitchFamily="34" charset="-122"/>
                <a:cs typeface="Calibri" pitchFamily="34" charset="-120"/>
              </a:rPr>
              <a:t>so new and unknown attacks are stopped too.</a:t>
            </a:r>
            <a:endParaRPr lang="en-US" sz="1400" dirty="0"/>
          </a:p>
        </p:txBody>
      </p:sp>
      <p:sp>
        <p:nvSpPr>
          <p:cNvPr id="47" name="Text 28"/>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8A93A0"/>
                </a:solidFill>
                <a:latin typeface="Calibri" pitchFamily="34" charset="0"/>
                <a:ea typeface="Calibri" pitchFamily="34" charset="-122"/>
                <a:cs typeface="Calibri" pitchFamily="34" charset="-120"/>
              </a:rPr>
              <a:t>09   |   Nessus vs. CrowdStrike Falcon Platform  ·  Proposal for The Westin Resort Guam</a:t>
            </a:r>
            <a:endParaRPr lang="en-US" sz="900" dirty="0"/>
          </a:p>
        </p:txBody>
      </p:sp>
      <p:pic>
        <p:nvPicPr>
          <p:cNvPr id="48" name="Image 17" descr="/private/tmp/claude-501/-Users-jihanvin-Desktop-NIVNAH-AI/16a96446-d9b3-40e2-af9e-a3011ae3db84/scratchpad/assets/secukorea_light.png"/>
          <p:cNvPicPr>
            <a:picLocks noChangeAspect="1"/>
          </p:cNvPicPr>
          <p:nvPr/>
        </p:nvPicPr>
        <p:blipFill>
          <a:blip r:embed="rId12"/>
          <a:stretch>
            <a:fillRect/>
          </a:stretch>
        </p:blipFill>
        <p:spPr>
          <a:xfrm>
            <a:off x="10661904" y="6400800"/>
            <a:ext cx="978408" cy="233172"/>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08   PROPOSED SCOPE</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Falcon Modules Proposed for The Westin Resort Guam</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Text 2"/>
          <p:cNvSpPr txBox="1"/>
          <p:nvPr/>
        </p:nvSpPr>
        <p:spPr>
          <a:xfrm>
            <a:off x="548640" y="1481328"/>
            <a:ext cx="11094415"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Calibri" pitchFamily="34" charset="0"/>
                <a:ea typeface="Calibri" pitchFamily="34" charset="-122"/>
                <a:cs typeface="Calibri" pitchFamily="34" charset="-120"/>
              </a:rPr>
              <a:t>FALCON LICENSES IN THIS PROPOSAL</a:t>
            </a:r>
            <a:endParaRPr lang="en-US" sz="1100" dirty="0"/>
          </a:p>
        </p:txBody>
      </p:sp>
      <p:sp>
        <p:nvSpPr>
          <p:cNvPr id="6" name="Shape 3"/>
          <p:cNvSpPr/>
          <p:nvPr/>
        </p:nvSpPr>
        <p:spPr>
          <a:xfrm>
            <a:off x="548640" y="1828800"/>
            <a:ext cx="5410048" cy="1901952"/>
          </a:xfrm>
          <a:prstGeom prst="roundRect">
            <a:avLst>
              <a:gd name="adj" fmla="val 3846"/>
            </a:avLst>
          </a:prstGeom>
          <a:solidFill>
            <a:srgbClr val="FFFFFF"/>
          </a:solidFill>
          <a:ln w="12700">
            <a:solidFill>
              <a:srgbClr val="F2B8BB"/>
            </a:solidFill>
            <a:prstDash val="solid"/>
          </a:ln>
          <a:effectLst>
            <a:outerShdw blurRad="101600" dist="25400" dir="5400000" algn="bl" rotWithShape="0">
              <a:srgbClr val="000000">
                <a:alpha val="10000"/>
              </a:srgbClr>
            </a:outerShdw>
          </a:effectLst>
        </p:spPr>
      </p:sp>
      <p:sp>
        <p:nvSpPr>
          <p:cNvPr id="7" name="Shape 4"/>
          <p:cNvSpPr/>
          <p:nvPr/>
        </p:nvSpPr>
        <p:spPr>
          <a:xfrm>
            <a:off x="777240" y="2057400"/>
            <a:ext cx="457200" cy="457200"/>
          </a:xfrm>
          <a:prstGeom prst="roundRect">
            <a:avLst>
              <a:gd name="adj" fmla="val 20000"/>
            </a:avLst>
          </a:prstGeom>
          <a:solidFill>
            <a:srgbClr val="E3202A"/>
          </a:solidFill>
          <a:ln w="12700">
            <a:solidFill>
              <a:srgbClr val="E3202A"/>
            </a:solidFill>
            <a:prstDash val="solid"/>
          </a:ln>
        </p:spPr>
      </p:sp>
      <p:pic>
        <p:nvPicPr>
          <p:cNvPr id="8" name="Image 1" descr="preencoded.png"/>
          <p:cNvPicPr>
            <a:picLocks noChangeAspect="1"/>
          </p:cNvPicPr>
          <p:nvPr/>
        </p:nvPicPr>
        <p:blipFill>
          <a:blip r:embed="rId4"/>
          <a:stretch>
            <a:fillRect/>
          </a:stretch>
        </p:blipFill>
        <p:spPr>
          <a:xfrm>
            <a:off x="877824" y="2157984"/>
            <a:ext cx="256032" cy="256032"/>
          </a:xfrm>
          <a:prstGeom prst="rect">
            <a:avLst/>
          </a:prstGeom>
        </p:spPr>
      </p:pic>
      <p:sp>
        <p:nvSpPr>
          <p:cNvPr id="9" name="Text 5"/>
          <p:cNvSpPr txBox="1"/>
          <p:nvPr/>
        </p:nvSpPr>
        <p:spPr>
          <a:xfrm>
            <a:off x="1371600" y="2011680"/>
            <a:ext cx="4358488" cy="54864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Falcon Prevent</a:t>
            </a:r>
            <a:endParaRPr lang="en-US" sz="1300" dirty="0"/>
          </a:p>
        </p:txBody>
      </p:sp>
      <p:sp>
        <p:nvSpPr>
          <p:cNvPr id="10" name="Text 6"/>
          <p:cNvSpPr txBox="1"/>
          <p:nvPr/>
        </p:nvSpPr>
        <p:spPr>
          <a:xfrm>
            <a:off x="777240" y="2651760"/>
            <a:ext cx="4952848" cy="219456"/>
          </a:xfrm>
          <a:prstGeom prst="rect">
            <a:avLst/>
          </a:prstGeom>
          <a:noFill/>
          <a:ln/>
        </p:spPr>
        <p:txBody>
          <a:bodyPr wrap="square" lIns="0" tIns="0" rIns="0" bIns="0" rtlCol="0" anchor="t"/>
          <a:lstStyle/>
          <a:p>
            <a:pPr marL="0" indent="0">
              <a:buNone/>
            </a:pPr>
            <a:r>
              <a:rPr lang="en-US" sz="950" b="1" kern="0" spc="100" dirty="0">
                <a:solidFill>
                  <a:srgbClr val="E3202A"/>
                </a:solidFill>
                <a:latin typeface="Calibri" pitchFamily="34" charset="0"/>
                <a:ea typeface="Calibri" pitchFamily="34" charset="-122"/>
                <a:cs typeface="Calibri" pitchFamily="34" charset="-120"/>
              </a:rPr>
              <a:t>NEXT-GEN ANTIVIRUS (EPP)</a:t>
            </a:r>
            <a:endParaRPr lang="en-US" sz="950" dirty="0"/>
          </a:p>
        </p:txBody>
      </p:sp>
      <p:sp>
        <p:nvSpPr>
          <p:cNvPr id="11" name="Text 7"/>
          <p:cNvSpPr txBox="1"/>
          <p:nvPr/>
        </p:nvSpPr>
        <p:spPr>
          <a:xfrm>
            <a:off x="777240" y="2898648"/>
            <a:ext cx="4952848" cy="758952"/>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AI/ML-based next-gen antivirus that stops malware, ransomware, fileless and zero-day attacks — online or offline. 100% ransomware prevention in SE Labs testing.</a:t>
            </a:r>
            <a:endParaRPr lang="en-US" sz="1100" dirty="0"/>
          </a:p>
        </p:txBody>
      </p:sp>
      <p:sp>
        <p:nvSpPr>
          <p:cNvPr id="12" name="Shape 8"/>
          <p:cNvSpPr/>
          <p:nvPr/>
        </p:nvSpPr>
        <p:spPr>
          <a:xfrm>
            <a:off x="6233008" y="1828800"/>
            <a:ext cx="5410048" cy="1901952"/>
          </a:xfrm>
          <a:prstGeom prst="roundRect">
            <a:avLst>
              <a:gd name="adj" fmla="val 3846"/>
            </a:avLst>
          </a:prstGeom>
          <a:solidFill>
            <a:srgbClr val="FFFFFF"/>
          </a:solidFill>
          <a:ln w="12700">
            <a:solidFill>
              <a:srgbClr val="F2B8BB"/>
            </a:solidFill>
            <a:prstDash val="solid"/>
          </a:ln>
          <a:effectLst>
            <a:outerShdw blurRad="101600" dist="25400" dir="5400000" algn="bl" rotWithShape="0">
              <a:srgbClr val="000000">
                <a:alpha val="10000"/>
              </a:srgbClr>
            </a:outerShdw>
          </a:effectLst>
        </p:spPr>
      </p:sp>
      <p:sp>
        <p:nvSpPr>
          <p:cNvPr id="13" name="Shape 9"/>
          <p:cNvSpPr/>
          <p:nvPr/>
        </p:nvSpPr>
        <p:spPr>
          <a:xfrm>
            <a:off x="6461608" y="2057400"/>
            <a:ext cx="457200" cy="457200"/>
          </a:xfrm>
          <a:prstGeom prst="roundRect">
            <a:avLst>
              <a:gd name="adj" fmla="val 20000"/>
            </a:avLst>
          </a:prstGeom>
          <a:solidFill>
            <a:srgbClr val="E3202A"/>
          </a:solidFill>
          <a:ln w="12700">
            <a:solidFill>
              <a:srgbClr val="E3202A"/>
            </a:solidFill>
            <a:prstDash val="solid"/>
          </a:ln>
        </p:spPr>
      </p:sp>
      <p:pic>
        <p:nvPicPr>
          <p:cNvPr id="14" name="Image 2" descr="preencoded.png"/>
          <p:cNvPicPr>
            <a:picLocks noChangeAspect="1"/>
          </p:cNvPicPr>
          <p:nvPr/>
        </p:nvPicPr>
        <p:blipFill>
          <a:blip r:embed="rId5"/>
          <a:stretch>
            <a:fillRect/>
          </a:stretch>
        </p:blipFill>
        <p:spPr>
          <a:xfrm>
            <a:off x="6562192" y="2157984"/>
            <a:ext cx="256032" cy="256032"/>
          </a:xfrm>
          <a:prstGeom prst="rect">
            <a:avLst/>
          </a:prstGeom>
        </p:spPr>
      </p:pic>
      <p:sp>
        <p:nvSpPr>
          <p:cNvPr id="15" name="Text 10"/>
          <p:cNvSpPr txBox="1"/>
          <p:nvPr/>
        </p:nvSpPr>
        <p:spPr>
          <a:xfrm>
            <a:off x="7055968" y="2011680"/>
            <a:ext cx="4358488" cy="54864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Falcon Insight</a:t>
            </a:r>
            <a:endParaRPr lang="en-US" sz="1300" dirty="0"/>
          </a:p>
        </p:txBody>
      </p:sp>
      <p:sp>
        <p:nvSpPr>
          <p:cNvPr id="16" name="Text 11"/>
          <p:cNvSpPr txBox="1"/>
          <p:nvPr/>
        </p:nvSpPr>
        <p:spPr>
          <a:xfrm>
            <a:off x="6461608" y="2651760"/>
            <a:ext cx="4952848" cy="219456"/>
          </a:xfrm>
          <a:prstGeom prst="rect">
            <a:avLst/>
          </a:prstGeom>
          <a:noFill/>
          <a:ln/>
        </p:spPr>
        <p:txBody>
          <a:bodyPr wrap="square" lIns="0" tIns="0" rIns="0" bIns="0" rtlCol="0" anchor="t"/>
          <a:lstStyle/>
          <a:p>
            <a:pPr marL="0" indent="0">
              <a:buNone/>
            </a:pPr>
            <a:r>
              <a:rPr lang="en-US" sz="950" b="1" kern="0" spc="100" dirty="0">
                <a:solidFill>
                  <a:srgbClr val="E3202A"/>
                </a:solidFill>
                <a:latin typeface="Calibri" pitchFamily="34" charset="0"/>
                <a:ea typeface="Calibri" pitchFamily="34" charset="-122"/>
                <a:cs typeface="Calibri" pitchFamily="34" charset="-120"/>
              </a:rPr>
              <a:t>ENDPOINT DETECTION &amp; RESPONSE (EDR)</a:t>
            </a:r>
            <a:endParaRPr lang="en-US" sz="950" dirty="0"/>
          </a:p>
        </p:txBody>
      </p:sp>
      <p:sp>
        <p:nvSpPr>
          <p:cNvPr id="17" name="Text 12"/>
          <p:cNvSpPr txBox="1"/>
          <p:nvPr/>
        </p:nvSpPr>
        <p:spPr>
          <a:xfrm>
            <a:off x="6461608" y="2898648"/>
            <a:ext cx="4952848" cy="758952"/>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Continuous endpoint monitoring with full attack visibility, one-click host containment and remote response — 95% faster mean time to respond.</a:t>
            </a:r>
            <a:endParaRPr lang="en-US" sz="1100" dirty="0"/>
          </a:p>
        </p:txBody>
      </p:sp>
      <p:sp>
        <p:nvSpPr>
          <p:cNvPr id="30" name="Text 23"/>
          <p:cNvSpPr txBox="1"/>
          <p:nvPr/>
        </p:nvSpPr>
        <p:spPr>
          <a:xfrm>
            <a:off x="548640" y="3858768"/>
            <a:ext cx="11094415" cy="256032"/>
          </a:xfrm>
          <a:prstGeom prst="rect">
            <a:avLst/>
          </a:prstGeom>
          <a:noFill/>
          <a:ln/>
        </p:spPr>
        <p:txBody>
          <a:bodyPr wrap="square" lIns="0" tIns="0" rIns="0" bIns="0" rtlCol="0" anchor="t"/>
          <a:lstStyle/>
          <a:p>
            <a:pPr marL="0" indent="0">
              <a:buNone/>
            </a:pPr>
            <a:r>
              <a:rPr lang="en-US" sz="1100" b="1" kern="0" spc="200" dirty="0">
                <a:solidFill>
                  <a:srgbClr val="5D6B7E"/>
                </a:solidFill>
                <a:latin typeface="Calibri" pitchFamily="34" charset="0"/>
                <a:ea typeface="Calibri" pitchFamily="34" charset="-122"/>
                <a:cs typeface="Calibri" pitchFamily="34" charset="-120"/>
              </a:rPr>
              <a:t>INCLUDED — SECUKOREA TECHNICAL SUPPORT</a:t>
            </a:r>
            <a:endParaRPr lang="en-US" sz="1100" dirty="0"/>
          </a:p>
        </p:txBody>
      </p:sp>
      <p:sp>
        <p:nvSpPr>
          <p:cNvPr id="31" name="Shape 24"/>
          <p:cNvSpPr/>
          <p:nvPr/>
        </p:nvSpPr>
        <p:spPr>
          <a:xfrm>
            <a:off x="548640" y="4206240"/>
            <a:ext cx="2567864" cy="1828800"/>
          </a:xfrm>
          <a:prstGeom prst="roundRect">
            <a:avLst>
              <a:gd name="adj" fmla="val 4000"/>
            </a:avLst>
          </a:prstGeom>
          <a:solidFill>
            <a:srgbClr val="F3F5F8"/>
          </a:solidFill>
          <a:ln w="9525">
            <a:solidFill>
              <a:srgbClr val="DCE1E7"/>
            </a:solidFill>
            <a:prstDash val="solid"/>
          </a:ln>
        </p:spPr>
      </p:sp>
      <p:sp>
        <p:nvSpPr>
          <p:cNvPr id="32" name="Shape 25"/>
          <p:cNvSpPr/>
          <p:nvPr/>
        </p:nvSpPr>
        <p:spPr>
          <a:xfrm>
            <a:off x="777240" y="4434840"/>
            <a:ext cx="457200" cy="457200"/>
          </a:xfrm>
          <a:prstGeom prst="roundRect">
            <a:avLst>
              <a:gd name="adj" fmla="val 20000"/>
            </a:avLst>
          </a:prstGeom>
          <a:solidFill>
            <a:srgbClr val="EAEEF3"/>
          </a:solidFill>
          <a:ln w="12700">
            <a:solidFill>
              <a:srgbClr val="EAEEF3"/>
            </a:solidFill>
            <a:prstDash val="solid"/>
          </a:ln>
        </p:spPr>
      </p:sp>
      <p:pic>
        <p:nvPicPr>
          <p:cNvPr id="33" name="Image 5" descr="preencoded.png"/>
          <p:cNvPicPr>
            <a:picLocks noChangeAspect="1"/>
          </p:cNvPicPr>
          <p:nvPr/>
        </p:nvPicPr>
        <p:blipFill>
          <a:blip r:embed="rId8"/>
          <a:stretch>
            <a:fillRect/>
          </a:stretch>
        </p:blipFill>
        <p:spPr>
          <a:xfrm>
            <a:off x="877824" y="4535424"/>
            <a:ext cx="256032" cy="256032"/>
          </a:xfrm>
          <a:prstGeom prst="rect">
            <a:avLst/>
          </a:prstGeom>
        </p:spPr>
      </p:pic>
      <p:sp>
        <p:nvSpPr>
          <p:cNvPr id="34" name="Text 26"/>
          <p:cNvSpPr txBox="1"/>
          <p:nvPr/>
        </p:nvSpPr>
        <p:spPr>
          <a:xfrm>
            <a:off x="1371600" y="4389120"/>
            <a:ext cx="1607744" cy="54864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24/7 Remote Support</a:t>
            </a:r>
            <a:endParaRPr lang="en-US" sz="1300" dirty="0"/>
          </a:p>
        </p:txBody>
      </p:sp>
      <p:sp>
        <p:nvSpPr>
          <p:cNvPr id="35" name="Text 27"/>
          <p:cNvSpPr txBox="1"/>
          <p:nvPr/>
        </p:nvSpPr>
        <p:spPr>
          <a:xfrm>
            <a:off x="777240" y="5029200"/>
            <a:ext cx="2110664" cy="219456"/>
          </a:xfrm>
          <a:prstGeom prst="rect">
            <a:avLst/>
          </a:prstGeom>
          <a:noFill/>
          <a:ln/>
        </p:spPr>
        <p:txBody>
          <a:bodyPr wrap="square" lIns="0" tIns="0" rIns="0" bIns="0" rtlCol="0" anchor="t"/>
          <a:lstStyle/>
          <a:p>
            <a:pPr marL="0" indent="0">
              <a:buNone/>
            </a:pPr>
            <a:r>
              <a:rPr lang="en-US" sz="950" b="1" kern="0" spc="100" dirty="0">
                <a:solidFill>
                  <a:srgbClr val="5D6B7E"/>
                </a:solidFill>
                <a:latin typeface="Calibri" pitchFamily="34" charset="0"/>
                <a:ea typeface="Calibri" pitchFamily="34" charset="-122"/>
                <a:cs typeface="Calibri" pitchFamily="34" charset="-120"/>
              </a:rPr>
              <a:t>OVERSEAS SITES</a:t>
            </a:r>
            <a:endParaRPr lang="en-US" sz="950" dirty="0"/>
          </a:p>
        </p:txBody>
      </p:sp>
      <p:sp>
        <p:nvSpPr>
          <p:cNvPr id="36" name="Text 28"/>
          <p:cNvSpPr txBox="1"/>
          <p:nvPr/>
        </p:nvSpPr>
        <p:spPr>
          <a:xfrm>
            <a:off x="777240" y="5276088"/>
            <a:ext cx="2110664" cy="6858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Round-the-clock remote help for the resort, regardless of time zone.</a:t>
            </a:r>
            <a:endParaRPr lang="en-US" sz="1100" dirty="0"/>
          </a:p>
        </p:txBody>
      </p:sp>
      <p:sp>
        <p:nvSpPr>
          <p:cNvPr id="37" name="Shape 29"/>
          <p:cNvSpPr/>
          <p:nvPr/>
        </p:nvSpPr>
        <p:spPr>
          <a:xfrm>
            <a:off x="3390824" y="4206240"/>
            <a:ext cx="2567864" cy="1828800"/>
          </a:xfrm>
          <a:prstGeom prst="roundRect">
            <a:avLst>
              <a:gd name="adj" fmla="val 4000"/>
            </a:avLst>
          </a:prstGeom>
          <a:solidFill>
            <a:srgbClr val="F3F5F8"/>
          </a:solidFill>
          <a:ln w="9525">
            <a:solidFill>
              <a:srgbClr val="DCE1E7"/>
            </a:solidFill>
            <a:prstDash val="solid"/>
          </a:ln>
        </p:spPr>
      </p:sp>
      <p:sp>
        <p:nvSpPr>
          <p:cNvPr id="38" name="Shape 30"/>
          <p:cNvSpPr/>
          <p:nvPr/>
        </p:nvSpPr>
        <p:spPr>
          <a:xfrm>
            <a:off x="3619424" y="4434840"/>
            <a:ext cx="457200" cy="457200"/>
          </a:xfrm>
          <a:prstGeom prst="roundRect">
            <a:avLst>
              <a:gd name="adj" fmla="val 20000"/>
            </a:avLst>
          </a:prstGeom>
          <a:solidFill>
            <a:srgbClr val="EAEEF3"/>
          </a:solidFill>
          <a:ln w="12700">
            <a:solidFill>
              <a:srgbClr val="EAEEF3"/>
            </a:solidFill>
            <a:prstDash val="solid"/>
          </a:ln>
        </p:spPr>
      </p:sp>
      <p:pic>
        <p:nvPicPr>
          <p:cNvPr id="39" name="Image 6" descr="preencoded.png"/>
          <p:cNvPicPr>
            <a:picLocks noChangeAspect="1"/>
          </p:cNvPicPr>
          <p:nvPr/>
        </p:nvPicPr>
        <p:blipFill>
          <a:blip r:embed="rId9"/>
          <a:stretch>
            <a:fillRect/>
          </a:stretch>
        </p:blipFill>
        <p:spPr>
          <a:xfrm>
            <a:off x="3720008" y="4535424"/>
            <a:ext cx="256032" cy="256032"/>
          </a:xfrm>
          <a:prstGeom prst="rect">
            <a:avLst/>
          </a:prstGeom>
        </p:spPr>
      </p:pic>
      <p:sp>
        <p:nvSpPr>
          <p:cNvPr id="40" name="Text 31"/>
          <p:cNvSpPr txBox="1"/>
          <p:nvPr/>
        </p:nvSpPr>
        <p:spPr>
          <a:xfrm>
            <a:off x="4213784" y="4389120"/>
            <a:ext cx="1607744" cy="54864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Dedicated Engineer</a:t>
            </a:r>
            <a:endParaRPr lang="en-US" sz="1300" dirty="0"/>
          </a:p>
        </p:txBody>
      </p:sp>
      <p:sp>
        <p:nvSpPr>
          <p:cNvPr id="41" name="Text 32"/>
          <p:cNvSpPr txBox="1"/>
          <p:nvPr/>
        </p:nvSpPr>
        <p:spPr>
          <a:xfrm>
            <a:off x="3619424" y="5029200"/>
            <a:ext cx="2110664" cy="219456"/>
          </a:xfrm>
          <a:prstGeom prst="rect">
            <a:avLst/>
          </a:prstGeom>
          <a:noFill/>
          <a:ln/>
        </p:spPr>
        <p:txBody>
          <a:bodyPr wrap="square" lIns="0" tIns="0" rIns="0" bIns="0" rtlCol="0" anchor="t"/>
          <a:lstStyle/>
          <a:p>
            <a:pPr marL="0" indent="0">
              <a:buNone/>
            </a:pPr>
            <a:r>
              <a:rPr lang="en-US" sz="950" b="1" kern="0" spc="100" dirty="0">
                <a:solidFill>
                  <a:srgbClr val="5D6B7E"/>
                </a:solidFill>
                <a:latin typeface="Calibri" pitchFamily="34" charset="0"/>
                <a:ea typeface="Calibri" pitchFamily="34" charset="-122"/>
                <a:cs typeface="Calibri" pitchFamily="34" charset="-120"/>
              </a:rPr>
              <a:t>ONE CONTACT</a:t>
            </a:r>
            <a:endParaRPr lang="en-US" sz="950" dirty="0"/>
          </a:p>
        </p:txBody>
      </p:sp>
      <p:sp>
        <p:nvSpPr>
          <p:cNvPr id="42" name="Text 33"/>
          <p:cNvSpPr txBox="1"/>
          <p:nvPr/>
        </p:nvSpPr>
        <p:spPr>
          <a:xfrm>
            <a:off x="3619424" y="5276088"/>
            <a:ext cx="2110664" cy="6858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A named engineer who knows the resort’s systems handles day-to-day requests.</a:t>
            </a:r>
            <a:endParaRPr lang="en-US" sz="1100" dirty="0"/>
          </a:p>
        </p:txBody>
      </p:sp>
      <p:sp>
        <p:nvSpPr>
          <p:cNvPr id="43" name="Shape 34"/>
          <p:cNvSpPr/>
          <p:nvPr/>
        </p:nvSpPr>
        <p:spPr>
          <a:xfrm>
            <a:off x="6233008" y="4206240"/>
            <a:ext cx="2567864" cy="1828800"/>
          </a:xfrm>
          <a:prstGeom prst="roundRect">
            <a:avLst>
              <a:gd name="adj" fmla="val 4000"/>
            </a:avLst>
          </a:prstGeom>
          <a:solidFill>
            <a:srgbClr val="F3F5F8"/>
          </a:solidFill>
          <a:ln w="9525">
            <a:solidFill>
              <a:srgbClr val="DCE1E7"/>
            </a:solidFill>
            <a:prstDash val="solid"/>
          </a:ln>
        </p:spPr>
      </p:sp>
      <p:sp>
        <p:nvSpPr>
          <p:cNvPr id="44" name="Shape 35"/>
          <p:cNvSpPr/>
          <p:nvPr/>
        </p:nvSpPr>
        <p:spPr>
          <a:xfrm>
            <a:off x="6461608" y="4434840"/>
            <a:ext cx="457200" cy="457200"/>
          </a:xfrm>
          <a:prstGeom prst="roundRect">
            <a:avLst>
              <a:gd name="adj" fmla="val 20000"/>
            </a:avLst>
          </a:prstGeom>
          <a:solidFill>
            <a:srgbClr val="EAEEF3"/>
          </a:solidFill>
          <a:ln w="12700">
            <a:solidFill>
              <a:srgbClr val="EAEEF3"/>
            </a:solidFill>
            <a:prstDash val="solid"/>
          </a:ln>
        </p:spPr>
      </p:sp>
      <p:pic>
        <p:nvPicPr>
          <p:cNvPr id="45" name="Image 7" descr="preencoded.png"/>
          <p:cNvPicPr>
            <a:picLocks noChangeAspect="1"/>
          </p:cNvPicPr>
          <p:nvPr/>
        </p:nvPicPr>
        <p:blipFill>
          <a:blip r:embed="rId10"/>
          <a:stretch>
            <a:fillRect/>
          </a:stretch>
        </p:blipFill>
        <p:spPr>
          <a:xfrm>
            <a:off x="6562192" y="4535424"/>
            <a:ext cx="256032" cy="256032"/>
          </a:xfrm>
          <a:prstGeom prst="rect">
            <a:avLst/>
          </a:prstGeom>
        </p:spPr>
      </p:pic>
      <p:sp>
        <p:nvSpPr>
          <p:cNvPr id="46" name="Text 36"/>
          <p:cNvSpPr txBox="1"/>
          <p:nvPr/>
        </p:nvSpPr>
        <p:spPr>
          <a:xfrm>
            <a:off x="7055968" y="4389120"/>
            <a:ext cx="1607744" cy="54864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Incident Assistance</a:t>
            </a:r>
            <a:endParaRPr lang="en-US" sz="1300" dirty="0"/>
          </a:p>
        </p:txBody>
      </p:sp>
      <p:sp>
        <p:nvSpPr>
          <p:cNvPr id="47" name="Text 37"/>
          <p:cNvSpPr txBox="1"/>
          <p:nvPr/>
        </p:nvSpPr>
        <p:spPr>
          <a:xfrm>
            <a:off x="6461608" y="5029200"/>
            <a:ext cx="2110664" cy="219456"/>
          </a:xfrm>
          <a:prstGeom prst="rect">
            <a:avLst/>
          </a:prstGeom>
          <a:noFill/>
          <a:ln/>
        </p:spPr>
        <p:txBody>
          <a:bodyPr wrap="square" lIns="0" tIns="0" rIns="0" bIns="0" rtlCol="0" anchor="t"/>
          <a:lstStyle/>
          <a:p>
            <a:pPr marL="0" indent="0">
              <a:buNone/>
            </a:pPr>
            <a:r>
              <a:rPr lang="en-US" sz="950" b="1" kern="0" spc="100" dirty="0">
                <a:solidFill>
                  <a:srgbClr val="5D6B7E"/>
                </a:solidFill>
                <a:latin typeface="Calibri" pitchFamily="34" charset="0"/>
                <a:ea typeface="Calibri" pitchFamily="34" charset="-122"/>
                <a:cs typeface="Calibri" pitchFamily="34" charset="-120"/>
              </a:rPr>
              <a:t>ANALYSIS &amp; ESCALATION</a:t>
            </a:r>
            <a:endParaRPr lang="en-US" sz="950" dirty="0"/>
          </a:p>
        </p:txBody>
      </p:sp>
      <p:sp>
        <p:nvSpPr>
          <p:cNvPr id="48" name="Text 38"/>
          <p:cNvSpPr txBox="1"/>
          <p:nvPr/>
        </p:nvSpPr>
        <p:spPr>
          <a:xfrm>
            <a:off x="6461608" y="5276088"/>
            <a:ext cx="2110664" cy="6858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Help reviewing detections, with SK shieldus IR specialists when needed.</a:t>
            </a:r>
            <a:endParaRPr lang="en-US" sz="1100" dirty="0"/>
          </a:p>
        </p:txBody>
      </p:sp>
      <p:sp>
        <p:nvSpPr>
          <p:cNvPr id="49" name="Shape 39"/>
          <p:cNvSpPr/>
          <p:nvPr/>
        </p:nvSpPr>
        <p:spPr>
          <a:xfrm>
            <a:off x="9075191" y="4206240"/>
            <a:ext cx="2567864" cy="1828800"/>
          </a:xfrm>
          <a:prstGeom prst="roundRect">
            <a:avLst>
              <a:gd name="adj" fmla="val 4000"/>
            </a:avLst>
          </a:prstGeom>
          <a:solidFill>
            <a:srgbClr val="F3F5F8"/>
          </a:solidFill>
          <a:ln w="9525">
            <a:solidFill>
              <a:srgbClr val="DCE1E7"/>
            </a:solidFill>
            <a:prstDash val="solid"/>
          </a:ln>
        </p:spPr>
      </p:sp>
      <p:sp>
        <p:nvSpPr>
          <p:cNvPr id="50" name="Shape 40"/>
          <p:cNvSpPr/>
          <p:nvPr/>
        </p:nvSpPr>
        <p:spPr>
          <a:xfrm>
            <a:off x="9303791" y="4434840"/>
            <a:ext cx="457200" cy="457200"/>
          </a:xfrm>
          <a:prstGeom prst="roundRect">
            <a:avLst>
              <a:gd name="adj" fmla="val 20000"/>
            </a:avLst>
          </a:prstGeom>
          <a:solidFill>
            <a:srgbClr val="EAEEF3"/>
          </a:solidFill>
          <a:ln w="12700">
            <a:solidFill>
              <a:srgbClr val="EAEEF3"/>
            </a:solidFill>
            <a:prstDash val="solid"/>
          </a:ln>
        </p:spPr>
      </p:sp>
      <p:pic>
        <p:nvPicPr>
          <p:cNvPr id="51" name="Image 8" descr="preencoded.png"/>
          <p:cNvPicPr>
            <a:picLocks noChangeAspect="1"/>
          </p:cNvPicPr>
          <p:nvPr/>
        </p:nvPicPr>
        <p:blipFill>
          <a:blip r:embed="rId11"/>
          <a:stretch>
            <a:fillRect/>
          </a:stretch>
        </p:blipFill>
        <p:spPr>
          <a:xfrm>
            <a:off x="9404375" y="4535424"/>
            <a:ext cx="256032" cy="256032"/>
          </a:xfrm>
          <a:prstGeom prst="rect">
            <a:avLst/>
          </a:prstGeom>
        </p:spPr>
      </p:pic>
      <p:sp>
        <p:nvSpPr>
          <p:cNvPr id="52" name="Text 41"/>
          <p:cNvSpPr txBox="1"/>
          <p:nvPr/>
        </p:nvSpPr>
        <p:spPr>
          <a:xfrm>
            <a:off x="9898151" y="4389120"/>
            <a:ext cx="1607744" cy="54864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Health Checks &amp; Reports</a:t>
            </a:r>
            <a:endParaRPr lang="en-US" sz="1300" dirty="0"/>
          </a:p>
        </p:txBody>
      </p:sp>
      <p:sp>
        <p:nvSpPr>
          <p:cNvPr id="53" name="Text 42"/>
          <p:cNvSpPr txBox="1"/>
          <p:nvPr/>
        </p:nvSpPr>
        <p:spPr>
          <a:xfrm>
            <a:off x="9303791" y="5029200"/>
            <a:ext cx="2110664" cy="219456"/>
          </a:xfrm>
          <a:prstGeom prst="rect">
            <a:avLst/>
          </a:prstGeom>
          <a:noFill/>
          <a:ln/>
        </p:spPr>
        <p:txBody>
          <a:bodyPr wrap="square" lIns="0" tIns="0" rIns="0" bIns="0" rtlCol="0" anchor="t"/>
          <a:lstStyle/>
          <a:p>
            <a:pPr marL="0" indent="0">
              <a:buNone/>
            </a:pPr>
            <a:r>
              <a:rPr lang="en-US" sz="950" b="1" kern="0" spc="100" dirty="0">
                <a:solidFill>
                  <a:srgbClr val="5D6B7E"/>
                </a:solidFill>
                <a:latin typeface="Calibri" pitchFamily="34" charset="0"/>
                <a:ea typeface="Calibri" pitchFamily="34" charset="-122"/>
                <a:cs typeface="Calibri" pitchFamily="34" charset="-120"/>
              </a:rPr>
              <a:t>STABLE OPERATIONS</a:t>
            </a:r>
            <a:endParaRPr lang="en-US" sz="950" dirty="0"/>
          </a:p>
        </p:txBody>
      </p:sp>
      <p:sp>
        <p:nvSpPr>
          <p:cNvPr id="54" name="Text 43"/>
          <p:cNvSpPr txBox="1"/>
          <p:nvPr/>
        </p:nvSpPr>
        <p:spPr>
          <a:xfrm>
            <a:off x="9303791" y="5276088"/>
            <a:ext cx="2110664" cy="6858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Regular checks of sensors and policies, with reports to management.</a:t>
            </a:r>
            <a:endParaRPr lang="en-US" sz="1100" dirty="0"/>
          </a:p>
        </p:txBody>
      </p:sp>
      <p:sp>
        <p:nvSpPr>
          <p:cNvPr id="55" name="Text 44"/>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10   |   Nessus vs. CrowdStrike Falcon Platform  ·  Proposal for The Westin Resort Guam</a:t>
            </a:r>
            <a:endParaRPr lang="en-US" sz="900" dirty="0"/>
          </a:p>
        </p:txBody>
      </p:sp>
      <p:pic>
        <p:nvPicPr>
          <p:cNvPr id="56" name="Image 9" descr="/private/tmp/claude-501/-Users-jihanvin-Desktop-NIVNAH-AI/16a96446-d9b3-40e2-af9e-a3011ae3db84/scratchpad/assets/secukorea_dark.png"/>
          <p:cNvPicPr>
            <a:picLocks noChangeAspect="1"/>
          </p:cNvPicPr>
          <p:nvPr/>
        </p:nvPicPr>
        <p:blipFill>
          <a:blip r:embed="rId12"/>
          <a:stretch>
            <a:fillRect/>
          </a:stretch>
        </p:blipFill>
        <p:spPr>
          <a:xfrm>
            <a:off x="10661904" y="6400800"/>
            <a:ext cx="978408" cy="233172"/>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09   REAL-WORLD CASE</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One Real Attack, Step by Step: Scanner vs. Falcon</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Text 2"/>
          <p:cNvSpPr txBox="1"/>
          <p:nvPr/>
        </p:nvSpPr>
        <p:spPr>
          <a:xfrm>
            <a:off x="548640" y="1371600"/>
            <a:ext cx="11094415" cy="310896"/>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PUNK SPIDER </a:t>
            </a:r>
            <a:r>
              <a:rPr lang="en-US" sz="1250" dirty="0">
                <a:solidFill>
                  <a:srgbClr val="5E6978"/>
                </a:solidFill>
                <a:latin typeface="Calibri" pitchFamily="34" charset="0"/>
                <a:ea typeface="Calibri" pitchFamily="34" charset="-122"/>
                <a:cs typeface="Calibri" pitchFamily="34" charset="-120"/>
              </a:rPr>
              <a:t>(eCrime group) targeting a North American company — attempted data theft and Akira ransomware.  </a:t>
            </a:r>
            <a:r>
              <a:rPr lang="en-US" sz="1250" b="1" dirty="0">
                <a:solidFill>
                  <a:srgbClr val="E3202A"/>
                </a:solidFill>
                <a:latin typeface="Calibri" pitchFamily="34" charset="0"/>
                <a:ea typeface="Calibri" pitchFamily="34" charset="-122"/>
                <a:cs typeface="Calibri" pitchFamily="34" charset="-120"/>
              </a:rPr>
              <a:t>Outcome: fully blocked by Falcon.</a:t>
            </a:r>
            <a:endParaRPr lang="en-US" sz="12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828800"/>
          <a:ext cx="11094415" cy="914400"/>
        </p:xfrm>
        <a:graphic>
          <a:graphicData uri="http://schemas.openxmlformats.org/drawingml/2006/table">
            <a:tbl>
              <a:tblPr/>
              <a:tblGrid>
                <a:gridCol w="2011680">
                  <a:extLst>
                    <a:ext uri="{9D8B030D-6E8A-4147-A177-3AD203B41FA5}">
                      <a16:colId xmlns:a16="http://schemas.microsoft.com/office/drawing/2014/main" val="20000"/>
                    </a:ext>
                  </a:extLst>
                </a:gridCol>
                <a:gridCol w="3246120">
                  <a:extLst>
                    <a:ext uri="{9D8B030D-6E8A-4147-A177-3AD203B41FA5}">
                      <a16:colId xmlns:a16="http://schemas.microsoft.com/office/drawing/2014/main" val="20001"/>
                    </a:ext>
                  </a:extLst>
                </a:gridCol>
                <a:gridCol w="2788920">
                  <a:extLst>
                    <a:ext uri="{9D8B030D-6E8A-4147-A177-3AD203B41FA5}">
                      <a16:colId xmlns:a16="http://schemas.microsoft.com/office/drawing/2014/main" val="20002"/>
                    </a:ext>
                  </a:extLst>
                </a:gridCol>
                <a:gridCol w="3047695">
                  <a:extLst>
                    <a:ext uri="{9D8B030D-6E8A-4147-A177-3AD203B41FA5}">
                      <a16:colId xmlns:a16="http://schemas.microsoft.com/office/drawing/2014/main" val="20003"/>
                    </a:ext>
                  </a:extLst>
                </a:gridCol>
              </a:tblGrid>
              <a:tr h="365760">
                <a:tc>
                  <a:txBody>
                    <a:bodyPr/>
                    <a:lstStyle/>
                    <a:p>
                      <a:pPr marL="0" indent="0">
                        <a:buNone/>
                      </a:pPr>
                      <a:r>
                        <a:rPr lang="en-US" sz="1150" b="1" dirty="0">
                          <a:solidFill>
                            <a:srgbClr val="FFFFFF"/>
                          </a:solidFill>
                          <a:latin typeface="Arial" pitchFamily="34" charset="0"/>
                          <a:ea typeface="Arial" pitchFamily="34" charset="-122"/>
                          <a:cs typeface="Arial" pitchFamily="34" charset="-120"/>
                        </a:rPr>
                        <a:t>Attack stage</a:t>
                      </a:r>
                      <a:endParaRPr lang="en-US" sz="1150" dirty="0">
                        <a:latin typeface="Arial" charset="0"/>
                        <a:ea typeface="Arial" charset="0"/>
                        <a:cs typeface="Arial"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0B0D12"/>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What the attacker did</a:t>
                      </a:r>
                      <a:endParaRPr lang="en-US" sz="1150" dirty="0">
                        <a:latin typeface="Arial" charset="0"/>
                        <a:ea typeface="Arial" charset="0"/>
                        <a:cs typeface="Arial"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0B0D12"/>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Nessus</a:t>
                      </a:r>
                      <a:endParaRPr lang="en-US" sz="1150" dirty="0">
                        <a:latin typeface="Arial" charset="0"/>
                        <a:ea typeface="Arial" charset="0"/>
                        <a:cs typeface="Arial"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5D6B7E"/>
                    </a:solidFill>
                  </a:tcPr>
                </a:tc>
                <a:tc>
                  <a:txBody>
                    <a:bodyPr/>
                    <a:lstStyle/>
                    <a:p>
                      <a:pPr marL="0" indent="0">
                        <a:buNone/>
                      </a:pPr>
                      <a:r>
                        <a:rPr lang="en-US" sz="1150" b="1" dirty="0">
                          <a:solidFill>
                            <a:srgbClr val="FFFFFF"/>
                          </a:solidFill>
                          <a:latin typeface="Arial" pitchFamily="34" charset="0"/>
                          <a:ea typeface="Arial" pitchFamily="34" charset="-122"/>
                          <a:cs typeface="Arial" pitchFamily="34" charset="-120"/>
                        </a:rPr>
                        <a:t>CrowdStrike Falcon</a:t>
                      </a:r>
                      <a:endParaRPr lang="en-US" sz="1150" dirty="0">
                        <a:latin typeface="Arial" charset="0"/>
                        <a:ea typeface="Arial" charset="0"/>
                        <a:cs typeface="Arial"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202A"/>
                    </a:solidFill>
                  </a:tcPr>
                </a:tc>
                <a:extLst>
                  <a:ext uri="{0D108BD9-81ED-4DB2-BD59-A6C34878D82A}">
                    <a16:rowId xmlns:a16="http://schemas.microsoft.com/office/drawing/2014/main" val="10000"/>
                  </a:ext>
                </a:extLst>
              </a:tr>
              <a:tr h="603504">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1  </a:t>
                      </a:r>
                      <a:r>
                        <a:rPr lang="en-US" sz="1050" b="1" dirty="0">
                          <a:solidFill>
                            <a:srgbClr val="151A21"/>
                          </a:solidFill>
                          <a:latin typeface="Calibri" pitchFamily="34" charset="0"/>
                          <a:ea typeface="Calibri" pitchFamily="34" charset="-122"/>
                          <a:cs typeface="Calibri" pitchFamily="34" charset="-120"/>
                        </a:rPr>
                        <a:t>Initial access</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151A21"/>
                          </a:solidFill>
                          <a:latin typeface="Calibri" pitchFamily="34" charset="0"/>
                          <a:ea typeface="Calibri" pitchFamily="34" charset="-122"/>
                          <a:cs typeface="Calibri" pitchFamily="34" charset="-120"/>
                        </a:rPr>
                        <a:t>Exploited a known VPN flaw (CVE-2024-3400) with stolen credentials</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5D6B7E"/>
                          </a:solidFill>
                          <a:latin typeface="Calibri" pitchFamily="34" charset="0"/>
                          <a:ea typeface="Calibri" pitchFamily="34" charset="-122"/>
                          <a:cs typeface="Calibri" pitchFamily="34" charset="-120"/>
                        </a:rPr>
                        <a:t>Could flag the CVE — only if the device was in scan scope and scanned in time. Cannot stop the exploit.</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i="1" dirty="0">
                          <a:solidFill>
                            <a:srgbClr val="5E6978"/>
                          </a:solidFill>
                          <a:latin typeface="Calibri" pitchFamily="34" charset="0"/>
                          <a:ea typeface="Calibri" pitchFamily="34" charset="-122"/>
                          <a:cs typeface="Calibri" pitchFamily="34" charset="-120"/>
                        </a:rPr>
                        <a:t>Unmanaged VPN appliance — no Falcon sensor installed</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2  </a:t>
                      </a:r>
                      <a:r>
                        <a:rPr lang="en-US" sz="1050" b="1" dirty="0">
                          <a:solidFill>
                            <a:srgbClr val="151A21"/>
                          </a:solidFill>
                          <a:latin typeface="Calibri" pitchFamily="34" charset="0"/>
                          <a:ea typeface="Calibri" pitchFamily="34" charset="-122"/>
                          <a:cs typeface="Calibri" pitchFamily="34" charset="-120"/>
                        </a:rPr>
                        <a:t>Lateral movement</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151A21"/>
                          </a:solidFill>
                          <a:latin typeface="Calibri" pitchFamily="34" charset="0"/>
                          <a:ea typeface="Calibri" pitchFamily="34" charset="-122"/>
                          <a:cs typeface="Calibri" pitchFamily="34" charset="-120"/>
                        </a:rPr>
                        <a:t>Used Remote Desktop with a service account to reach an internal system</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5D6B7E"/>
                          </a:solidFill>
                          <a:latin typeface="Calibri" pitchFamily="34" charset="0"/>
                          <a:ea typeface="Calibri" pitchFamily="34" charset="-122"/>
                          <a:cs typeface="Calibri" pitchFamily="34" charset="-120"/>
                        </a:rPr>
                        <a:t>Not visible — scanners do not monitor activity</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Detected.</a:t>
                      </a:r>
                      <a:r>
                        <a:rPr lang="en-US" sz="1050" dirty="0">
                          <a:solidFill>
                            <a:srgbClr val="151A21"/>
                          </a:solidFill>
                          <a:latin typeface="Calibri" pitchFamily="34" charset="0"/>
                          <a:ea typeface="Calibri" pitchFamily="34" charset="-122"/>
                          <a:cs typeface="Calibri" pitchFamily="34" charset="-120"/>
                        </a:rPr>
                        <a:t>  First Falcon alert, confirmed by OverWatch threat hunters</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3  </a:t>
                      </a:r>
                      <a:r>
                        <a:rPr lang="en-US" sz="1050" b="1" dirty="0">
                          <a:solidFill>
                            <a:srgbClr val="151A21"/>
                          </a:solidFill>
                          <a:latin typeface="Calibri" pitchFamily="34" charset="0"/>
                          <a:ea typeface="Calibri" pitchFamily="34" charset="-122"/>
                          <a:cs typeface="Calibri" pitchFamily="34" charset="-120"/>
                        </a:rPr>
                        <a:t>Credential access</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151A21"/>
                          </a:solidFill>
                          <a:latin typeface="Calibri" pitchFamily="34" charset="0"/>
                          <a:ea typeface="Calibri" pitchFamily="34" charset="-122"/>
                          <a:cs typeface="Calibri" pitchFamily="34" charset="-120"/>
                        </a:rPr>
                        <a:t>Tried to dump credentials and add users to admin groups</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5D6B7E"/>
                          </a:solidFill>
                          <a:latin typeface="Calibri" pitchFamily="34" charset="0"/>
                          <a:ea typeface="Calibri" pitchFamily="34" charset="-122"/>
                          <a:cs typeface="Calibri" pitchFamily="34" charset="-120"/>
                        </a:rPr>
                        <a:t>Not visible — scanners do not monitor activity</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Blocked.</a:t>
                      </a:r>
                      <a:r>
                        <a:rPr lang="en-US" sz="1050" dirty="0">
                          <a:solidFill>
                            <a:srgbClr val="151A21"/>
                          </a:solidFill>
                          <a:latin typeface="Calibri" pitchFamily="34" charset="0"/>
                          <a:ea typeface="Calibri" pitchFamily="34" charset="-122"/>
                          <a:cs typeface="Calibri" pitchFamily="34" charset="-120"/>
                        </a:rPr>
                        <a:t>  Privilege escalation attempts stopped</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4  </a:t>
                      </a:r>
                      <a:r>
                        <a:rPr lang="en-US" sz="1050" b="1" dirty="0">
                          <a:solidFill>
                            <a:srgbClr val="151A21"/>
                          </a:solidFill>
                          <a:latin typeface="Calibri" pitchFamily="34" charset="0"/>
                          <a:ea typeface="Calibri" pitchFamily="34" charset="-122"/>
                          <a:cs typeface="Calibri" pitchFamily="34" charset="-120"/>
                        </a:rPr>
                        <a:t>Persistence &amp; evasion</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151A21"/>
                          </a:solidFill>
                          <a:latin typeface="Calibri" pitchFamily="34" charset="0"/>
                          <a:ea typeface="Calibri" pitchFamily="34" charset="-122"/>
                          <a:cs typeface="Calibri" pitchFamily="34" charset="-120"/>
                        </a:rPr>
                        <a:t>Tried to install tunneling and remote-access tools</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5D6B7E"/>
                          </a:solidFill>
                          <a:latin typeface="Calibri" pitchFamily="34" charset="0"/>
                          <a:ea typeface="Calibri" pitchFamily="34" charset="-122"/>
                          <a:cs typeface="Calibri" pitchFamily="34" charset="-120"/>
                        </a:rPr>
                        <a:t>Not visible — scanners do not monitor activity</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Blocked.</a:t>
                      </a:r>
                      <a:r>
                        <a:rPr lang="en-US" sz="1050" dirty="0">
                          <a:solidFill>
                            <a:srgbClr val="151A21"/>
                          </a:solidFill>
                          <a:latin typeface="Calibri" pitchFamily="34" charset="0"/>
                          <a:ea typeface="Calibri" pitchFamily="34" charset="-122"/>
                          <a:cs typeface="Calibri" pitchFamily="34" charset="-120"/>
                        </a:rPr>
                        <a:t>  Tools prevented from executing</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5  </a:t>
                      </a:r>
                      <a:r>
                        <a:rPr lang="en-US" sz="1050" b="1" dirty="0">
                          <a:solidFill>
                            <a:srgbClr val="151A21"/>
                          </a:solidFill>
                          <a:latin typeface="Calibri" pitchFamily="34" charset="0"/>
                          <a:ea typeface="Calibri" pitchFamily="34" charset="-122"/>
                          <a:cs typeface="Calibri" pitchFamily="34" charset="-120"/>
                        </a:rPr>
                        <a:t>Reconnaissance</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151A21"/>
                          </a:solidFill>
                          <a:latin typeface="Calibri" pitchFamily="34" charset="0"/>
                          <a:ea typeface="Calibri" pitchFamily="34" charset="-122"/>
                          <a:cs typeface="Calibri" pitchFamily="34" charset="-120"/>
                        </a:rPr>
                        <a:t>Ran tools to map network file shares</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5D6B7E"/>
                          </a:solidFill>
                          <a:latin typeface="Calibri" pitchFamily="34" charset="0"/>
                          <a:ea typeface="Calibri" pitchFamily="34" charset="-122"/>
                          <a:cs typeface="Calibri" pitchFamily="34" charset="-120"/>
                        </a:rPr>
                        <a:t>Not visible — scanners do not monitor activity</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Blocked.</a:t>
                      </a:r>
                      <a:r>
                        <a:rPr lang="en-US" sz="1050" dirty="0">
                          <a:solidFill>
                            <a:srgbClr val="151A21"/>
                          </a:solidFill>
                          <a:latin typeface="Calibri" pitchFamily="34" charset="0"/>
                          <a:ea typeface="Calibri" pitchFamily="34" charset="-122"/>
                          <a:cs typeface="Calibri" pitchFamily="34" charset="-120"/>
                        </a:rPr>
                        <a:t>  Both tools prevented from running</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5"/>
                  </a:ext>
                </a:extLst>
              </a:tr>
              <a:tr h="603504">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6  </a:t>
                      </a:r>
                      <a:r>
                        <a:rPr lang="en-US" sz="1050" b="1" dirty="0">
                          <a:solidFill>
                            <a:srgbClr val="151A21"/>
                          </a:solidFill>
                          <a:latin typeface="Calibri" pitchFamily="34" charset="0"/>
                          <a:ea typeface="Calibri" pitchFamily="34" charset="-122"/>
                          <a:cs typeface="Calibri" pitchFamily="34" charset="-120"/>
                        </a:rPr>
                        <a:t>Collection &amp; impact</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151A21"/>
                          </a:solidFill>
                          <a:latin typeface="Calibri" pitchFamily="34" charset="0"/>
                          <a:ea typeface="Calibri" pitchFamily="34" charset="-122"/>
                          <a:cs typeface="Calibri" pitchFamily="34" charset="-120"/>
                        </a:rPr>
                        <a:t>Archived data, tried to exfiltrate it, then launched Akira ransomware</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dirty="0">
                          <a:solidFill>
                            <a:srgbClr val="5D6B7E"/>
                          </a:solidFill>
                          <a:latin typeface="Calibri" pitchFamily="34" charset="0"/>
                          <a:ea typeface="Calibri" pitchFamily="34" charset="-122"/>
                          <a:cs typeface="Calibri" pitchFamily="34" charset="-120"/>
                        </a:rPr>
                        <a:t>Not visible — scanners do not monitor activity</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050" b="1" dirty="0">
                          <a:solidFill>
                            <a:srgbClr val="E3202A"/>
                          </a:solidFill>
                          <a:latin typeface="Calibri" pitchFamily="34" charset="0"/>
                          <a:ea typeface="Calibri" pitchFamily="34" charset="-122"/>
                          <a:cs typeface="Calibri" pitchFamily="34" charset="-120"/>
                        </a:rPr>
                        <a:t>Contained &amp; blocked.</a:t>
                      </a:r>
                      <a:r>
                        <a:rPr lang="en-US" sz="1050" dirty="0">
                          <a:solidFill>
                            <a:srgbClr val="151A21"/>
                          </a:solidFill>
                          <a:latin typeface="Calibri" pitchFamily="34" charset="0"/>
                          <a:ea typeface="Calibri" pitchFamily="34" charset="-122"/>
                          <a:cs typeface="Calibri" pitchFamily="34" charset="-120"/>
                        </a:rPr>
                        <a:t>  Exfiltration detected and host isolated; ransomware stopped before any encryption</a:t>
                      </a:r>
                      <a:endParaRPr lang="en-US" sz="1050" dirty="0">
                        <a:latin typeface="Calibri" charset="0"/>
                        <a:ea typeface="Calibri" charset="0"/>
                        <a:cs typeface="Calibri" charset="0"/>
                      </a:endParaRPr>
                    </a:p>
                  </a:txBody>
                  <a:tcPr marT="36576" marB="36576"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7" name="Shape 3"/>
          <p:cNvSpPr/>
          <p:nvPr/>
        </p:nvSpPr>
        <p:spPr>
          <a:xfrm>
            <a:off x="548640" y="5596128"/>
            <a:ext cx="11094415" cy="457200"/>
          </a:xfrm>
          <a:prstGeom prst="roundRect">
            <a:avLst>
              <a:gd name="adj" fmla="val 16000"/>
            </a:avLst>
          </a:prstGeom>
          <a:solidFill>
            <a:srgbClr val="FDECEC"/>
          </a:solidFill>
          <a:ln w="12700">
            <a:solidFill>
              <a:srgbClr val="FDECEC"/>
            </a:solidFill>
            <a:prstDash val="solid"/>
          </a:ln>
        </p:spPr>
      </p:sp>
      <p:pic>
        <p:nvPicPr>
          <p:cNvPr id="8" name="Image 1" descr="preencoded.png"/>
          <p:cNvPicPr>
            <a:picLocks noChangeAspect="1"/>
          </p:cNvPicPr>
          <p:nvPr/>
        </p:nvPicPr>
        <p:blipFill>
          <a:blip r:embed="rId4"/>
          <a:stretch>
            <a:fillRect/>
          </a:stretch>
        </p:blipFill>
        <p:spPr>
          <a:xfrm>
            <a:off x="731520" y="5705856"/>
            <a:ext cx="237744" cy="237744"/>
          </a:xfrm>
          <a:prstGeom prst="rect">
            <a:avLst/>
          </a:prstGeom>
        </p:spPr>
      </p:pic>
      <p:sp>
        <p:nvSpPr>
          <p:cNvPr id="9" name="Text 4"/>
          <p:cNvSpPr txBox="1"/>
          <p:nvPr/>
        </p:nvSpPr>
        <p:spPr>
          <a:xfrm>
            <a:off x="1097280" y="5596128"/>
            <a:ext cx="10362895" cy="457200"/>
          </a:xfrm>
          <a:prstGeom prst="rect">
            <a:avLst/>
          </a:prstGeom>
          <a:noFill/>
          <a:ln/>
        </p:spPr>
        <p:txBody>
          <a:bodyPr wrap="square" lIns="0" tIns="0" rIns="0" bIns="0" rtlCol="0" anchor="ctr"/>
          <a:lstStyle/>
          <a:p>
            <a:pPr marL="0" indent="0">
              <a:buNone/>
            </a:pPr>
            <a:r>
              <a:rPr lang="en-US" sz="1200" b="1" dirty="0">
                <a:solidFill>
                  <a:srgbClr val="E3202A"/>
                </a:solidFill>
                <a:latin typeface="Calibri" pitchFamily="34" charset="0"/>
                <a:ea typeface="Calibri" pitchFamily="34" charset="-122"/>
                <a:cs typeface="Calibri" pitchFamily="34" charset="-120"/>
              </a:rPr>
              <a:t>Lesson: </a:t>
            </a:r>
            <a:r>
              <a:rPr lang="en-US" sz="1200" dirty="0">
                <a:solidFill>
                  <a:srgbClr val="151A21"/>
                </a:solidFill>
                <a:latin typeface="Calibri" pitchFamily="34" charset="0"/>
                <a:ea typeface="Calibri" pitchFamily="34" charset="-122"/>
                <a:cs typeface="Calibri" pitchFamily="34" charset="-120"/>
              </a:rPr>
              <a:t>scanning and endpoint protection are complementary — but only endpoint protection stopped this attack. Every endpoint should run a sensor.</a:t>
            </a:r>
            <a:endParaRPr lang="en-US" sz="1200" dirty="0"/>
          </a:p>
        </p:txBody>
      </p:sp>
      <p:sp>
        <p:nvSpPr>
          <p:cNvPr id="10" name="Text 5"/>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11   |   Nessus vs. CrowdStrike Falcon Platform  ·  Proposal for The Westin Resort Guam</a:t>
            </a:r>
            <a:endParaRPr lang="en-US" sz="900" dirty="0"/>
          </a:p>
        </p:txBody>
      </p:sp>
      <p:pic>
        <p:nvPicPr>
          <p:cNvPr id="11" name="Image 2" descr="/private/tmp/claude-501/-Users-jihanvin-Desktop-NIVNAH-AI/16a96446-d9b3-40e2-af9e-a3011ae3db84/scratchpad/assets/secukorea_dark.png"/>
          <p:cNvPicPr>
            <a:picLocks noChangeAspect="1"/>
          </p:cNvPicPr>
          <p:nvPr/>
        </p:nvPicPr>
        <p:blipFill>
          <a:blip r:embed="rId5"/>
          <a:stretch>
            <a:fillRect/>
          </a:stretch>
        </p:blipFill>
        <p:spPr>
          <a:xfrm>
            <a:off x="10661904" y="6400800"/>
            <a:ext cx="978408" cy="23317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10   COMPARISON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Head-to-Head: Nessus vs. CrowdStrike Falcon</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4415" cy="914400"/>
        </p:xfrm>
        <a:graphic>
          <a:graphicData uri="http://schemas.openxmlformats.org/drawingml/2006/table">
            <a:tbl>
              <a:tblPr/>
              <a:tblGrid>
                <a:gridCol w="2743200">
                  <a:extLst>
                    <a:ext uri="{9D8B030D-6E8A-4147-A177-3AD203B41FA5}">
                      <a16:colId xmlns:a16="http://schemas.microsoft.com/office/drawing/2014/main" val="20000"/>
                    </a:ext>
                  </a:extLst>
                </a:gridCol>
                <a:gridCol w="3611880">
                  <a:extLst>
                    <a:ext uri="{9D8B030D-6E8A-4147-A177-3AD203B41FA5}">
                      <a16:colId xmlns:a16="http://schemas.microsoft.com/office/drawing/2014/main" val="20001"/>
                    </a:ext>
                  </a:extLst>
                </a:gridCol>
                <a:gridCol w="4739335">
                  <a:extLst>
                    <a:ext uri="{9D8B030D-6E8A-4147-A177-3AD203B41FA5}">
                      <a16:colId xmlns:a16="http://schemas.microsoft.com/office/drawing/2014/main" val="20002"/>
                    </a:ext>
                  </a:extLst>
                </a:gridCol>
              </a:tblGrid>
              <a:tr h="411480">
                <a:tc>
                  <a:txBody>
                    <a:bodyPr/>
                    <a:lstStyle/>
                    <a:p>
                      <a:pPr marL="0" indent="0">
                        <a:buNone/>
                      </a:pPr>
                      <a:r>
                        <a:rPr lang="en-US" sz="1200" b="1" dirty="0">
                          <a:solidFill>
                            <a:srgbClr val="FFFFFF"/>
                          </a:solidFill>
                          <a:latin typeface="Arial" pitchFamily="34" charset="0"/>
                          <a:ea typeface="Arial" pitchFamily="34" charset="-122"/>
                          <a:cs typeface="Arial" pitchFamily="34" charset="-120"/>
                        </a:rPr>
                        <a:t>Criteria</a:t>
                      </a:r>
                      <a:endParaRPr lang="en-US" sz="1200" dirty="0">
                        <a:latin typeface="Arial" charset="0"/>
                        <a:ea typeface="Arial" charset="0"/>
                        <a:cs typeface="Arial"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0B0D12"/>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Nessus (current)</a:t>
                      </a:r>
                      <a:endParaRPr lang="en-US" sz="1200" dirty="0">
                        <a:latin typeface="Arial" charset="0"/>
                        <a:ea typeface="Arial" charset="0"/>
                        <a:cs typeface="Arial"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5D6B7E"/>
                    </a:solidFill>
                  </a:tcPr>
                </a:tc>
                <a:tc>
                  <a:txBody>
                    <a:bodyPr/>
                    <a:lstStyle/>
                    <a:p>
                      <a:pPr marL="0" indent="0">
                        <a:buNone/>
                      </a:pPr>
                      <a:r>
                        <a:rPr lang="en-US" sz="1200" b="1" dirty="0">
                          <a:solidFill>
                            <a:srgbClr val="FFFFFF"/>
                          </a:solidFill>
                          <a:latin typeface="Arial" pitchFamily="34" charset="0"/>
                          <a:ea typeface="Arial" pitchFamily="34" charset="-122"/>
                          <a:cs typeface="Arial" pitchFamily="34" charset="-120"/>
                        </a:rPr>
                        <a:t>CrowdStrike Falcon (proposed)</a:t>
                      </a:r>
                      <a:endParaRPr lang="en-US" sz="1200" dirty="0">
                        <a:latin typeface="Arial" charset="0"/>
                        <a:ea typeface="Arial" charset="0"/>
                        <a:cs typeface="Arial"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E3202A"/>
                    </a:solidFill>
                  </a:tcPr>
                </a:tc>
                <a:extLst>
                  <a:ext uri="{0D108BD9-81ED-4DB2-BD59-A6C34878D82A}">
                    <a16:rowId xmlns:a16="http://schemas.microsoft.com/office/drawing/2014/main" val="10000"/>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Primary purpose</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Vulnerability scanning and reporting</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Prevent, detect and respond</a:t>
                      </a:r>
                      <a:r>
                        <a:rPr lang="en-US" sz="1150" dirty="0">
                          <a:solidFill>
                            <a:srgbClr val="151A21"/>
                          </a:solidFill>
                          <a:latin typeface="Calibri" pitchFamily="34" charset="0"/>
                          <a:ea typeface="Calibri" pitchFamily="34" charset="-122"/>
                          <a:cs typeface="Calibri" pitchFamily="34" charset="-120"/>
                        </a:rPr>
                        <a:t>  to attacks on every endpoint</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1"/>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Protection model</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Periodic, point-in-time scans</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Continuous, real-time</a:t>
                      </a:r>
                      <a:r>
                        <a:rPr lang="en-US" sz="1150" dirty="0">
                          <a:solidFill>
                            <a:srgbClr val="151A21"/>
                          </a:solidFill>
                          <a:latin typeface="Calibri" pitchFamily="34" charset="0"/>
                          <a:ea typeface="Calibri" pitchFamily="34" charset="-122"/>
                          <a:cs typeface="Calibri" pitchFamily="34" charset="-120"/>
                        </a:rPr>
                        <a:t>  — 24/7</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2"/>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Malware &amp; ransomware prevention (EPP)</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Not provided</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AI/ML next-gen antivirus</a:t>
                      </a:r>
                      <a:r>
                        <a:rPr lang="en-US" sz="1150" dirty="0">
                          <a:solidFill>
                            <a:srgbClr val="151A21"/>
                          </a:solidFill>
                          <a:latin typeface="Calibri" pitchFamily="34" charset="0"/>
                          <a:ea typeface="Calibri" pitchFamily="34" charset="-122"/>
                          <a:cs typeface="Calibri" pitchFamily="34" charset="-120"/>
                        </a:rPr>
                        <a:t>  — 100% ransomware prevention (SE Labs)</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3"/>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Attack detection &amp; response (EDR)</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Not provided</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Behavioral detection</a:t>
                      </a:r>
                      <a:r>
                        <a:rPr lang="en-US" sz="1150" dirty="0">
                          <a:solidFill>
                            <a:srgbClr val="151A21"/>
                          </a:solidFill>
                          <a:latin typeface="Calibri" pitchFamily="34" charset="0"/>
                          <a:ea typeface="Calibri" pitchFamily="34" charset="-122"/>
                          <a:cs typeface="Calibri" pitchFamily="34" charset="-120"/>
                        </a:rPr>
                        <a:t>  with full attack visibility and host containment</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4"/>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Zero-day &amp; fileless attacks</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Only once a check for the flaw is published</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Behavior-based</a:t>
                      </a:r>
                      <a:r>
                        <a:rPr lang="en-US" sz="1150" dirty="0">
                          <a:solidFill>
                            <a:srgbClr val="151A21"/>
                          </a:solidFill>
                          <a:latin typeface="Calibri" pitchFamily="34" charset="0"/>
                          <a:ea typeface="Calibri" pitchFamily="34" charset="-122"/>
                          <a:cs typeface="Calibri" pitchFamily="34" charset="-120"/>
                        </a:rPr>
                        <a:t>  — no prior signature needed</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5"/>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Remediation</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Manual — guidance only</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Automated response</a:t>
                      </a:r>
                      <a:r>
                        <a:rPr lang="en-US" sz="1150" dirty="0">
                          <a:solidFill>
                            <a:srgbClr val="151A21"/>
                          </a:solidFill>
                          <a:latin typeface="Calibri" pitchFamily="34" charset="0"/>
                          <a:ea typeface="Calibri" pitchFamily="34" charset="-122"/>
                          <a:cs typeface="Calibri" pitchFamily="34" charset="-120"/>
                        </a:rPr>
                        <a:t>  actions and workflows</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6"/>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24/7 expert support</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Not available</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Included</a:t>
                      </a:r>
                      <a:r>
                        <a:rPr lang="en-US" sz="1150" dirty="0">
                          <a:solidFill>
                            <a:srgbClr val="151A21"/>
                          </a:solidFill>
                          <a:latin typeface="Calibri" pitchFamily="34" charset="0"/>
                          <a:ea typeface="Calibri" pitchFamily="34" charset="-122"/>
                          <a:cs typeface="Calibri" pitchFamily="34" charset="-120"/>
                        </a:rPr>
                        <a:t>  — SECUKOREA 24/7 support, SK shieldus escalation</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7"/>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Infrastructure</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Scanner host, credentials and scan schedules to maintain</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Cloud-native</a:t>
                      </a:r>
                      <a:r>
                        <a:rPr lang="en-US" sz="1150" dirty="0">
                          <a:solidFill>
                            <a:srgbClr val="151A21"/>
                          </a:solidFill>
                          <a:latin typeface="Calibri" pitchFamily="34" charset="0"/>
                          <a:ea typeface="Calibri" pitchFamily="34" charset="-122"/>
                          <a:cs typeface="Calibri" pitchFamily="34" charset="-120"/>
                        </a:rPr>
                        <a:t>  — one lightweight sensor, no on-site server</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8"/>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IT team workload</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High — analyze reports, patch and verify by hand</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Low</a:t>
                      </a:r>
                      <a:r>
                        <a:rPr lang="en-US" sz="1150" dirty="0">
                          <a:solidFill>
                            <a:srgbClr val="151A21"/>
                          </a:solidFill>
                          <a:latin typeface="Calibri" pitchFamily="34" charset="0"/>
                          <a:ea typeface="Calibri" pitchFamily="34" charset="-122"/>
                          <a:cs typeface="Calibri" pitchFamily="34" charset="-120"/>
                        </a:rPr>
                        <a:t>  — automated prevention and response</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09"/>
                  </a:ext>
                </a:extLst>
              </a:tr>
              <a:tr h="411480">
                <a:tc>
                  <a:txBody>
                    <a:bodyPr/>
                    <a:lstStyle/>
                    <a:p>
                      <a:pPr marL="0" indent="0">
                        <a:buNone/>
                      </a:pPr>
                      <a:r>
                        <a:rPr lang="en-US" sz="1150" b="1" dirty="0">
                          <a:solidFill>
                            <a:srgbClr val="151A21"/>
                          </a:solidFill>
                          <a:latin typeface="Calibri" pitchFamily="34" charset="0"/>
                          <a:ea typeface="Calibri" pitchFamily="34" charset="-122"/>
                          <a:cs typeface="Calibri" pitchFamily="34" charset="-120"/>
                        </a:rPr>
                        <a:t>Vulnerability visibility</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solidFill>
                      <a:srgbClr val="F3F5F8"/>
                    </a:solidFill>
                  </a:tcPr>
                </a:tc>
                <a:tc>
                  <a:txBody>
                    <a:bodyPr/>
                    <a:lstStyle/>
                    <a:p>
                      <a:pPr marL="0" indent="0">
                        <a:buNone/>
                      </a:pPr>
                      <a:r>
                        <a:rPr lang="en-US" sz="1150" dirty="0">
                          <a:solidFill>
                            <a:srgbClr val="5D6B7E"/>
                          </a:solidFill>
                          <a:latin typeface="Calibri" pitchFamily="34" charset="0"/>
                          <a:ea typeface="Calibri" pitchFamily="34" charset="-122"/>
                          <a:cs typeface="Calibri" pitchFamily="34" charset="-120"/>
                        </a:rPr>
                        <a:t>Core strength (periodic)</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tc>
                  <a:txBody>
                    <a:bodyPr/>
                    <a:lstStyle/>
                    <a:p>
                      <a:pPr marL="0" indent="0">
                        <a:buNone/>
                      </a:pPr>
                      <a:r>
                        <a:rPr lang="en-US" sz="1150" b="1" dirty="0">
                          <a:solidFill>
                            <a:srgbClr val="E3202A"/>
                          </a:solidFill>
                          <a:latin typeface="Calibri" pitchFamily="34" charset="0"/>
                          <a:ea typeface="Calibri" pitchFamily="34" charset="-122"/>
                          <a:cs typeface="Calibri" pitchFamily="34" charset="-120"/>
                        </a:rPr>
                        <a:t>Complementary</a:t>
                      </a:r>
                      <a:r>
                        <a:rPr lang="en-US" sz="1150" dirty="0">
                          <a:solidFill>
                            <a:srgbClr val="151A21"/>
                          </a:solidFill>
                          <a:latin typeface="Calibri" pitchFamily="34" charset="0"/>
                          <a:ea typeface="Calibri" pitchFamily="34" charset="-122"/>
                          <a:cs typeface="Calibri" pitchFamily="34" charset="-120"/>
                        </a:rPr>
                        <a:t>  — Nessus stays in place for periodic scans</a:t>
                      </a:r>
                      <a:endParaRPr lang="en-US" sz="1150" dirty="0">
                        <a:latin typeface="Calibri" charset="0"/>
                        <a:ea typeface="Calibri" charset="0"/>
                        <a:cs typeface="Calibri" charset="0"/>
                      </a:endParaRPr>
                    </a:p>
                  </a:txBody>
                  <a:tcPr marL="109728" marR="109728" marT="27432" marB="27432" anchor="ctr">
                    <a:lnL w="9525" cap="flat" cmpd="sng" algn="ctr">
                      <a:solidFill>
                        <a:srgbClr val="DCE1E7"/>
                      </a:solidFill>
                      <a:prstDash val="solid"/>
                      <a:round/>
                      <a:headEnd type="none" w="med" len="med"/>
                      <a:tailEnd type="none" w="med" len="med"/>
                    </a:lnL>
                    <a:lnR w="9525" cap="flat" cmpd="sng" algn="ctr">
                      <a:solidFill>
                        <a:srgbClr val="DCE1E7"/>
                      </a:solidFill>
                      <a:prstDash val="solid"/>
                      <a:round/>
                      <a:headEnd type="none" w="med" len="med"/>
                      <a:tailEnd type="none" w="med" len="med"/>
                    </a:lnR>
                    <a:lnT w="9525" cap="flat" cmpd="sng" algn="ctr">
                      <a:solidFill>
                        <a:srgbClr val="DCE1E7"/>
                      </a:solidFill>
                      <a:prstDash val="solid"/>
                      <a:round/>
                      <a:headEnd type="none" w="med" len="med"/>
                      <a:tailEnd type="none" w="med" len="med"/>
                    </a:lnT>
                    <a:lnB w="9525" cap="flat" cmpd="sng" algn="ctr">
                      <a:solidFill>
                        <a:srgbClr val="DCE1E7"/>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6" name="Text 2"/>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12   |   Nessus vs. CrowdStrike Falcon Platform  ·  Proposal for The Westin Resort Guam</a:t>
            </a:r>
            <a:endParaRPr lang="en-US" sz="900" dirty="0"/>
          </a:p>
        </p:txBody>
      </p:sp>
      <p:pic>
        <p:nvPicPr>
          <p:cNvPr id="7" name="Image 1" descr="/private/tmp/claude-501/-Users-jihanvin-Desktop-NIVNAH-AI/16a96446-d9b3-40e2-af9e-a3011ae3db84/scratchpad/assets/secukorea_dark.png"/>
          <p:cNvPicPr>
            <a:picLocks noChangeAspect="1"/>
          </p:cNvPicPr>
          <p:nvPr/>
        </p:nvPicPr>
        <p:blipFill>
          <a:blip r:embed="rId4"/>
          <a:stretch>
            <a:fillRect/>
          </a:stretch>
        </p:blipFill>
        <p:spPr>
          <a:xfrm>
            <a:off x="10661904" y="6400800"/>
            <a:ext cx="978408" cy="23317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0D12"/>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11   INDEPENDENT VALIDATION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FFFFFF"/>
                </a:solidFill>
                <a:latin typeface="Arial" pitchFamily="34" charset="0"/>
                <a:ea typeface="Arial" pitchFamily="34" charset="-122"/>
                <a:cs typeface="Arial" pitchFamily="34" charset="-120"/>
              </a:rPr>
              <a:t>Proven by Independent Testing and Customers</a:t>
            </a:r>
            <a:endParaRPr lang="en-US" sz="2800" dirty="0"/>
          </a:p>
        </p:txBody>
      </p:sp>
      <p:pic>
        <p:nvPicPr>
          <p:cNvPr id="4" name="Image 0" descr="/private/tmp/claude-501/-Users-jihanvin-Desktop-NIVNAH-AI/16a96446-d9b3-40e2-af9e-a3011ae3db84/scratchpad/assets/westin_white.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572768"/>
            <a:ext cx="3977640" cy="4343400"/>
          </a:xfrm>
          <a:prstGeom prst="roundRect">
            <a:avLst>
              <a:gd name="adj" fmla="val 2299"/>
            </a:avLst>
          </a:prstGeom>
          <a:solidFill>
            <a:srgbClr val="171B22"/>
          </a:solidFill>
          <a:ln w="9525">
            <a:solidFill>
              <a:srgbClr val="2A303A"/>
            </a:solidFill>
            <a:prstDash val="solid"/>
          </a:ln>
        </p:spPr>
      </p:sp>
      <p:pic>
        <p:nvPicPr>
          <p:cNvPr id="6" name="Image 1" descr="/private/tmp/claude-501/-Users-jihanvin-Desktop-NIVNAH-AI/16a96446-d9b3-40e2-af9e-a3011ae3db84/scratchpad/assets/mitre_badge.png"/>
          <p:cNvPicPr>
            <a:picLocks noChangeAspect="1"/>
          </p:cNvPicPr>
          <p:nvPr/>
        </p:nvPicPr>
        <p:blipFill>
          <a:blip r:embed="rId4"/>
          <a:stretch>
            <a:fillRect/>
          </a:stretch>
        </p:blipFill>
        <p:spPr>
          <a:xfrm>
            <a:off x="1744308" y="1847088"/>
            <a:ext cx="1586304" cy="1874520"/>
          </a:xfrm>
          <a:prstGeom prst="rect">
            <a:avLst/>
          </a:prstGeom>
        </p:spPr>
      </p:pic>
      <p:sp>
        <p:nvSpPr>
          <p:cNvPr id="7" name="Text 3"/>
          <p:cNvSpPr txBox="1"/>
          <p:nvPr/>
        </p:nvSpPr>
        <p:spPr>
          <a:xfrm>
            <a:off x="822960" y="3858768"/>
            <a:ext cx="3429000" cy="1143000"/>
          </a:xfrm>
          <a:prstGeom prst="rect">
            <a:avLst/>
          </a:prstGeom>
          <a:noFill/>
          <a:ln/>
        </p:spPr>
        <p:txBody>
          <a:bodyPr wrap="square" lIns="0" tIns="0" rIns="0" bIns="0" rtlCol="0" anchor="ctr"/>
          <a:lstStyle/>
          <a:p>
            <a:pPr marL="0" indent="0" algn="ctr">
              <a:spcAft>
                <a:spcPts val="200"/>
              </a:spcAft>
              <a:buNone/>
            </a:pPr>
            <a:r>
              <a:rPr lang="en-US" sz="2000" b="1" dirty="0">
                <a:solidFill>
                  <a:srgbClr val="FFFFFF"/>
                </a:solidFill>
                <a:latin typeface="Arial" pitchFamily="34" charset="0"/>
                <a:ea typeface="Arial" pitchFamily="34" charset="-122"/>
                <a:cs typeface="Arial" pitchFamily="34" charset="-120"/>
              </a:rPr>
              <a:t>100% Detection</a:t>
            </a:r>
            <a:endParaRPr lang="en-US" sz="2000" dirty="0"/>
          </a:p>
          <a:p>
            <a:pPr marL="0" indent="0" algn="ctr">
              <a:spcAft>
                <a:spcPts val="200"/>
              </a:spcAft>
              <a:buNone/>
            </a:pPr>
            <a:r>
              <a:rPr lang="en-US" sz="2000" b="1" dirty="0">
                <a:solidFill>
                  <a:srgbClr val="FFFFFF"/>
                </a:solidFill>
                <a:latin typeface="Arial" pitchFamily="34" charset="0"/>
                <a:ea typeface="Arial" pitchFamily="34" charset="-122"/>
                <a:cs typeface="Arial" pitchFamily="34" charset="-120"/>
              </a:rPr>
              <a:t>100% Protection</a:t>
            </a:r>
            <a:endParaRPr lang="en-US" sz="2000" dirty="0"/>
          </a:p>
          <a:p>
            <a:pPr marL="0" indent="0" algn="ctr">
              <a:spcAft>
                <a:spcPts val="200"/>
              </a:spcAft>
              <a:buNone/>
            </a:pPr>
            <a:r>
              <a:rPr lang="en-US" sz="2000" b="1" dirty="0">
                <a:solidFill>
                  <a:srgbClr val="FFFFFF"/>
                </a:solidFill>
                <a:latin typeface="Arial" pitchFamily="34" charset="0"/>
                <a:ea typeface="Arial" pitchFamily="34" charset="-122"/>
                <a:cs typeface="Arial" pitchFamily="34" charset="-120"/>
              </a:rPr>
              <a:t>Zero False Positives</a:t>
            </a:r>
            <a:endParaRPr lang="en-US" sz="2000" dirty="0"/>
          </a:p>
        </p:txBody>
      </p:sp>
      <p:sp>
        <p:nvSpPr>
          <p:cNvPr id="8" name="Text 4"/>
          <p:cNvSpPr txBox="1"/>
          <p:nvPr/>
        </p:nvSpPr>
        <p:spPr>
          <a:xfrm>
            <a:off x="822960" y="5138928"/>
            <a:ext cx="3429000" cy="457200"/>
          </a:xfrm>
          <a:prstGeom prst="rect">
            <a:avLst/>
          </a:prstGeom>
          <a:noFill/>
          <a:ln/>
        </p:spPr>
        <p:txBody>
          <a:bodyPr wrap="square" lIns="0" tIns="0" rIns="0" bIns="0" rtlCol="0" anchor="ctr"/>
          <a:lstStyle/>
          <a:p>
            <a:pPr marL="0" indent="0" algn="ctr">
              <a:buNone/>
            </a:pPr>
            <a:r>
              <a:rPr lang="en-US" sz="1100" dirty="0">
                <a:solidFill>
                  <a:srgbClr val="A9B1BC"/>
                </a:solidFill>
                <a:latin typeface="Calibri" pitchFamily="34" charset="0"/>
                <a:ea typeface="Calibri" pitchFamily="34" charset="-122"/>
                <a:cs typeface="Calibri" pitchFamily="34" charset="-120"/>
              </a:rPr>
              <a:t>2025 MITRE ATT&amp;CK® Enterprise Evaluations</a:t>
            </a:r>
            <a:endParaRPr lang="en-US" sz="1100" dirty="0"/>
          </a:p>
        </p:txBody>
      </p:sp>
      <p:sp>
        <p:nvSpPr>
          <p:cNvPr id="9" name="Shape 5"/>
          <p:cNvSpPr/>
          <p:nvPr/>
        </p:nvSpPr>
        <p:spPr>
          <a:xfrm>
            <a:off x="4800600" y="1572768"/>
            <a:ext cx="3284068" cy="2034540"/>
          </a:xfrm>
          <a:prstGeom prst="roundRect">
            <a:avLst>
              <a:gd name="adj" fmla="val 3596"/>
            </a:avLst>
          </a:prstGeom>
          <a:solidFill>
            <a:srgbClr val="171B22"/>
          </a:solidFill>
          <a:ln w="9525">
            <a:solidFill>
              <a:srgbClr val="2A303A"/>
            </a:solidFill>
            <a:prstDash val="solid"/>
          </a:ln>
        </p:spPr>
      </p:sp>
      <p:sp>
        <p:nvSpPr>
          <p:cNvPr id="10" name="Text 6"/>
          <p:cNvSpPr txBox="1"/>
          <p:nvPr/>
        </p:nvSpPr>
        <p:spPr>
          <a:xfrm>
            <a:off x="5120640" y="1847088"/>
            <a:ext cx="2643988" cy="731520"/>
          </a:xfrm>
          <a:prstGeom prst="rect">
            <a:avLst/>
          </a:prstGeom>
          <a:noFill/>
          <a:ln/>
        </p:spPr>
        <p:txBody>
          <a:bodyPr wrap="square" lIns="0" tIns="0" rIns="0" bIns="0" rtlCol="0" anchor="ctr"/>
          <a:lstStyle/>
          <a:p>
            <a:pPr marL="0" indent="0">
              <a:buNone/>
            </a:pPr>
            <a:r>
              <a:rPr lang="en-US" sz="3600" b="1" dirty="0">
                <a:solidFill>
                  <a:srgbClr val="E3202A"/>
                </a:solidFill>
                <a:latin typeface="Arial" pitchFamily="34" charset="0"/>
                <a:ea typeface="Arial" pitchFamily="34" charset="-122"/>
                <a:cs typeface="Arial" pitchFamily="34" charset="-120"/>
              </a:rPr>
              <a:t>Leader</a:t>
            </a:r>
            <a:endParaRPr lang="en-US" sz="3600" dirty="0"/>
          </a:p>
        </p:txBody>
      </p:sp>
      <p:sp>
        <p:nvSpPr>
          <p:cNvPr id="11" name="Text 7"/>
          <p:cNvSpPr txBox="1"/>
          <p:nvPr/>
        </p:nvSpPr>
        <p:spPr>
          <a:xfrm>
            <a:off x="5120640" y="2624328"/>
            <a:ext cx="2643988"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Named a Leader seven consecutive times, including the 2026 Gartner® Magic Quadrant™ for Endpoint Protection Platforms</a:t>
            </a:r>
            <a:endParaRPr lang="en-US" sz="1200" dirty="0"/>
          </a:p>
        </p:txBody>
      </p:sp>
      <p:sp>
        <p:nvSpPr>
          <p:cNvPr id="12" name="Shape 8"/>
          <p:cNvSpPr/>
          <p:nvPr/>
        </p:nvSpPr>
        <p:spPr>
          <a:xfrm>
            <a:off x="8358988" y="1572768"/>
            <a:ext cx="3284068" cy="2034540"/>
          </a:xfrm>
          <a:prstGeom prst="roundRect">
            <a:avLst>
              <a:gd name="adj" fmla="val 3596"/>
            </a:avLst>
          </a:prstGeom>
          <a:solidFill>
            <a:srgbClr val="171B22"/>
          </a:solidFill>
          <a:ln w="9525">
            <a:solidFill>
              <a:srgbClr val="2A303A"/>
            </a:solidFill>
            <a:prstDash val="solid"/>
          </a:ln>
        </p:spPr>
      </p:sp>
      <p:sp>
        <p:nvSpPr>
          <p:cNvPr id="13" name="Text 9"/>
          <p:cNvSpPr txBox="1"/>
          <p:nvPr/>
        </p:nvSpPr>
        <p:spPr>
          <a:xfrm>
            <a:off x="8679028" y="1847088"/>
            <a:ext cx="2643988" cy="731520"/>
          </a:xfrm>
          <a:prstGeom prst="rect">
            <a:avLst/>
          </a:prstGeom>
          <a:noFill/>
          <a:ln/>
        </p:spPr>
        <p:txBody>
          <a:bodyPr wrap="square" lIns="0" tIns="0" rIns="0" bIns="0" rtlCol="0" anchor="ctr"/>
          <a:lstStyle/>
          <a:p>
            <a:pPr marL="0" indent="0">
              <a:buNone/>
            </a:pPr>
            <a:r>
              <a:rPr lang="en-US" sz="3600" b="1" dirty="0">
                <a:solidFill>
                  <a:srgbClr val="E3202A"/>
                </a:solidFill>
                <a:latin typeface="Arial" pitchFamily="34" charset="0"/>
                <a:ea typeface="Arial" pitchFamily="34" charset="-122"/>
                <a:cs typeface="Arial" pitchFamily="34" charset="-120"/>
              </a:rPr>
              <a:t>100%</a:t>
            </a:r>
            <a:endParaRPr lang="en-US" sz="3600" dirty="0"/>
          </a:p>
        </p:txBody>
      </p:sp>
      <p:sp>
        <p:nvSpPr>
          <p:cNvPr id="14" name="Text 10"/>
          <p:cNvSpPr txBox="1"/>
          <p:nvPr/>
        </p:nvSpPr>
        <p:spPr>
          <a:xfrm>
            <a:off x="8679028" y="2624328"/>
            <a:ext cx="2643988"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Ransomware protection and total accuracy — SE Labs Enterprise Advanced Security EDR Ransomware Test (2024)</a:t>
            </a:r>
            <a:endParaRPr lang="en-US" sz="1200" dirty="0"/>
          </a:p>
        </p:txBody>
      </p:sp>
      <p:sp>
        <p:nvSpPr>
          <p:cNvPr id="15" name="Shape 11"/>
          <p:cNvSpPr/>
          <p:nvPr/>
        </p:nvSpPr>
        <p:spPr>
          <a:xfrm>
            <a:off x="4800600" y="3881628"/>
            <a:ext cx="3284068" cy="2034540"/>
          </a:xfrm>
          <a:prstGeom prst="roundRect">
            <a:avLst>
              <a:gd name="adj" fmla="val 3596"/>
            </a:avLst>
          </a:prstGeom>
          <a:solidFill>
            <a:srgbClr val="171B22"/>
          </a:solidFill>
          <a:ln w="9525">
            <a:solidFill>
              <a:srgbClr val="2A303A"/>
            </a:solidFill>
            <a:prstDash val="solid"/>
          </a:ln>
        </p:spPr>
      </p:sp>
      <p:sp>
        <p:nvSpPr>
          <p:cNvPr id="16" name="Text 12"/>
          <p:cNvSpPr txBox="1"/>
          <p:nvPr/>
        </p:nvSpPr>
        <p:spPr>
          <a:xfrm>
            <a:off x="5120640" y="4155948"/>
            <a:ext cx="2643988" cy="731520"/>
          </a:xfrm>
          <a:prstGeom prst="rect">
            <a:avLst/>
          </a:prstGeom>
          <a:noFill/>
          <a:ln/>
        </p:spPr>
        <p:txBody>
          <a:bodyPr wrap="square" lIns="0" tIns="0" rIns="0" bIns="0" rtlCol="0" anchor="ctr"/>
          <a:lstStyle/>
          <a:p>
            <a:pPr marL="0" indent="0">
              <a:buNone/>
            </a:pPr>
            <a:r>
              <a:rPr lang="en-US" sz="3600" b="1" dirty="0">
                <a:solidFill>
                  <a:srgbClr val="E3202A"/>
                </a:solidFill>
                <a:latin typeface="Arial" pitchFamily="34" charset="0"/>
                <a:ea typeface="Arial" pitchFamily="34" charset="-122"/>
                <a:cs typeface="Arial" pitchFamily="34" charset="-120"/>
              </a:rPr>
              <a:t>273%</a:t>
            </a:r>
            <a:endParaRPr lang="en-US" sz="3600" dirty="0"/>
          </a:p>
        </p:txBody>
      </p:sp>
      <p:sp>
        <p:nvSpPr>
          <p:cNvPr id="17" name="Text 13"/>
          <p:cNvSpPr txBox="1"/>
          <p:nvPr/>
        </p:nvSpPr>
        <p:spPr>
          <a:xfrm>
            <a:off x="5120640" y="4933188"/>
            <a:ext cx="2643988"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Three-year ROI — Forrester Consulting Total Economic Impact™ study, commissioned by CrowdStrike (2025)</a:t>
            </a:r>
            <a:endParaRPr lang="en-US" sz="1200" dirty="0"/>
          </a:p>
        </p:txBody>
      </p:sp>
      <p:sp>
        <p:nvSpPr>
          <p:cNvPr id="18" name="Shape 14"/>
          <p:cNvSpPr/>
          <p:nvPr/>
        </p:nvSpPr>
        <p:spPr>
          <a:xfrm>
            <a:off x="8358988" y="3881628"/>
            <a:ext cx="3284068" cy="2034540"/>
          </a:xfrm>
          <a:prstGeom prst="roundRect">
            <a:avLst>
              <a:gd name="adj" fmla="val 3596"/>
            </a:avLst>
          </a:prstGeom>
          <a:solidFill>
            <a:srgbClr val="171B22"/>
          </a:solidFill>
          <a:ln w="9525">
            <a:solidFill>
              <a:srgbClr val="2A303A"/>
            </a:solidFill>
            <a:prstDash val="solid"/>
          </a:ln>
        </p:spPr>
      </p:sp>
      <p:sp>
        <p:nvSpPr>
          <p:cNvPr id="19" name="Text 15"/>
          <p:cNvSpPr txBox="1"/>
          <p:nvPr/>
        </p:nvSpPr>
        <p:spPr>
          <a:xfrm>
            <a:off x="8679028" y="4155948"/>
            <a:ext cx="2643988" cy="731520"/>
          </a:xfrm>
          <a:prstGeom prst="rect">
            <a:avLst/>
          </a:prstGeom>
          <a:noFill/>
          <a:ln/>
        </p:spPr>
        <p:txBody>
          <a:bodyPr wrap="square" lIns="0" tIns="0" rIns="0" bIns="0" rtlCol="0" anchor="ctr"/>
          <a:lstStyle/>
          <a:p>
            <a:pPr marL="0" indent="0">
              <a:buNone/>
            </a:pPr>
            <a:r>
              <a:rPr lang="en-US" sz="3600" b="1" dirty="0">
                <a:solidFill>
                  <a:srgbClr val="E3202A"/>
                </a:solidFill>
                <a:latin typeface="Arial" pitchFamily="34" charset="0"/>
                <a:ea typeface="Arial" pitchFamily="34" charset="-122"/>
                <a:cs typeface="Arial" pitchFamily="34" charset="-120"/>
              </a:rPr>
              <a:t>97%</a:t>
            </a:r>
            <a:endParaRPr lang="en-US" sz="3600" dirty="0"/>
          </a:p>
        </p:txBody>
      </p:sp>
      <p:sp>
        <p:nvSpPr>
          <p:cNvPr id="20" name="Text 16"/>
          <p:cNvSpPr txBox="1"/>
          <p:nvPr/>
        </p:nvSpPr>
        <p:spPr>
          <a:xfrm>
            <a:off x="8679028" y="4933188"/>
            <a:ext cx="2643988" cy="731520"/>
          </a:xfrm>
          <a:prstGeom prst="rect">
            <a:avLst/>
          </a:prstGeom>
          <a:noFill/>
          <a:ln/>
        </p:spPr>
        <p:txBody>
          <a:bodyPr wrap="square" lIns="0" tIns="0" rIns="0" bIns="0" rtlCol="0" anchor="t"/>
          <a:lstStyle/>
          <a:p>
            <a:pPr marL="0" indent="0">
              <a:buNone/>
            </a:pPr>
            <a:r>
              <a:rPr lang="en-US" sz="1200" dirty="0">
                <a:solidFill>
                  <a:srgbClr val="C9CED6"/>
                </a:solidFill>
                <a:latin typeface="Calibri" pitchFamily="34" charset="0"/>
                <a:ea typeface="Calibri" pitchFamily="34" charset="-122"/>
                <a:cs typeface="Calibri" pitchFamily="34" charset="-120"/>
              </a:rPr>
              <a:t>Willing to recommend — 2026 Gartner® Peer Insights™ Customers' Choice for EPP (800 reviews)</a:t>
            </a:r>
            <a:endParaRPr lang="en-US" sz="1200" dirty="0"/>
          </a:p>
        </p:txBody>
      </p:sp>
      <p:sp>
        <p:nvSpPr>
          <p:cNvPr id="21" name="Text 17"/>
          <p:cNvSpPr txBox="1"/>
          <p:nvPr/>
        </p:nvSpPr>
        <p:spPr>
          <a:xfrm>
            <a:off x="548640" y="6053328"/>
            <a:ext cx="11094415" cy="237744"/>
          </a:xfrm>
          <a:prstGeom prst="rect">
            <a:avLst/>
          </a:prstGeom>
          <a:noFill/>
          <a:ln/>
        </p:spPr>
        <p:txBody>
          <a:bodyPr wrap="square" lIns="0" tIns="0" rIns="0" bIns="0" rtlCol="0" anchor="b"/>
          <a:lstStyle/>
          <a:p>
            <a:pPr marL="0" indent="0">
              <a:buNone/>
            </a:pPr>
            <a:r>
              <a:rPr lang="en-US" sz="800" i="1" dirty="0">
                <a:solidFill>
                  <a:srgbClr val="7D8794"/>
                </a:solidFill>
                <a:latin typeface="Calibri" pitchFamily="34" charset="0"/>
                <a:ea typeface="Calibri" pitchFamily="34" charset="-122"/>
                <a:cs typeface="Calibri" pitchFamily="34" charset="-120"/>
              </a:rPr>
              <a:t>Gartner does not endorse any vendor, product or service depicted in its research publications. GARTNER, MAGIC QUADRANT and PEER INSIGHTS are trademarks of Gartner, Inc. and/or its affiliates. Also trusted by 74,000+ direct and MSSP end customers worldwide.</a:t>
            </a:r>
            <a:endParaRPr lang="en-US" sz="800" dirty="0"/>
          </a:p>
        </p:txBody>
      </p:sp>
      <p:sp>
        <p:nvSpPr>
          <p:cNvPr id="22" name="Text 18"/>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8A93A0"/>
                </a:solidFill>
                <a:latin typeface="Calibri" pitchFamily="34" charset="0"/>
                <a:ea typeface="Calibri" pitchFamily="34" charset="-122"/>
                <a:cs typeface="Calibri" pitchFamily="34" charset="-120"/>
              </a:rPr>
              <a:t>13   |   Nessus vs. CrowdStrike Falcon Platform  ·  Proposal for The Westin Resort Guam</a:t>
            </a:r>
            <a:endParaRPr lang="en-US" sz="900" dirty="0"/>
          </a:p>
        </p:txBody>
      </p:sp>
      <p:pic>
        <p:nvPicPr>
          <p:cNvPr id="23" name="Image 2" descr="/private/tmp/claude-501/-Users-jihanvin-Desktop-NIVNAH-AI/16a96446-d9b3-40e2-af9e-a3011ae3db84/scratchpad/assets/secukorea_light.png"/>
          <p:cNvPicPr>
            <a:picLocks noChangeAspect="1"/>
          </p:cNvPicPr>
          <p:nvPr/>
        </p:nvPicPr>
        <p:blipFill>
          <a:blip r:embed="rId5"/>
          <a:stretch>
            <a:fillRect/>
          </a:stretch>
        </p:blipFill>
        <p:spPr>
          <a:xfrm>
            <a:off x="10661904" y="6400800"/>
            <a:ext cx="978408" cy="233172"/>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12   CUSTOMER RESULTS</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Results Customers Have Achieved</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554480"/>
            <a:ext cx="3515258" cy="3703320"/>
          </a:xfrm>
          <a:prstGeom prst="roundRect">
            <a:avLst>
              <a:gd name="adj" fmla="val 2601"/>
            </a:avLst>
          </a:prstGeom>
          <a:solidFill>
            <a:srgbClr val="FDECEC"/>
          </a:solidFill>
          <a:ln w="9525">
            <a:solidFill>
              <a:srgbClr val="F6C9CB"/>
            </a:solidFill>
            <a:prstDash val="solid"/>
          </a:ln>
        </p:spPr>
      </p:sp>
      <p:sp>
        <p:nvSpPr>
          <p:cNvPr id="6" name="Shape 3"/>
          <p:cNvSpPr/>
          <p:nvPr/>
        </p:nvSpPr>
        <p:spPr>
          <a:xfrm>
            <a:off x="868680" y="1874520"/>
            <a:ext cx="548640" cy="548640"/>
          </a:xfrm>
          <a:prstGeom prst="roundRect">
            <a:avLst>
              <a:gd name="adj" fmla="val 16667"/>
            </a:avLst>
          </a:prstGeom>
          <a:solidFill>
            <a:srgbClr val="E3202A"/>
          </a:solidFill>
          <a:ln w="12700">
            <a:solidFill>
              <a:srgbClr val="E3202A"/>
            </a:solidFill>
            <a:prstDash val="solid"/>
          </a:ln>
        </p:spPr>
      </p:sp>
      <p:pic>
        <p:nvPicPr>
          <p:cNvPr id="7" name="Image 1" descr="preencoded.png"/>
          <p:cNvPicPr>
            <a:picLocks noChangeAspect="1"/>
          </p:cNvPicPr>
          <p:nvPr/>
        </p:nvPicPr>
        <p:blipFill>
          <a:blip r:embed="rId4"/>
          <a:stretch>
            <a:fillRect/>
          </a:stretch>
        </p:blipFill>
        <p:spPr>
          <a:xfrm>
            <a:off x="989381" y="1995221"/>
            <a:ext cx="307238" cy="307238"/>
          </a:xfrm>
          <a:prstGeom prst="rect">
            <a:avLst/>
          </a:prstGeom>
        </p:spPr>
      </p:pic>
      <p:sp>
        <p:nvSpPr>
          <p:cNvPr id="8" name="Text 4"/>
          <p:cNvSpPr txBox="1"/>
          <p:nvPr/>
        </p:nvSpPr>
        <p:spPr>
          <a:xfrm>
            <a:off x="1600200" y="1883664"/>
            <a:ext cx="2235098" cy="237744"/>
          </a:xfrm>
          <a:prstGeom prst="rect">
            <a:avLst/>
          </a:prstGeom>
          <a:noFill/>
          <a:ln/>
        </p:spPr>
        <p:txBody>
          <a:bodyPr wrap="square" lIns="0" tIns="0" rIns="0" bIns="0" rtlCol="0" anchor="t"/>
          <a:lstStyle/>
          <a:p>
            <a:pPr marL="0" indent="0">
              <a:buNone/>
            </a:pPr>
            <a:r>
              <a:rPr lang="en-US" sz="950" b="1" kern="0" spc="150" dirty="0">
                <a:solidFill>
                  <a:srgbClr val="E3202A"/>
                </a:solidFill>
                <a:latin typeface="Calibri" pitchFamily="34" charset="0"/>
                <a:ea typeface="Calibri" pitchFamily="34" charset="-122"/>
                <a:cs typeface="Calibri" pitchFamily="34" charset="-120"/>
              </a:rPr>
              <a:t>HOSPITALITY</a:t>
            </a:r>
            <a:endParaRPr lang="en-US" sz="950" dirty="0"/>
          </a:p>
        </p:txBody>
      </p:sp>
      <p:sp>
        <p:nvSpPr>
          <p:cNvPr id="9" name="Text 5"/>
          <p:cNvSpPr txBox="1"/>
          <p:nvPr/>
        </p:nvSpPr>
        <p:spPr>
          <a:xfrm>
            <a:off x="1600200" y="2130552"/>
            <a:ext cx="2235098"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Hospitality chain</a:t>
            </a:r>
            <a:endParaRPr lang="en-US" sz="1500" dirty="0"/>
          </a:p>
        </p:txBody>
      </p:sp>
      <p:sp>
        <p:nvSpPr>
          <p:cNvPr id="10" name="Text 6"/>
          <p:cNvSpPr txBox="1"/>
          <p:nvPr/>
        </p:nvSpPr>
        <p:spPr>
          <a:xfrm>
            <a:off x="868680" y="2697480"/>
            <a:ext cx="2875178" cy="868680"/>
          </a:xfrm>
          <a:prstGeom prst="rect">
            <a:avLst/>
          </a:prstGeom>
          <a:noFill/>
          <a:ln/>
        </p:spPr>
        <p:txBody>
          <a:bodyPr wrap="square" lIns="0" tIns="0" rIns="0" bIns="0" rtlCol="0" anchor="ctr"/>
          <a:lstStyle/>
          <a:p>
            <a:pPr marL="0" indent="0">
              <a:buNone/>
            </a:pPr>
            <a:r>
              <a:rPr lang="en-US" sz="4800" b="1" dirty="0">
                <a:solidFill>
                  <a:srgbClr val="E3202A"/>
                </a:solidFill>
                <a:latin typeface="Arial" pitchFamily="34" charset="0"/>
                <a:ea typeface="Arial" pitchFamily="34" charset="-122"/>
                <a:cs typeface="Arial" pitchFamily="34" charset="-120"/>
              </a:rPr>
              <a:t>100K</a:t>
            </a:r>
            <a:endParaRPr lang="en-US" sz="4800" dirty="0"/>
          </a:p>
        </p:txBody>
      </p:sp>
      <p:sp>
        <p:nvSpPr>
          <p:cNvPr id="11" name="Text 7"/>
          <p:cNvSpPr txBox="1"/>
          <p:nvPr/>
        </p:nvSpPr>
        <p:spPr>
          <a:xfrm>
            <a:off x="868680" y="3566160"/>
            <a:ext cx="2875178" cy="292608"/>
          </a:xfrm>
          <a:prstGeom prst="rect">
            <a:avLst/>
          </a:prstGeom>
          <a:noFill/>
          <a:ln/>
        </p:spPr>
        <p:txBody>
          <a:bodyPr wrap="square" lIns="0" tIns="0" rIns="0" bIns="0" rtlCol="0" anchor="t"/>
          <a:lstStyle/>
          <a:p>
            <a:pPr marL="0" indent="0">
              <a:buNone/>
            </a:pPr>
            <a:r>
              <a:rPr lang="en-US" sz="1300" b="1" dirty="0">
                <a:solidFill>
                  <a:srgbClr val="151A21"/>
                </a:solidFill>
                <a:latin typeface="Calibri" pitchFamily="34" charset="0"/>
                <a:ea typeface="Calibri" pitchFamily="34" charset="-122"/>
                <a:cs typeface="Calibri" pitchFamily="34" charset="-120"/>
              </a:rPr>
              <a:t>agents deployed in one day</a:t>
            </a:r>
            <a:endParaRPr lang="en-US" sz="1300" dirty="0"/>
          </a:p>
        </p:txBody>
      </p:sp>
      <p:sp>
        <p:nvSpPr>
          <p:cNvPr id="12" name="Text 8"/>
          <p:cNvSpPr txBox="1"/>
          <p:nvPr/>
        </p:nvSpPr>
        <p:spPr>
          <a:xfrm>
            <a:off x="868680" y="3977640"/>
            <a:ext cx="2875178" cy="1325880"/>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During a CrowdStrike incident response engagement with a hospitality chain, 100,000 Falcon agents were rolled out in a single day.</a:t>
            </a:r>
            <a:endParaRPr lang="en-US" sz="1150" dirty="0"/>
          </a:p>
        </p:txBody>
      </p:sp>
      <p:sp>
        <p:nvSpPr>
          <p:cNvPr id="13" name="Shape 9"/>
          <p:cNvSpPr/>
          <p:nvPr/>
        </p:nvSpPr>
        <p:spPr>
          <a:xfrm>
            <a:off x="4338218" y="1554480"/>
            <a:ext cx="3515258" cy="3703320"/>
          </a:xfrm>
          <a:prstGeom prst="roundRect">
            <a:avLst>
              <a:gd name="adj" fmla="val 2601"/>
            </a:avLst>
          </a:prstGeom>
          <a:solidFill>
            <a:srgbClr val="F3F5F8"/>
          </a:solidFill>
          <a:ln w="9525">
            <a:solidFill>
              <a:srgbClr val="DCE1E7"/>
            </a:solidFill>
            <a:prstDash val="solid"/>
          </a:ln>
        </p:spPr>
      </p:sp>
      <p:sp>
        <p:nvSpPr>
          <p:cNvPr id="14" name="Shape 10"/>
          <p:cNvSpPr/>
          <p:nvPr/>
        </p:nvSpPr>
        <p:spPr>
          <a:xfrm>
            <a:off x="4658258" y="1874520"/>
            <a:ext cx="548640" cy="548640"/>
          </a:xfrm>
          <a:prstGeom prst="roundRect">
            <a:avLst>
              <a:gd name="adj" fmla="val 16667"/>
            </a:avLst>
          </a:prstGeom>
          <a:solidFill>
            <a:srgbClr val="EAEEF3"/>
          </a:solidFill>
          <a:ln w="12700">
            <a:solidFill>
              <a:srgbClr val="EAEEF3"/>
            </a:solidFill>
            <a:prstDash val="solid"/>
          </a:ln>
        </p:spPr>
      </p:sp>
      <p:pic>
        <p:nvPicPr>
          <p:cNvPr id="15" name="Image 2" descr="preencoded.png"/>
          <p:cNvPicPr>
            <a:picLocks noChangeAspect="1"/>
          </p:cNvPicPr>
          <p:nvPr/>
        </p:nvPicPr>
        <p:blipFill>
          <a:blip r:embed="rId5"/>
          <a:stretch>
            <a:fillRect/>
          </a:stretch>
        </p:blipFill>
        <p:spPr>
          <a:xfrm>
            <a:off x="4778959" y="1995221"/>
            <a:ext cx="307238" cy="307238"/>
          </a:xfrm>
          <a:prstGeom prst="rect">
            <a:avLst/>
          </a:prstGeom>
        </p:spPr>
      </p:pic>
      <p:sp>
        <p:nvSpPr>
          <p:cNvPr id="16" name="Text 11"/>
          <p:cNvSpPr txBox="1"/>
          <p:nvPr/>
        </p:nvSpPr>
        <p:spPr>
          <a:xfrm>
            <a:off x="5389778" y="1883664"/>
            <a:ext cx="2235098" cy="237744"/>
          </a:xfrm>
          <a:prstGeom prst="rect">
            <a:avLst/>
          </a:prstGeom>
          <a:noFill/>
          <a:ln/>
        </p:spPr>
        <p:txBody>
          <a:bodyPr wrap="square" lIns="0" tIns="0" rIns="0" bIns="0" rtlCol="0" anchor="t"/>
          <a:lstStyle/>
          <a:p>
            <a:pPr marL="0" indent="0">
              <a:buNone/>
            </a:pPr>
            <a:r>
              <a:rPr lang="en-US" sz="950" b="1" kern="0" spc="150" dirty="0">
                <a:solidFill>
                  <a:srgbClr val="5D6B7E"/>
                </a:solidFill>
                <a:latin typeface="Calibri" pitchFamily="34" charset="0"/>
                <a:ea typeface="Calibri" pitchFamily="34" charset="-122"/>
                <a:cs typeface="Calibri" pitchFamily="34" charset="-120"/>
              </a:rPr>
              <a:t>EDUCATION</a:t>
            </a:r>
            <a:endParaRPr lang="en-US" sz="950" dirty="0"/>
          </a:p>
        </p:txBody>
      </p:sp>
      <p:sp>
        <p:nvSpPr>
          <p:cNvPr id="17" name="Text 12"/>
          <p:cNvSpPr txBox="1"/>
          <p:nvPr/>
        </p:nvSpPr>
        <p:spPr>
          <a:xfrm>
            <a:off x="5389778" y="2130552"/>
            <a:ext cx="2235098"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Coventry University</a:t>
            </a:r>
            <a:endParaRPr lang="en-US" sz="1500" dirty="0"/>
          </a:p>
        </p:txBody>
      </p:sp>
      <p:sp>
        <p:nvSpPr>
          <p:cNvPr id="18" name="Text 13"/>
          <p:cNvSpPr txBox="1"/>
          <p:nvPr/>
        </p:nvSpPr>
        <p:spPr>
          <a:xfrm>
            <a:off x="4658258" y="2697480"/>
            <a:ext cx="2875178" cy="868680"/>
          </a:xfrm>
          <a:prstGeom prst="rect">
            <a:avLst/>
          </a:prstGeom>
          <a:noFill/>
          <a:ln/>
        </p:spPr>
        <p:txBody>
          <a:bodyPr wrap="square" lIns="0" tIns="0" rIns="0" bIns="0" rtlCol="0" anchor="ctr"/>
          <a:lstStyle/>
          <a:p>
            <a:pPr marL="0" indent="0">
              <a:buNone/>
            </a:pPr>
            <a:r>
              <a:rPr lang="en-US" sz="4800" b="1" dirty="0">
                <a:solidFill>
                  <a:srgbClr val="E3202A"/>
                </a:solidFill>
                <a:latin typeface="Arial" pitchFamily="34" charset="0"/>
                <a:ea typeface="Arial" pitchFamily="34" charset="-122"/>
                <a:cs typeface="Arial" pitchFamily="34" charset="-120"/>
              </a:rPr>
              <a:t>94%</a:t>
            </a:r>
            <a:endParaRPr lang="en-US" sz="4800" dirty="0"/>
          </a:p>
        </p:txBody>
      </p:sp>
      <p:sp>
        <p:nvSpPr>
          <p:cNvPr id="19" name="Text 14"/>
          <p:cNvSpPr txBox="1"/>
          <p:nvPr/>
        </p:nvSpPr>
        <p:spPr>
          <a:xfrm>
            <a:off x="4658258" y="3566160"/>
            <a:ext cx="2875178" cy="292608"/>
          </a:xfrm>
          <a:prstGeom prst="rect">
            <a:avLst/>
          </a:prstGeom>
          <a:noFill/>
          <a:ln/>
        </p:spPr>
        <p:txBody>
          <a:bodyPr wrap="square" lIns="0" tIns="0" rIns="0" bIns="0" rtlCol="0" anchor="t"/>
          <a:lstStyle/>
          <a:p>
            <a:pPr marL="0" indent="0">
              <a:buNone/>
            </a:pPr>
            <a:r>
              <a:rPr lang="en-US" sz="1300" b="1" dirty="0">
                <a:solidFill>
                  <a:srgbClr val="151A21"/>
                </a:solidFill>
                <a:latin typeface="Calibri" pitchFamily="34" charset="0"/>
                <a:ea typeface="Calibri" pitchFamily="34" charset="-122"/>
                <a:cs typeface="Calibri" pitchFamily="34" charset="-120"/>
              </a:rPr>
              <a:t>less time spent resolving threats</a:t>
            </a:r>
            <a:endParaRPr lang="en-US" sz="1300" dirty="0"/>
          </a:p>
        </p:txBody>
      </p:sp>
      <p:sp>
        <p:nvSpPr>
          <p:cNvPr id="20" name="Text 15"/>
          <p:cNvSpPr txBox="1"/>
          <p:nvPr/>
        </p:nvSpPr>
        <p:spPr>
          <a:xfrm>
            <a:off x="4658258" y="3977640"/>
            <a:ext cx="2875178" cy="1325880"/>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Consolidated endpoint protection and response on one cloud-native Falcon agent. Average incident resolution fell from 2–3 days to under 1 hour.</a:t>
            </a:r>
            <a:endParaRPr lang="en-US" sz="1150" dirty="0"/>
          </a:p>
        </p:txBody>
      </p:sp>
      <p:sp>
        <p:nvSpPr>
          <p:cNvPr id="21" name="Shape 16"/>
          <p:cNvSpPr/>
          <p:nvPr/>
        </p:nvSpPr>
        <p:spPr>
          <a:xfrm>
            <a:off x="8127797" y="1554480"/>
            <a:ext cx="3515258" cy="3703320"/>
          </a:xfrm>
          <a:prstGeom prst="roundRect">
            <a:avLst>
              <a:gd name="adj" fmla="val 2601"/>
            </a:avLst>
          </a:prstGeom>
          <a:solidFill>
            <a:srgbClr val="F3F5F8"/>
          </a:solidFill>
          <a:ln w="9525">
            <a:solidFill>
              <a:srgbClr val="DCE1E7"/>
            </a:solidFill>
            <a:prstDash val="solid"/>
          </a:ln>
        </p:spPr>
      </p:sp>
      <p:sp>
        <p:nvSpPr>
          <p:cNvPr id="22" name="Shape 17"/>
          <p:cNvSpPr/>
          <p:nvPr/>
        </p:nvSpPr>
        <p:spPr>
          <a:xfrm>
            <a:off x="8447837" y="1874520"/>
            <a:ext cx="548640" cy="548640"/>
          </a:xfrm>
          <a:prstGeom prst="roundRect">
            <a:avLst>
              <a:gd name="adj" fmla="val 16667"/>
            </a:avLst>
          </a:prstGeom>
          <a:solidFill>
            <a:srgbClr val="EAEEF3"/>
          </a:solidFill>
          <a:ln w="12700">
            <a:solidFill>
              <a:srgbClr val="EAEEF3"/>
            </a:solidFill>
            <a:prstDash val="solid"/>
          </a:ln>
        </p:spPr>
      </p:sp>
      <p:pic>
        <p:nvPicPr>
          <p:cNvPr id="23" name="Image 3" descr="preencoded.png"/>
          <p:cNvPicPr>
            <a:picLocks noChangeAspect="1"/>
          </p:cNvPicPr>
          <p:nvPr/>
        </p:nvPicPr>
        <p:blipFill>
          <a:blip r:embed="rId6"/>
          <a:stretch>
            <a:fillRect/>
          </a:stretch>
        </p:blipFill>
        <p:spPr>
          <a:xfrm>
            <a:off x="8568538" y="1995221"/>
            <a:ext cx="307238" cy="307238"/>
          </a:xfrm>
          <a:prstGeom prst="rect">
            <a:avLst/>
          </a:prstGeom>
        </p:spPr>
      </p:pic>
      <p:sp>
        <p:nvSpPr>
          <p:cNvPr id="24" name="Text 18"/>
          <p:cNvSpPr txBox="1"/>
          <p:nvPr/>
        </p:nvSpPr>
        <p:spPr>
          <a:xfrm>
            <a:off x="9179357" y="1883664"/>
            <a:ext cx="2235098" cy="237744"/>
          </a:xfrm>
          <a:prstGeom prst="rect">
            <a:avLst/>
          </a:prstGeom>
          <a:noFill/>
          <a:ln/>
        </p:spPr>
        <p:txBody>
          <a:bodyPr wrap="square" lIns="0" tIns="0" rIns="0" bIns="0" rtlCol="0" anchor="t"/>
          <a:lstStyle/>
          <a:p>
            <a:pPr marL="0" indent="0">
              <a:buNone/>
            </a:pPr>
            <a:r>
              <a:rPr lang="en-US" sz="950" b="1" kern="0" spc="150" dirty="0">
                <a:solidFill>
                  <a:srgbClr val="5D6B7E"/>
                </a:solidFill>
                <a:latin typeface="Calibri" pitchFamily="34" charset="0"/>
                <a:ea typeface="Calibri" pitchFamily="34" charset="-122"/>
                <a:cs typeface="Calibri" pitchFamily="34" charset="-120"/>
              </a:rPr>
              <a:t>MULTI-BRAND ENTERPRISE</a:t>
            </a:r>
            <a:endParaRPr lang="en-US" sz="950" dirty="0"/>
          </a:p>
        </p:txBody>
      </p:sp>
      <p:sp>
        <p:nvSpPr>
          <p:cNvPr id="25" name="Text 19"/>
          <p:cNvSpPr txBox="1"/>
          <p:nvPr/>
        </p:nvSpPr>
        <p:spPr>
          <a:xfrm>
            <a:off x="9179357" y="2130552"/>
            <a:ext cx="2235098"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Anywhere Real Estate</a:t>
            </a:r>
            <a:endParaRPr lang="en-US" sz="1500" dirty="0"/>
          </a:p>
        </p:txBody>
      </p:sp>
      <p:sp>
        <p:nvSpPr>
          <p:cNvPr id="26" name="Text 20"/>
          <p:cNvSpPr txBox="1"/>
          <p:nvPr/>
        </p:nvSpPr>
        <p:spPr>
          <a:xfrm>
            <a:off x="8447837" y="2697480"/>
            <a:ext cx="2875178" cy="868680"/>
          </a:xfrm>
          <a:prstGeom prst="rect">
            <a:avLst/>
          </a:prstGeom>
          <a:noFill/>
          <a:ln/>
        </p:spPr>
        <p:txBody>
          <a:bodyPr wrap="square" lIns="0" tIns="0" rIns="0" bIns="0" rtlCol="0" anchor="ctr"/>
          <a:lstStyle/>
          <a:p>
            <a:pPr marL="0" indent="0">
              <a:buNone/>
            </a:pPr>
            <a:r>
              <a:rPr lang="en-US" sz="4800" b="1" dirty="0">
                <a:solidFill>
                  <a:srgbClr val="E3202A"/>
                </a:solidFill>
                <a:latin typeface="Arial" pitchFamily="34" charset="0"/>
                <a:ea typeface="Arial" pitchFamily="34" charset="-122"/>
                <a:cs typeface="Arial" pitchFamily="34" charset="-120"/>
              </a:rPr>
              <a:t>500×</a:t>
            </a:r>
            <a:endParaRPr lang="en-US" sz="4800" dirty="0"/>
          </a:p>
        </p:txBody>
      </p:sp>
      <p:sp>
        <p:nvSpPr>
          <p:cNvPr id="27" name="Text 21"/>
          <p:cNvSpPr txBox="1"/>
          <p:nvPr/>
        </p:nvSpPr>
        <p:spPr>
          <a:xfrm>
            <a:off x="8447837" y="3566160"/>
            <a:ext cx="2875178" cy="292608"/>
          </a:xfrm>
          <a:prstGeom prst="rect">
            <a:avLst/>
          </a:prstGeom>
          <a:noFill/>
          <a:ln/>
        </p:spPr>
        <p:txBody>
          <a:bodyPr wrap="square" lIns="0" tIns="0" rIns="0" bIns="0" rtlCol="0" anchor="t"/>
          <a:lstStyle/>
          <a:p>
            <a:pPr marL="0" indent="0">
              <a:buNone/>
            </a:pPr>
            <a:r>
              <a:rPr lang="en-US" sz="1300" b="1" dirty="0">
                <a:solidFill>
                  <a:srgbClr val="151A21"/>
                </a:solidFill>
                <a:latin typeface="Calibri" pitchFamily="34" charset="0"/>
                <a:ea typeface="Calibri" pitchFamily="34" charset="-122"/>
                <a:cs typeface="Calibri" pitchFamily="34" charset="-120"/>
              </a:rPr>
              <a:t>fewer alerts</a:t>
            </a:r>
            <a:endParaRPr lang="en-US" sz="1300" dirty="0"/>
          </a:p>
        </p:txBody>
      </p:sp>
      <p:sp>
        <p:nvSpPr>
          <p:cNvPr id="28" name="Text 22"/>
          <p:cNvSpPr txBox="1"/>
          <p:nvPr/>
        </p:nvSpPr>
        <p:spPr>
          <a:xfrm>
            <a:off x="8447837" y="3977640"/>
            <a:ext cx="2875178" cy="1325880"/>
          </a:xfrm>
          <a:prstGeom prst="rect">
            <a:avLst/>
          </a:prstGeom>
          <a:noFill/>
          <a:ln/>
        </p:spPr>
        <p:txBody>
          <a:bodyPr wrap="square" lIns="0" tIns="0" rIns="0" bIns="0" rtlCol="0" anchor="t"/>
          <a:lstStyle/>
          <a:p>
            <a:pPr marL="0" indent="0">
              <a:buNone/>
            </a:pPr>
            <a:r>
              <a:rPr lang="en-US" sz="1150" dirty="0">
                <a:solidFill>
                  <a:srgbClr val="5E6978"/>
                </a:solidFill>
                <a:latin typeface="Calibri" pitchFamily="34" charset="0"/>
                <a:ea typeface="Calibri" pitchFamily="34" charset="-122"/>
                <a:cs typeface="Calibri" pitchFamily="34" charset="-120"/>
              </a:rPr>
              <a:t>A decentralized, multi-brand organization unified endpoint and identity protection on Falcon — 98% of remaining alerts are true positives.</a:t>
            </a:r>
            <a:endParaRPr lang="en-US" sz="1150" dirty="0"/>
          </a:p>
        </p:txBody>
      </p:sp>
      <p:pic>
        <p:nvPicPr>
          <p:cNvPr id="29" name="Image 4" descr="preencoded.png"/>
          <p:cNvPicPr>
            <a:picLocks noChangeAspect="1"/>
          </p:cNvPicPr>
          <p:nvPr/>
        </p:nvPicPr>
        <p:blipFill>
          <a:blip r:embed="rId7"/>
          <a:stretch>
            <a:fillRect/>
          </a:stretch>
        </p:blipFill>
        <p:spPr>
          <a:xfrm>
            <a:off x="548640" y="5550408"/>
            <a:ext cx="274320" cy="274320"/>
          </a:xfrm>
          <a:prstGeom prst="rect">
            <a:avLst/>
          </a:prstGeom>
        </p:spPr>
      </p:pic>
      <p:sp>
        <p:nvSpPr>
          <p:cNvPr id="30" name="Text 23"/>
          <p:cNvSpPr txBox="1"/>
          <p:nvPr/>
        </p:nvSpPr>
        <p:spPr>
          <a:xfrm>
            <a:off x="960120" y="5513832"/>
            <a:ext cx="10682935" cy="347472"/>
          </a:xfrm>
          <a:prstGeom prst="rect">
            <a:avLst/>
          </a:prstGeom>
          <a:noFill/>
          <a:ln/>
        </p:spPr>
        <p:txBody>
          <a:bodyPr wrap="square" lIns="0" tIns="0" rIns="0" bIns="0" rtlCol="0" anchor="ctr"/>
          <a:lstStyle/>
          <a:p>
            <a:pPr marL="0" indent="0">
              <a:buNone/>
            </a:pPr>
            <a:r>
              <a:rPr lang="en-US" sz="1200" b="1" i="1" dirty="0">
                <a:solidFill>
                  <a:srgbClr val="151A21"/>
                </a:solidFill>
                <a:latin typeface="Calibri" pitchFamily="34" charset="0"/>
                <a:ea typeface="Calibri" pitchFamily="34" charset="-122"/>
                <a:cs typeface="Calibri" pitchFamily="34" charset="-120"/>
              </a:rPr>
              <a:t>“Ever present… always protecting you… you almost forget it’s there.”</a:t>
            </a:r>
            <a:r>
              <a:rPr lang="en-US" sz="1200" dirty="0">
                <a:solidFill>
                  <a:srgbClr val="5E6978"/>
                </a:solidFill>
                <a:latin typeface="Calibri" pitchFamily="34" charset="0"/>
                <a:ea typeface="Calibri" pitchFamily="34" charset="-122"/>
                <a:cs typeface="Calibri" pitchFamily="34" charset="-120"/>
              </a:rPr>
              <a:t>   — Director of Cyberdefense, healthcare company (Forrester TEI study)</a:t>
            </a:r>
            <a:endParaRPr lang="en-US" sz="1200" dirty="0"/>
          </a:p>
        </p:txBody>
      </p:sp>
      <p:sp>
        <p:nvSpPr>
          <p:cNvPr id="31" name="Text 24"/>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14   |   Nessus vs. CrowdStrike Falcon Platform  ·  Proposal for The Westin Resort Guam</a:t>
            </a:r>
            <a:endParaRPr lang="en-US" sz="900" dirty="0"/>
          </a:p>
        </p:txBody>
      </p:sp>
      <p:pic>
        <p:nvPicPr>
          <p:cNvPr id="32" name="Image 5" descr="/private/tmp/claude-501/-Users-jihanvin-Desktop-NIVNAH-AI/16a96446-d9b3-40e2-af9e-a3011ae3db84/scratchpad/assets/secukorea_dark.png"/>
          <p:cNvPicPr>
            <a:picLocks noChangeAspect="1"/>
          </p:cNvPicPr>
          <p:nvPr/>
        </p:nvPicPr>
        <p:blipFill>
          <a:blip r:embed="rId8"/>
          <a:stretch>
            <a:fillRect/>
          </a:stretch>
        </p:blipFill>
        <p:spPr>
          <a:xfrm>
            <a:off x="10661904" y="6400800"/>
            <a:ext cx="978408" cy="2331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13   RECOMMENDATION</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Recommendation: Keep Visibility, Add Protection</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554480"/>
            <a:ext cx="6126480" cy="868680"/>
          </a:xfrm>
          <a:prstGeom prst="roundRect">
            <a:avLst>
              <a:gd name="adj" fmla="val 8421"/>
            </a:avLst>
          </a:prstGeom>
          <a:solidFill>
            <a:srgbClr val="0B0D12"/>
          </a:solidFill>
          <a:ln w="12700">
            <a:solidFill>
              <a:srgbClr val="0B0D12"/>
            </a:solidFill>
            <a:prstDash val="solid"/>
          </a:ln>
        </p:spPr>
      </p:sp>
      <p:pic>
        <p:nvPicPr>
          <p:cNvPr id="6" name="Image 1" descr="preencoded.png"/>
          <p:cNvPicPr>
            <a:picLocks noChangeAspect="1"/>
          </p:cNvPicPr>
          <p:nvPr/>
        </p:nvPicPr>
        <p:blipFill>
          <a:blip r:embed="rId4"/>
          <a:stretch>
            <a:fillRect/>
          </a:stretch>
        </p:blipFill>
        <p:spPr>
          <a:xfrm>
            <a:off x="822960" y="1737360"/>
            <a:ext cx="457200" cy="457200"/>
          </a:xfrm>
          <a:prstGeom prst="rect">
            <a:avLst/>
          </a:prstGeom>
        </p:spPr>
      </p:pic>
      <p:sp>
        <p:nvSpPr>
          <p:cNvPr id="7" name="Text 3"/>
          <p:cNvSpPr txBox="1"/>
          <p:nvPr/>
        </p:nvSpPr>
        <p:spPr>
          <a:xfrm>
            <a:off x="1463040" y="1554480"/>
            <a:ext cx="5029200" cy="86868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CrowdStrike Falcon cloud console</a:t>
            </a:r>
            <a:endParaRPr lang="en-US" sz="1200" dirty="0"/>
          </a:p>
          <a:p>
            <a:pPr marL="0" indent="0">
              <a:buNone/>
            </a:pPr>
            <a:r>
              <a:rPr lang="en-US" sz="1100" dirty="0">
                <a:solidFill>
                  <a:srgbClr val="C9CED6"/>
                </a:solidFill>
                <a:latin typeface="Calibri" pitchFamily="34" charset="0"/>
                <a:ea typeface="Calibri" pitchFamily="34" charset="-122"/>
                <a:cs typeface="Calibri" pitchFamily="34" charset="-120"/>
              </a:rPr>
              <a:t>Policies · Detection · Response · Reporting — no on-site server</a:t>
            </a:r>
            <a:endParaRPr lang="en-US" sz="1200" dirty="0"/>
          </a:p>
        </p:txBody>
      </p:sp>
      <p:sp>
        <p:nvSpPr>
          <p:cNvPr id="8" name="Shape 4"/>
          <p:cNvSpPr/>
          <p:nvPr/>
        </p:nvSpPr>
        <p:spPr>
          <a:xfrm>
            <a:off x="1263015" y="2423160"/>
            <a:ext cx="0" cy="411480"/>
          </a:xfrm>
          <a:prstGeom prst="line">
            <a:avLst/>
          </a:prstGeom>
          <a:noFill/>
          <a:ln w="19050">
            <a:solidFill>
              <a:srgbClr val="E3202A"/>
            </a:solidFill>
            <a:prstDash val="solid"/>
          </a:ln>
        </p:spPr>
      </p:sp>
      <p:sp>
        <p:nvSpPr>
          <p:cNvPr id="9" name="Shape 5"/>
          <p:cNvSpPr/>
          <p:nvPr/>
        </p:nvSpPr>
        <p:spPr>
          <a:xfrm>
            <a:off x="548640" y="2834640"/>
            <a:ext cx="1428750" cy="1234440"/>
          </a:xfrm>
          <a:prstGeom prst="roundRect">
            <a:avLst>
              <a:gd name="adj" fmla="val 5926"/>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pic>
        <p:nvPicPr>
          <p:cNvPr id="10" name="Image 2" descr="preencoded.png"/>
          <p:cNvPicPr>
            <a:picLocks noChangeAspect="1"/>
          </p:cNvPicPr>
          <p:nvPr/>
        </p:nvPicPr>
        <p:blipFill>
          <a:blip r:embed="rId5"/>
          <a:stretch>
            <a:fillRect/>
          </a:stretch>
        </p:blipFill>
        <p:spPr>
          <a:xfrm>
            <a:off x="1080135" y="2971800"/>
            <a:ext cx="365760" cy="365760"/>
          </a:xfrm>
          <a:prstGeom prst="rect">
            <a:avLst/>
          </a:prstGeom>
        </p:spPr>
      </p:pic>
      <p:sp>
        <p:nvSpPr>
          <p:cNvPr id="11" name="Text 6"/>
          <p:cNvSpPr txBox="1"/>
          <p:nvPr/>
        </p:nvSpPr>
        <p:spPr>
          <a:xfrm>
            <a:off x="640080" y="3383280"/>
            <a:ext cx="1245870" cy="420624"/>
          </a:xfrm>
          <a:prstGeom prst="rect">
            <a:avLst/>
          </a:prstGeom>
          <a:noFill/>
          <a:ln/>
        </p:spPr>
        <p:txBody>
          <a:bodyPr wrap="square" lIns="0" tIns="0" rIns="0" bIns="0" rtlCol="0" anchor="ctr"/>
          <a:lstStyle/>
          <a:p>
            <a:pPr marL="0" indent="0" algn="ctr">
              <a:buNone/>
            </a:pPr>
            <a:r>
              <a:rPr lang="en-US" sz="1050" b="1" dirty="0">
                <a:solidFill>
                  <a:srgbClr val="151A21"/>
                </a:solidFill>
                <a:latin typeface="Calibri" pitchFamily="34" charset="0"/>
                <a:ea typeface="Calibri" pitchFamily="34" charset="-122"/>
                <a:cs typeface="Calibri" pitchFamily="34" charset="-120"/>
              </a:rPr>
              <a:t>Front desk &amp; PMS workstations</a:t>
            </a:r>
            <a:endParaRPr lang="en-US" sz="1050" dirty="0"/>
          </a:p>
        </p:txBody>
      </p:sp>
      <p:sp>
        <p:nvSpPr>
          <p:cNvPr id="12" name="Shape 7"/>
          <p:cNvSpPr/>
          <p:nvPr/>
        </p:nvSpPr>
        <p:spPr>
          <a:xfrm>
            <a:off x="805815" y="3840480"/>
            <a:ext cx="914400" cy="201168"/>
          </a:xfrm>
          <a:prstGeom prst="roundRect">
            <a:avLst>
              <a:gd name="adj" fmla="val 50000"/>
            </a:avLst>
          </a:prstGeom>
          <a:solidFill>
            <a:srgbClr val="E3202A"/>
          </a:solidFill>
          <a:ln w="12700">
            <a:solidFill>
              <a:srgbClr val="E3202A"/>
            </a:solidFill>
            <a:prstDash val="solid"/>
          </a:ln>
        </p:spPr>
      </p:sp>
      <p:sp>
        <p:nvSpPr>
          <p:cNvPr id="13" name="Text 8"/>
          <p:cNvSpPr txBox="1"/>
          <p:nvPr/>
        </p:nvSpPr>
        <p:spPr>
          <a:xfrm>
            <a:off x="805815" y="3840480"/>
            <a:ext cx="91440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Falcon sensor</a:t>
            </a:r>
            <a:endParaRPr lang="en-US" sz="800" dirty="0"/>
          </a:p>
        </p:txBody>
      </p:sp>
      <p:sp>
        <p:nvSpPr>
          <p:cNvPr id="14" name="Shape 9"/>
          <p:cNvSpPr/>
          <p:nvPr/>
        </p:nvSpPr>
        <p:spPr>
          <a:xfrm>
            <a:off x="2828925" y="2423160"/>
            <a:ext cx="0" cy="411480"/>
          </a:xfrm>
          <a:prstGeom prst="line">
            <a:avLst/>
          </a:prstGeom>
          <a:noFill/>
          <a:ln w="19050">
            <a:solidFill>
              <a:srgbClr val="E3202A"/>
            </a:solidFill>
            <a:prstDash val="solid"/>
          </a:ln>
        </p:spPr>
      </p:sp>
      <p:sp>
        <p:nvSpPr>
          <p:cNvPr id="15" name="Shape 10"/>
          <p:cNvSpPr/>
          <p:nvPr/>
        </p:nvSpPr>
        <p:spPr>
          <a:xfrm>
            <a:off x="2114550" y="2834640"/>
            <a:ext cx="1428750" cy="1234440"/>
          </a:xfrm>
          <a:prstGeom prst="roundRect">
            <a:avLst>
              <a:gd name="adj" fmla="val 5926"/>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pic>
        <p:nvPicPr>
          <p:cNvPr id="16" name="Image 3" descr="preencoded.png"/>
          <p:cNvPicPr>
            <a:picLocks noChangeAspect="1"/>
          </p:cNvPicPr>
          <p:nvPr/>
        </p:nvPicPr>
        <p:blipFill>
          <a:blip r:embed="rId6"/>
          <a:stretch>
            <a:fillRect/>
          </a:stretch>
        </p:blipFill>
        <p:spPr>
          <a:xfrm>
            <a:off x="2646045" y="2971800"/>
            <a:ext cx="365760" cy="365760"/>
          </a:xfrm>
          <a:prstGeom prst="rect">
            <a:avLst/>
          </a:prstGeom>
        </p:spPr>
      </p:pic>
      <p:sp>
        <p:nvSpPr>
          <p:cNvPr id="17" name="Text 11"/>
          <p:cNvSpPr txBox="1"/>
          <p:nvPr/>
        </p:nvSpPr>
        <p:spPr>
          <a:xfrm>
            <a:off x="2205990" y="3383280"/>
            <a:ext cx="1245870" cy="420624"/>
          </a:xfrm>
          <a:prstGeom prst="rect">
            <a:avLst/>
          </a:prstGeom>
          <a:noFill/>
          <a:ln/>
        </p:spPr>
        <p:txBody>
          <a:bodyPr wrap="square" lIns="0" tIns="0" rIns="0" bIns="0" rtlCol="0" anchor="ctr"/>
          <a:lstStyle/>
          <a:p>
            <a:pPr marL="0" indent="0" algn="ctr">
              <a:buNone/>
            </a:pPr>
            <a:r>
              <a:rPr lang="en-US" sz="1050" b="1" dirty="0">
                <a:solidFill>
                  <a:srgbClr val="151A21"/>
                </a:solidFill>
                <a:latin typeface="Calibri" pitchFamily="34" charset="0"/>
                <a:ea typeface="Calibri" pitchFamily="34" charset="-122"/>
                <a:cs typeface="Calibri" pitchFamily="34" charset="-120"/>
              </a:rPr>
              <a:t>Back-office &amp; admin PCs</a:t>
            </a:r>
            <a:endParaRPr lang="en-US" sz="1050" dirty="0"/>
          </a:p>
        </p:txBody>
      </p:sp>
      <p:sp>
        <p:nvSpPr>
          <p:cNvPr id="18" name="Shape 12"/>
          <p:cNvSpPr/>
          <p:nvPr/>
        </p:nvSpPr>
        <p:spPr>
          <a:xfrm>
            <a:off x="2371725" y="3840480"/>
            <a:ext cx="914400" cy="201168"/>
          </a:xfrm>
          <a:prstGeom prst="roundRect">
            <a:avLst>
              <a:gd name="adj" fmla="val 50000"/>
            </a:avLst>
          </a:prstGeom>
          <a:solidFill>
            <a:srgbClr val="E3202A"/>
          </a:solidFill>
          <a:ln w="12700">
            <a:solidFill>
              <a:srgbClr val="E3202A"/>
            </a:solidFill>
            <a:prstDash val="solid"/>
          </a:ln>
        </p:spPr>
      </p:sp>
      <p:sp>
        <p:nvSpPr>
          <p:cNvPr id="19" name="Text 13"/>
          <p:cNvSpPr txBox="1"/>
          <p:nvPr/>
        </p:nvSpPr>
        <p:spPr>
          <a:xfrm>
            <a:off x="2371725" y="3840480"/>
            <a:ext cx="91440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Falcon sensor</a:t>
            </a:r>
            <a:endParaRPr lang="en-US" sz="800" dirty="0"/>
          </a:p>
        </p:txBody>
      </p:sp>
      <p:sp>
        <p:nvSpPr>
          <p:cNvPr id="20" name="Shape 14"/>
          <p:cNvSpPr/>
          <p:nvPr/>
        </p:nvSpPr>
        <p:spPr>
          <a:xfrm>
            <a:off x="4394835" y="2423160"/>
            <a:ext cx="0" cy="411480"/>
          </a:xfrm>
          <a:prstGeom prst="line">
            <a:avLst/>
          </a:prstGeom>
          <a:noFill/>
          <a:ln w="19050">
            <a:solidFill>
              <a:srgbClr val="E3202A"/>
            </a:solidFill>
            <a:prstDash val="solid"/>
          </a:ln>
        </p:spPr>
      </p:sp>
      <p:sp>
        <p:nvSpPr>
          <p:cNvPr id="21" name="Shape 15"/>
          <p:cNvSpPr/>
          <p:nvPr/>
        </p:nvSpPr>
        <p:spPr>
          <a:xfrm>
            <a:off x="3680460" y="2834640"/>
            <a:ext cx="1428750" cy="1234440"/>
          </a:xfrm>
          <a:prstGeom prst="roundRect">
            <a:avLst>
              <a:gd name="adj" fmla="val 5926"/>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pic>
        <p:nvPicPr>
          <p:cNvPr id="22" name="Image 4" descr="preencoded.png"/>
          <p:cNvPicPr>
            <a:picLocks noChangeAspect="1"/>
          </p:cNvPicPr>
          <p:nvPr/>
        </p:nvPicPr>
        <p:blipFill>
          <a:blip r:embed="rId7"/>
          <a:stretch>
            <a:fillRect/>
          </a:stretch>
        </p:blipFill>
        <p:spPr>
          <a:xfrm>
            <a:off x="4211955" y="2971800"/>
            <a:ext cx="365760" cy="365760"/>
          </a:xfrm>
          <a:prstGeom prst="rect">
            <a:avLst/>
          </a:prstGeom>
        </p:spPr>
      </p:pic>
      <p:sp>
        <p:nvSpPr>
          <p:cNvPr id="23" name="Text 16"/>
          <p:cNvSpPr txBox="1"/>
          <p:nvPr/>
        </p:nvSpPr>
        <p:spPr>
          <a:xfrm>
            <a:off x="3771900" y="3383280"/>
            <a:ext cx="1245870" cy="420624"/>
          </a:xfrm>
          <a:prstGeom prst="rect">
            <a:avLst/>
          </a:prstGeom>
          <a:noFill/>
          <a:ln/>
        </p:spPr>
        <p:txBody>
          <a:bodyPr wrap="square" lIns="0" tIns="0" rIns="0" bIns="0" rtlCol="0" anchor="ctr"/>
          <a:lstStyle/>
          <a:p>
            <a:pPr marL="0" indent="0" algn="ctr">
              <a:buNone/>
            </a:pPr>
            <a:r>
              <a:rPr lang="en-US" sz="1050" b="1" dirty="0">
                <a:solidFill>
                  <a:srgbClr val="151A21"/>
                </a:solidFill>
                <a:latin typeface="Calibri" pitchFamily="34" charset="0"/>
                <a:ea typeface="Calibri" pitchFamily="34" charset="-122"/>
                <a:cs typeface="Calibri" pitchFamily="34" charset="-120"/>
              </a:rPr>
              <a:t>Servers</a:t>
            </a:r>
            <a:endParaRPr lang="en-US" sz="1050" dirty="0"/>
          </a:p>
        </p:txBody>
      </p:sp>
      <p:sp>
        <p:nvSpPr>
          <p:cNvPr id="24" name="Shape 17"/>
          <p:cNvSpPr/>
          <p:nvPr/>
        </p:nvSpPr>
        <p:spPr>
          <a:xfrm>
            <a:off x="3937635" y="3840480"/>
            <a:ext cx="914400" cy="201168"/>
          </a:xfrm>
          <a:prstGeom prst="roundRect">
            <a:avLst>
              <a:gd name="adj" fmla="val 50000"/>
            </a:avLst>
          </a:prstGeom>
          <a:solidFill>
            <a:srgbClr val="E3202A"/>
          </a:solidFill>
          <a:ln w="12700">
            <a:solidFill>
              <a:srgbClr val="E3202A"/>
            </a:solidFill>
            <a:prstDash val="solid"/>
          </a:ln>
        </p:spPr>
      </p:sp>
      <p:sp>
        <p:nvSpPr>
          <p:cNvPr id="25" name="Text 18"/>
          <p:cNvSpPr txBox="1"/>
          <p:nvPr/>
        </p:nvSpPr>
        <p:spPr>
          <a:xfrm>
            <a:off x="3937635" y="3840480"/>
            <a:ext cx="91440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Falcon sensor</a:t>
            </a:r>
            <a:endParaRPr lang="en-US" sz="800" dirty="0"/>
          </a:p>
        </p:txBody>
      </p:sp>
      <p:sp>
        <p:nvSpPr>
          <p:cNvPr id="26" name="Shape 19"/>
          <p:cNvSpPr/>
          <p:nvPr/>
        </p:nvSpPr>
        <p:spPr>
          <a:xfrm>
            <a:off x="5960745" y="2423160"/>
            <a:ext cx="0" cy="411480"/>
          </a:xfrm>
          <a:prstGeom prst="line">
            <a:avLst/>
          </a:prstGeom>
          <a:noFill/>
          <a:ln w="19050">
            <a:solidFill>
              <a:srgbClr val="E3202A"/>
            </a:solidFill>
            <a:prstDash val="solid"/>
          </a:ln>
        </p:spPr>
      </p:sp>
      <p:sp>
        <p:nvSpPr>
          <p:cNvPr id="27" name="Shape 20"/>
          <p:cNvSpPr/>
          <p:nvPr/>
        </p:nvSpPr>
        <p:spPr>
          <a:xfrm>
            <a:off x="5246370" y="2834640"/>
            <a:ext cx="1428750" cy="1234440"/>
          </a:xfrm>
          <a:prstGeom prst="roundRect">
            <a:avLst>
              <a:gd name="adj" fmla="val 5926"/>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pic>
        <p:nvPicPr>
          <p:cNvPr id="28" name="Image 5" descr="preencoded.png"/>
          <p:cNvPicPr>
            <a:picLocks noChangeAspect="1"/>
          </p:cNvPicPr>
          <p:nvPr/>
        </p:nvPicPr>
        <p:blipFill>
          <a:blip r:embed="rId8"/>
          <a:stretch>
            <a:fillRect/>
          </a:stretch>
        </p:blipFill>
        <p:spPr>
          <a:xfrm>
            <a:off x="5777865" y="2971800"/>
            <a:ext cx="365760" cy="365760"/>
          </a:xfrm>
          <a:prstGeom prst="rect">
            <a:avLst/>
          </a:prstGeom>
        </p:spPr>
      </p:pic>
      <p:sp>
        <p:nvSpPr>
          <p:cNvPr id="29" name="Text 21"/>
          <p:cNvSpPr txBox="1"/>
          <p:nvPr/>
        </p:nvSpPr>
        <p:spPr>
          <a:xfrm>
            <a:off x="5337810" y="3383280"/>
            <a:ext cx="1245870" cy="420624"/>
          </a:xfrm>
          <a:prstGeom prst="rect">
            <a:avLst/>
          </a:prstGeom>
          <a:noFill/>
          <a:ln/>
        </p:spPr>
        <p:txBody>
          <a:bodyPr wrap="square" lIns="0" tIns="0" rIns="0" bIns="0" rtlCol="0" anchor="ctr"/>
          <a:lstStyle/>
          <a:p>
            <a:pPr marL="0" indent="0" algn="ctr">
              <a:buNone/>
            </a:pPr>
            <a:r>
              <a:rPr lang="en-US" sz="1050" b="1" dirty="0">
                <a:solidFill>
                  <a:srgbClr val="151A21"/>
                </a:solidFill>
                <a:latin typeface="Calibri" pitchFamily="34" charset="0"/>
                <a:ea typeface="Calibri" pitchFamily="34" charset="-122"/>
                <a:cs typeface="Calibri" pitchFamily="34" charset="-120"/>
              </a:rPr>
              <a:t>POS &amp; payment terminals</a:t>
            </a:r>
            <a:endParaRPr lang="en-US" sz="1050" dirty="0"/>
          </a:p>
        </p:txBody>
      </p:sp>
      <p:sp>
        <p:nvSpPr>
          <p:cNvPr id="30" name="Shape 22"/>
          <p:cNvSpPr/>
          <p:nvPr/>
        </p:nvSpPr>
        <p:spPr>
          <a:xfrm>
            <a:off x="5503545" y="3840480"/>
            <a:ext cx="914400" cy="201168"/>
          </a:xfrm>
          <a:prstGeom prst="roundRect">
            <a:avLst>
              <a:gd name="adj" fmla="val 50000"/>
            </a:avLst>
          </a:prstGeom>
          <a:solidFill>
            <a:srgbClr val="E3202A"/>
          </a:solidFill>
          <a:ln w="12700">
            <a:solidFill>
              <a:srgbClr val="E3202A"/>
            </a:solidFill>
            <a:prstDash val="solid"/>
          </a:ln>
        </p:spPr>
      </p:sp>
      <p:sp>
        <p:nvSpPr>
          <p:cNvPr id="31" name="Text 23"/>
          <p:cNvSpPr txBox="1"/>
          <p:nvPr/>
        </p:nvSpPr>
        <p:spPr>
          <a:xfrm>
            <a:off x="5503545" y="3840480"/>
            <a:ext cx="914400" cy="201168"/>
          </a:xfrm>
          <a:prstGeom prst="rect">
            <a:avLst/>
          </a:prstGeom>
          <a:noFill/>
          <a:ln/>
        </p:spPr>
        <p:txBody>
          <a:bodyPr wrap="square" lIns="0" tIns="0" rIns="0" bIns="0" rtlCol="0" anchor="ctr"/>
          <a:lstStyle/>
          <a:p>
            <a:pPr marL="0" indent="0" algn="ctr">
              <a:buNone/>
            </a:pPr>
            <a:r>
              <a:rPr lang="en-US" sz="800" b="1" dirty="0">
                <a:solidFill>
                  <a:srgbClr val="FFFFFF"/>
                </a:solidFill>
                <a:latin typeface="Calibri" pitchFamily="34" charset="0"/>
                <a:ea typeface="Calibri" pitchFamily="34" charset="-122"/>
                <a:cs typeface="Calibri" pitchFamily="34" charset="-120"/>
              </a:rPr>
              <a:t>Falcon sensor</a:t>
            </a:r>
            <a:endParaRPr lang="en-US" sz="800" dirty="0"/>
          </a:p>
        </p:txBody>
      </p:sp>
      <p:sp>
        <p:nvSpPr>
          <p:cNvPr id="32" name="Shape 24"/>
          <p:cNvSpPr/>
          <p:nvPr/>
        </p:nvSpPr>
        <p:spPr>
          <a:xfrm>
            <a:off x="548640" y="4343400"/>
            <a:ext cx="6126480" cy="713232"/>
          </a:xfrm>
          <a:prstGeom prst="roundRect">
            <a:avLst>
              <a:gd name="adj" fmla="val 10256"/>
            </a:avLst>
          </a:prstGeom>
          <a:solidFill>
            <a:srgbClr val="F3F5F8"/>
          </a:solidFill>
          <a:ln w="9525">
            <a:solidFill>
              <a:srgbClr val="DCE1E7"/>
            </a:solidFill>
            <a:prstDash val="solid"/>
          </a:ln>
        </p:spPr>
      </p:sp>
      <p:sp>
        <p:nvSpPr>
          <p:cNvPr id="33" name="Shape 25"/>
          <p:cNvSpPr/>
          <p:nvPr/>
        </p:nvSpPr>
        <p:spPr>
          <a:xfrm>
            <a:off x="713232" y="4471416"/>
            <a:ext cx="457200" cy="457200"/>
          </a:xfrm>
          <a:prstGeom prst="roundRect">
            <a:avLst>
              <a:gd name="adj" fmla="val 20000"/>
            </a:avLst>
          </a:prstGeom>
          <a:solidFill>
            <a:srgbClr val="EAEEF3"/>
          </a:solidFill>
          <a:ln w="12700">
            <a:solidFill>
              <a:srgbClr val="EAEEF3"/>
            </a:solidFill>
            <a:prstDash val="solid"/>
          </a:ln>
        </p:spPr>
      </p:sp>
      <p:pic>
        <p:nvPicPr>
          <p:cNvPr id="34" name="Image 6" descr="preencoded.png"/>
          <p:cNvPicPr>
            <a:picLocks noChangeAspect="1"/>
          </p:cNvPicPr>
          <p:nvPr/>
        </p:nvPicPr>
        <p:blipFill>
          <a:blip r:embed="rId9"/>
          <a:stretch>
            <a:fillRect/>
          </a:stretch>
        </p:blipFill>
        <p:spPr>
          <a:xfrm>
            <a:off x="813816" y="4572000"/>
            <a:ext cx="256032" cy="256032"/>
          </a:xfrm>
          <a:prstGeom prst="rect">
            <a:avLst/>
          </a:prstGeom>
        </p:spPr>
      </p:pic>
      <p:sp>
        <p:nvSpPr>
          <p:cNvPr id="35" name="Text 26"/>
          <p:cNvSpPr txBox="1"/>
          <p:nvPr/>
        </p:nvSpPr>
        <p:spPr>
          <a:xfrm>
            <a:off x="1325880" y="4343400"/>
            <a:ext cx="5212080" cy="713232"/>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Nessus (existing)</a:t>
            </a:r>
            <a:endParaRPr lang="en-US" sz="1250" dirty="0"/>
          </a:p>
          <a:p>
            <a:pPr marL="0" indent="0">
              <a:buNone/>
            </a:pPr>
            <a:r>
              <a:rPr lang="en-US" sz="1100" dirty="0">
                <a:solidFill>
                  <a:srgbClr val="5E6978"/>
                </a:solidFill>
                <a:latin typeface="Calibri" pitchFamily="34" charset="0"/>
                <a:ea typeface="Calibri" pitchFamily="34" charset="-122"/>
                <a:cs typeface="Calibri" pitchFamily="34" charset="-120"/>
              </a:rPr>
              <a:t>Periodic vulnerability and compliance scans, e.g. network devices and audits</a:t>
            </a:r>
            <a:endParaRPr lang="en-US" sz="1250" dirty="0"/>
          </a:p>
        </p:txBody>
      </p:sp>
      <p:sp>
        <p:nvSpPr>
          <p:cNvPr id="36" name="Shape 27"/>
          <p:cNvSpPr/>
          <p:nvPr/>
        </p:nvSpPr>
        <p:spPr>
          <a:xfrm>
            <a:off x="548640" y="5166360"/>
            <a:ext cx="6126480" cy="713232"/>
          </a:xfrm>
          <a:prstGeom prst="roundRect">
            <a:avLst>
              <a:gd name="adj" fmla="val 10256"/>
            </a:avLst>
          </a:prstGeom>
          <a:solidFill>
            <a:srgbClr val="F3F5F8"/>
          </a:solidFill>
          <a:ln w="9525">
            <a:solidFill>
              <a:srgbClr val="DCE1E7"/>
            </a:solidFill>
            <a:prstDash val="solid"/>
          </a:ln>
        </p:spPr>
      </p:sp>
      <p:sp>
        <p:nvSpPr>
          <p:cNvPr id="37" name="Shape 28"/>
          <p:cNvSpPr/>
          <p:nvPr/>
        </p:nvSpPr>
        <p:spPr>
          <a:xfrm>
            <a:off x="713232" y="5294376"/>
            <a:ext cx="457200" cy="457200"/>
          </a:xfrm>
          <a:prstGeom prst="roundRect">
            <a:avLst>
              <a:gd name="adj" fmla="val 20000"/>
            </a:avLst>
          </a:prstGeom>
          <a:solidFill>
            <a:srgbClr val="FDECEC"/>
          </a:solidFill>
          <a:ln w="12700">
            <a:solidFill>
              <a:srgbClr val="FDECEC"/>
            </a:solidFill>
            <a:prstDash val="solid"/>
          </a:ln>
        </p:spPr>
      </p:sp>
      <p:pic>
        <p:nvPicPr>
          <p:cNvPr id="38" name="Image 7" descr="preencoded.png"/>
          <p:cNvPicPr>
            <a:picLocks noChangeAspect="1"/>
          </p:cNvPicPr>
          <p:nvPr/>
        </p:nvPicPr>
        <p:blipFill>
          <a:blip r:embed="rId10"/>
          <a:stretch>
            <a:fillRect/>
          </a:stretch>
        </p:blipFill>
        <p:spPr>
          <a:xfrm>
            <a:off x="813816" y="5394960"/>
            <a:ext cx="256032" cy="256032"/>
          </a:xfrm>
          <a:prstGeom prst="rect">
            <a:avLst/>
          </a:prstGeom>
        </p:spPr>
      </p:pic>
      <p:sp>
        <p:nvSpPr>
          <p:cNvPr id="39" name="Text 29"/>
          <p:cNvSpPr txBox="1"/>
          <p:nvPr/>
        </p:nvSpPr>
        <p:spPr>
          <a:xfrm>
            <a:off x="1325880" y="5166360"/>
            <a:ext cx="5212080" cy="713232"/>
          </a:xfrm>
          <a:prstGeom prst="rect">
            <a:avLst/>
          </a:prstGeom>
          <a:noFill/>
          <a:ln/>
        </p:spPr>
        <p:txBody>
          <a:bodyPr wrap="square" lIns="0" tIns="0" rIns="0" bIns="0" rtlCol="0" anchor="ctr"/>
          <a:lstStyle/>
          <a:p>
            <a:pPr marL="0" indent="0">
              <a:buNone/>
            </a:pPr>
            <a:r>
              <a:rPr lang="en-US" sz="1250" b="1" dirty="0">
                <a:solidFill>
                  <a:srgbClr val="151A21"/>
                </a:solidFill>
                <a:latin typeface="Calibri" pitchFamily="34" charset="0"/>
                <a:ea typeface="Calibri" pitchFamily="34" charset="-122"/>
                <a:cs typeface="Calibri" pitchFamily="34" charset="-120"/>
              </a:rPr>
              <a:t>SECUKOREA</a:t>
            </a:r>
            <a:endParaRPr lang="en-US" sz="1250" dirty="0"/>
          </a:p>
          <a:p>
            <a:pPr marL="0" indent="0">
              <a:buNone/>
            </a:pPr>
            <a:r>
              <a:rPr lang="en-US" sz="1100" dirty="0">
                <a:solidFill>
                  <a:srgbClr val="5E6978"/>
                </a:solidFill>
                <a:latin typeface="Calibri" pitchFamily="34" charset="0"/>
                <a:ea typeface="Calibri" pitchFamily="34" charset="-122"/>
                <a:cs typeface="Calibri" pitchFamily="34" charset="-120"/>
              </a:rPr>
              <a:t>24/7 remote support, dedicated engineer and regular reporting</a:t>
            </a:r>
            <a:endParaRPr lang="en-US" sz="1250" dirty="0"/>
          </a:p>
        </p:txBody>
      </p:sp>
      <p:sp>
        <p:nvSpPr>
          <p:cNvPr id="40" name="Shape 30"/>
          <p:cNvSpPr/>
          <p:nvPr/>
        </p:nvSpPr>
        <p:spPr>
          <a:xfrm>
            <a:off x="6995160" y="1554480"/>
            <a:ext cx="4647895" cy="1874520"/>
          </a:xfrm>
          <a:prstGeom prst="roundRect">
            <a:avLst>
              <a:gd name="adj" fmla="val 4878"/>
            </a:avLst>
          </a:prstGeom>
          <a:solidFill>
            <a:srgbClr val="FDECEC"/>
          </a:solidFill>
          <a:ln w="15875">
            <a:solidFill>
              <a:srgbClr val="E3202A"/>
            </a:solidFill>
            <a:prstDash val="solid"/>
          </a:ln>
        </p:spPr>
      </p:sp>
      <p:sp>
        <p:nvSpPr>
          <p:cNvPr id="41" name="Text 31"/>
          <p:cNvSpPr txBox="1"/>
          <p:nvPr/>
        </p:nvSpPr>
        <p:spPr>
          <a:xfrm>
            <a:off x="7269480" y="1737360"/>
            <a:ext cx="4099255" cy="237744"/>
          </a:xfrm>
          <a:prstGeom prst="rect">
            <a:avLst/>
          </a:prstGeom>
          <a:noFill/>
          <a:ln/>
        </p:spPr>
        <p:txBody>
          <a:bodyPr wrap="square" lIns="0" tIns="0" rIns="0" bIns="0" rtlCol="0" anchor="t"/>
          <a:lstStyle/>
          <a:p>
            <a:pPr marL="0" indent="0">
              <a:buNone/>
            </a:pPr>
            <a:r>
              <a:rPr lang="en-US" sz="1000" b="1" kern="0" spc="150" dirty="0">
                <a:solidFill>
                  <a:srgbClr val="E3202A"/>
                </a:solidFill>
                <a:latin typeface="Calibri" pitchFamily="34" charset="0"/>
                <a:ea typeface="Calibri" pitchFamily="34" charset="-122"/>
                <a:cs typeface="Calibri" pitchFamily="34" charset="-120"/>
              </a:rPr>
              <a:t>OUR RECOMMENDATION</a:t>
            </a:r>
            <a:endParaRPr lang="en-US" sz="1000" dirty="0"/>
          </a:p>
        </p:txBody>
      </p:sp>
      <p:sp>
        <p:nvSpPr>
          <p:cNvPr id="42" name="Text 32"/>
          <p:cNvSpPr txBox="1"/>
          <p:nvPr/>
        </p:nvSpPr>
        <p:spPr>
          <a:xfrm>
            <a:off x="7269480" y="1993392"/>
            <a:ext cx="4099255" cy="329184"/>
          </a:xfrm>
          <a:prstGeom prst="rect">
            <a:avLst/>
          </a:prstGeom>
          <a:noFill/>
          <a:ln/>
        </p:spPr>
        <p:txBody>
          <a:bodyPr wrap="square" lIns="0" tIns="0" rIns="0" bIns="0" rtlCol="0" anchor="t"/>
          <a:lstStyle/>
          <a:p>
            <a:pPr marL="0" indent="0">
              <a:buNone/>
            </a:pPr>
            <a:r>
              <a:rPr lang="en-US" sz="1700" b="1" dirty="0">
                <a:solidFill>
                  <a:srgbClr val="151A21"/>
                </a:solidFill>
                <a:latin typeface="Arial" pitchFamily="34" charset="0"/>
                <a:ea typeface="Arial" pitchFamily="34" charset="-122"/>
                <a:cs typeface="Arial" pitchFamily="34" charset="-120"/>
              </a:rPr>
              <a:t>Add Falcon to Every Endpoint</a:t>
            </a:r>
            <a:endParaRPr lang="en-US" sz="1700" dirty="0"/>
          </a:p>
        </p:txBody>
      </p:sp>
      <p:sp>
        <p:nvSpPr>
          <p:cNvPr id="43" name="Text 33"/>
          <p:cNvSpPr txBox="1"/>
          <p:nvPr/>
        </p:nvSpPr>
        <p:spPr>
          <a:xfrm>
            <a:off x="7269480" y="2359152"/>
            <a:ext cx="4099255" cy="658368"/>
          </a:xfrm>
          <a:prstGeom prst="rect">
            <a:avLst/>
          </a:prstGeom>
          <a:noFill/>
          <a:ln/>
        </p:spPr>
        <p:txBody>
          <a:bodyPr wrap="square" lIns="0" tIns="0" rIns="0" bIns="0" rtlCol="0" anchor="t"/>
          <a:lstStyle/>
          <a:p>
            <a:pPr marL="0" indent="0">
              <a:buNone/>
            </a:pPr>
            <a:r>
              <a:rPr lang="en-US" sz="1100" dirty="0">
                <a:solidFill>
                  <a:srgbClr val="151A21"/>
                </a:solidFill>
                <a:latin typeface="Calibri" pitchFamily="34" charset="0"/>
                <a:ea typeface="Calibri" pitchFamily="34" charset="-122"/>
                <a:cs typeface="Calibri" pitchFamily="34" charset="-120"/>
              </a:rPr>
              <a:t>Deploy Falcon on all endpoints for real-time protection. Keep Nessus for periodic audits and network-device scanning.</a:t>
            </a:r>
            <a:endParaRPr lang="en-US" sz="1100" dirty="0"/>
          </a:p>
        </p:txBody>
      </p:sp>
      <p:sp>
        <p:nvSpPr>
          <p:cNvPr id="44" name="Text 34"/>
          <p:cNvSpPr txBox="1"/>
          <p:nvPr/>
        </p:nvSpPr>
        <p:spPr>
          <a:xfrm>
            <a:off x="7269480" y="3035808"/>
            <a:ext cx="4099255" cy="292608"/>
          </a:xfrm>
          <a:prstGeom prst="rect">
            <a:avLst/>
          </a:prstGeom>
          <a:noFill/>
          <a:ln/>
        </p:spPr>
        <p:txBody>
          <a:bodyPr wrap="square" lIns="0" tIns="0" rIns="0" bIns="0" rtlCol="0" anchor="t"/>
          <a:lstStyle/>
          <a:p>
            <a:pPr marL="0" indent="0">
              <a:buNone/>
            </a:pPr>
            <a:r>
              <a:rPr lang="en-US" sz="1050" b="1" dirty="0">
                <a:solidFill>
                  <a:srgbClr val="E3202A"/>
                </a:solidFill>
                <a:latin typeface="Calibri" pitchFamily="34" charset="0"/>
                <a:ea typeface="Calibri" pitchFamily="34" charset="-122"/>
                <a:cs typeface="Calibri" pitchFamily="34" charset="-120"/>
              </a:rPr>
              <a:t>Benefit: </a:t>
            </a:r>
            <a:r>
              <a:rPr lang="en-US" sz="1050" dirty="0">
                <a:solidFill>
                  <a:srgbClr val="5E6978"/>
                </a:solidFill>
                <a:latin typeface="Calibri" pitchFamily="34" charset="0"/>
                <a:ea typeface="Calibri" pitchFamily="34" charset="-122"/>
                <a:cs typeface="Calibri" pitchFamily="34" charset="-120"/>
              </a:rPr>
              <a:t>Fastest path to protection; no disruption to existing processes.</a:t>
            </a:r>
            <a:endParaRPr lang="en-US" sz="1050" dirty="0"/>
          </a:p>
        </p:txBody>
      </p:sp>
      <p:sp>
        <p:nvSpPr>
          <p:cNvPr id="45" name="Shape 35"/>
          <p:cNvSpPr/>
          <p:nvPr/>
        </p:nvSpPr>
        <p:spPr>
          <a:xfrm>
            <a:off x="6995160" y="3566160"/>
            <a:ext cx="4647895" cy="1874520"/>
          </a:xfrm>
          <a:prstGeom prst="roundRect">
            <a:avLst>
              <a:gd name="adj" fmla="val 4878"/>
            </a:avLst>
          </a:prstGeom>
          <a:solidFill>
            <a:srgbClr val="FFFFFF"/>
          </a:solidFill>
          <a:ln w="9525">
            <a:solidFill>
              <a:srgbClr val="DCE1E7"/>
            </a:solidFill>
            <a:prstDash val="solid"/>
          </a:ln>
        </p:spPr>
      </p:sp>
      <p:sp>
        <p:nvSpPr>
          <p:cNvPr id="46" name="Text 36"/>
          <p:cNvSpPr txBox="1"/>
          <p:nvPr/>
        </p:nvSpPr>
        <p:spPr>
          <a:xfrm>
            <a:off x="7269480" y="3749040"/>
            <a:ext cx="4099255" cy="237744"/>
          </a:xfrm>
          <a:prstGeom prst="rect">
            <a:avLst/>
          </a:prstGeom>
          <a:noFill/>
          <a:ln/>
        </p:spPr>
        <p:txBody>
          <a:bodyPr wrap="square" lIns="0" tIns="0" rIns="0" bIns="0" rtlCol="0" anchor="t"/>
          <a:lstStyle/>
          <a:p>
            <a:pPr marL="0" indent="0">
              <a:buNone/>
            </a:pPr>
            <a:r>
              <a:rPr lang="en-US" sz="1000" b="1" kern="0" spc="150" dirty="0">
                <a:solidFill>
                  <a:srgbClr val="5D6B7E"/>
                </a:solidFill>
                <a:latin typeface="Calibri" pitchFamily="34" charset="0"/>
                <a:ea typeface="Calibri" pitchFamily="34" charset="-122"/>
                <a:cs typeface="Calibri" pitchFamily="34" charset="-120"/>
              </a:rPr>
              <a:t>WHAT STAYS THE SAME</a:t>
            </a:r>
            <a:endParaRPr lang="en-US" sz="1000" dirty="0"/>
          </a:p>
        </p:txBody>
      </p:sp>
      <p:sp>
        <p:nvSpPr>
          <p:cNvPr id="47" name="Text 37"/>
          <p:cNvSpPr txBox="1"/>
          <p:nvPr/>
        </p:nvSpPr>
        <p:spPr>
          <a:xfrm>
            <a:off x="7269480" y="4005072"/>
            <a:ext cx="4099255" cy="329184"/>
          </a:xfrm>
          <a:prstGeom prst="rect">
            <a:avLst/>
          </a:prstGeom>
          <a:noFill/>
          <a:ln/>
        </p:spPr>
        <p:txBody>
          <a:bodyPr wrap="square" lIns="0" tIns="0" rIns="0" bIns="0" rtlCol="0" anchor="t"/>
          <a:lstStyle/>
          <a:p>
            <a:pPr marL="0" indent="0">
              <a:buNone/>
            </a:pPr>
            <a:r>
              <a:rPr lang="en-US" sz="1700" b="1" dirty="0">
                <a:solidFill>
                  <a:srgbClr val="151A21"/>
                </a:solidFill>
                <a:latin typeface="Arial" pitchFamily="34" charset="0"/>
                <a:ea typeface="Arial" pitchFamily="34" charset="-122"/>
                <a:cs typeface="Arial" pitchFamily="34" charset="-120"/>
              </a:rPr>
              <a:t>Nessus Keeps Its Role</a:t>
            </a:r>
            <a:endParaRPr lang="en-US" sz="1700" dirty="0"/>
          </a:p>
        </p:txBody>
      </p:sp>
      <p:sp>
        <p:nvSpPr>
          <p:cNvPr id="48" name="Text 38"/>
          <p:cNvSpPr txBox="1"/>
          <p:nvPr/>
        </p:nvSpPr>
        <p:spPr>
          <a:xfrm>
            <a:off x="7269480" y="4370832"/>
            <a:ext cx="4099255" cy="658368"/>
          </a:xfrm>
          <a:prstGeom prst="rect">
            <a:avLst/>
          </a:prstGeom>
          <a:noFill/>
          <a:ln/>
        </p:spPr>
        <p:txBody>
          <a:bodyPr wrap="square" lIns="0" tIns="0" rIns="0" bIns="0" rtlCol="0" anchor="t"/>
          <a:lstStyle/>
          <a:p>
            <a:pPr marL="0" indent="0">
              <a:buNone/>
            </a:pPr>
            <a:r>
              <a:rPr lang="en-US" sz="1100" dirty="0">
                <a:solidFill>
                  <a:srgbClr val="151A21"/>
                </a:solidFill>
                <a:latin typeface="Calibri" pitchFamily="34" charset="0"/>
                <a:ea typeface="Calibri" pitchFamily="34" charset="-122"/>
                <a:cs typeface="Calibri" pitchFamily="34" charset="-120"/>
              </a:rPr>
              <a:t>Existing Nessus scans, audit processes and network-device checks continue unchanged. Falcon works alongside them — nothing is removed or replaced.</a:t>
            </a:r>
            <a:endParaRPr lang="en-US" sz="1100" dirty="0"/>
          </a:p>
        </p:txBody>
      </p:sp>
      <p:sp>
        <p:nvSpPr>
          <p:cNvPr id="49" name="Text 39"/>
          <p:cNvSpPr txBox="1"/>
          <p:nvPr/>
        </p:nvSpPr>
        <p:spPr>
          <a:xfrm>
            <a:off x="7269480" y="5047488"/>
            <a:ext cx="4099255" cy="292608"/>
          </a:xfrm>
          <a:prstGeom prst="rect">
            <a:avLst/>
          </a:prstGeom>
          <a:noFill/>
          <a:ln/>
        </p:spPr>
        <p:txBody>
          <a:bodyPr wrap="square" lIns="0" tIns="0" rIns="0" bIns="0" rtlCol="0" anchor="t"/>
          <a:lstStyle/>
          <a:p>
            <a:pPr marL="0" indent="0">
              <a:buNone/>
            </a:pPr>
            <a:r>
              <a:rPr lang="en-US" sz="1050" b="1" dirty="0">
                <a:solidFill>
                  <a:srgbClr val="5D6B7E"/>
                </a:solidFill>
                <a:latin typeface="Calibri" pitchFamily="34" charset="0"/>
                <a:ea typeface="Calibri" pitchFamily="34" charset="-122"/>
                <a:cs typeface="Calibri" pitchFamily="34" charset="-120"/>
              </a:rPr>
              <a:t>Benefit: </a:t>
            </a:r>
            <a:r>
              <a:rPr lang="en-US" sz="1050" dirty="0">
                <a:solidFill>
                  <a:srgbClr val="5E6978"/>
                </a:solidFill>
                <a:latin typeface="Calibri" pitchFamily="34" charset="0"/>
                <a:ea typeface="Calibri" pitchFamily="34" charset="-122"/>
                <a:cs typeface="Calibri" pitchFamily="34" charset="-120"/>
              </a:rPr>
              <a:t>Real-time protection added without changing what already works.</a:t>
            </a:r>
            <a:endParaRPr lang="en-US" sz="1050" dirty="0"/>
          </a:p>
        </p:txBody>
      </p:sp>
      <p:sp>
        <p:nvSpPr>
          <p:cNvPr id="50" name="Text 40"/>
          <p:cNvSpPr txBox="1"/>
          <p:nvPr/>
        </p:nvSpPr>
        <p:spPr>
          <a:xfrm>
            <a:off x="6995160" y="5596128"/>
            <a:ext cx="4647895" cy="384048"/>
          </a:xfrm>
          <a:prstGeom prst="rect">
            <a:avLst/>
          </a:prstGeom>
          <a:noFill/>
          <a:ln/>
        </p:spPr>
        <p:txBody>
          <a:bodyPr wrap="square" lIns="0" tIns="0" rIns="0" bIns="0" rtlCol="0" anchor="ctr"/>
          <a:lstStyle/>
          <a:p>
            <a:pPr marL="0" indent="0">
              <a:buNone/>
            </a:pPr>
            <a:r>
              <a:rPr lang="en-US" sz="1100" b="1" i="1" dirty="0">
                <a:solidFill>
                  <a:srgbClr val="151A21"/>
                </a:solidFill>
                <a:latin typeface="Calibri" pitchFamily="34" charset="0"/>
                <a:ea typeface="Calibri" pitchFamily="34" charset="-122"/>
                <a:cs typeface="Calibri" pitchFamily="34" charset="-120"/>
              </a:rPr>
              <a:t>Nessus finds weaknesses. Falcon stops attacks. Together, they cover the resort end to end.</a:t>
            </a:r>
            <a:endParaRPr lang="en-US" sz="1100" dirty="0"/>
          </a:p>
        </p:txBody>
      </p:sp>
      <p:sp>
        <p:nvSpPr>
          <p:cNvPr id="51" name="Text 41"/>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15   |   Nessus vs. CrowdStrike Falcon Platform  ·  Proposal for The Westin Resort Guam</a:t>
            </a:r>
            <a:endParaRPr lang="en-US" sz="900" dirty="0"/>
          </a:p>
        </p:txBody>
      </p:sp>
      <p:pic>
        <p:nvPicPr>
          <p:cNvPr id="52" name="Image 8" descr="/private/tmp/claude-501/-Users-jihanvin-Desktop-NIVNAH-AI/16a96446-d9b3-40e2-af9e-a3011ae3db84/scratchpad/assets/secukorea_dark.png"/>
          <p:cNvPicPr>
            <a:picLocks noChangeAspect="1"/>
          </p:cNvPicPr>
          <p:nvPr/>
        </p:nvPicPr>
        <p:blipFill>
          <a:blip r:embed="rId11"/>
          <a:stretch>
            <a:fillRect/>
          </a:stretch>
        </p:blipFill>
        <p:spPr>
          <a:xfrm>
            <a:off x="10661904" y="6400800"/>
            <a:ext cx="978408" cy="23317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14   TECHNICAL SUPPORT</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SECUKOREA 24/7 Technical Support</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373380" y="2249424"/>
            <a:ext cx="917448" cy="566928"/>
          </a:xfrm>
          <a:prstGeom prst="roundRect">
            <a:avLst>
              <a:gd name="adj" fmla="val 16129"/>
            </a:avLst>
          </a:prstGeom>
          <a:solidFill>
            <a:srgbClr val="EAEEF3"/>
          </a:solidFill>
          <a:ln w="12700">
            <a:solidFill>
              <a:srgbClr val="EAEEF3"/>
            </a:solidFill>
            <a:prstDash val="solid"/>
          </a:ln>
        </p:spPr>
      </p:sp>
      <p:pic>
        <p:nvPicPr>
          <p:cNvPr id="6" name="Image 1" descr="preencoded.png"/>
          <p:cNvPicPr>
            <a:picLocks noChangeAspect="1"/>
          </p:cNvPicPr>
          <p:nvPr/>
        </p:nvPicPr>
        <p:blipFill>
          <a:blip r:embed="rId4"/>
          <a:stretch>
            <a:fillRect/>
          </a:stretch>
        </p:blipFill>
        <p:spPr>
          <a:xfrm>
            <a:off x="673364" y="2374148"/>
            <a:ext cx="317480" cy="317480"/>
          </a:xfrm>
          <a:prstGeom prst="rect">
            <a:avLst/>
          </a:prstGeom>
        </p:spPr>
      </p:pic>
      <p:sp>
        <p:nvSpPr>
          <p:cNvPr id="7" name="Text 3"/>
          <p:cNvSpPr txBox="1"/>
          <p:nvPr/>
        </p:nvSpPr>
        <p:spPr>
          <a:xfrm>
            <a:off x="1465843" y="2231136"/>
            <a:ext cx="576072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24/7 Remote Support for Overseas Sites</a:t>
            </a:r>
            <a:endParaRPr lang="en-US" sz="1500" dirty="0"/>
          </a:p>
        </p:txBody>
      </p:sp>
      <p:sp>
        <p:nvSpPr>
          <p:cNvPr id="8" name="Text 4"/>
          <p:cNvSpPr txBox="1"/>
          <p:nvPr/>
        </p:nvSpPr>
        <p:spPr>
          <a:xfrm>
            <a:off x="1465843" y="2578608"/>
            <a:ext cx="5760720" cy="621792"/>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Round-the-clock remote support built for overseas operations — help is available regardless of time zone or local business hours.</a:t>
            </a:r>
            <a:endParaRPr lang="en-US" sz="1200" dirty="0"/>
          </a:p>
        </p:txBody>
      </p:sp>
      <p:sp>
        <p:nvSpPr>
          <p:cNvPr id="9" name="Shape 5"/>
          <p:cNvSpPr/>
          <p:nvPr/>
        </p:nvSpPr>
        <p:spPr>
          <a:xfrm>
            <a:off x="373380" y="3346704"/>
            <a:ext cx="917448" cy="566928"/>
          </a:xfrm>
          <a:prstGeom prst="roundRect">
            <a:avLst>
              <a:gd name="adj" fmla="val 16129"/>
            </a:avLst>
          </a:prstGeom>
          <a:solidFill>
            <a:srgbClr val="EAEEF3"/>
          </a:solidFill>
          <a:ln w="12700">
            <a:solidFill>
              <a:srgbClr val="EAEEF3"/>
            </a:solidFill>
            <a:prstDash val="solid"/>
          </a:ln>
        </p:spPr>
      </p:sp>
      <p:pic>
        <p:nvPicPr>
          <p:cNvPr id="10" name="Image 2" descr="preencoded.png"/>
          <p:cNvPicPr>
            <a:picLocks noChangeAspect="1"/>
          </p:cNvPicPr>
          <p:nvPr/>
        </p:nvPicPr>
        <p:blipFill>
          <a:blip r:embed="rId5"/>
          <a:stretch>
            <a:fillRect/>
          </a:stretch>
        </p:blipFill>
        <p:spPr>
          <a:xfrm>
            <a:off x="673364" y="3471428"/>
            <a:ext cx="317480" cy="317480"/>
          </a:xfrm>
          <a:prstGeom prst="rect">
            <a:avLst/>
          </a:prstGeom>
        </p:spPr>
      </p:pic>
      <p:sp>
        <p:nvSpPr>
          <p:cNvPr id="11" name="Text 6"/>
          <p:cNvSpPr txBox="1"/>
          <p:nvPr/>
        </p:nvSpPr>
        <p:spPr>
          <a:xfrm>
            <a:off x="1465843" y="3328416"/>
            <a:ext cx="576072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Dedicated Engineer Matching</a:t>
            </a:r>
            <a:endParaRPr lang="en-US" sz="1500" dirty="0"/>
          </a:p>
        </p:txBody>
      </p:sp>
      <p:sp>
        <p:nvSpPr>
          <p:cNvPr id="12" name="Text 7"/>
          <p:cNvSpPr txBox="1"/>
          <p:nvPr/>
        </p:nvSpPr>
        <p:spPr>
          <a:xfrm>
            <a:off x="1465843" y="3675888"/>
            <a:ext cx="5760720" cy="621792"/>
          </a:xfrm>
          <a:prstGeom prst="rect">
            <a:avLst/>
          </a:prstGeom>
          <a:noFill/>
          <a:ln/>
        </p:spPr>
        <p:txBody>
          <a:bodyPr wrap="square" lIns="0" tIns="0" rIns="0" bIns="0" rtlCol="0" anchor="t"/>
          <a:lstStyle/>
          <a:p>
            <a:pPr marL="0" indent="0">
              <a:buNone/>
            </a:pPr>
            <a:r>
              <a:rPr lang="en-US" sz="1200">
                <a:solidFill>
                  <a:srgbClr val="5E6978"/>
                </a:solidFill>
                <a:latin typeface="Calibri" pitchFamily="34" charset="0"/>
                <a:ea typeface="Calibri" pitchFamily="34" charset="-122"/>
                <a:cs typeface="Calibri" pitchFamily="34" charset="-120"/>
              </a:rPr>
              <a:t>A named SECUKOREA engineer works as an extension of your IT team — learning the resort's systems in depth and handling day-to-day requests quickly and consistently.</a:t>
            </a:r>
            <a:endParaRPr lang="en-US" sz="1200" dirty="0"/>
          </a:p>
        </p:txBody>
      </p:sp>
      <p:sp>
        <p:nvSpPr>
          <p:cNvPr id="17" name="Shape 11"/>
          <p:cNvSpPr/>
          <p:nvPr/>
        </p:nvSpPr>
        <p:spPr>
          <a:xfrm>
            <a:off x="373380" y="4440936"/>
            <a:ext cx="917448" cy="566928"/>
          </a:xfrm>
          <a:prstGeom prst="roundRect">
            <a:avLst>
              <a:gd name="adj" fmla="val 16129"/>
            </a:avLst>
          </a:prstGeom>
          <a:solidFill>
            <a:srgbClr val="EAEEF3"/>
          </a:solidFill>
          <a:ln w="12700">
            <a:solidFill>
              <a:srgbClr val="EAEEF3"/>
            </a:solidFill>
            <a:prstDash val="solid"/>
          </a:ln>
        </p:spPr>
      </p:sp>
      <p:sp>
        <p:nvSpPr>
          <p:cNvPr id="19" name="Text 12"/>
          <p:cNvSpPr txBox="1"/>
          <p:nvPr/>
        </p:nvSpPr>
        <p:spPr>
          <a:xfrm>
            <a:off x="1465843" y="4422648"/>
            <a:ext cx="5760720" cy="310896"/>
          </a:xfrm>
          <a:prstGeom prst="rect">
            <a:avLst/>
          </a:prstGeom>
          <a:noFill/>
          <a:ln/>
        </p:spPr>
        <p:txBody>
          <a:bodyPr wrap="square" lIns="0" tIns="0" rIns="0" bIns="0" rtlCol="0" anchor="t"/>
          <a:lstStyle/>
          <a:p>
            <a:pPr marL="0" indent="0">
              <a:buNone/>
            </a:pPr>
            <a:r>
              <a:rPr lang="en-US" sz="1500" b="1" dirty="0">
                <a:solidFill>
                  <a:srgbClr val="151A21"/>
                </a:solidFill>
                <a:latin typeface="Arial" pitchFamily="34" charset="0"/>
                <a:ea typeface="Arial" pitchFamily="34" charset="-122"/>
                <a:cs typeface="Arial" pitchFamily="34" charset="-120"/>
              </a:rPr>
              <a:t>One Point of Contact</a:t>
            </a:r>
            <a:endParaRPr lang="en-US" sz="1500" dirty="0"/>
          </a:p>
        </p:txBody>
      </p:sp>
      <p:sp>
        <p:nvSpPr>
          <p:cNvPr id="20" name="Text 13"/>
          <p:cNvSpPr txBox="1"/>
          <p:nvPr/>
        </p:nvSpPr>
        <p:spPr>
          <a:xfrm>
            <a:off x="1465843" y="4770120"/>
            <a:ext cx="5760720" cy="621792"/>
          </a:xfrm>
          <a:prstGeom prst="rect">
            <a:avLst/>
          </a:prstGeom>
          <a:noFill/>
          <a:ln/>
        </p:spPr>
        <p:txBody>
          <a:bodyPr wrap="square" lIns="0" tIns="0" rIns="0" bIns="0" rtlCol="0" anchor="t"/>
          <a:lstStyle/>
          <a:p>
            <a:pPr marL="0" indent="0">
              <a:buNone/>
            </a:pPr>
            <a:r>
              <a:rPr lang="en-US" sz="1200" dirty="0">
                <a:solidFill>
                  <a:srgbClr val="5E6978"/>
                </a:solidFill>
                <a:latin typeface="Calibri" pitchFamily="34" charset="0"/>
                <a:ea typeface="Calibri" pitchFamily="34" charset="-122"/>
                <a:cs typeface="Calibri" pitchFamily="34" charset="-120"/>
              </a:rPr>
              <a:t>Support, licensing and renewals through one partner, with escalation to SK shieldus and CrowdStrike when needed.</a:t>
            </a:r>
            <a:endParaRPr lang="en-US" sz="1200" dirty="0"/>
          </a:p>
        </p:txBody>
      </p:sp>
      <p:sp>
        <p:nvSpPr>
          <p:cNvPr id="21" name="Shape 14"/>
          <p:cNvSpPr/>
          <p:nvPr/>
        </p:nvSpPr>
        <p:spPr>
          <a:xfrm>
            <a:off x="7452360" y="1554480"/>
            <a:ext cx="4190695" cy="4434840"/>
          </a:xfrm>
          <a:prstGeom prst="roundRect">
            <a:avLst>
              <a:gd name="adj" fmla="val 2182"/>
            </a:avLst>
          </a:prstGeom>
          <a:solidFill>
            <a:srgbClr val="0B0D12"/>
          </a:solidFill>
          <a:ln w="12700">
            <a:solidFill>
              <a:srgbClr val="0B0D12"/>
            </a:solidFill>
            <a:prstDash val="solid"/>
          </a:ln>
        </p:spPr>
      </p:sp>
      <p:sp>
        <p:nvSpPr>
          <p:cNvPr id="22" name="Text 15"/>
          <p:cNvSpPr txBox="1"/>
          <p:nvPr/>
        </p:nvSpPr>
        <p:spPr>
          <a:xfrm>
            <a:off x="7818120" y="1828800"/>
            <a:ext cx="3459175" cy="274320"/>
          </a:xfrm>
          <a:prstGeom prst="rect">
            <a:avLst/>
          </a:prstGeom>
          <a:noFill/>
          <a:ln/>
        </p:spPr>
        <p:txBody>
          <a:bodyPr wrap="square" lIns="0" tIns="0" rIns="0" bIns="0" rtlCol="0" anchor="t"/>
          <a:lstStyle/>
          <a:p>
            <a:pPr marL="0" indent="0">
              <a:buNone/>
            </a:pPr>
            <a:r>
              <a:rPr lang="en-US" sz="1100" b="1" kern="0" spc="200" dirty="0">
                <a:solidFill>
                  <a:srgbClr val="E3202A"/>
                </a:solidFill>
                <a:latin typeface="Calibri" pitchFamily="34" charset="0"/>
                <a:ea typeface="Calibri" pitchFamily="34" charset="-122"/>
                <a:cs typeface="Calibri" pitchFamily="34" charset="-120"/>
              </a:rPr>
              <a:t>ESCALATION  ·  SK SHIELDUS</a:t>
            </a:r>
            <a:endParaRPr lang="en-US" sz="1100" dirty="0"/>
          </a:p>
        </p:txBody>
      </p:sp>
      <p:pic>
        <p:nvPicPr>
          <p:cNvPr id="23" name="Image 5" descr="preencoded.png"/>
          <p:cNvPicPr>
            <a:picLocks noChangeAspect="1"/>
          </p:cNvPicPr>
          <p:nvPr/>
        </p:nvPicPr>
        <p:blipFill>
          <a:blip r:embed="rId6"/>
          <a:stretch>
            <a:fillRect/>
          </a:stretch>
        </p:blipFill>
        <p:spPr>
          <a:xfrm>
            <a:off x="7818120" y="2322576"/>
            <a:ext cx="237744" cy="237744"/>
          </a:xfrm>
          <a:prstGeom prst="rect">
            <a:avLst/>
          </a:prstGeom>
        </p:spPr>
      </p:pic>
      <p:sp>
        <p:nvSpPr>
          <p:cNvPr id="24" name="Text 16"/>
          <p:cNvSpPr txBox="1"/>
          <p:nvPr/>
        </p:nvSpPr>
        <p:spPr>
          <a:xfrm>
            <a:off x="8183880" y="2286000"/>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Incident response specialists on duty 24/7</a:t>
            </a:r>
            <a:endParaRPr lang="en-US" sz="1300" dirty="0"/>
          </a:p>
        </p:txBody>
      </p:sp>
      <p:pic>
        <p:nvPicPr>
          <p:cNvPr id="25" name="Image 6" descr="preencoded.png"/>
          <p:cNvPicPr>
            <a:picLocks noChangeAspect="1"/>
          </p:cNvPicPr>
          <p:nvPr/>
        </p:nvPicPr>
        <p:blipFill>
          <a:blip r:embed="rId6"/>
          <a:stretch>
            <a:fillRect/>
          </a:stretch>
        </p:blipFill>
        <p:spPr>
          <a:xfrm>
            <a:off x="7818120" y="2852928"/>
            <a:ext cx="237744" cy="237744"/>
          </a:xfrm>
          <a:prstGeom prst="rect">
            <a:avLst/>
          </a:prstGeom>
        </p:spPr>
      </p:pic>
      <p:sp>
        <p:nvSpPr>
          <p:cNvPr id="26" name="Text 17"/>
          <p:cNvSpPr txBox="1"/>
          <p:nvPr/>
        </p:nvSpPr>
        <p:spPr>
          <a:xfrm>
            <a:off x="8183880" y="2816352"/>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Critical alerts: call within 30 min, first action within 2 hrs (SLA)</a:t>
            </a:r>
            <a:endParaRPr lang="en-US" sz="1300" dirty="0"/>
          </a:p>
        </p:txBody>
      </p:sp>
      <p:pic>
        <p:nvPicPr>
          <p:cNvPr id="27" name="Image 7" descr="preencoded.png"/>
          <p:cNvPicPr>
            <a:picLocks noChangeAspect="1"/>
          </p:cNvPicPr>
          <p:nvPr/>
        </p:nvPicPr>
        <p:blipFill>
          <a:blip r:embed="rId6"/>
          <a:stretch>
            <a:fillRect/>
          </a:stretch>
        </p:blipFill>
        <p:spPr>
          <a:xfrm>
            <a:off x="7818120" y="3383280"/>
            <a:ext cx="237744" cy="237744"/>
          </a:xfrm>
          <a:prstGeom prst="rect">
            <a:avLst/>
          </a:prstGeom>
        </p:spPr>
      </p:pic>
      <p:sp>
        <p:nvSpPr>
          <p:cNvPr id="28" name="Text 18"/>
          <p:cNvSpPr txBox="1"/>
          <p:nvPr/>
        </p:nvSpPr>
        <p:spPr>
          <a:xfrm>
            <a:off x="8183880" y="3346704"/>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Investigation across network devices and servers</a:t>
            </a:r>
            <a:endParaRPr lang="en-US" sz="1300" dirty="0"/>
          </a:p>
        </p:txBody>
      </p:sp>
      <p:pic>
        <p:nvPicPr>
          <p:cNvPr id="29" name="Image 8" descr="preencoded.png"/>
          <p:cNvPicPr>
            <a:picLocks noChangeAspect="1"/>
          </p:cNvPicPr>
          <p:nvPr/>
        </p:nvPicPr>
        <p:blipFill>
          <a:blip r:embed="rId6"/>
          <a:stretch>
            <a:fillRect/>
          </a:stretch>
        </p:blipFill>
        <p:spPr>
          <a:xfrm>
            <a:off x="7818120" y="3913632"/>
            <a:ext cx="237744" cy="237744"/>
          </a:xfrm>
          <a:prstGeom prst="rect">
            <a:avLst/>
          </a:prstGeom>
        </p:spPr>
      </p:pic>
      <p:sp>
        <p:nvSpPr>
          <p:cNvPr id="30" name="Text 19"/>
          <p:cNvSpPr txBox="1"/>
          <p:nvPr/>
        </p:nvSpPr>
        <p:spPr>
          <a:xfrm>
            <a:off x="8183880" y="3877056"/>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EDR events correlated with other security logs</a:t>
            </a:r>
            <a:endParaRPr lang="en-US" sz="1300" dirty="0"/>
          </a:p>
        </p:txBody>
      </p:sp>
      <p:pic>
        <p:nvPicPr>
          <p:cNvPr id="31" name="Image 9" descr="preencoded.png"/>
          <p:cNvPicPr>
            <a:picLocks noChangeAspect="1"/>
          </p:cNvPicPr>
          <p:nvPr/>
        </p:nvPicPr>
        <p:blipFill>
          <a:blip r:embed="rId6"/>
          <a:stretch>
            <a:fillRect/>
          </a:stretch>
        </p:blipFill>
        <p:spPr>
          <a:xfrm>
            <a:off x="7818120" y="4443984"/>
            <a:ext cx="237744" cy="237744"/>
          </a:xfrm>
          <a:prstGeom prst="rect">
            <a:avLst/>
          </a:prstGeom>
        </p:spPr>
      </p:pic>
      <p:sp>
        <p:nvSpPr>
          <p:cNvPr id="32" name="Text 20"/>
          <p:cNvSpPr txBox="1"/>
          <p:nvPr/>
        </p:nvSpPr>
        <p:spPr>
          <a:xfrm>
            <a:off x="8183880" y="4407408"/>
            <a:ext cx="3093415" cy="329184"/>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Malware analysis by experienced IR analysts</a:t>
            </a:r>
            <a:endParaRPr lang="en-US" sz="1300" dirty="0"/>
          </a:p>
        </p:txBody>
      </p:sp>
      <p:sp>
        <p:nvSpPr>
          <p:cNvPr id="33" name="Text 21"/>
          <p:cNvSpPr txBox="1"/>
          <p:nvPr/>
        </p:nvSpPr>
        <p:spPr>
          <a:xfrm>
            <a:off x="7818120" y="5120640"/>
            <a:ext cx="3459175" cy="548640"/>
          </a:xfrm>
          <a:prstGeom prst="rect">
            <a:avLst/>
          </a:prstGeom>
          <a:noFill/>
          <a:ln/>
        </p:spPr>
        <p:txBody>
          <a:bodyPr wrap="square" lIns="0" tIns="0" rIns="0" bIns="0" rtlCol="0" anchor="ctr"/>
          <a:lstStyle/>
          <a:p>
            <a:pPr marL="0" indent="0">
              <a:buNone/>
            </a:pPr>
            <a:r>
              <a:rPr lang="en-US" sz="1400" b="1" i="1" dirty="0">
                <a:solidFill>
                  <a:srgbClr val="FFFFFF"/>
                </a:solidFill>
                <a:latin typeface="Calibri" pitchFamily="34" charset="0"/>
                <a:ea typeface="Calibri" pitchFamily="34" charset="-122"/>
                <a:cs typeface="Calibri" pitchFamily="34" charset="-120"/>
              </a:rPr>
              <a:t>When needed, CrowdStrike partner SK shieldus steps in.</a:t>
            </a:r>
            <a:endParaRPr lang="en-US" sz="1400" dirty="0"/>
          </a:p>
        </p:txBody>
      </p:sp>
      <p:sp>
        <p:nvSpPr>
          <p:cNvPr id="34" name="Text 22"/>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16   |   Nessus vs. CrowdStrike Falcon Platform  ·  Proposal for The Westin Resort Guam</a:t>
            </a:r>
            <a:endParaRPr lang="en-US" sz="900" dirty="0"/>
          </a:p>
        </p:txBody>
      </p:sp>
      <p:pic>
        <p:nvPicPr>
          <p:cNvPr id="35" name="Image 10" descr="/private/tmp/claude-501/-Users-jihanvin-Desktop-NIVNAH-AI/16a96446-d9b3-40e2-af9e-a3011ae3db84/scratchpad/assets/secukorea_dark.png"/>
          <p:cNvPicPr>
            <a:picLocks noChangeAspect="1"/>
          </p:cNvPicPr>
          <p:nvPr/>
        </p:nvPicPr>
        <p:blipFill>
          <a:blip r:embed="rId7"/>
          <a:stretch>
            <a:fillRect/>
          </a:stretch>
        </p:blipFill>
        <p:spPr>
          <a:xfrm>
            <a:off x="10661904" y="6400800"/>
            <a:ext cx="978408" cy="233172"/>
          </a:xfrm>
          <a:prstGeom prst="rect">
            <a:avLst/>
          </a:prstGeom>
        </p:spPr>
      </p:pic>
      <p:pic>
        <p:nvPicPr>
          <p:cNvPr id="37" name="그림 36">
            <a:extLst>
              <a:ext uri="{FF2B5EF4-FFF2-40B4-BE49-F238E27FC236}">
                <a16:creationId xmlns:a16="http://schemas.microsoft.com/office/drawing/2014/main" id="{150FC934-B7A6-0355-1CEF-264D1BC68403}"/>
              </a:ext>
            </a:extLst>
          </p:cNvPr>
          <p:cNvPicPr>
            <a:picLocks noChangeAspect="1"/>
          </p:cNvPicPr>
          <p:nvPr/>
        </p:nvPicPr>
        <p:blipFill>
          <a:blip r:embed="rId8"/>
          <a:stretch>
            <a:fillRect/>
          </a:stretch>
        </p:blipFill>
        <p:spPr>
          <a:xfrm>
            <a:off x="424065" y="4555236"/>
            <a:ext cx="816077" cy="310244"/>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84048"/>
            <a:ext cx="822960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Arial" pitchFamily="34" charset="0"/>
                <a:ea typeface="Arial" pitchFamily="34" charset="-122"/>
                <a:cs typeface="Arial" pitchFamily="34" charset="-120"/>
              </a:rPr>
              <a:t>15   EXPECTED BENEFITS</a:t>
            </a:r>
            <a:endParaRPr lang="en-US" sz="1100" dirty="0"/>
          </a:p>
        </p:txBody>
      </p:sp>
      <p:sp>
        <p:nvSpPr>
          <p:cNvPr id="3" name="Text 1"/>
          <p:cNvSpPr txBox="1"/>
          <p:nvPr/>
        </p:nvSpPr>
        <p:spPr>
          <a:xfrm>
            <a:off x="548640" y="658368"/>
            <a:ext cx="9692640" cy="658368"/>
          </a:xfrm>
          <a:prstGeom prst="rect">
            <a:avLst/>
          </a:prstGeom>
          <a:noFill/>
          <a:ln/>
        </p:spPr>
        <p:txBody>
          <a:bodyPr wrap="square" lIns="0" tIns="0" rIns="0" bIns="0" rtlCol="0" anchor="ctr"/>
          <a:lstStyle/>
          <a:p>
            <a:pPr marL="0" indent="0">
              <a:buNone/>
            </a:pPr>
            <a:r>
              <a:rPr lang="en-US" sz="2800" b="1" dirty="0">
                <a:solidFill>
                  <a:srgbClr val="151A21"/>
                </a:solidFill>
                <a:latin typeface="Arial" pitchFamily="34" charset="0"/>
                <a:ea typeface="Arial" pitchFamily="34" charset="-122"/>
                <a:cs typeface="Arial" pitchFamily="34" charset="-120"/>
              </a:rPr>
              <a:t>From Scan-Only to Always-On Protection</a:t>
            </a:r>
            <a:endParaRPr lang="en-US" sz="2800" dirty="0"/>
          </a:p>
        </p:txBody>
      </p:sp>
      <p:pic>
        <p:nvPicPr>
          <p:cNvPr id="4" name="Image 0" descr="/private/tmp/claude-501/-Users-jihanvin-Desktop-NIVNAH-AI/16a96446-d9b3-40e2-af9e-a3011ae3db84/scratchpad/assets/westin_grey.png"/>
          <p:cNvPicPr>
            <a:picLocks noChangeAspect="1"/>
          </p:cNvPicPr>
          <p:nvPr/>
        </p:nvPicPr>
        <p:blipFill>
          <a:blip r:embed="rId3"/>
          <a:stretch>
            <a:fillRect/>
          </a:stretch>
        </p:blipFill>
        <p:spPr>
          <a:xfrm>
            <a:off x="10634472" y="402336"/>
            <a:ext cx="1005840" cy="301752"/>
          </a:xfrm>
          <a:prstGeom prst="rect">
            <a:avLst/>
          </a:prstGeom>
        </p:spPr>
      </p:pic>
      <p:sp>
        <p:nvSpPr>
          <p:cNvPr id="5" name="Shape 2"/>
          <p:cNvSpPr/>
          <p:nvPr/>
        </p:nvSpPr>
        <p:spPr>
          <a:xfrm>
            <a:off x="548640" y="1554480"/>
            <a:ext cx="4892040" cy="2788920"/>
          </a:xfrm>
          <a:prstGeom prst="roundRect">
            <a:avLst>
              <a:gd name="adj" fmla="val 3279"/>
            </a:avLst>
          </a:prstGeom>
          <a:solidFill>
            <a:srgbClr val="EAEEF3"/>
          </a:solidFill>
          <a:ln w="12700">
            <a:solidFill>
              <a:srgbClr val="EAEEF3"/>
            </a:solidFill>
            <a:prstDash val="solid"/>
          </a:ln>
        </p:spPr>
      </p:sp>
      <p:sp>
        <p:nvSpPr>
          <p:cNvPr id="6" name="Text 3"/>
          <p:cNvSpPr txBox="1"/>
          <p:nvPr/>
        </p:nvSpPr>
        <p:spPr>
          <a:xfrm>
            <a:off x="868680" y="1783080"/>
            <a:ext cx="4251960" cy="256032"/>
          </a:xfrm>
          <a:prstGeom prst="rect">
            <a:avLst/>
          </a:prstGeom>
          <a:noFill/>
          <a:ln/>
        </p:spPr>
        <p:txBody>
          <a:bodyPr wrap="square" lIns="0" tIns="0" rIns="0" bIns="0" rtlCol="0" anchor="t"/>
          <a:lstStyle/>
          <a:p>
            <a:pPr marL="0" indent="0">
              <a:buNone/>
            </a:pPr>
            <a:r>
              <a:rPr lang="en-US" sz="1100" b="1" kern="0" spc="200" dirty="0">
                <a:solidFill>
                  <a:srgbClr val="5D6B7E"/>
                </a:solidFill>
                <a:latin typeface="Calibri" pitchFamily="34" charset="0"/>
                <a:ea typeface="Calibri" pitchFamily="34" charset="-122"/>
                <a:cs typeface="Calibri" pitchFamily="34" charset="-120"/>
              </a:rPr>
              <a:t>TODAY  ·  NESSUS ONLY</a:t>
            </a:r>
            <a:endParaRPr lang="en-US" sz="1100" dirty="0"/>
          </a:p>
        </p:txBody>
      </p:sp>
      <p:pic>
        <p:nvPicPr>
          <p:cNvPr id="7" name="Image 1" descr="preencoded.png"/>
          <p:cNvPicPr>
            <a:picLocks noChangeAspect="1"/>
          </p:cNvPicPr>
          <p:nvPr/>
        </p:nvPicPr>
        <p:blipFill>
          <a:blip r:embed="rId4"/>
          <a:stretch>
            <a:fillRect/>
          </a:stretch>
        </p:blipFill>
        <p:spPr>
          <a:xfrm>
            <a:off x="868680" y="2240280"/>
            <a:ext cx="201168" cy="201168"/>
          </a:xfrm>
          <a:prstGeom prst="rect">
            <a:avLst/>
          </a:prstGeom>
        </p:spPr>
      </p:pic>
      <p:sp>
        <p:nvSpPr>
          <p:cNvPr id="8" name="Text 4"/>
          <p:cNvSpPr txBox="1"/>
          <p:nvPr/>
        </p:nvSpPr>
        <p:spPr>
          <a:xfrm>
            <a:off x="1207008" y="2194560"/>
            <a:ext cx="3977640" cy="292608"/>
          </a:xfrm>
          <a:prstGeom prst="rect">
            <a:avLst/>
          </a:prstGeom>
          <a:noFill/>
          <a:ln/>
        </p:spPr>
        <p:txBody>
          <a:bodyPr wrap="square" lIns="0" tIns="0" rIns="0" bIns="0" rtlCol="0" anchor="ctr"/>
          <a:lstStyle/>
          <a:p>
            <a:pPr marL="0" indent="0">
              <a:buNone/>
            </a:pPr>
            <a:r>
              <a:rPr lang="en-US" sz="1250" dirty="0">
                <a:solidFill>
                  <a:srgbClr val="151A21"/>
                </a:solidFill>
                <a:latin typeface="Calibri" pitchFamily="34" charset="0"/>
                <a:ea typeface="Calibri" pitchFamily="34" charset="-122"/>
                <a:cs typeface="Calibri" pitchFamily="34" charset="-120"/>
              </a:rPr>
              <a:t>Vulnerability reports, but no protection</a:t>
            </a:r>
            <a:endParaRPr lang="en-US" sz="1250" dirty="0"/>
          </a:p>
        </p:txBody>
      </p:sp>
      <p:pic>
        <p:nvPicPr>
          <p:cNvPr id="9" name="Image 2" descr="preencoded.png"/>
          <p:cNvPicPr>
            <a:picLocks noChangeAspect="1"/>
          </p:cNvPicPr>
          <p:nvPr/>
        </p:nvPicPr>
        <p:blipFill>
          <a:blip r:embed="rId4"/>
          <a:stretch>
            <a:fillRect/>
          </a:stretch>
        </p:blipFill>
        <p:spPr>
          <a:xfrm>
            <a:off x="868680" y="2642616"/>
            <a:ext cx="201168" cy="201168"/>
          </a:xfrm>
          <a:prstGeom prst="rect">
            <a:avLst/>
          </a:prstGeom>
        </p:spPr>
      </p:pic>
      <p:sp>
        <p:nvSpPr>
          <p:cNvPr id="10" name="Text 5"/>
          <p:cNvSpPr txBox="1"/>
          <p:nvPr/>
        </p:nvSpPr>
        <p:spPr>
          <a:xfrm>
            <a:off x="1207008" y="2596896"/>
            <a:ext cx="3977640" cy="292608"/>
          </a:xfrm>
          <a:prstGeom prst="rect">
            <a:avLst/>
          </a:prstGeom>
          <a:noFill/>
          <a:ln/>
        </p:spPr>
        <p:txBody>
          <a:bodyPr wrap="square" lIns="0" tIns="0" rIns="0" bIns="0" rtlCol="0" anchor="ctr"/>
          <a:lstStyle/>
          <a:p>
            <a:pPr marL="0" indent="0">
              <a:buNone/>
            </a:pPr>
            <a:r>
              <a:rPr lang="en-US" sz="1250" dirty="0">
                <a:solidFill>
                  <a:srgbClr val="151A21"/>
                </a:solidFill>
                <a:latin typeface="Calibri" pitchFamily="34" charset="0"/>
                <a:ea typeface="Calibri" pitchFamily="34" charset="-122"/>
                <a:cs typeface="Calibri" pitchFamily="34" charset="-120"/>
              </a:rPr>
              <a:t>Blind between scheduled scans</a:t>
            </a:r>
            <a:endParaRPr lang="en-US" sz="1250" dirty="0"/>
          </a:p>
        </p:txBody>
      </p:sp>
      <p:pic>
        <p:nvPicPr>
          <p:cNvPr id="11" name="Image 3" descr="preencoded.png"/>
          <p:cNvPicPr>
            <a:picLocks noChangeAspect="1"/>
          </p:cNvPicPr>
          <p:nvPr/>
        </p:nvPicPr>
        <p:blipFill>
          <a:blip r:embed="rId4"/>
          <a:stretch>
            <a:fillRect/>
          </a:stretch>
        </p:blipFill>
        <p:spPr>
          <a:xfrm>
            <a:off x="868680" y="3044952"/>
            <a:ext cx="201168" cy="201168"/>
          </a:xfrm>
          <a:prstGeom prst="rect">
            <a:avLst/>
          </a:prstGeom>
        </p:spPr>
      </p:pic>
      <p:sp>
        <p:nvSpPr>
          <p:cNvPr id="12" name="Text 6"/>
          <p:cNvSpPr txBox="1"/>
          <p:nvPr/>
        </p:nvSpPr>
        <p:spPr>
          <a:xfrm>
            <a:off x="1207008" y="2999232"/>
            <a:ext cx="3977640" cy="292608"/>
          </a:xfrm>
          <a:prstGeom prst="rect">
            <a:avLst/>
          </a:prstGeom>
          <a:noFill/>
          <a:ln/>
        </p:spPr>
        <p:txBody>
          <a:bodyPr wrap="square" lIns="0" tIns="0" rIns="0" bIns="0" rtlCol="0" anchor="ctr"/>
          <a:lstStyle/>
          <a:p>
            <a:pPr marL="0" indent="0">
              <a:buNone/>
            </a:pPr>
            <a:r>
              <a:rPr lang="en-US" sz="1250" dirty="0">
                <a:solidFill>
                  <a:srgbClr val="151A21"/>
                </a:solidFill>
                <a:latin typeface="Calibri" pitchFamily="34" charset="0"/>
                <a:ea typeface="Calibri" pitchFamily="34" charset="-122"/>
                <a:cs typeface="Calibri" pitchFamily="34" charset="-120"/>
              </a:rPr>
              <a:t>Manual patching and investigation</a:t>
            </a:r>
            <a:endParaRPr lang="en-US" sz="1250" dirty="0"/>
          </a:p>
        </p:txBody>
      </p:sp>
      <p:pic>
        <p:nvPicPr>
          <p:cNvPr id="13" name="Image 4" descr="preencoded.png"/>
          <p:cNvPicPr>
            <a:picLocks noChangeAspect="1"/>
          </p:cNvPicPr>
          <p:nvPr/>
        </p:nvPicPr>
        <p:blipFill>
          <a:blip r:embed="rId4"/>
          <a:stretch>
            <a:fillRect/>
          </a:stretch>
        </p:blipFill>
        <p:spPr>
          <a:xfrm>
            <a:off x="868680" y="3447288"/>
            <a:ext cx="201168" cy="201168"/>
          </a:xfrm>
          <a:prstGeom prst="rect">
            <a:avLst/>
          </a:prstGeom>
        </p:spPr>
      </p:pic>
      <p:sp>
        <p:nvSpPr>
          <p:cNvPr id="14" name="Text 7"/>
          <p:cNvSpPr txBox="1"/>
          <p:nvPr/>
        </p:nvSpPr>
        <p:spPr>
          <a:xfrm>
            <a:off x="1207008" y="3401568"/>
            <a:ext cx="3977640" cy="292608"/>
          </a:xfrm>
          <a:prstGeom prst="rect">
            <a:avLst/>
          </a:prstGeom>
          <a:noFill/>
          <a:ln/>
        </p:spPr>
        <p:txBody>
          <a:bodyPr wrap="square" lIns="0" tIns="0" rIns="0" bIns="0" rtlCol="0" anchor="ctr"/>
          <a:lstStyle/>
          <a:p>
            <a:pPr marL="0" indent="0">
              <a:buNone/>
            </a:pPr>
            <a:r>
              <a:rPr lang="en-US" sz="1250" dirty="0">
                <a:solidFill>
                  <a:srgbClr val="151A21"/>
                </a:solidFill>
                <a:latin typeface="Calibri" pitchFamily="34" charset="0"/>
                <a:ea typeface="Calibri" pitchFamily="34" charset="-122"/>
                <a:cs typeface="Calibri" pitchFamily="34" charset="-120"/>
              </a:rPr>
              <a:t>No defense against ransomware in progress</a:t>
            </a:r>
            <a:endParaRPr lang="en-US" sz="1250" dirty="0"/>
          </a:p>
        </p:txBody>
      </p:sp>
      <p:pic>
        <p:nvPicPr>
          <p:cNvPr id="15" name="Image 5" descr="preencoded.png"/>
          <p:cNvPicPr>
            <a:picLocks noChangeAspect="1"/>
          </p:cNvPicPr>
          <p:nvPr/>
        </p:nvPicPr>
        <p:blipFill>
          <a:blip r:embed="rId4"/>
          <a:stretch>
            <a:fillRect/>
          </a:stretch>
        </p:blipFill>
        <p:spPr>
          <a:xfrm>
            <a:off x="868680" y="3849624"/>
            <a:ext cx="201168" cy="201168"/>
          </a:xfrm>
          <a:prstGeom prst="rect">
            <a:avLst/>
          </a:prstGeom>
        </p:spPr>
      </p:pic>
      <p:sp>
        <p:nvSpPr>
          <p:cNvPr id="16" name="Text 8"/>
          <p:cNvSpPr txBox="1"/>
          <p:nvPr/>
        </p:nvSpPr>
        <p:spPr>
          <a:xfrm>
            <a:off x="1207008" y="3803904"/>
            <a:ext cx="3977640" cy="292608"/>
          </a:xfrm>
          <a:prstGeom prst="rect">
            <a:avLst/>
          </a:prstGeom>
          <a:noFill/>
          <a:ln/>
        </p:spPr>
        <p:txBody>
          <a:bodyPr wrap="square" lIns="0" tIns="0" rIns="0" bIns="0" rtlCol="0" anchor="ctr"/>
          <a:lstStyle/>
          <a:p>
            <a:pPr marL="0" indent="0">
              <a:buNone/>
            </a:pPr>
            <a:r>
              <a:rPr lang="en-US" sz="1250" dirty="0">
                <a:solidFill>
                  <a:srgbClr val="151A21"/>
                </a:solidFill>
                <a:latin typeface="Calibri" pitchFamily="34" charset="0"/>
                <a:ea typeface="Calibri" pitchFamily="34" charset="-122"/>
                <a:cs typeface="Calibri" pitchFamily="34" charset="-120"/>
              </a:rPr>
              <a:t>Limited insight for management</a:t>
            </a:r>
            <a:endParaRPr lang="en-US" sz="1250" dirty="0"/>
          </a:p>
        </p:txBody>
      </p:sp>
      <p:pic>
        <p:nvPicPr>
          <p:cNvPr id="17" name="Image 6" descr="preencoded.png"/>
          <p:cNvPicPr>
            <a:picLocks noChangeAspect="1"/>
          </p:cNvPicPr>
          <p:nvPr/>
        </p:nvPicPr>
        <p:blipFill>
          <a:blip r:embed="rId5"/>
          <a:stretch>
            <a:fillRect/>
          </a:stretch>
        </p:blipFill>
        <p:spPr>
          <a:xfrm>
            <a:off x="5821528" y="2674620"/>
            <a:ext cx="548640" cy="548640"/>
          </a:xfrm>
          <a:prstGeom prst="rect">
            <a:avLst/>
          </a:prstGeom>
        </p:spPr>
      </p:pic>
      <p:sp>
        <p:nvSpPr>
          <p:cNvPr id="18" name="Shape 9"/>
          <p:cNvSpPr/>
          <p:nvPr/>
        </p:nvSpPr>
        <p:spPr>
          <a:xfrm>
            <a:off x="6751015" y="1554480"/>
            <a:ext cx="4892040" cy="2788920"/>
          </a:xfrm>
          <a:prstGeom prst="roundRect">
            <a:avLst>
              <a:gd name="adj" fmla="val 3279"/>
            </a:avLst>
          </a:prstGeom>
          <a:solidFill>
            <a:srgbClr val="0B0D12"/>
          </a:solidFill>
          <a:ln w="12700">
            <a:solidFill>
              <a:srgbClr val="0B0D12"/>
            </a:solidFill>
            <a:prstDash val="solid"/>
          </a:ln>
        </p:spPr>
      </p:sp>
      <p:sp>
        <p:nvSpPr>
          <p:cNvPr id="19" name="Text 10"/>
          <p:cNvSpPr txBox="1"/>
          <p:nvPr/>
        </p:nvSpPr>
        <p:spPr>
          <a:xfrm>
            <a:off x="7071055" y="1783080"/>
            <a:ext cx="4251960" cy="256032"/>
          </a:xfrm>
          <a:prstGeom prst="rect">
            <a:avLst/>
          </a:prstGeom>
          <a:noFill/>
          <a:ln/>
        </p:spPr>
        <p:txBody>
          <a:bodyPr wrap="square" lIns="0" tIns="0" rIns="0" bIns="0" rtlCol="0" anchor="t"/>
          <a:lstStyle/>
          <a:p>
            <a:pPr marL="0" indent="0">
              <a:buNone/>
            </a:pPr>
            <a:r>
              <a:rPr lang="en-US" sz="1100" b="1" kern="0" spc="200" dirty="0">
                <a:solidFill>
                  <a:srgbClr val="E3202A"/>
                </a:solidFill>
                <a:latin typeface="Calibri" pitchFamily="34" charset="0"/>
                <a:ea typeface="Calibri" pitchFamily="34" charset="-122"/>
                <a:cs typeface="Calibri" pitchFamily="34" charset="-120"/>
              </a:rPr>
              <a:t>WITH CROWDSTRIKE FALCON</a:t>
            </a:r>
            <a:endParaRPr lang="en-US" sz="1100" dirty="0"/>
          </a:p>
        </p:txBody>
      </p:sp>
      <p:pic>
        <p:nvPicPr>
          <p:cNvPr id="20" name="Image 7" descr="preencoded.png"/>
          <p:cNvPicPr>
            <a:picLocks noChangeAspect="1"/>
          </p:cNvPicPr>
          <p:nvPr/>
        </p:nvPicPr>
        <p:blipFill>
          <a:blip r:embed="rId6"/>
          <a:stretch>
            <a:fillRect/>
          </a:stretch>
        </p:blipFill>
        <p:spPr>
          <a:xfrm>
            <a:off x="7071055" y="2240280"/>
            <a:ext cx="201168" cy="201168"/>
          </a:xfrm>
          <a:prstGeom prst="rect">
            <a:avLst/>
          </a:prstGeom>
        </p:spPr>
      </p:pic>
      <p:sp>
        <p:nvSpPr>
          <p:cNvPr id="21" name="Text 11"/>
          <p:cNvSpPr txBox="1"/>
          <p:nvPr/>
        </p:nvSpPr>
        <p:spPr>
          <a:xfrm>
            <a:off x="7409383" y="2194560"/>
            <a:ext cx="39776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Real-time prevention on every endpoint</a:t>
            </a:r>
            <a:endParaRPr lang="en-US" sz="1250" dirty="0"/>
          </a:p>
        </p:txBody>
      </p:sp>
      <p:pic>
        <p:nvPicPr>
          <p:cNvPr id="22" name="Image 8" descr="preencoded.png"/>
          <p:cNvPicPr>
            <a:picLocks noChangeAspect="1"/>
          </p:cNvPicPr>
          <p:nvPr/>
        </p:nvPicPr>
        <p:blipFill>
          <a:blip r:embed="rId6"/>
          <a:stretch>
            <a:fillRect/>
          </a:stretch>
        </p:blipFill>
        <p:spPr>
          <a:xfrm>
            <a:off x="7071055" y="2642616"/>
            <a:ext cx="201168" cy="201168"/>
          </a:xfrm>
          <a:prstGeom prst="rect">
            <a:avLst/>
          </a:prstGeom>
        </p:spPr>
      </p:pic>
      <p:sp>
        <p:nvSpPr>
          <p:cNvPr id="23" name="Text 12"/>
          <p:cNvSpPr txBox="1"/>
          <p:nvPr/>
        </p:nvSpPr>
        <p:spPr>
          <a:xfrm>
            <a:off x="7409383" y="2596896"/>
            <a:ext cx="39776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Continuous monitoring, 24/7</a:t>
            </a:r>
            <a:endParaRPr lang="en-US" sz="1250" dirty="0"/>
          </a:p>
        </p:txBody>
      </p:sp>
      <p:pic>
        <p:nvPicPr>
          <p:cNvPr id="24" name="Image 9" descr="preencoded.png"/>
          <p:cNvPicPr>
            <a:picLocks noChangeAspect="1"/>
          </p:cNvPicPr>
          <p:nvPr/>
        </p:nvPicPr>
        <p:blipFill>
          <a:blip r:embed="rId6"/>
          <a:stretch>
            <a:fillRect/>
          </a:stretch>
        </p:blipFill>
        <p:spPr>
          <a:xfrm>
            <a:off x="7071055" y="3044952"/>
            <a:ext cx="201168" cy="201168"/>
          </a:xfrm>
          <a:prstGeom prst="rect">
            <a:avLst/>
          </a:prstGeom>
        </p:spPr>
      </p:pic>
      <p:sp>
        <p:nvSpPr>
          <p:cNvPr id="25" name="Text 13"/>
          <p:cNvSpPr txBox="1"/>
          <p:nvPr/>
        </p:nvSpPr>
        <p:spPr>
          <a:xfrm>
            <a:off x="7409383" y="2999232"/>
            <a:ext cx="39776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Automated containment and response</a:t>
            </a:r>
            <a:endParaRPr lang="en-US" sz="1250" dirty="0"/>
          </a:p>
        </p:txBody>
      </p:sp>
      <p:pic>
        <p:nvPicPr>
          <p:cNvPr id="26" name="Image 10" descr="preencoded.png"/>
          <p:cNvPicPr>
            <a:picLocks noChangeAspect="1"/>
          </p:cNvPicPr>
          <p:nvPr/>
        </p:nvPicPr>
        <p:blipFill>
          <a:blip r:embed="rId6"/>
          <a:stretch>
            <a:fillRect/>
          </a:stretch>
        </p:blipFill>
        <p:spPr>
          <a:xfrm>
            <a:off x="7071055" y="3447288"/>
            <a:ext cx="201168" cy="201168"/>
          </a:xfrm>
          <a:prstGeom prst="rect">
            <a:avLst/>
          </a:prstGeom>
        </p:spPr>
      </p:pic>
      <p:sp>
        <p:nvSpPr>
          <p:cNvPr id="27" name="Text 14"/>
          <p:cNvSpPr txBox="1"/>
          <p:nvPr/>
        </p:nvSpPr>
        <p:spPr>
          <a:xfrm>
            <a:off x="7409383" y="3401568"/>
            <a:ext cx="39776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Proven ransomware protection</a:t>
            </a:r>
            <a:endParaRPr lang="en-US" sz="1250" dirty="0"/>
          </a:p>
        </p:txBody>
      </p:sp>
      <p:pic>
        <p:nvPicPr>
          <p:cNvPr id="28" name="Image 11" descr="preencoded.png"/>
          <p:cNvPicPr>
            <a:picLocks noChangeAspect="1"/>
          </p:cNvPicPr>
          <p:nvPr/>
        </p:nvPicPr>
        <p:blipFill>
          <a:blip r:embed="rId6"/>
          <a:stretch>
            <a:fillRect/>
          </a:stretch>
        </p:blipFill>
        <p:spPr>
          <a:xfrm>
            <a:off x="7071055" y="3849624"/>
            <a:ext cx="201168" cy="201168"/>
          </a:xfrm>
          <a:prstGeom prst="rect">
            <a:avLst/>
          </a:prstGeom>
        </p:spPr>
      </p:pic>
      <p:sp>
        <p:nvSpPr>
          <p:cNvPr id="29" name="Text 15"/>
          <p:cNvSpPr txBox="1"/>
          <p:nvPr/>
        </p:nvSpPr>
        <p:spPr>
          <a:xfrm>
            <a:off x="7409383" y="3803904"/>
            <a:ext cx="3977640" cy="292608"/>
          </a:xfrm>
          <a:prstGeom prst="rect">
            <a:avLst/>
          </a:prstGeom>
          <a:noFill/>
          <a:ln/>
        </p:spPr>
        <p:txBody>
          <a:bodyPr wrap="square" lIns="0" tIns="0" rIns="0" bIns="0"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Clear dashboards and executive reports</a:t>
            </a:r>
            <a:endParaRPr lang="en-US" sz="1250" dirty="0"/>
          </a:p>
        </p:txBody>
      </p:sp>
      <p:sp>
        <p:nvSpPr>
          <p:cNvPr id="30" name="Shape 16"/>
          <p:cNvSpPr/>
          <p:nvPr/>
        </p:nvSpPr>
        <p:spPr>
          <a:xfrm>
            <a:off x="548640" y="4617720"/>
            <a:ext cx="2567864" cy="1371600"/>
          </a:xfrm>
          <a:prstGeom prst="roundRect">
            <a:avLst>
              <a:gd name="adj" fmla="val 5333"/>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sp>
        <p:nvSpPr>
          <p:cNvPr id="31" name="Shape 17"/>
          <p:cNvSpPr/>
          <p:nvPr/>
        </p:nvSpPr>
        <p:spPr>
          <a:xfrm>
            <a:off x="777240" y="4846320"/>
            <a:ext cx="457200" cy="457200"/>
          </a:xfrm>
          <a:prstGeom prst="roundRect">
            <a:avLst>
              <a:gd name="adj" fmla="val 20000"/>
            </a:avLst>
          </a:prstGeom>
          <a:solidFill>
            <a:srgbClr val="FDECEC"/>
          </a:solidFill>
          <a:ln w="12700">
            <a:solidFill>
              <a:srgbClr val="FDECEC"/>
            </a:solidFill>
            <a:prstDash val="solid"/>
          </a:ln>
        </p:spPr>
      </p:sp>
      <p:pic>
        <p:nvPicPr>
          <p:cNvPr id="32" name="Image 12" descr="preencoded.png"/>
          <p:cNvPicPr>
            <a:picLocks noChangeAspect="1"/>
          </p:cNvPicPr>
          <p:nvPr/>
        </p:nvPicPr>
        <p:blipFill>
          <a:blip r:embed="rId7"/>
          <a:stretch>
            <a:fillRect/>
          </a:stretch>
        </p:blipFill>
        <p:spPr>
          <a:xfrm>
            <a:off x="877824" y="4946904"/>
            <a:ext cx="256032" cy="256032"/>
          </a:xfrm>
          <a:prstGeom prst="rect">
            <a:avLst/>
          </a:prstGeom>
        </p:spPr>
      </p:pic>
      <p:sp>
        <p:nvSpPr>
          <p:cNvPr id="33" name="Text 18"/>
          <p:cNvSpPr txBox="1"/>
          <p:nvPr/>
        </p:nvSpPr>
        <p:spPr>
          <a:xfrm>
            <a:off x="1371600" y="4846320"/>
            <a:ext cx="1607744" cy="45720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Protect guest trust</a:t>
            </a:r>
            <a:endParaRPr lang="en-US" sz="1300" dirty="0"/>
          </a:p>
        </p:txBody>
      </p:sp>
      <p:sp>
        <p:nvSpPr>
          <p:cNvPr id="34" name="Text 19"/>
          <p:cNvSpPr txBox="1"/>
          <p:nvPr/>
        </p:nvSpPr>
        <p:spPr>
          <a:xfrm>
            <a:off x="777240" y="5422392"/>
            <a:ext cx="2110664" cy="4572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Keep guest data and payments safe</a:t>
            </a:r>
            <a:endParaRPr lang="en-US" sz="1100" dirty="0"/>
          </a:p>
        </p:txBody>
      </p:sp>
      <p:sp>
        <p:nvSpPr>
          <p:cNvPr id="35" name="Shape 20"/>
          <p:cNvSpPr/>
          <p:nvPr/>
        </p:nvSpPr>
        <p:spPr>
          <a:xfrm>
            <a:off x="3390824" y="4617720"/>
            <a:ext cx="2567864" cy="1371600"/>
          </a:xfrm>
          <a:prstGeom prst="roundRect">
            <a:avLst>
              <a:gd name="adj" fmla="val 5333"/>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sp>
        <p:nvSpPr>
          <p:cNvPr id="36" name="Shape 21"/>
          <p:cNvSpPr/>
          <p:nvPr/>
        </p:nvSpPr>
        <p:spPr>
          <a:xfrm>
            <a:off x="3619424" y="4846320"/>
            <a:ext cx="457200" cy="457200"/>
          </a:xfrm>
          <a:prstGeom prst="roundRect">
            <a:avLst>
              <a:gd name="adj" fmla="val 20000"/>
            </a:avLst>
          </a:prstGeom>
          <a:solidFill>
            <a:srgbClr val="FDECEC"/>
          </a:solidFill>
          <a:ln w="12700">
            <a:solidFill>
              <a:srgbClr val="FDECEC"/>
            </a:solidFill>
            <a:prstDash val="solid"/>
          </a:ln>
        </p:spPr>
      </p:sp>
      <p:pic>
        <p:nvPicPr>
          <p:cNvPr id="37" name="Image 13" descr="preencoded.png"/>
          <p:cNvPicPr>
            <a:picLocks noChangeAspect="1"/>
          </p:cNvPicPr>
          <p:nvPr/>
        </p:nvPicPr>
        <p:blipFill>
          <a:blip r:embed="rId8"/>
          <a:stretch>
            <a:fillRect/>
          </a:stretch>
        </p:blipFill>
        <p:spPr>
          <a:xfrm>
            <a:off x="3720008" y="4946904"/>
            <a:ext cx="256032" cy="256032"/>
          </a:xfrm>
          <a:prstGeom prst="rect">
            <a:avLst/>
          </a:prstGeom>
        </p:spPr>
      </p:pic>
      <p:sp>
        <p:nvSpPr>
          <p:cNvPr id="38" name="Text 22"/>
          <p:cNvSpPr txBox="1"/>
          <p:nvPr/>
        </p:nvSpPr>
        <p:spPr>
          <a:xfrm>
            <a:off x="4213784" y="4846320"/>
            <a:ext cx="1607744" cy="45720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Business continuity</a:t>
            </a:r>
            <a:endParaRPr lang="en-US" sz="1300" dirty="0"/>
          </a:p>
        </p:txBody>
      </p:sp>
      <p:sp>
        <p:nvSpPr>
          <p:cNvPr id="39" name="Text 23"/>
          <p:cNvSpPr txBox="1"/>
          <p:nvPr/>
        </p:nvSpPr>
        <p:spPr>
          <a:xfrm>
            <a:off x="3619424" y="5422392"/>
            <a:ext cx="2110664" cy="4572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Avoid downtime at the front desk and back office</a:t>
            </a:r>
            <a:endParaRPr lang="en-US" sz="1100" dirty="0"/>
          </a:p>
        </p:txBody>
      </p:sp>
      <p:sp>
        <p:nvSpPr>
          <p:cNvPr id="40" name="Shape 24"/>
          <p:cNvSpPr/>
          <p:nvPr/>
        </p:nvSpPr>
        <p:spPr>
          <a:xfrm>
            <a:off x="6233008" y="4617720"/>
            <a:ext cx="2567864" cy="1371600"/>
          </a:xfrm>
          <a:prstGeom prst="roundRect">
            <a:avLst>
              <a:gd name="adj" fmla="val 5333"/>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sp>
        <p:nvSpPr>
          <p:cNvPr id="41" name="Shape 25"/>
          <p:cNvSpPr/>
          <p:nvPr/>
        </p:nvSpPr>
        <p:spPr>
          <a:xfrm>
            <a:off x="6461608" y="4846320"/>
            <a:ext cx="457200" cy="457200"/>
          </a:xfrm>
          <a:prstGeom prst="roundRect">
            <a:avLst>
              <a:gd name="adj" fmla="val 20000"/>
            </a:avLst>
          </a:prstGeom>
          <a:solidFill>
            <a:srgbClr val="FDECEC"/>
          </a:solidFill>
          <a:ln w="12700">
            <a:solidFill>
              <a:srgbClr val="FDECEC"/>
            </a:solidFill>
            <a:prstDash val="solid"/>
          </a:ln>
        </p:spPr>
      </p:sp>
      <p:pic>
        <p:nvPicPr>
          <p:cNvPr id="42" name="Image 14" descr="preencoded.png"/>
          <p:cNvPicPr>
            <a:picLocks noChangeAspect="1"/>
          </p:cNvPicPr>
          <p:nvPr/>
        </p:nvPicPr>
        <p:blipFill>
          <a:blip r:embed="rId9"/>
          <a:stretch>
            <a:fillRect/>
          </a:stretch>
        </p:blipFill>
        <p:spPr>
          <a:xfrm>
            <a:off x="6562192" y="4946904"/>
            <a:ext cx="256032" cy="256032"/>
          </a:xfrm>
          <a:prstGeom prst="rect">
            <a:avLst/>
          </a:prstGeom>
        </p:spPr>
      </p:pic>
      <p:sp>
        <p:nvSpPr>
          <p:cNvPr id="43" name="Text 26"/>
          <p:cNvSpPr txBox="1"/>
          <p:nvPr/>
        </p:nvSpPr>
        <p:spPr>
          <a:xfrm>
            <a:off x="7055968" y="4846320"/>
            <a:ext cx="1607744" cy="45720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Lower IT workload</a:t>
            </a:r>
            <a:endParaRPr lang="en-US" sz="1300" dirty="0"/>
          </a:p>
        </p:txBody>
      </p:sp>
      <p:sp>
        <p:nvSpPr>
          <p:cNvPr id="44" name="Text 27"/>
          <p:cNvSpPr txBox="1"/>
          <p:nvPr/>
        </p:nvSpPr>
        <p:spPr>
          <a:xfrm>
            <a:off x="6461608" y="5422392"/>
            <a:ext cx="2110664" cy="4572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Automation plus SECUKOREA 24/7 support</a:t>
            </a:r>
            <a:endParaRPr lang="en-US" sz="1100" dirty="0"/>
          </a:p>
        </p:txBody>
      </p:sp>
      <p:sp>
        <p:nvSpPr>
          <p:cNvPr id="45" name="Shape 28"/>
          <p:cNvSpPr/>
          <p:nvPr/>
        </p:nvSpPr>
        <p:spPr>
          <a:xfrm>
            <a:off x="9075191" y="4617720"/>
            <a:ext cx="2567864" cy="1371600"/>
          </a:xfrm>
          <a:prstGeom prst="roundRect">
            <a:avLst>
              <a:gd name="adj" fmla="val 5333"/>
            </a:avLst>
          </a:prstGeom>
          <a:solidFill>
            <a:srgbClr val="FFFFFF"/>
          </a:solidFill>
          <a:ln w="9525">
            <a:solidFill>
              <a:srgbClr val="DCE1E7"/>
            </a:solidFill>
            <a:prstDash val="solid"/>
          </a:ln>
          <a:effectLst>
            <a:outerShdw blurRad="101600" dist="25400" dir="5400000" algn="bl" rotWithShape="0">
              <a:srgbClr val="000000">
                <a:alpha val="10000"/>
              </a:srgbClr>
            </a:outerShdw>
          </a:effectLst>
        </p:spPr>
      </p:sp>
      <p:sp>
        <p:nvSpPr>
          <p:cNvPr id="46" name="Shape 29"/>
          <p:cNvSpPr/>
          <p:nvPr/>
        </p:nvSpPr>
        <p:spPr>
          <a:xfrm>
            <a:off x="9303791" y="4846320"/>
            <a:ext cx="457200" cy="457200"/>
          </a:xfrm>
          <a:prstGeom prst="roundRect">
            <a:avLst>
              <a:gd name="adj" fmla="val 20000"/>
            </a:avLst>
          </a:prstGeom>
          <a:solidFill>
            <a:srgbClr val="FDECEC"/>
          </a:solidFill>
          <a:ln w="12700">
            <a:solidFill>
              <a:srgbClr val="FDECEC"/>
            </a:solidFill>
            <a:prstDash val="solid"/>
          </a:ln>
        </p:spPr>
      </p:sp>
      <p:pic>
        <p:nvPicPr>
          <p:cNvPr id="47" name="Image 15" descr="preencoded.png"/>
          <p:cNvPicPr>
            <a:picLocks noChangeAspect="1"/>
          </p:cNvPicPr>
          <p:nvPr/>
        </p:nvPicPr>
        <p:blipFill>
          <a:blip r:embed="rId10"/>
          <a:stretch>
            <a:fillRect/>
          </a:stretch>
        </p:blipFill>
        <p:spPr>
          <a:xfrm>
            <a:off x="9404375" y="4946904"/>
            <a:ext cx="256032" cy="256032"/>
          </a:xfrm>
          <a:prstGeom prst="rect">
            <a:avLst/>
          </a:prstGeom>
        </p:spPr>
      </p:pic>
      <p:sp>
        <p:nvSpPr>
          <p:cNvPr id="48" name="Text 30"/>
          <p:cNvSpPr txBox="1"/>
          <p:nvPr/>
        </p:nvSpPr>
        <p:spPr>
          <a:xfrm>
            <a:off x="9898151" y="4846320"/>
            <a:ext cx="1607744" cy="457200"/>
          </a:xfrm>
          <a:prstGeom prst="rect">
            <a:avLst/>
          </a:prstGeom>
          <a:noFill/>
          <a:ln/>
        </p:spPr>
        <p:txBody>
          <a:bodyPr wrap="square" lIns="0" tIns="0" rIns="0" bIns="0" rtlCol="0" anchor="ctr"/>
          <a:lstStyle/>
          <a:p>
            <a:pPr marL="0" indent="0">
              <a:buNone/>
            </a:pPr>
            <a:r>
              <a:rPr lang="en-US" sz="1300" b="1" dirty="0">
                <a:solidFill>
                  <a:srgbClr val="151A21"/>
                </a:solidFill>
                <a:latin typeface="Arial" pitchFamily="34" charset="0"/>
                <a:ea typeface="Arial" pitchFamily="34" charset="-122"/>
                <a:cs typeface="Arial" pitchFamily="34" charset="-120"/>
              </a:rPr>
              <a:t>Compliance support</a:t>
            </a:r>
            <a:endParaRPr lang="en-US" sz="1300" dirty="0"/>
          </a:p>
        </p:txBody>
      </p:sp>
      <p:sp>
        <p:nvSpPr>
          <p:cNvPr id="49" name="Text 31"/>
          <p:cNvSpPr txBox="1"/>
          <p:nvPr/>
        </p:nvSpPr>
        <p:spPr>
          <a:xfrm>
            <a:off x="9303791" y="5422392"/>
            <a:ext cx="2110664" cy="457200"/>
          </a:xfrm>
          <a:prstGeom prst="rect">
            <a:avLst/>
          </a:prstGeom>
          <a:noFill/>
          <a:ln/>
        </p:spPr>
        <p:txBody>
          <a:bodyPr wrap="square" lIns="0" tIns="0" rIns="0" bIns="0" rtlCol="0" anchor="t"/>
          <a:lstStyle/>
          <a:p>
            <a:pPr marL="0" indent="0">
              <a:buNone/>
            </a:pPr>
            <a:r>
              <a:rPr lang="en-US" sz="1100" dirty="0">
                <a:solidFill>
                  <a:srgbClr val="5E6978"/>
                </a:solidFill>
                <a:latin typeface="Calibri" pitchFamily="34" charset="0"/>
                <a:ea typeface="Calibri" pitchFamily="34" charset="-122"/>
                <a:cs typeface="Calibri" pitchFamily="34" charset="-120"/>
              </a:rPr>
              <a:t>Supports PCI DSS and data-protection requirements</a:t>
            </a:r>
            <a:endParaRPr lang="en-US" sz="1100" dirty="0"/>
          </a:p>
        </p:txBody>
      </p:sp>
      <p:sp>
        <p:nvSpPr>
          <p:cNvPr id="50" name="Text 32"/>
          <p:cNvSpPr txBox="1"/>
          <p:nvPr/>
        </p:nvSpPr>
        <p:spPr>
          <a:xfrm>
            <a:off x="548640" y="6446520"/>
            <a:ext cx="7315200" cy="219456"/>
          </a:xfrm>
          <a:prstGeom prst="rect">
            <a:avLst/>
          </a:prstGeom>
          <a:noFill/>
          <a:ln/>
        </p:spPr>
        <p:txBody>
          <a:bodyPr wrap="square" lIns="0" tIns="0" rIns="0" bIns="0" rtlCol="0" anchor="ctr"/>
          <a:lstStyle/>
          <a:p>
            <a:pPr marL="0" indent="0">
              <a:buNone/>
            </a:pPr>
            <a:r>
              <a:rPr lang="en-US" sz="900" dirty="0">
                <a:solidFill>
                  <a:srgbClr val="5E6978"/>
                </a:solidFill>
                <a:latin typeface="Calibri" pitchFamily="34" charset="0"/>
                <a:ea typeface="Calibri" pitchFamily="34" charset="-122"/>
                <a:cs typeface="Calibri" pitchFamily="34" charset="-120"/>
              </a:rPr>
              <a:t>17   |   Nessus vs. CrowdStrike Falcon Platform  ·  Proposal for The Westin Resort Guam</a:t>
            </a:r>
            <a:endParaRPr lang="en-US" sz="900" dirty="0"/>
          </a:p>
        </p:txBody>
      </p:sp>
      <p:pic>
        <p:nvPicPr>
          <p:cNvPr id="51" name="Image 16" descr="/private/tmp/claude-501/-Users-jihanvin-Desktop-NIVNAH-AI/16a96446-d9b3-40e2-af9e-a3011ae3db84/scratchpad/assets/secukorea_dark.png"/>
          <p:cNvPicPr>
            <a:picLocks noChangeAspect="1"/>
          </p:cNvPicPr>
          <p:nvPr/>
        </p:nvPicPr>
        <p:blipFill>
          <a:blip r:embed="rId11"/>
          <a:stretch>
            <a:fillRect/>
          </a:stretch>
        </p:blipFill>
        <p:spPr>
          <a:xfrm>
            <a:off x="10661904" y="6400800"/>
            <a:ext cx="978408" cy="233172"/>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000000"/>
        </a:solidFill>
        <a:effectLst/>
      </p:bgPr>
    </p:bg>
    <p:spTree>
      <p:nvGrpSpPr>
        <p:cNvPr id="1" name=""/>
        <p:cNvGrpSpPr/>
        <p:nvPr/>
      </p:nvGrpSpPr>
      <p:grpSpPr>
        <a:xfrm>
          <a:off x="0" y="0"/>
          <a:ext cx="0" cy="0"/>
          <a:chOff x="0" y="0"/>
          <a:chExt cx="0" cy="0"/>
        </a:xfrm>
      </p:grpSpPr>
      <p:pic>
        <p:nvPicPr>
          <p:cNvPr id="2" name="Image 0" descr="/private/tmp/claude-501/-Users-jihanvin-Desktop-NIVNAH-AI/16a96446-d9b3-40e2-af9e-a3011ae3db84/scratchpad/assets/bg_lines.jpg"/>
          <p:cNvPicPr>
            <a:picLocks noChangeAspect="1"/>
          </p:cNvPicPr>
          <p:nvPr/>
        </p:nvPicPr>
        <p:blipFill>
          <a:blip r:embed="rId3"/>
          <a:stretch>
            <a:fillRect/>
          </a:stretch>
        </p:blipFill>
        <p:spPr>
          <a:xfrm>
            <a:off x="4428439" y="0"/>
            <a:ext cx="7763256" cy="6858000"/>
          </a:xfrm>
          <a:prstGeom prst="rect">
            <a:avLst/>
          </a:prstGeom>
        </p:spPr>
      </p:pic>
      <p:pic>
        <p:nvPicPr>
          <p:cNvPr id="3" name="Image 1" descr="/private/tmp/claude-501/-Users-jihanvin-Desktop-NIVNAH-AI/16a96446-d9b3-40e2-af9e-a3011ae3db84/scratchpad/assets/westin_white.png"/>
          <p:cNvPicPr>
            <a:picLocks noChangeAspect="1"/>
          </p:cNvPicPr>
          <p:nvPr/>
        </p:nvPicPr>
        <p:blipFill>
          <a:blip r:embed="rId4"/>
          <a:stretch>
            <a:fillRect/>
          </a:stretch>
        </p:blipFill>
        <p:spPr>
          <a:xfrm>
            <a:off x="548640" y="502920"/>
            <a:ext cx="1371600" cy="411480"/>
          </a:xfrm>
          <a:prstGeom prst="rect">
            <a:avLst/>
          </a:prstGeom>
        </p:spPr>
      </p:pic>
      <p:sp>
        <p:nvSpPr>
          <p:cNvPr id="4" name="Text 0"/>
          <p:cNvSpPr txBox="1"/>
          <p:nvPr/>
        </p:nvSpPr>
        <p:spPr>
          <a:xfrm>
            <a:off x="548640" y="2011680"/>
            <a:ext cx="7315200" cy="365760"/>
          </a:xfrm>
          <a:prstGeom prst="rect">
            <a:avLst/>
          </a:prstGeom>
          <a:noFill/>
          <a:ln/>
        </p:spPr>
        <p:txBody>
          <a:bodyPr wrap="square" lIns="0" tIns="0" rIns="0" bIns="0" rtlCol="0" anchor="t"/>
          <a:lstStyle/>
          <a:p>
            <a:pPr marL="0" indent="0">
              <a:buNone/>
            </a:pPr>
            <a:r>
              <a:rPr lang="en-US" sz="1400" b="1" kern="0" spc="300" dirty="0">
                <a:solidFill>
                  <a:srgbClr val="E3202A"/>
                </a:solidFill>
                <a:latin typeface="Calibri" pitchFamily="34" charset="0"/>
                <a:ea typeface="Calibri" pitchFamily="34" charset="-122"/>
                <a:cs typeface="Calibri" pitchFamily="34" charset="-120"/>
              </a:rPr>
              <a:t>Q &amp; A</a:t>
            </a:r>
            <a:endParaRPr lang="en-US" sz="1400" dirty="0"/>
          </a:p>
        </p:txBody>
      </p:sp>
      <p:sp>
        <p:nvSpPr>
          <p:cNvPr id="5" name="Text 1"/>
          <p:cNvSpPr txBox="1"/>
          <p:nvPr/>
        </p:nvSpPr>
        <p:spPr>
          <a:xfrm>
            <a:off x="548640" y="2423160"/>
            <a:ext cx="7315200" cy="1097280"/>
          </a:xfrm>
          <a:prstGeom prst="rect">
            <a:avLst/>
          </a:prstGeom>
          <a:noFill/>
          <a:ln/>
        </p:spPr>
        <p:txBody>
          <a:bodyPr wrap="square" lIns="0" tIns="0" rIns="0" bIns="0" rtlCol="0" anchor="ctr"/>
          <a:lstStyle/>
          <a:p>
            <a:pPr marL="0" indent="0">
              <a:buNone/>
            </a:pPr>
            <a:r>
              <a:rPr lang="en-US" sz="5400" b="1" dirty="0">
                <a:solidFill>
                  <a:srgbClr val="FFFFFF"/>
                </a:solidFill>
                <a:latin typeface="Arial" pitchFamily="34" charset="0"/>
                <a:ea typeface="Arial" pitchFamily="34" charset="-122"/>
                <a:cs typeface="Arial" pitchFamily="34" charset="-120"/>
              </a:rPr>
              <a:t>Thank You</a:t>
            </a:r>
            <a:endParaRPr lang="en-US" sz="5400" dirty="0"/>
          </a:p>
        </p:txBody>
      </p:sp>
      <p:sp>
        <p:nvSpPr>
          <p:cNvPr id="6" name="Text 2"/>
          <p:cNvSpPr txBox="1"/>
          <p:nvPr/>
        </p:nvSpPr>
        <p:spPr>
          <a:xfrm>
            <a:off x="548640" y="3611880"/>
            <a:ext cx="8961120" cy="457200"/>
          </a:xfrm>
          <a:prstGeom prst="rect">
            <a:avLst/>
          </a:prstGeom>
          <a:noFill/>
          <a:ln/>
        </p:spPr>
        <p:txBody>
          <a:bodyPr wrap="square" lIns="0" tIns="0" rIns="0" bIns="0" rtlCol="0" anchor="t"/>
          <a:lstStyle/>
          <a:p>
            <a:pPr marL="0" indent="0">
              <a:buNone/>
            </a:pPr>
            <a:r>
              <a:rPr lang="en-US" sz="1600" dirty="0">
                <a:solidFill>
                  <a:srgbClr val="C9CED6"/>
                </a:solidFill>
                <a:latin typeface="Calibri" pitchFamily="34" charset="0"/>
                <a:ea typeface="Calibri" pitchFamily="34" charset="-122"/>
                <a:cs typeface="Calibri" pitchFamily="34" charset="-120"/>
              </a:rPr>
              <a:t>Real-time endpoint protection for The Westin Resort Guam — powered by CrowdStrike Falcon.</a:t>
            </a:r>
            <a:endParaRPr lang="en-US" sz="1600" dirty="0"/>
          </a:p>
        </p:txBody>
      </p:sp>
      <p:pic>
        <p:nvPicPr>
          <p:cNvPr id="7" name="Image 2" descr="preencoded.png"/>
          <p:cNvPicPr>
            <a:picLocks noChangeAspect="1"/>
          </p:cNvPicPr>
          <p:nvPr/>
        </p:nvPicPr>
        <p:blipFill>
          <a:blip r:embed="rId5"/>
          <a:stretch>
            <a:fillRect/>
          </a:stretch>
        </p:blipFill>
        <p:spPr>
          <a:xfrm>
            <a:off x="548640" y="4626864"/>
            <a:ext cx="219456" cy="219456"/>
          </a:xfrm>
          <a:prstGeom prst="rect">
            <a:avLst/>
          </a:prstGeom>
        </p:spPr>
      </p:pic>
      <p:sp>
        <p:nvSpPr>
          <p:cNvPr id="8" name="Text 3"/>
          <p:cNvSpPr txBox="1"/>
          <p:nvPr/>
        </p:nvSpPr>
        <p:spPr>
          <a:xfrm>
            <a:off x="932688" y="4572000"/>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secukorea@secukorea.com</a:t>
            </a:r>
            <a:endParaRPr lang="en-US" sz="1400" dirty="0"/>
          </a:p>
        </p:txBody>
      </p:sp>
      <p:pic>
        <p:nvPicPr>
          <p:cNvPr id="9" name="Image 3" descr="preencoded.png"/>
          <p:cNvPicPr>
            <a:picLocks noChangeAspect="1"/>
          </p:cNvPicPr>
          <p:nvPr/>
        </p:nvPicPr>
        <p:blipFill>
          <a:blip r:embed="rId6"/>
          <a:stretch>
            <a:fillRect/>
          </a:stretch>
        </p:blipFill>
        <p:spPr>
          <a:xfrm>
            <a:off x="548640" y="5038344"/>
            <a:ext cx="219456" cy="219456"/>
          </a:xfrm>
          <a:prstGeom prst="rect">
            <a:avLst/>
          </a:prstGeom>
        </p:spPr>
      </p:pic>
      <p:sp>
        <p:nvSpPr>
          <p:cNvPr id="10" name="Text 4"/>
          <p:cNvSpPr txBox="1"/>
          <p:nvPr/>
        </p:nvSpPr>
        <p:spPr>
          <a:xfrm>
            <a:off x="932688" y="4983480"/>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+82-2-3400-0877</a:t>
            </a:r>
            <a:endParaRPr lang="en-US" sz="1400" dirty="0"/>
          </a:p>
        </p:txBody>
      </p:sp>
      <p:pic>
        <p:nvPicPr>
          <p:cNvPr id="11" name="Image 4" descr="preencoded.png"/>
          <p:cNvPicPr>
            <a:picLocks noChangeAspect="1"/>
          </p:cNvPicPr>
          <p:nvPr/>
        </p:nvPicPr>
        <p:blipFill>
          <a:blip r:embed="rId7"/>
          <a:stretch>
            <a:fillRect/>
          </a:stretch>
        </p:blipFill>
        <p:spPr>
          <a:xfrm>
            <a:off x="548640" y="5449824"/>
            <a:ext cx="219456" cy="219456"/>
          </a:xfrm>
          <a:prstGeom prst="rect">
            <a:avLst/>
          </a:prstGeom>
        </p:spPr>
      </p:pic>
      <p:sp>
        <p:nvSpPr>
          <p:cNvPr id="12" name="Text 5"/>
          <p:cNvSpPr txBox="1"/>
          <p:nvPr/>
        </p:nvSpPr>
        <p:spPr>
          <a:xfrm>
            <a:off x="932688" y="5394960"/>
            <a:ext cx="4572000" cy="329184"/>
          </a:xfrm>
          <a:prstGeom prst="rect">
            <a:avLst/>
          </a:prstGeom>
          <a:noFill/>
          <a:ln/>
        </p:spPr>
        <p:txBody>
          <a:bodyPr wrap="square" lIns="0" tIns="0" rIns="0" bIns="0" rtlCol="0" anchor="ctr"/>
          <a:lstStyle/>
          <a:p>
            <a:pPr marL="0" indent="0">
              <a:buNone/>
            </a:pPr>
            <a:r>
              <a:rPr lang="en-US" sz="1400" dirty="0">
                <a:solidFill>
                  <a:srgbClr val="FFFFFF"/>
                </a:solidFill>
                <a:latin typeface="Calibri" pitchFamily="34" charset="0"/>
                <a:ea typeface="Calibri" pitchFamily="34" charset="-122"/>
                <a:cs typeface="Calibri" pitchFamily="34" charset="-120"/>
              </a:rPr>
              <a:t>www.secukorea.com</a:t>
            </a:r>
            <a:endParaRPr lang="en-US" sz="1400" dirty="0"/>
          </a:p>
        </p:txBody>
      </p:sp>
      <p:sp>
        <p:nvSpPr>
          <p:cNvPr id="13" name="Text 6"/>
          <p:cNvSpPr txBox="1"/>
          <p:nvPr/>
        </p:nvSpPr>
        <p:spPr>
          <a:xfrm>
            <a:off x="7589520" y="6217920"/>
            <a:ext cx="822960" cy="219456"/>
          </a:xfrm>
          <a:prstGeom prst="rect">
            <a:avLst/>
          </a:prstGeom>
          <a:noFill/>
          <a:ln/>
        </p:spPr>
        <p:txBody>
          <a:bodyPr wrap="square" lIns="0" tIns="0" rIns="0" bIns="0" rtlCol="0" anchor="ctr"/>
          <a:lstStyle/>
          <a:p>
            <a:pPr marL="0" indent="0">
              <a:buNone/>
            </a:pPr>
            <a:r>
              <a:rPr lang="en-US" sz="900" dirty="0">
                <a:solidFill>
                  <a:srgbClr val="8A93A0"/>
                </a:solidFill>
                <a:latin typeface="Calibri" pitchFamily="34" charset="0"/>
                <a:ea typeface="Calibri" pitchFamily="34" charset="-122"/>
                <a:cs typeface="Calibri" pitchFamily="34" charset="-120"/>
              </a:rPr>
              <a:t>Solution</a:t>
            </a:r>
            <a:endParaRPr lang="en-US" sz="900" dirty="0"/>
          </a:p>
        </p:txBody>
      </p:sp>
      <p:pic>
        <p:nvPicPr>
          <p:cNvPr id="14" name="Image 5" descr="/private/tmp/claude-501/-Users-jihanvin-Desktop-NIVNAH-AI/16a96446-d9b3-40e2-af9e-a3011ae3db84/scratchpad/assets/cs_logo_white.png"/>
          <p:cNvPicPr>
            <a:picLocks noChangeAspect="1"/>
          </p:cNvPicPr>
          <p:nvPr/>
        </p:nvPicPr>
        <p:blipFill>
          <a:blip r:embed="rId8"/>
          <a:stretch>
            <a:fillRect/>
          </a:stretch>
        </p:blipFill>
        <p:spPr>
          <a:xfrm>
            <a:off x="8275320" y="6236208"/>
            <a:ext cx="1600200" cy="182880"/>
          </a:xfrm>
          <a:prstGeom prst="rect">
            <a:avLst/>
          </a:prstGeom>
        </p:spPr>
      </p:pic>
      <p:pic>
        <p:nvPicPr>
          <p:cNvPr id="15" name="Image 6" descr="/private/tmp/claude-501/-Users-jihanvin-Desktop-NIVNAH-AI/16a96446-d9b3-40e2-af9e-a3011ae3db84/scratchpad/assets/secukorea_light.png"/>
          <p:cNvPicPr>
            <a:picLocks noChangeAspect="1"/>
          </p:cNvPicPr>
          <p:nvPr/>
        </p:nvPicPr>
        <p:blipFill>
          <a:blip r:embed="rId9"/>
          <a:stretch>
            <a:fillRect/>
          </a:stretch>
        </p:blipFill>
        <p:spPr>
          <a:xfrm>
            <a:off x="10314432" y="6163056"/>
            <a:ext cx="1325880" cy="315468"/>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3986</Words>
  <Application>Microsoft Office PowerPoint</Application>
  <PresentationFormat>와이드스크린</PresentationFormat>
  <Paragraphs>515</Paragraphs>
  <Slides>21</Slides>
  <Notes>21</Notes>
  <HiddenSlides>0</HiddenSlides>
  <MMClips>0</MMClips>
  <ScaleCrop>false</ScaleCrop>
  <HeadingPairs>
    <vt:vector size="6" baseType="variant">
      <vt:variant>
        <vt:lpstr>사용한 글꼴</vt:lpstr>
      </vt:variant>
      <vt:variant>
        <vt:i4>2</vt:i4>
      </vt:variant>
      <vt:variant>
        <vt:lpstr>테마</vt:lpstr>
      </vt:variant>
      <vt:variant>
        <vt:i4>1</vt:i4>
      </vt:variant>
      <vt:variant>
        <vt:lpstr>슬라이드 제목</vt:lpstr>
      </vt:variant>
      <vt:variant>
        <vt:i4>21</vt:i4>
      </vt:variant>
    </vt:vector>
  </HeadingPairs>
  <TitlesOfParts>
    <vt:vector size="24" baseType="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SECUKOREA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Nessus vs. CrowdStrike Falcon Platform — Proposal for The Westin Resort Guam</dc:title>
  <dc:subject>PptxGenJS Presentation</dc:subject>
  <dc:creator>SECUKOREA Inc.</dc:creator>
  <cp:lastModifiedBy>MyPC_Lenovo 03</cp:lastModifiedBy>
  <cp:revision>5</cp:revision>
  <dcterms:created xsi:type="dcterms:W3CDTF">2026-09-23T07:33:43Z</dcterms:created>
  <dcterms:modified xsi:type="dcterms:W3CDTF">2026-09-24T06:12:41Z</dcterms:modified>
</cp:coreProperties>
</file>