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27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본 제안서는 리조트가 현재 사용 중인 Nessus와 CrowdStrike Falcon 플랫폼을 비교하고, 실시간 엔드포인트 보호 도입을 권고합니다.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Nessus는 어디가 노출되어 있는지 알려주고, Falcon은 공격을 실시간으로 막습니다. 현황, 공백, 제안을 차례로 설명한 뒤 제3자 검증 지표를 짚어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설명: 24시간 운영되는 리조트와 소규모 IT팀. Nessus는 유용하지만 결과만 보여줄 뿐이며, 리조트에는 스스로 대응하는 보호 체계가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위협 환경이 바뀌었습니다. 확산 시간은 초 단위이고, 제로데이는 스캐너가 점검하기 전에 악용됩니다. 스캐닝만으로는 따라갈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Nessus를 공정하게 평가하십시오. 좋은 취약점 스캐너이지만 역할은 보고서에서 끝납니다. 차단, 탐지, 대응, 조치는 모두 IT팀의 몫입니다.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비기술 관계자를 위한 비유: Nessus는 정기 소방 점검이고, Falcon은 실제 화재 시 작동하는 화재감지기, 스프링클러, 보안팀입니다.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타임라인입니다. 공격은 다음 스캔을 기다리지 않습니다. Falcon은 상시 동작하므로 각 이벤트가 발생하는 즉시 차단하거나 격리합니다. 이벤트는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Falcon은 하나의 경량 센서와 하나의 클라우드 콘솔로 구성되며 현장 서버가 없습니다. 같은 센서로 향후 계정, 모바일, 클라우드 워크로드까지 확장할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차단은 센서의 머신러닝과 행위 기반 공격 지표(IOA)에서 시작해, 클라우드의 대규모 모델, 위협 인텔리전스, AI 분류로 이어집니다. 결과적으로 자동 차단과 신속한 격리가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범위는 Prevent, Insight XDR, Device Control, Firewall Management입니다. 추가 모듈은 같은 센서에서 나중에 활성화할 수 있습니다. 최종 모듈은 범위 확정 워크숍 후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운영팀이 없는 리조트에게 선택형 관리형 서비스는 24시간 대응을 확보하는 현실적인 방법입니다. CrowdStrike 분석가와 Charlotte AI가 모니터링, 분류, 격리, 복구를 수행합니다.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CrowdStrike가 공개한 실제 침해 사례입니다. 첫 단계는 Falcon 센서가 없는 장비를 통해 이뤄졌고, 내부 확산 단계부터는 Falcon이 모든 단계를 탐지하거나 차단했습니다. 스캐너는 기껏해야 VPN 취약점을 식별하는 데 그쳤을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항목별 요약입니다. Nessus는 주기적인 취약점 발견에 여전히 강점이 있고, Falcon은 실제로 공격을 막는 데 필요한 모든 것을 더하면서 일상 업무 부담은 줄여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제3자 검증: MITRE ATT&amp;CK 2025 만점, Gartner Magic Quadrant 리더, SE Labs 랜섬웨어 테스트, Forrester ROI, Gartner Peer Insights 고객 평가.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고객 성과: 호스피탈리티 업계의 빠른 배포, 관리형 서비스를 통한 사고 해결 시간 단축, 분산된 멀티 브랜드 조직의 경보 감소와 정확도 향상.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위험이 낮은 방안: 기존 Nessus 프로세스를 바꾸지 않고 Falcon을 먼저 도입한 뒤, 90일 후 통합을 검토합니다. 감사에 필요한 외부 취약점 스캔은 필요에 따라 계속할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일정입니다. 차단을 활성화하기 전 탐지 전용 모드의 짧은 파일럿으로 호텔 운영을 보호합니다. 센서 업데이트는 단계적으로 진행해 항상 파일럿 그룹이 먼저 받도록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전후를 요약한 뒤, 호텔 경영진에게 중요한 네 가지 비즈니스 성과인 고객 신뢰, 연속성, IT 업무 부담, 컴플라이언스를 설명하십시오.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구체적이고 부담 없는 첫 단계로 마무리하십시오. 짧은 범위 확정 워크숍 후 파일럿을 진행해, 전사 배포를 결정하기 전에 리조트의 엔드포인트에서 Falcon이 동작하는 모습을 직접 확인하도록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감사를 전하고 질의응답을 진행합니다. 범위 확정 워크숍 일정을 제안하십시오.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시큐코리아가 1차 지원을 맡습니다. 해외 사업장에 특화된 24시간 원격 기술지원과, 리조트에 매칭된 전담 엔지니어를 통해 안정적인 일상 운영을 보장합니다. 더 깊은 지원이 필요할 때는 CrowdStrike 파트너인 SK쉴더스가 연계 지원합니다. 24시간 침해사고 대응 전문가, Critical 이벤트 발생 시 30분 내 유선 연락 및 2시간 내 초동 조치 SLA, 네트워크 보안장비·서버 포함 분석, 타 보안장비 로그 상관분석, 악성코드 분석을 제공합니다.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jp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jp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제안서   |   엔드포인트 보안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4884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스캐닝에서 실시간 엔드포인트 보호로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vs. CrowdStrike Falcon® 플랫폼 (EPP / EDR)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 리조트 괌을 위한 비교 제안서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제안사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(주)시큐코리아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 리조트 괌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제안일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9월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4" name="Image 2" descr="/private/tmp/claude-501/-Users-jihanvin-Desktop-NIVNAH-AI/16a96446-d9b3-40e2-af9e-a3011ae3db84/scratchpad/assets/cs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3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Nessus는 약점을 찾고, Falcon은 공격을 막습니다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 리조트 괌은 이미 Nessus로 취약점을 점검하고 있습니다. 본 제안은 스캐닝만으로는 제공할 수 없는 것, 즉 모든 엔드포인트에서의 실시간 차단·탐지·대응을 더합니다. 클라우드로 제공되며 24/7 전문가가 뒷받침합니다.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15258" cy="2487168"/>
          </a:xfrm>
          <a:prstGeom prst="roundRect">
            <a:avLst>
              <a:gd name="adj" fmla="val 294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25338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32888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상황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운영 리조트, 소규모 IT팀, 스캔 중심 보안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6576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정보, 결제, 프런트 데스크 시스템은 24시간 보호되어야 합니다. 현재 Nessus는 취약점을 보고하지만, 모든 조치와 사고 대응은 직원의 수작업에 의존합니다.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8218" y="2148840"/>
            <a:ext cx="3515258" cy="2487168"/>
          </a:xfrm>
          <a:prstGeom prst="roundRect">
            <a:avLst>
              <a:gd name="adj" fmla="val 294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12538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181" y="25338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2618" y="2532888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공백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612538" y="30632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공격은 스캔 주기보다 빠릅니다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2538" y="36576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빠른 공격자는 최초 침투 후 27초 만에 다른 시스템으로 확산합니다. 스캔과 스캔 사이, 스캐너는 엔드포인트에서 일어나는 일을 보지도 막지도 못합니다.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7797" y="2148840"/>
            <a:ext cx="3515258" cy="2487168"/>
          </a:xfrm>
          <a:prstGeom prst="roundRect">
            <a:avLst>
              <a:gd name="adj" fmla="val 2941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02117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759" y="253380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42197" y="2532888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내용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402117" y="30632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엔드포인트에 CrowdStrike Falcon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2117" y="36576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경량 센서로 차세대 백신(EPP)과 EDR을 클라우드 콘솔에서 제공하며, 현장 서버가 필요 없습니다. 선택형 24/7 MDR 서비스로 인력 공백을 메웁니다.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4974336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868680" y="5449824"/>
            <a:ext cx="22249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탐지·보호율, 오탐 0건 (MITRE ATT&amp;CK® 2025)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3642284" y="4974336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273%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3642284" y="5449824"/>
            <a:ext cx="22249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ROI (Forrester Total Economic Impact™ 연구)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415888" y="4974336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6415888" y="5449824"/>
            <a:ext cx="22249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Gartner® EPP 부문 Magic Quadrant™ 리더 선정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9189491" y="4974336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</a:t>
            </a:r>
            <a:endParaRPr lang="en-US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9189491" y="5449824"/>
            <a:ext cx="22249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탐지 시간 (MITRE 매니지드 서비스 평가)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8A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CrowdStrike 2026 Global Threat Report; 2025 MITRE ATT&amp;CK® Enterprise Evaluations; Forrester TEI of CrowdStrike Endpoint Security (의뢰 연구, 2025년 11월); Gartner® MQ for EPP (2026년 5월); 2024 MITRE Engenuity ATT&amp;CK® Evaluations: Managed Services.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5" name="Image 4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환경과 보안 과제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172492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81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무중단 호텔 운영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293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개인정보, 결제 처리, 프런트 데스크 및 백오피스 시스템은 24시간 가용성과 보호가 유지되어야 합니다.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2822204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제한된 현장 보안 인력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026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보안 운영팀 없이 수동 패치와 건별 사고 조사를 지속하기는 어렵습니다.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3919484"/>
            <a:ext cx="317480" cy="317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764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현재는 스캔 중심의 보호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123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Nessus는 취약점을 식별하지만 악성코드를 차단하거나 진행 중인 공격을 막지 못합니다. 모든 후속 조치는 수작업입니다.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5016764"/>
            <a:ext cx="317480" cy="317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737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고가치 공격 대상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25880" y="522122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호텔은 결제 카드 정보와 고객 신원 정보를 보유하고 있어 랜섬웨어·정보 탈취의 주요 표적이며, 브랜드 신뢰에 직접적인 영향을 줍니다.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18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리조트에 필요한 것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악성코드·랜섬웨어 자동 차단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공격의 실시간 탐지 및 격리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IT팀의 일상 업무 부담 최소화</a:t>
            </a:r>
            <a:endParaRPr lang="en-US" sz="13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전문가 지원</a:t>
            </a:r>
            <a:endParaRPr lang="en-US" sz="13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경영진·감사를 위한 명확한 보고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목표는 더 많은 보고서가 아니라, 더 적은 사고입니다.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위협 동향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공격자는 이제 어떤 스캔 주기보다 빠릅니다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27초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역대 가장 빠른 eCrime 확산 시간 — 최초 침투부터 다른 시스템 도달까지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65144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665144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AI 활용 공격자의 공격 증가율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7328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507328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전 악용된 제로데이 취약점 증가율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5191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49511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349511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1년간 랜섬웨어 피해를 입은 조사 대상 기업 비율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14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 기반 방식에 주는 시사점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4682642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스캔할 대상이 없음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전 악용되는 제로데이에는 아직 스캐너 점검 항목이 없습니다. 알려지지 않은 것은 스캔으로 찾을 수 없습니다.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38218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861" y="4682642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24018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주가 아닌 몇 초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024018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주간·월간 스캔으로는 몇 초 만에 다른 시스템으로 확산되는 침입을 잡을 수 없습니다.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127797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439" y="4682642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13597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몸값 지불은 해결책이 아님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813597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몸값을 지불한 피해자의 83%가 재공격을 받았고, 93%는 결국 데이터를 탈취당했습니다.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7D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CrowdStrike 2026 Global Threat Report; CrowdStrike State of Ransomware Survey.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2" name="Image 4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기존 솔루션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Nessus가 하는 일, 그리고 한계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82880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스캔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주기적인 네트워크·인증 스캔으로 취약점과 설정 오류 발견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2208276"/>
            <a:ext cx="201168" cy="2011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19856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8288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059936" y="182880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보고</a:t>
            </a:r>
            <a:endParaRPr lang="en-US" sz="1150" dirty="0"/>
          </a:p>
        </p:txBody>
      </p:sp>
      <p:sp>
        <p:nvSpPr>
          <p:cNvPr id="13" name="Text 7"/>
          <p:cNvSpPr txBox="1"/>
          <p:nvPr/>
        </p:nvSpPr>
        <p:spPr>
          <a:xfrm>
            <a:off x="3648456" y="2240280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심각도 등급과 함께 결과를 정리해 우선순위 결정 지원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2208276"/>
            <a:ext cx="201168" cy="20116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291072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828800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931152" y="182880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수동 후속 조치</a:t>
            </a:r>
            <a:endParaRPr lang="en-US" sz="1150" dirty="0"/>
          </a:p>
        </p:txBody>
      </p:sp>
      <p:sp>
        <p:nvSpPr>
          <p:cNvPr id="18" name="Text 10"/>
          <p:cNvSpPr txBox="1"/>
          <p:nvPr/>
        </p:nvSpPr>
        <p:spPr>
          <a:xfrm>
            <a:off x="6519672" y="2240280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담당자가 각 항목을 직접 조사·패치·검증</a:t>
            </a:r>
            <a:endParaRPr lang="en-US" sz="11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208276"/>
            <a:ext cx="201168" cy="20116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162288" y="1600200"/>
            <a:ext cx="2480767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5875">
            <a:solidFill>
              <a:srgbClr val="E3202A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0888" y="1828800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9802368" y="1828800"/>
            <a:ext cx="1703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끝</a:t>
            </a:r>
            <a:endParaRPr lang="en-US" sz="1150" dirty="0"/>
          </a:p>
        </p:txBody>
      </p:sp>
      <p:sp>
        <p:nvSpPr>
          <p:cNvPr id="23" name="Text 13"/>
          <p:cNvSpPr txBox="1"/>
          <p:nvPr/>
        </p:nvSpPr>
        <p:spPr>
          <a:xfrm>
            <a:off x="9390888" y="2240280"/>
            <a:ext cx="20692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0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없음 · 탐지 없음 · 실시간 공격 대응 없음</a:t>
            </a:r>
            <a:endParaRPr lang="en-US" sz="1150" dirty="0"/>
          </a:p>
        </p:txBody>
      </p:sp>
      <p:sp>
        <p:nvSpPr>
          <p:cNvPr id="24" name="Shape 14"/>
          <p:cNvSpPr/>
          <p:nvPr/>
        </p:nvSpPr>
        <p:spPr>
          <a:xfrm>
            <a:off x="548640" y="3310128"/>
            <a:ext cx="4297680" cy="2697480"/>
          </a:xfrm>
          <a:prstGeom prst="roundRect">
            <a:avLst>
              <a:gd name="adj" fmla="val 2712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822960" y="3538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Nessus의 가치</a:t>
            </a:r>
            <a:endParaRPr lang="en-US" sz="15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06908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170432" y="40416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취약점과 설정 오류의 폭넓은 발견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4672584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170432" y="46451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평가로 우선순위 설정 지원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276088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170432" y="524865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및 컴플라이언스 점검에 유용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5120640" y="3310128"/>
            <a:ext cx="6522415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3" name="Text 20"/>
          <p:cNvSpPr txBox="1"/>
          <p:nvPr/>
        </p:nvSpPr>
        <p:spPr>
          <a:xfrm>
            <a:off x="5394960" y="3538728"/>
            <a:ext cx="5973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리조트 관점의 한계</a:t>
            </a:r>
            <a:endParaRPr lang="en-US" sz="15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0" y="4059936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5715000" y="4023360"/>
            <a:ext cx="5653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시점만 점검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스캔 사이에는 가시성 없음</a:t>
            </a:r>
            <a:endParaRPr lang="en-US" sz="12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4960" y="4434840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5715000" y="4398264"/>
            <a:ext cx="5653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악성코드·랜섬웨어 차단 불가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별도 백신(EPP) 필요</a:t>
            </a:r>
            <a:endParaRPr lang="en-US" sz="12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960" y="4809744"/>
            <a:ext cx="201168" cy="201168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5715000" y="4773168"/>
            <a:ext cx="5653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중인 공격의 탐지·대응 불가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EDR 기능 없음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5184648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5715000" y="5148072"/>
            <a:ext cx="5653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조치는 전부 수작업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발견 항목마다 IT 업무 증가</a:t>
            </a:r>
            <a:endParaRPr lang="en-US" sz="12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960" y="5559552"/>
            <a:ext cx="201168" cy="201168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5715000" y="5522976"/>
            <a:ext cx="5653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약점만 보고, 공격자 행위는 보지 못함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은밀하거나 새로운 공격은 놓침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5" name="Image 16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쉽게 이해하기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안전점검 vs. 24시간 보안팀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 안전점검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점검원이 정해진 일정에 건물을 돌며 보수할 곳을 정리해 보고서를 건넵니다. 유용하지만, 실제로 불이 났을 때 점검원은 그 자리에 없습니다.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문제 발견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일정에 보고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조치는 고객 몫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68135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88175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993" y="2015338"/>
            <a:ext cx="358445" cy="35844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11135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711135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화재감지기, 스프링클러 &amp; 24시간 보안팀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6888175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엔드포인트의 센서가 위험을 즉시 포착하고 자동으로 차단하며, 24시간 대기 중인 전문가에게 즉시 전달합니다.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175" y="402336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08215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즉시 탐지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3891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08215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자동 차단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175" y="475488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08215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24시간 대응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775808" y="3040380"/>
            <a:ext cx="640080" cy="640080"/>
          </a:xfrm>
          <a:prstGeom prst="ellipse">
            <a:avLst/>
          </a:prstGeom>
          <a:solidFill>
            <a:srgbClr val="0B0D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775808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54864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라이프사이클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2468880" y="5440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5D6B7E"/>
          </a:solidFill>
          <a:ln w="12700">
            <a:solidFill>
              <a:srgbClr val="5D6B7E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2468880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3867912" y="5440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3867912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5266944" y="5440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5266944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665976" y="5440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665976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8065008" y="5440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8065008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복구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9555480" y="544068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식별 단계를,  </a:t>
            </a:r>
            <a:pPr indent="0" marL="0">
              <a:buNone/>
            </a:pPr>
            <a:r>
              <a:rPr lang="en-US" sz="11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나머지를 담당합니다.</a:t>
            </a:r>
            <a:endParaRPr lang="en-US" sz="115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4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가시성 공백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스캔과 스캔 사이, 엔드포인트는 무방비입니다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10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스캔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Falcon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82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상시 가동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스캔일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098749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643018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87288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31557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275826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820095" y="5074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스캔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03120" y="3246120"/>
            <a:ext cx="9265615" cy="0"/>
          </a:xfrm>
          <a:prstGeom prst="line">
            <a:avLst/>
          </a:prstGeom>
          <a:noFill/>
          <a:ln w="19050">
            <a:solidFill>
              <a:srgbClr val="AEB7C2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1874520" y="3017520"/>
            <a:ext cx="457200" cy="457200"/>
          </a:xfrm>
          <a:prstGeom prst="ellipse">
            <a:avLst/>
          </a:prstGeom>
          <a:solidFill>
            <a:srgbClr val="5D6B7E"/>
          </a:solidFill>
          <a:ln w="12700">
            <a:solidFill>
              <a:srgbClr val="5D6B7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3136392"/>
            <a:ext cx="219456" cy="21945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1140135" y="3017520"/>
            <a:ext cx="457200" cy="457200"/>
          </a:xfrm>
          <a:prstGeom prst="ellipse">
            <a:avLst/>
          </a:prstGeom>
          <a:solidFill>
            <a:srgbClr val="5D6B7E"/>
          </a:solidFill>
          <a:ln w="12700">
            <a:solidFill>
              <a:srgbClr val="5D6B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3136392"/>
            <a:ext cx="219456" cy="2194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157365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157365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 사이 가시성 없음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103120" y="4443984"/>
            <a:ext cx="9265615" cy="164592"/>
          </a:xfrm>
          <a:prstGeom prst="rect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363" y="21488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813243" y="15727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제로데이 공개 및 악용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956243" y="2560320"/>
            <a:ext cx="0" cy="1737360"/>
          </a:xfrm>
          <a:prstGeom prst="line">
            <a:avLst/>
          </a:prstGeom>
          <a:noFill/>
          <a:ln w="12700">
            <a:solidFill>
              <a:srgbClr val="E7A1A4"/>
            </a:solidFill>
            <a:prstDash val="sysDot"/>
          </a:ln>
        </p:spPr>
      </p:sp>
      <p:sp>
        <p:nvSpPr>
          <p:cNvPr id="27" name="Shape 21"/>
          <p:cNvSpPr/>
          <p:nvPr/>
        </p:nvSpPr>
        <p:spPr>
          <a:xfrm>
            <a:off x="3755075" y="43251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682" y="4429719"/>
            <a:ext cx="193121" cy="193121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755075" y="4325112"/>
            <a:ext cx="402336" cy="402336"/>
          </a:xfrm>
          <a:prstGeom prst="ellipse">
            <a:avLst/>
          </a:prstGeom>
          <a:ln w="25400">
            <a:solidFill>
              <a:srgbClr val="E3202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2950403" y="4782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행위 기반 차단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21488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92928" y="15727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 메일로 백도어 설치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735928" y="2560320"/>
            <a:ext cx="0" cy="1737360"/>
          </a:xfrm>
          <a:prstGeom prst="line">
            <a:avLst/>
          </a:prstGeom>
          <a:noFill/>
          <a:ln w="12700">
            <a:solidFill>
              <a:srgbClr val="E7A1A4"/>
            </a:solidFill>
            <a:prstDash val="sysDot"/>
          </a:ln>
        </p:spPr>
      </p:sp>
      <p:sp>
        <p:nvSpPr>
          <p:cNvPr id="34" name="Shape 26"/>
          <p:cNvSpPr/>
          <p:nvPr/>
        </p:nvSpPr>
        <p:spPr>
          <a:xfrm>
            <a:off x="6534760" y="43251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9367" y="4429719"/>
            <a:ext cx="193121" cy="19312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34760" y="4325112"/>
            <a:ext cx="402336" cy="402336"/>
          </a:xfrm>
          <a:prstGeom prst="ellipse">
            <a:avLst/>
          </a:prstGeom>
          <a:ln w="25400">
            <a:solidFill>
              <a:srgbClr val="E3202A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730088" y="4782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및 격리</a:t>
            </a:r>
            <a:endParaRPr lang="en-US" sz="10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2732" y="2148840"/>
            <a:ext cx="365760" cy="36576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372612" y="15727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프런트 데스크 PC 랜섬웨어 감염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515612" y="2560320"/>
            <a:ext cx="0" cy="1737360"/>
          </a:xfrm>
          <a:prstGeom prst="line">
            <a:avLst/>
          </a:prstGeom>
          <a:noFill/>
          <a:ln w="12700">
            <a:solidFill>
              <a:srgbClr val="E7A1A4"/>
            </a:solidFill>
            <a:prstDash val="sysDot"/>
          </a:ln>
        </p:spPr>
      </p:sp>
      <p:sp>
        <p:nvSpPr>
          <p:cNvPr id="41" name="Shape 31"/>
          <p:cNvSpPr/>
          <p:nvPr/>
        </p:nvSpPr>
        <p:spPr>
          <a:xfrm>
            <a:off x="9314444" y="43251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9052" y="4429719"/>
            <a:ext cx="193121" cy="193121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314444" y="4325112"/>
            <a:ext cx="402336" cy="402336"/>
          </a:xfrm>
          <a:prstGeom prst="ellipse">
            <a:avLst/>
          </a:prstGeom>
          <a:ln w="25400">
            <a:solidFill>
              <a:srgbClr val="E3202A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8509772" y="4782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전 차단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548640" y="54681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868680" y="546811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스캔은 실행한 날의 노출 현황만 보여줍니다.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Falcon은 그 사이 모든 순간, 모든 엔드포인트를 보호합니다.</a:t>
            </a:r>
            <a:endParaRPr lang="en-US" sz="135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8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솔루션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Falcon: 하나의 센서, 하나의 플랫폼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166512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61872" y="1527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단일 센서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261872" y="18288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설정 없이 몇 분 만에 배포되며, 온라인·오프라인 모두에서 주요 OS를 지원합니다.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4414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552090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61872" y="2414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네이티브 보호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261872" y="27157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센서와 클라우드의 머신러닝이 악성코드, 파일리스, 제로데이 공격을 차단합니다.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3284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3439058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61872" y="3300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인텔리전스 기반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261872" y="360273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281개 공격 그룹 추적 정보가 모든 탐지에 맥락을 더합니다.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42153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4326026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61872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AI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261872" y="44897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경보를 분류하고 일상 언어로 질문에 답하는 AI 보안 분석가입니다.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5102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5212994"/>
            <a:ext cx="281635" cy="28163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61872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네이티브 콘솔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1261872" y="53766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 설치·유지할 관리 서버 없이 하나의 웹 콘솔에서 모두 관리합니다.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117336" y="1499616"/>
            <a:ext cx="5580583" cy="3293937"/>
          </a:xfrm>
          <a:prstGeom prst="roundRect">
            <a:avLst>
              <a:gd name="adj" fmla="val 1666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/private/tmp/claude-501/-Users-jihanvin-Desktop-NIVNAH-AI/16a96446-d9b3-40e2-af9e-a3011ae3db84/scratchpad/assets/console_graph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554480"/>
            <a:ext cx="5470855" cy="318420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172200" y="4848417"/>
            <a:ext cx="5470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콘솔 — 탐지 건의 전체 공격 경로를 보여주는 조사 그래프 (예시)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6172200" y="5120640"/>
            <a:ext cx="5470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센서로 보호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6172200" y="5431536"/>
            <a:ext cx="1021019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82" y="5504688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208776" y="5779008"/>
            <a:ext cx="947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워크스테이션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7284659" y="5431536"/>
            <a:ext cx="1021019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5441" y="5504688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321235" y="5779008"/>
            <a:ext cx="947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8397118" y="5431536"/>
            <a:ext cx="1021019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7900" y="5504688"/>
            <a:ext cx="219456" cy="21945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33694" y="5779008"/>
            <a:ext cx="947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9509577" y="5431536"/>
            <a:ext cx="1021019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0359" y="5504688"/>
            <a:ext cx="219456" cy="219456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546153" y="5779008"/>
            <a:ext cx="947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계정(ID)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10622036" y="5431536"/>
            <a:ext cx="1021019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22818" y="5504688"/>
            <a:ext cx="219456" cy="219456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658612" y="5779008"/>
            <a:ext cx="947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5" name="Image 12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동작 방식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센서에서 클라우드까지, AI 네이티브 보호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01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21396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2250338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2139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센서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809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15568" y="294436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머신러닝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악성코드 차단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15568" y="352958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지표 (IOA)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파일뿐 아니라 악성 행위까지 차단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5137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15568" y="411480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온라인·오프라인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연결 없이도 보호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73659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15568" y="470001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 시스템 영향 최소화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617720" y="1572768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4892040" y="18013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892040" y="21396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2682" y="2250338"/>
            <a:ext cx="281635" cy="28163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550408" y="21396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플랫폼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980944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184648" y="294436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머신러닝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규모의 모델 운영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566160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184648" y="352958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위협 인텔리전스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누가, 어떻게 공격하는지 파악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151376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5184648" y="411480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미세한 초기 공격 징후 포착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4736592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5184648" y="470001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건 자동 분류</a:t>
            </a:r>
            <a:endParaRPr lang="en-US" sz="11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9936" y="3282696"/>
            <a:ext cx="420624" cy="420624"/>
          </a:xfrm>
          <a:prstGeom prst="rect">
            <a:avLst/>
          </a:prstGeom>
        </p:spPr>
      </p:pic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7616" y="3282696"/>
            <a:ext cx="420624" cy="420624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8915400" y="1801368"/>
            <a:ext cx="2727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조치</a:t>
            </a:r>
            <a:endParaRPr lang="en-US" sz="1000" dirty="0"/>
          </a:p>
        </p:txBody>
      </p:sp>
      <p:sp>
        <p:nvSpPr>
          <p:cNvPr id="34" name="Shape 19"/>
          <p:cNvSpPr/>
          <p:nvPr/>
        </p:nvSpPr>
        <p:spPr>
          <a:xfrm>
            <a:off x="8915400" y="2139696"/>
            <a:ext cx="2727655" cy="713232"/>
          </a:xfrm>
          <a:prstGeom prst="roundRect">
            <a:avLst>
              <a:gd name="adj" fmla="val 10256"/>
            </a:avLst>
          </a:prstGeom>
          <a:solidFill>
            <a:srgbClr val="171B22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98280" y="2359152"/>
            <a:ext cx="274320" cy="27432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9509760" y="2194560"/>
            <a:ext cx="2041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전 악성 프로세스 종료</a:t>
            </a:r>
            <a:endParaRPr lang="en-US" sz="1200" dirty="0"/>
          </a:p>
        </p:txBody>
      </p:sp>
      <p:sp>
        <p:nvSpPr>
          <p:cNvPr id="37" name="Shape 21"/>
          <p:cNvSpPr/>
          <p:nvPr/>
        </p:nvSpPr>
        <p:spPr>
          <a:xfrm>
            <a:off x="8915400" y="2962656"/>
            <a:ext cx="2727655" cy="713232"/>
          </a:xfrm>
          <a:prstGeom prst="roundRect">
            <a:avLst>
              <a:gd name="adj" fmla="val 10256"/>
            </a:avLst>
          </a:prstGeom>
          <a:solidFill>
            <a:srgbClr val="171B22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8280" y="3182112"/>
            <a:ext cx="274320" cy="274320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9509760" y="3017520"/>
            <a:ext cx="2041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한 번으로 호스트 네트워크 격리</a:t>
            </a:r>
            <a:endParaRPr lang="en-US" sz="1200" dirty="0"/>
          </a:p>
        </p:txBody>
      </p:sp>
      <p:sp>
        <p:nvSpPr>
          <p:cNvPr id="40" name="Shape 23"/>
          <p:cNvSpPr/>
          <p:nvPr/>
        </p:nvSpPr>
        <p:spPr>
          <a:xfrm>
            <a:off x="8915400" y="3785616"/>
            <a:ext cx="2727655" cy="713232"/>
          </a:xfrm>
          <a:prstGeom prst="roundRect">
            <a:avLst>
              <a:gd name="adj" fmla="val 10256"/>
            </a:avLst>
          </a:prstGeom>
          <a:solidFill>
            <a:srgbClr val="171B22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8280" y="4005072"/>
            <a:ext cx="274320" cy="274320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9509760" y="3840480"/>
            <a:ext cx="2041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공격 경로 확인</a:t>
            </a:r>
            <a:endParaRPr lang="en-US" sz="1200" dirty="0"/>
          </a:p>
        </p:txBody>
      </p:sp>
      <p:sp>
        <p:nvSpPr>
          <p:cNvPr id="43" name="Shape 25"/>
          <p:cNvSpPr/>
          <p:nvPr/>
        </p:nvSpPr>
        <p:spPr>
          <a:xfrm>
            <a:off x="8915400" y="4608576"/>
            <a:ext cx="2727655" cy="713232"/>
          </a:xfrm>
          <a:prstGeom prst="roundRect">
            <a:avLst>
              <a:gd name="adj" fmla="val 10256"/>
            </a:avLst>
          </a:prstGeom>
          <a:solidFill>
            <a:srgbClr val="171B22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98280" y="4828032"/>
            <a:ext cx="274320" cy="27432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9509760" y="4663440"/>
            <a:ext cx="2041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워크플로·플레이북 실행</a:t>
            </a:r>
            <a:endParaRPr lang="en-US" sz="1200" dirty="0"/>
          </a:p>
        </p:txBody>
      </p:sp>
      <p:sp>
        <p:nvSpPr>
          <p:cNvPr id="46" name="Text 27"/>
          <p:cNvSpPr txBox="1"/>
          <p:nvPr/>
        </p:nvSpPr>
        <p:spPr>
          <a:xfrm>
            <a:off x="548640" y="5596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시그니처뿐 아니라 행위로 탐지하므로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공격과 알려지지 않은 공격도 막아냅니다.</a:t>
            </a:r>
            <a:endParaRPr lang="en-US" sz="1400" dirty="0"/>
          </a:p>
        </p:txBody>
      </p:sp>
      <p:sp>
        <p:nvSpPr>
          <p:cNvPr id="47" name="Text 28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8" name="Image 17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제안 범위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웨스틴 리조트 괌 제안 Falcon 모듈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81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보호 — 권장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56786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B8B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01168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Prevent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백신 (EPP)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898648"/>
            <a:ext cx="2110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AI/ML로 악성코드·파일리스·제로데이 공격 차단. SE Labs 테스트 랜섬웨어 100% 차단.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90824" y="1828800"/>
            <a:ext cx="256786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B8B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19424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08" y="21579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13784" y="201168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Insight XDR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619424" y="265176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및 대응 (EDR)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3619424" y="2898648"/>
            <a:ext cx="2110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전 과정 가시성, 원클릭 호스트 격리, 평균 대응 시간 95% 단축.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33008" y="1828800"/>
            <a:ext cx="256786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B8B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61608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192" y="21579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5968" y="201168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Device Control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61608" y="265176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USB·이동식 매체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2898648"/>
            <a:ext cx="2110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장치를 세밀하게 통제해 악성코드 유입과 데이터 유출 방지.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075191" y="1828800"/>
            <a:ext cx="256786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B8B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375" y="21579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98151" y="201168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Firewall Management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265176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호스트 방화벽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9303791" y="2898648"/>
            <a:ext cx="2110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콘솔에서 Windows, macOS, Linux 방화벽 정책을 간편하게 관리.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385876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추가 모듈 — 동일 센서, 동일 콘솔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42062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77240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53542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71600" y="438912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Complete Next-Gen MDR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777240" y="502920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관리형 서비스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777240" y="527608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전문가가 24시간 위협을 모니터링·헌팅·조치.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3390824" y="42062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619424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0008" y="453542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213784" y="438912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for Mobile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3619424" y="502920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위협 방어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3619424" y="527608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모바일 기기의 계정 탈취와 데이터 유출 방지.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6233008" y="42062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461608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192" y="4535424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055968" y="438912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Forensics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6461608" y="502920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분석</a:t>
            </a:r>
            <a:endParaRPr lang="en-US" sz="950" dirty="0"/>
          </a:p>
        </p:txBody>
      </p:sp>
      <p:sp>
        <p:nvSpPr>
          <p:cNvPr id="48" name="Text 38"/>
          <p:cNvSpPr txBox="1"/>
          <p:nvPr/>
        </p:nvSpPr>
        <p:spPr>
          <a:xfrm>
            <a:off x="6461608" y="527608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포렌식 데이터 자동 수집으로 더 빠르고 깊은 조사.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9075191" y="42062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9303791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4375" y="4535424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898151" y="4389120"/>
            <a:ext cx="160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Exposure Management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9303791" y="5029200"/>
            <a:ext cx="211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가시성</a:t>
            </a:r>
            <a:endParaRPr lang="en-US" sz="950" dirty="0"/>
          </a:p>
        </p:txBody>
      </p:sp>
      <p:sp>
        <p:nvSpPr>
          <p:cNvPr id="54" name="Text 43"/>
          <p:cNvSpPr txBox="1"/>
          <p:nvPr/>
        </p:nvSpPr>
        <p:spPr>
          <a:xfrm>
            <a:off x="9303791" y="527608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센서로 상시·스캔리스 취약점 평가 — 네트워크 스캔 불필요.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|   Nessus vs. CrowdStrike Falcon 플랫폼  ·  웨스틴 리조트 괌 제안서</a:t>
            </a:r>
            <a:endParaRPr lang="en-US" sz="900" dirty="0"/>
          </a:p>
        </p:txBody>
      </p:sp>
      <p:pic>
        <p:nvPicPr>
          <p:cNvPr id="56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24시간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감당하지 않아도 됩니다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Complete Next-Gen MDR은 CrowdStrike 전문가와 Charlotte AI를 귀사의 팀에 더합니다 — 연중무휴 24시간.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658082" y="2395728"/>
            <a:ext cx="8875532" cy="0"/>
          </a:xfrm>
          <a:prstGeom prst="line">
            <a:avLst/>
          </a:prstGeom>
          <a:noFill/>
          <a:ln w="25400">
            <a:solidFill>
              <a:srgbClr val="2A30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92322" y="2029968"/>
            <a:ext cx="731520" cy="731520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17" y="2220163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88036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모니터링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200400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 전반 24시간 보안 운영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11205" y="2029968"/>
            <a:ext cx="731520" cy="731520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400" y="2220163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58963" y="288036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우선순위화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950403" y="3200400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에이전틱 AI가 중요한 위협을 선별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730088" y="2029968"/>
            <a:ext cx="731520" cy="731520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3" y="2220163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7846" y="288036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조사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169286" y="3200400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인텔리전스 기반 전문가 분석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948971" y="2029968"/>
            <a:ext cx="731520" cy="731520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166" y="2220163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96729" y="288036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격리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388169" y="3200400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대응으로 위협 신속 격리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0167854" y="2029968"/>
            <a:ext cx="731520" cy="731520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049" y="2220163"/>
            <a:ext cx="351130" cy="35113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515612" y="288036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복구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9607052" y="3200400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위협의 완전한 제거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48640" y="40690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22960" y="42519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</a:t>
            </a:r>
            <a:endParaRPr lang="en-US" sz="3200" dirty="0"/>
          </a:p>
        </p:txBody>
      </p:sp>
      <p:sp>
        <p:nvSpPr>
          <p:cNvPr id="29" name="Text 21"/>
          <p:cNvSpPr txBox="1"/>
          <p:nvPr/>
        </p:nvSpPr>
        <p:spPr>
          <a:xfrm>
            <a:off x="822960" y="491032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탐지 시간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822960" y="5202936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Engenuity ATT&amp;CK® Evaluations: Managed Services, Round 2 (2024)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390824" y="40690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3665144" y="42519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&gt;98%</a:t>
            </a:r>
            <a:endParaRPr lang="en-US" sz="3200" dirty="0"/>
          </a:p>
        </p:txBody>
      </p:sp>
      <p:sp>
        <p:nvSpPr>
          <p:cNvPr id="33" name="Text 25"/>
          <p:cNvSpPr txBox="1"/>
          <p:nvPr/>
        </p:nvSpPr>
        <p:spPr>
          <a:xfrm>
            <a:off x="3665144" y="491032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 정확도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665144" y="5202936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AI 판단과 CrowdStrike MDR 전문가 판단 일치율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33008" y="40690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507328" y="42519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40시간+</a:t>
            </a:r>
            <a:endParaRPr lang="en-US" sz="3200" dirty="0"/>
          </a:p>
        </p:txBody>
      </p:sp>
      <p:sp>
        <p:nvSpPr>
          <p:cNvPr id="37" name="Text 29"/>
          <p:cNvSpPr txBox="1"/>
          <p:nvPr/>
        </p:nvSpPr>
        <p:spPr>
          <a:xfrm>
            <a:off x="6507328" y="491032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 분석 시간 절감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6507328" y="5202936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분류에서 절감되는 평균 시간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9075191" y="40690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9349511" y="4297680"/>
            <a:ext cx="201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웨스틴을 위한 가치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9349511" y="4599432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보안팀을 구축하지 않고도 엔터프라이즈급 24시간 보안 운영.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7D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및 시간 절감 수치는 CrowdStrike 자료이며, 실제 결과는 경보량에 따라 다를 수 있습니다.</a:t>
            </a:r>
            <a:endParaRPr lang="en-US" sz="800" dirty="0"/>
          </a:p>
        </p:txBody>
      </p:sp>
      <p:sp>
        <p:nvSpPr>
          <p:cNvPr id="43" name="Text 3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|   Nessus vs. CrowdStrike Falcon 플랫폼  ·  웨스틴 리조트 괌 제안서</a:t>
            </a:r>
            <a:endParaRPr lang="en-US" sz="900" dirty="0"/>
          </a:p>
        </p:txBody>
      </p:sp>
      <p:pic>
        <p:nvPicPr>
          <p:cNvPr id="44" name="Image 6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실제 사례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단계별 비교: 스캐너 vs. Falcon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 SPIDER </a:t>
            </a:r>
            <a:pPr indent="0" marL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(eCrime 그룹)가 북미 기업을 표적으로 데이터 탈취와 Akira 랜섬웨어 공격을 시도.  </a:t>
            </a:r>
            <a:pPr indent="0" marL="0">
              <a:buNone/>
            </a:pPr>
            <a:r>
              <a:rPr lang="en-US" sz="12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Falcon이 완전 차단.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46120"/>
                <a:gridCol w="2788920"/>
                <a:gridCol w="30476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단계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공격자 행위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CrowdStrike Falcon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20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침투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탈취한 계정으로 알려진 VPN 취약점(CVE-2024-3400) 악용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장비가 스캔 범위에 있고 제때 스캔된 경우에만 CVE 식별 가능. 공격 자체는 막지 못함.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E69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관리되지 않는 VPN 장비 — Falcon 센서 미설치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확산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 계정으로 원격 데스크톱을 이용해 내부 시스템 접근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불가 — 스캐너는 행위를 모니터링하지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탐지.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첫 Falcon 경보, OverWatch 위협 헌터가 확인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계정 정보 탈취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계정 정보 덤프 및 관리자 그룹에 사용자 추가 시도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불가 — 스캐너는 행위를 모니터링하지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권한 상승 시도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지속성 확보 및 회피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터널링 및 원격 접속 도구 설치 시도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불가 — 스캐너는 행위를 모니터링하지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도구 실행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네트워크 공유 폴더 파악 도구 실행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불가 — 스캐너는 행위를 모니터링하지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두 도구 모두 실행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수집 및 피해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압축·유출 시도 후 Akira 랜섬웨어 실행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불가 — 스캐너는 행위를 모니터링하지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격리 및 차단.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유출 탐지 및 호스트 격리, 암호화 전 랜섬웨어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96128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856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55961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</a:t>
            </a:r>
            <a:pPr indent="0" marL="0">
              <a:buNone/>
            </a:pPr>
            <a:r>
              <a:rPr lang="en-US" sz="12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스캐닝과 엔드포인트 보호는 상호 보완적이지만, 이 공격을 막은 것은 엔드포인트 보호뿐입니다. 모든 엔드포인트에 센서가 필요합니다.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|   Nessus vs. CrowdStrike Falcon 플랫폼  ·  웨스틴 리조트 괌 제안서</a:t>
            </a:r>
            <a:endParaRPr lang="en-US" sz="900" dirty="0"/>
          </a:p>
        </p:txBody>
      </p:sp>
      <p:pic>
        <p:nvPicPr>
          <p:cNvPr id="11" name="Image 2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항목별 비교: Nessus vs. CrowdStrike Falcon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11880"/>
                <a:gridCol w="473933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 (현재)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CrowdStrike Falcon (제안)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20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목적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 스캔 및 보고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 차단·탐지·대응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모든 엔드포인트 대상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보호 방식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주기적·시점 단위 스캔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상시·실시간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24시간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악성코드·랜섬웨어 차단 (EPP)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차세대 백신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랜섬웨어 100% 차단 (SE Labs)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 탐지 및 대응 (EDR)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행위 기반 탐지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전체 공격 가시성 및 호스트 격리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제로데이·파일리스 공격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취약점 점검 항목이 공개된 후에만 가능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행위 기반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사전 시그니처 불필요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— 가이드만 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자동화된 대응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조치 및 워크플로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24시간 전문가 모니터링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Falcon Complete Next-Gen MDR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인프라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스캐너 호스트, 계정, 스캔 일정 유지 필요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클라우드 네이티브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경량 센서 하나, 현장 서버 불필요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IT팀 업무 부담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— 보고서 분석, 패치, 검증 모두 수작업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자동 차단 및 AI 기반 분류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 가시성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강점 (주기적)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Falcon Exposure Management로 상시·스캔리스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|   Nessus vs. CrowdStrike Falcon 플랫폼  ·  웨스틴 리조트 괌 제안서</a:t>
            </a:r>
            <a:endParaRPr lang="en-US" sz="900" dirty="0"/>
          </a:p>
        </p:txBody>
      </p:sp>
      <p:pic>
        <p:nvPicPr>
          <p:cNvPr id="7" name="Image 1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제3자 검증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평가와 고객이 입증한 성능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pic>
        <p:nvPicPr>
          <p:cNvPr id="6" name="Image 1" descr="/private/tmp/claude-501/-Users-jihanvin-Desktop-NIVNAH-AI/16a96446-d9b3-40e2-af9e-a3011ae3db84/scratchpad/assets/mitre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308" y="1847088"/>
            <a:ext cx="1586304" cy="1874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85876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탐지</a:t>
            </a:r>
            <a:endParaRPr lang="en-US" sz="2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보호</a:t>
            </a:r>
            <a:endParaRPr lang="en-US" sz="2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 0건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138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MITRE ATT&amp;CK® Enterprise Evaluations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00600" y="1572768"/>
            <a:ext cx="3284068" cy="2034540"/>
          </a:xfrm>
          <a:prstGeom prst="roundRect">
            <a:avLst>
              <a:gd name="adj" fmla="val 3596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20640" y="184708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리더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262432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Gartner® Magic Quadrant™ 엔드포인트 보호 플랫폼 부문을 포함해 7회 연속 리더 선정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358988" y="1572768"/>
            <a:ext cx="3284068" cy="2034540"/>
          </a:xfrm>
          <a:prstGeom prst="roundRect">
            <a:avLst>
              <a:gd name="adj" fmla="val 3596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79028" y="184708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8679028" y="262432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랜섬웨어 보호 및 종합 정확도 — SE Labs Enterprise Advanced Security EDR Ransomware Test (2024)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00600" y="3881628"/>
            <a:ext cx="3284068" cy="2034540"/>
          </a:xfrm>
          <a:prstGeom prst="roundRect">
            <a:avLst>
              <a:gd name="adj" fmla="val 3596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20640" y="415594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273%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5120640" y="493318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ROI — CrowdStrike 의뢰 Forrester Consulting Total Economic Impact™ 연구 (2025)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358988" y="3881628"/>
            <a:ext cx="3284068" cy="2034540"/>
          </a:xfrm>
          <a:prstGeom prst="roundRect">
            <a:avLst>
              <a:gd name="adj" fmla="val 3596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679028" y="415594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600" dirty="0"/>
          </a:p>
        </p:txBody>
      </p:sp>
      <p:sp>
        <p:nvSpPr>
          <p:cNvPr id="20" name="Text 16"/>
          <p:cNvSpPr txBox="1"/>
          <p:nvPr/>
        </p:nvSpPr>
        <p:spPr>
          <a:xfrm>
            <a:off x="8679028" y="4933188"/>
            <a:ext cx="2643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의향 — 2026 Gartner® Peer Insights™ EPP 부문 Customers' Choice (리뷰 800건)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7D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Gartner는 연구 발행물에 언급된 특정 벤더, 제품, 서비스를 보증하지 않습니다. GARTNER, MAGIC QUADRANT, PEER INSIGHTS는 Gartner, Inc. 및/또는 계열사의 상표입니다. 전 세계 74,000곳 이상의 직접 및 MSSP 고객이 사용 중입니다.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|   Nessus vs. CrowdStrike Falcon 플랫폼  ·  웨스틴 리조트 괌 제안서</a:t>
            </a:r>
            <a:endParaRPr lang="en-US" sz="900" dirty="0"/>
          </a:p>
        </p:txBody>
      </p:sp>
      <p:pic>
        <p:nvPicPr>
          <p:cNvPr id="23" name="Image 2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 고객 성과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실제로 얻은 성과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83664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호스피탈리티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130552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체인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만에 배포된 에이전트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9776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호텔 체인의 CrowdStrike 침해사고 대응 과정에서 Falcon 에이전트 10만 대를 하루 만에 배포했습니다.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38218" y="155448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58258" y="1874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959" y="19952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89778" y="1883664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 ·  24시간 MDR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5389778" y="2130552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코번트리 대학교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658258" y="26974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4658258" y="356616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해결 시간 단축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658258" y="39776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클라우드 네이티브 에이전트로 Falcon Prevent, Insight XDR, Falcon Complete MDR을 도입. 평균 사고 해결 시간이 2–3일에서 1시간 미만으로 단축되었습니다.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27797" y="155448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47837" y="1874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538" y="199522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79357" y="1883664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브랜드 기업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9179357" y="2130552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Real Estate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447837" y="26974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500×</a:t>
            </a:r>
            <a:endParaRPr lang="en-US" sz="4800" dirty="0"/>
          </a:p>
        </p:txBody>
      </p:sp>
      <p:sp>
        <p:nvSpPr>
          <p:cNvPr id="27" name="Text 21"/>
          <p:cNvSpPr txBox="1"/>
          <p:nvPr/>
        </p:nvSpPr>
        <p:spPr>
          <a:xfrm>
            <a:off x="8447837" y="356616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경보 감소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447837" y="39776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분산된 멀티 브랜드 조직이 Falcon으로 엔드포인트·계정 보호를 통합 — 남은 경보의 98%가 실제 위협입니다.</a:t>
            </a:r>
            <a:endParaRPr lang="en-US" sz="11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5040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0120" y="5513832"/>
            <a:ext cx="10682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“늘 곁에서… 항상 지켜주니… 있다는 것조차 잊게 됩니다.”</a:t>
            </a:r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헬스케어 기업 사이버방어 책임자 (Forrester TEI 연구)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2" name="Image 5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 권고안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권고안: 가시성은 유지하고, 보호를 더하십시오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클라우드 콘솔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· 탐지 · 대응 · 보고 — 현장 서버 불필요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1263015" y="2423160"/>
            <a:ext cx="0" cy="411480"/>
          </a:xfrm>
          <a:prstGeom prst="line">
            <a:avLst/>
          </a:prstGeom>
          <a:noFill/>
          <a:ln w="19050">
            <a:solidFill>
              <a:srgbClr val="E320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2834640"/>
            <a:ext cx="14287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35" y="29718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080" y="3383280"/>
            <a:ext cx="12458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프런트 데스크 &amp; PMS 워크스테이션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805815" y="38404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05815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센서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2828925" y="2423160"/>
            <a:ext cx="0" cy="411480"/>
          </a:xfrm>
          <a:prstGeom prst="line">
            <a:avLst/>
          </a:prstGeom>
          <a:noFill/>
          <a:ln w="19050">
            <a:solidFill>
              <a:srgbClr val="E3202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114550" y="2834640"/>
            <a:ext cx="14287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045" y="29718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5990" y="3383280"/>
            <a:ext cx="12458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백오피스 &amp; 관리용 PC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2371725" y="38404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371725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센서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394835" y="2423160"/>
            <a:ext cx="0" cy="411480"/>
          </a:xfrm>
          <a:prstGeom prst="line">
            <a:avLst/>
          </a:prstGeom>
          <a:noFill/>
          <a:ln w="19050">
            <a:solidFill>
              <a:srgbClr val="E3202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680460" y="2834640"/>
            <a:ext cx="14287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55" y="29718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71900" y="3383280"/>
            <a:ext cx="12458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937635" y="38404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937635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센서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5960745" y="2423160"/>
            <a:ext cx="0" cy="411480"/>
          </a:xfrm>
          <a:prstGeom prst="line">
            <a:avLst/>
          </a:prstGeom>
          <a:noFill/>
          <a:ln w="19050">
            <a:solidFill>
              <a:srgbClr val="E3202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246370" y="2834640"/>
            <a:ext cx="14287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7865" y="2971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37810" y="3383280"/>
            <a:ext cx="12458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모바일 기기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503545" y="38404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503545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센서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548640" y="4343400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13232" y="44714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4572000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325880" y="43434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(기존)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장비, 감사 대응 등 주기적 취약점·컴플라이언스 스캔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548640" y="5166360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713232" y="52943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539496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325880" y="51663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시큐코리아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원격 지원, 전담 엔지니어, 정기 보고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6995160" y="1554480"/>
            <a:ext cx="4647895" cy="1874520"/>
          </a:xfrm>
          <a:prstGeom prst="roundRect">
            <a:avLst>
              <a:gd name="adj" fmla="val 4878"/>
            </a:avLst>
          </a:prstGeom>
          <a:solidFill>
            <a:srgbClr val="FDECEC"/>
          </a:solidFill>
          <a:ln w="15875">
            <a:solidFill>
              <a:srgbClr val="E3202A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269480" y="1737360"/>
            <a:ext cx="4099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A  ·  권장 시작안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7269480" y="1993392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7269480" y="2359152"/>
            <a:ext cx="4099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엔드포인트에 Falcon을 배포해 실시간으로 보호하고, Nessus는 정기 감사와 네트워크 장비 스캔용으로 유지합니다.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7269480" y="3035808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</a:t>
            </a:r>
            <a:pPr indent="0" marL="0">
              <a:buNone/>
            </a:pPr>
            <a:r>
              <a:rPr lang="en-US" sz="10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빠른 보호 도입, 기존 프로세스 변경 없음.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6995160" y="3566160"/>
            <a:ext cx="4647895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269480" y="3749040"/>
            <a:ext cx="4099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B  ·  다음 단계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7269480" y="4005072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</a:t>
            </a:r>
            <a:endParaRPr lang="en-US" sz="1700" dirty="0"/>
          </a:p>
        </p:txBody>
      </p:sp>
      <p:sp>
        <p:nvSpPr>
          <p:cNvPr id="48" name="Text 38"/>
          <p:cNvSpPr txBox="1"/>
          <p:nvPr/>
        </p:nvSpPr>
        <p:spPr>
          <a:xfrm>
            <a:off x="7269480" y="4370832"/>
            <a:ext cx="4099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Exposure Management를 추가해 상시·스캔리스 취약점 가시성을 확보하고 중복되는 엔드포인트 스캔을 정리합니다. 외부 스캔은 감사상 필요한 경우에만 유지합니다.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7269480" y="5047488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</a:t>
            </a:r>
            <a:pPr indent="0" marL="0">
              <a:buNone/>
            </a:pPr>
            <a:r>
              <a:rPr lang="en-US" sz="10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에이전트와 콘솔, 운영 도구 축소.</a:t>
            </a:r>
            <a:endParaRPr lang="en-US" sz="1050" dirty="0"/>
          </a:p>
        </p:txBody>
      </p:sp>
      <p:sp>
        <p:nvSpPr>
          <p:cNvPr id="50" name="Text 40"/>
          <p:cNvSpPr txBox="1"/>
          <p:nvPr/>
        </p:nvSpPr>
        <p:spPr>
          <a:xfrm>
            <a:off x="6995160" y="5596128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A로 시작하고, 90일 운영 후 옵션 B를 검토할 것을 제안드립니다.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|   Nessus vs. CrowdStrike Falcon 플랫폼  ·  웨스틴 리조트 괌 제안서</a:t>
            </a:r>
            <a:endParaRPr lang="en-US" sz="900" dirty="0"/>
          </a:p>
        </p:txBody>
      </p:sp>
      <p:pic>
        <p:nvPicPr>
          <p:cNvPr id="52" name="Image 8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 구축 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구축 로드맵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97709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46778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95848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944917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793986" y="1481328"/>
            <a:ext cx="1849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+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" y="1783080"/>
            <a:ext cx="1794205" cy="310896"/>
          </a:xfrm>
          <a:prstGeom prst="roundRect">
            <a:avLst>
              <a:gd name="adj" fmla="val 17647"/>
            </a:avLst>
          </a:prstGeom>
          <a:solidFill>
            <a:srgbClr val="F4A3A7"/>
          </a:solidFill>
          <a:ln w="12700">
            <a:solidFill>
              <a:srgbClr val="F4A3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783080"/>
            <a:ext cx="18490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25141" y="1783080"/>
            <a:ext cx="1794205" cy="310896"/>
          </a:xfrm>
          <a:prstGeom prst="roundRect">
            <a:avLst>
              <a:gd name="adj" fmla="val 17647"/>
            </a:avLst>
          </a:prstGeom>
          <a:solidFill>
            <a:srgbClr val="EC6B71"/>
          </a:solidFill>
          <a:ln w="12700">
            <a:solidFill>
              <a:srgbClr val="EC6B7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97709" y="1783080"/>
            <a:ext cx="18490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74210" y="1783080"/>
            <a:ext cx="3643274" cy="310896"/>
          </a:xfrm>
          <a:prstGeom prst="roundRect">
            <a:avLst>
              <a:gd name="adj" fmla="val 17647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46778" y="1783080"/>
            <a:ext cx="3698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72349" y="1783080"/>
            <a:ext cx="3643274" cy="310896"/>
          </a:xfrm>
          <a:prstGeom prst="roundRect">
            <a:avLst>
              <a:gd name="adj" fmla="val 17647"/>
            </a:avLst>
          </a:prstGeom>
          <a:solidFill>
            <a:srgbClr val="B0141C"/>
          </a:solidFill>
          <a:ln w="12700">
            <a:solidFill>
              <a:srgbClr val="B014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44917" y="1783080"/>
            <a:ext cx="3698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2331720"/>
            <a:ext cx="2567864" cy="2944368"/>
          </a:xfrm>
          <a:prstGeom prst="roundRect">
            <a:avLst>
              <a:gd name="adj" fmla="val 356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2587752"/>
            <a:ext cx="530352" cy="530352"/>
          </a:xfrm>
          <a:prstGeom prst="ellipse">
            <a:avLst/>
          </a:prstGeom>
          <a:solidFill>
            <a:srgbClr val="F4A3A7"/>
          </a:solidFill>
          <a:ln w="12700">
            <a:solidFill>
              <a:srgbClr val="F4A3A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2725644"/>
            <a:ext cx="254569" cy="25456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463040" y="2587752"/>
            <a:ext cx="1562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 ·  1주차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3246120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및 설계</a:t>
            </a:r>
            <a:endParaRPr lang="en-US" sz="15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97280" y="3703320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 목록 및 OS 확인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61104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97280" y="4215384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시스템 식별 (PMS, POS, 서버)</a:t>
            </a:r>
            <a:endParaRPr lang="en-US" sz="11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73168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4727448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및 성공 기준 정의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390824" y="2331720"/>
            <a:ext cx="2567864" cy="2944368"/>
          </a:xfrm>
          <a:prstGeom prst="roundRect">
            <a:avLst>
              <a:gd name="adj" fmla="val 356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65144" y="2587752"/>
            <a:ext cx="530352" cy="530352"/>
          </a:xfrm>
          <a:prstGeom prst="ellipse">
            <a:avLst/>
          </a:prstGeom>
          <a:solidFill>
            <a:srgbClr val="EC6B71"/>
          </a:solidFill>
          <a:ln w="12700">
            <a:solidFill>
              <a:srgbClr val="EC6B7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035" y="2725644"/>
            <a:ext cx="254569" cy="25456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05224" y="2587752"/>
            <a:ext cx="1562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 ·  2주차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65144" y="3246120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15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5144" y="3749040"/>
            <a:ext cx="164592" cy="16459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939464" y="3703320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그룹에 센서 설치</a:t>
            </a:r>
            <a:endParaRPr lang="en-US" sz="11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5144" y="4261104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3939464" y="4215384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전용 모드로 우선 운영</a:t>
            </a:r>
            <a:endParaRPr lang="en-US" sz="11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5144" y="4773168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939464" y="4727448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 애플리케이션 호환성 확인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6233008" y="2331720"/>
            <a:ext cx="2567864" cy="2944368"/>
          </a:xfrm>
          <a:prstGeom prst="roundRect">
            <a:avLst>
              <a:gd name="adj" fmla="val 356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507328" y="2587752"/>
            <a:ext cx="530352" cy="530352"/>
          </a:xfrm>
          <a:prstGeom prst="ellipse">
            <a:avLst/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219" y="2725644"/>
            <a:ext cx="254569" cy="254569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147408" y="2587752"/>
            <a:ext cx="1562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 ·  3–4주차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6507328" y="3246120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배포</a:t>
            </a:r>
            <a:endParaRPr lang="en-US" sz="15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7328" y="3749040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781648" y="3703320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순차 배포</a:t>
            </a:r>
            <a:endParaRPr lang="en-US" sz="11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7328" y="4261104"/>
            <a:ext cx="164592" cy="16459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781648" y="4215384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정책 활성화</a:t>
            </a:r>
            <a:endParaRPr lang="en-US" sz="11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7328" y="4773168"/>
            <a:ext cx="164592" cy="16459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6781648" y="4727448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단계적 업데이트 — 파일럿 그룹 우선</a:t>
            </a:r>
            <a:endParaRPr lang="en-US" sz="1150" dirty="0"/>
          </a:p>
        </p:txBody>
      </p:sp>
      <p:sp>
        <p:nvSpPr>
          <p:cNvPr id="52" name="Shape 37"/>
          <p:cNvSpPr/>
          <p:nvPr/>
        </p:nvSpPr>
        <p:spPr>
          <a:xfrm>
            <a:off x="9075191" y="2331720"/>
            <a:ext cx="2567864" cy="2944368"/>
          </a:xfrm>
          <a:prstGeom prst="roundRect">
            <a:avLst>
              <a:gd name="adj" fmla="val 356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9349511" y="2587752"/>
            <a:ext cx="530352" cy="530352"/>
          </a:xfrm>
          <a:prstGeom prst="ellipse">
            <a:avLst/>
          </a:prstGeom>
          <a:solidFill>
            <a:srgbClr val="B0141C"/>
          </a:solidFill>
          <a:ln w="12700">
            <a:solidFill>
              <a:srgbClr val="B0141C"/>
            </a:solidFill>
            <a:prstDash val="solid"/>
          </a:ln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7403" y="2725644"/>
            <a:ext cx="254569" cy="254569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9989591" y="2587752"/>
            <a:ext cx="1562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 ·  5주차 이후</a:t>
            </a:r>
            <a:endParaRPr lang="en-US" sz="1000" dirty="0"/>
          </a:p>
        </p:txBody>
      </p:sp>
      <p:sp>
        <p:nvSpPr>
          <p:cNvPr id="56" name="Text 40"/>
          <p:cNvSpPr txBox="1"/>
          <p:nvPr/>
        </p:nvSpPr>
        <p:spPr>
          <a:xfrm>
            <a:off x="9349511" y="3246120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및 최적화</a:t>
            </a:r>
            <a:endParaRPr lang="en-US" sz="150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9511" y="3749040"/>
            <a:ext cx="164592" cy="164592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9623831" y="3703320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튜닝 및 경보 검토</a:t>
            </a:r>
            <a:endParaRPr lang="en-US" sz="11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49511" y="4261104"/>
            <a:ext cx="164592" cy="164592"/>
          </a:xfrm>
          <a:prstGeom prst="rect">
            <a:avLst/>
          </a:prstGeom>
        </p:spPr>
      </p:pic>
      <p:sp>
        <p:nvSpPr>
          <p:cNvPr id="60" name="Text 42"/>
          <p:cNvSpPr txBox="1"/>
          <p:nvPr/>
        </p:nvSpPr>
        <p:spPr>
          <a:xfrm>
            <a:off x="9623831" y="4215384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선택형 24시간 MDR 온보딩</a:t>
            </a:r>
            <a:endParaRPr lang="en-US" sz="115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9511" y="4773168"/>
            <a:ext cx="164592" cy="164592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9623831" y="4727448"/>
            <a:ext cx="1836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 월간 보안 보고</a:t>
            </a:r>
            <a:endParaRPr lang="en-US" sz="1150" dirty="0"/>
          </a:p>
        </p:txBody>
      </p:sp>
      <p:sp>
        <p:nvSpPr>
          <p:cNvPr id="63" name="Shape 44"/>
          <p:cNvSpPr/>
          <p:nvPr/>
        </p:nvSpPr>
        <p:spPr>
          <a:xfrm>
            <a:off x="548640" y="5504688"/>
            <a:ext cx="351525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240" y="5641848"/>
            <a:ext cx="228600" cy="228600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1143000" y="5504688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서버 불필요</a:t>
            </a:r>
            <a:endParaRPr lang="en-US" sz="1150" dirty="0"/>
          </a:p>
        </p:txBody>
      </p:sp>
      <p:sp>
        <p:nvSpPr>
          <p:cNvPr id="66" name="Shape 46"/>
          <p:cNvSpPr/>
          <p:nvPr/>
        </p:nvSpPr>
        <p:spPr>
          <a:xfrm>
            <a:off x="4338218" y="5504688"/>
            <a:ext cx="351525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6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66818" y="5641848"/>
            <a:ext cx="228600" cy="228600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4932578" y="5504688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배포 — 현장 작업 최소화</a:t>
            </a:r>
            <a:endParaRPr lang="en-US" sz="1150" dirty="0"/>
          </a:p>
        </p:txBody>
      </p:sp>
      <p:sp>
        <p:nvSpPr>
          <p:cNvPr id="69" name="Shape 48"/>
          <p:cNvSpPr/>
          <p:nvPr/>
        </p:nvSpPr>
        <p:spPr>
          <a:xfrm>
            <a:off x="8127797" y="5504688"/>
            <a:ext cx="351525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pic>
        <p:nvPicPr>
          <p:cNvPr id="7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6397" y="5641848"/>
            <a:ext cx="228600" cy="228600"/>
          </a:xfrm>
          <a:prstGeom prst="rect">
            <a:avLst/>
          </a:prstGeom>
        </p:spPr>
      </p:pic>
      <p:sp>
        <p:nvSpPr>
          <p:cNvPr id="71" name="Text 49"/>
          <p:cNvSpPr txBox="1"/>
          <p:nvPr/>
        </p:nvSpPr>
        <p:spPr>
          <a:xfrm>
            <a:off x="8722157" y="5504688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일정은 1단계 후 확정</a:t>
            </a:r>
            <a:endParaRPr lang="en-US" sz="1150" dirty="0"/>
          </a:p>
        </p:txBody>
      </p:sp>
      <p:sp>
        <p:nvSpPr>
          <p:cNvPr id="72" name="Text 5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 |   Nessus vs. CrowdStrike Falcon 플랫폼  ·  웨스틴 리조트 괌 제안서</a:t>
            </a:r>
            <a:endParaRPr lang="en-US" sz="900" dirty="0"/>
          </a:p>
        </p:txBody>
      </p:sp>
      <p:pic>
        <p:nvPicPr>
          <p:cNvPr id="73" name="Image 20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 기대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스캔 중심에서 상시 보호로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·  NESSUS 단독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보고만 있고 보호는 없음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426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070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스캔 사이 가시성 없음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449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패치 및 조사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472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07008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중인 랜섬웨어 방어 불가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4962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0700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 가시성 부족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528" y="2674620"/>
            <a:ext cx="548640" cy="5486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51015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7071055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도입 후</a:t>
            </a:r>
            <a:endParaRPr lang="en-US" sz="11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055" y="224028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409383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엔드포인트 실시간 차단</a:t>
            </a:r>
            <a:endParaRPr lang="en-US" sz="12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055" y="2642616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409383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상시 모니터링</a:t>
            </a:r>
            <a:endParaRPr lang="en-US" sz="12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1055" y="3044952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409383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격리 및 대응</a:t>
            </a:r>
            <a:endParaRPr lang="en-US" sz="12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1055" y="3447288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409383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랜섬웨어 보호</a:t>
            </a:r>
            <a:endParaRPr lang="en-US" sz="12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1055" y="3849624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7409383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대시보드와 경영진 보고</a:t>
            </a:r>
            <a:endParaRPr lang="en-US" sz="1250" dirty="0"/>
          </a:p>
        </p:txBody>
      </p:sp>
      <p:sp>
        <p:nvSpPr>
          <p:cNvPr id="30" name="Shape 16"/>
          <p:cNvSpPr/>
          <p:nvPr/>
        </p:nvSpPr>
        <p:spPr>
          <a:xfrm>
            <a:off x="548640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17"/>
          <p:cNvSpPr/>
          <p:nvPr/>
        </p:nvSpPr>
        <p:spPr>
          <a:xfrm>
            <a:off x="777240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24" y="4946904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1371600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신뢰 보호</a:t>
            </a:r>
            <a:endParaRPr lang="en-US" sz="1300" dirty="0"/>
          </a:p>
        </p:txBody>
      </p:sp>
      <p:sp>
        <p:nvSpPr>
          <p:cNvPr id="34" name="Text 19"/>
          <p:cNvSpPr txBox="1"/>
          <p:nvPr/>
        </p:nvSpPr>
        <p:spPr>
          <a:xfrm>
            <a:off x="777240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정보와 결제 안전 확보</a:t>
            </a:r>
            <a:endParaRPr lang="en-US" sz="1100" dirty="0"/>
          </a:p>
        </p:txBody>
      </p:sp>
      <p:sp>
        <p:nvSpPr>
          <p:cNvPr id="35" name="Shape 20"/>
          <p:cNvSpPr/>
          <p:nvPr/>
        </p:nvSpPr>
        <p:spPr>
          <a:xfrm>
            <a:off x="3390824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1"/>
          <p:cNvSpPr/>
          <p:nvPr/>
        </p:nvSpPr>
        <p:spPr>
          <a:xfrm>
            <a:off x="3619424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0008" y="4946904"/>
            <a:ext cx="256032" cy="25603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4213784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연속성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3619424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프런트 데스크·백오피스 중단 방지</a:t>
            </a:r>
            <a:endParaRPr lang="en-US" sz="1100" dirty="0"/>
          </a:p>
        </p:txBody>
      </p:sp>
      <p:sp>
        <p:nvSpPr>
          <p:cNvPr id="40" name="Shape 24"/>
          <p:cNvSpPr/>
          <p:nvPr/>
        </p:nvSpPr>
        <p:spPr>
          <a:xfrm>
            <a:off x="6233008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25"/>
          <p:cNvSpPr/>
          <p:nvPr/>
        </p:nvSpPr>
        <p:spPr>
          <a:xfrm>
            <a:off x="6461608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2192" y="4946904"/>
            <a:ext cx="256032" cy="256032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7055968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업무 부담 경감</a:t>
            </a:r>
            <a:endParaRPr lang="en-US" sz="1300" dirty="0"/>
          </a:p>
        </p:txBody>
      </p:sp>
      <p:sp>
        <p:nvSpPr>
          <p:cNvPr id="44" name="Text 27"/>
          <p:cNvSpPr txBox="1"/>
          <p:nvPr/>
        </p:nvSpPr>
        <p:spPr>
          <a:xfrm>
            <a:off x="6461608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+ 선택형 24시간 전문가</a:t>
            </a:r>
            <a:endParaRPr lang="en-US" sz="1100" dirty="0"/>
          </a:p>
        </p:txBody>
      </p:sp>
      <p:sp>
        <p:nvSpPr>
          <p:cNvPr id="45" name="Shape 28"/>
          <p:cNvSpPr/>
          <p:nvPr/>
        </p:nvSpPr>
        <p:spPr>
          <a:xfrm>
            <a:off x="9075191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29"/>
          <p:cNvSpPr/>
          <p:nvPr/>
        </p:nvSpPr>
        <p:spPr>
          <a:xfrm>
            <a:off x="9303791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04375" y="4946904"/>
            <a:ext cx="256032" cy="256032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9898151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대응</a:t>
            </a:r>
            <a:endParaRPr lang="en-US" sz="1300" dirty="0"/>
          </a:p>
        </p:txBody>
      </p:sp>
      <p:sp>
        <p:nvSpPr>
          <p:cNvPr id="49" name="Text 31"/>
          <p:cNvSpPr txBox="1"/>
          <p:nvPr/>
        </p:nvSpPr>
        <p:spPr>
          <a:xfrm>
            <a:off x="9303791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및 개인정보보호 요건 지원</a:t>
            </a:r>
            <a:endParaRPr lang="en-US" sz="1100" dirty="0"/>
          </a:p>
        </p:txBody>
      </p:sp>
      <p:sp>
        <p:nvSpPr>
          <p:cNvPr id="50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|   Nessus vs. CrowdStrike Falcon 플랫폼  ·  웨스틴 리조트 괌 제안서</a:t>
            </a:r>
            <a:endParaRPr lang="en-US" sz="900" dirty="0"/>
          </a:p>
        </p:txBody>
      </p:sp>
      <p:pic>
        <p:nvPicPr>
          <p:cNvPr id="51" name="Image 16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 향후 일정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진행 단계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2549576" y="18013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0" y="1914022"/>
            <a:ext cx="286756" cy="2867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587752"/>
            <a:ext cx="2567864" cy="0"/>
          </a:xfrm>
          <a:prstGeom prst="line">
            <a:avLst/>
          </a:prstGeom>
          <a:noFill/>
          <a:ln w="25400">
            <a:solidFill>
              <a:srgbClr val="E320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256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확정 워크숍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10896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원격 미팅으로 엔드포인트 수, OS, 핵심 시스템을 확인합니다.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390824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D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Shape 8"/>
          <p:cNvSpPr/>
          <p:nvPr/>
        </p:nvSpPr>
        <p:spPr>
          <a:xfrm>
            <a:off x="5391760" y="18013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414" y="1914022"/>
            <a:ext cx="286756" cy="2867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90824" y="2587752"/>
            <a:ext cx="2567864" cy="0"/>
          </a:xfrm>
          <a:prstGeom prst="line">
            <a:avLst/>
          </a:prstGeom>
          <a:noFill/>
          <a:ln w="25400">
            <a:solidFill>
              <a:srgbClr val="DCE1E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390824" y="2743200"/>
            <a:ext cx="256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/ 가치 검증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390824" y="310896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엔드포인트 그룹에 Falcon을 배포하고 탐지 결과를 함께 검토합니다.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233008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D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Shape 13"/>
          <p:cNvSpPr/>
          <p:nvPr/>
        </p:nvSpPr>
        <p:spPr>
          <a:xfrm>
            <a:off x="8233943" y="18013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597" y="1914022"/>
            <a:ext cx="286756" cy="2867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2587752"/>
            <a:ext cx="2567864" cy="0"/>
          </a:xfrm>
          <a:prstGeom prst="line">
            <a:avLst/>
          </a:prstGeom>
          <a:noFill/>
          <a:ln w="25400">
            <a:solidFill>
              <a:srgbClr val="DCE1E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233008" y="2743200"/>
            <a:ext cx="256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검토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33008" y="310896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결과와 함께 권장 옵션 및 모듈 범위를 담은 맞춤 제안을 공유합니다.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75191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D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24" name="Shape 18"/>
          <p:cNvSpPr/>
          <p:nvPr/>
        </p:nvSpPr>
        <p:spPr>
          <a:xfrm>
            <a:off x="11076127" y="18013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781" y="1914022"/>
            <a:ext cx="286756" cy="28675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075191" y="2587752"/>
            <a:ext cx="2567864" cy="0"/>
          </a:xfrm>
          <a:prstGeom prst="line">
            <a:avLst/>
          </a:prstGeom>
          <a:noFill/>
          <a:ln w="25400">
            <a:solidFill>
              <a:srgbClr val="DCE1E7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075191" y="2743200"/>
            <a:ext cx="256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배포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075191" y="310896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로드맵에 따라 전사 배포하며, 시큐코리아가 지속적인 기술지원과 보고를 제공합니다.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343400"/>
            <a:ext cx="11094415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5" descr="/private/tmp/claude-501/-Users-jihanvin-Desktop-NIVNAH-AI/16a96446-d9b3-40e2-af9e-a3011ae3db84/scratchpad/assets/bg_redwav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28255" y="4343400"/>
            <a:ext cx="4114800" cy="1554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60120" y="45720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단계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960120" y="48463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 범위와 파일럿 그룹 확정을 위한 1시간 워크숍 일정을 잡아 주십시오.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4" name="Image 6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23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Falcon으로 완성하는 웨스틴 리조트 괌의 실시간 엔드포인트 보호.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2688" y="4572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secukorea@secukorea.com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38344"/>
            <a:ext cx="219456" cy="21945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32688" y="4983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+82-2-3400-0877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49824"/>
            <a:ext cx="219456" cy="21945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2688" y="5394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www.secukorea.com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4" name="Image 5" descr="/private/tmp/claude-501/-Users-jihanvin-Desktop-NIVNAH-AI/16a96446-d9b3-40e2-af9e-a3011ae3db84/scratchpad/assets/cs_log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6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 기술지원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시큐코리아 24시간 기술지원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172492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81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사업장 특화 24시간 원격 지원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293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사업장 운영에 맞춘 24시간 원격 지원으로, 시차나 현지 업무시간과 관계없이 언제든 지원받을 수 있습니다.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2822204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엔지니어 매칭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026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 환경을 잘 아는 시큐코리아 전담 엔지니어가 배포, 정책 튜닝, 일상 요청을 책임지고 처리합니다.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3919484"/>
            <a:ext cx="317480" cy="317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764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안정적인 시스템 운용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123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센서·정책·업데이트를 정기 점검하고 경영진에 보고하여 시스템을 안정적으로 유지합니다.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5016764"/>
            <a:ext cx="317480" cy="317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737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지원 창구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25880" y="522122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기술지원, 라이선스, 갱신을 하나의 파트너가 처리하며, 필요 시 SK쉴더스와 CrowdStrike로 연계합니다.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18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지원 연계  ·  SK쉴더스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침해사고 대응 전문가 24시간 대응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이벤트 시 30분 내 유선 연락, 2시간 내 초동 조치 (SLA)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보안장비·서버 포함 통합 분석</a:t>
            </a:r>
            <a:endParaRPr lang="en-US" sz="13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이벤트와 타 보안장비 로그 상관분석</a:t>
            </a:r>
            <a:endParaRPr lang="en-US" sz="13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침해사고 경험이 풍부한 인력의 악성코드 분석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시 CrowdStrike 파트너 SK쉴더스가 함께 대응합니다.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 |   Nessus vs. CrowdStrike Falcon 플랫폼  ·  웨스틴 리조트 괌 제안서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SECUKOREA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Nessus vs. CrowdStrike Falcon Platform — Proposal for The Westin Resort Guam</dc:title>
  <dc:subject>PptxGenJS Presentation</dc:subject>
  <dc:creator>SECUKOREA Inc.</dc:creator>
  <cp:lastModifiedBy>SECUKOREA Inc.</cp:lastModifiedBy>
  <cp:revision>1</cp:revision>
  <dcterms:created xsi:type="dcterms:W3CDTF">2026-09-23T07:33:43Z</dcterms:created>
  <dcterms:modified xsi:type="dcterms:W3CDTF">2026-09-23T07:33:43Z</dcterms:modified>
</cp:coreProperties>
</file>