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9" r:id="rId5"/>
    <p:sldId id="261" r:id="rId7"/>
    <p:sldId id="268" r:id="rId13"/>
    <p:sldId id="273" r:id="rId18"/>
    <p:sldId id="270" r:id="rId15"/>
    <p:sldId id="276" r:id="rId17"/>
    <p:sldId id="275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2.xml"/><Relationship Id="rId7" Type="http://schemas.openxmlformats.org/officeDocument/2006/relationships/slide" Target="slides/slide3.xml"/><Relationship Id="rId13" Type="http://schemas.openxmlformats.org/officeDocument/2006/relationships/slide" Target="slides/slide4.xml"/><Relationship Id="rId15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5.xml"/><Relationship Id="rId19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6358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타이틀 슬라이드. 리조트에는 현재 엔드포인트 보안이 없습니다. 이 제안서는 실시간 보호가 왜 필요한지, CrowdStrike Falcon이 Nessus 같은 취약점 스캐너와 어떻게 다른지, 시큐코리아가 어떻게 지원하는지를 짧게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 왜 중요한가: 해커는 몇 초 만에 퍼지고, AI를 활용하며, 대응책이 나오기 전에 취약점을 공격합니다. 지난해 대부분의 기업이 랜섬웨어 피해를 입었습니다. 보호는 자동으로, 항상 켜져 있어야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비기술 관계자를 위한 비유: Nessus 같은 스캐너는 정기 소방점검입니다. Falcon은 실제로 불이 났을 때 작동하는 화재감지기, 스프링클러, 보안팀입니다.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간단한 비교입니다. Nessus 같은 스캐너는 취약점을 찾아 보고합니다. CrowdStrike Falcon은 매 순간 자동으로 공격을 막고, 시큐코리아의 24시간 지원이 함께 제공됩니다.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가지 증거입니다. 첫째, CrowdStrike가 공개한 실제 랜섬웨어 공격에서 Falcon은 침입자를 탐지하고 모든 단계를 막아 파일 하나도 암호화되지 않았습니다. 둘째, 호텔 체인을 포함한 고객 성과와 독립 기관 테스트 결과입니다.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후 시큐코리아가 24시간 원격으로 리조트를 지원하고, 전담 엔지니어가 단일 창구가 됩니다. 중대한 사고 시에는 CrowdStrike 파트너인 SK쉴더스가 침해사고 대응팀과 응답 시간 약속으로 함께 대응합니다.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전후를 쉽게 비교하고, 호텔 경영진에게 중요한 네 가지 성과(고객 신뢰, 비즈니스 연속성, IT 업무 경감, 컴플라이언스)를 설명하십시오.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청중에게 감사를 전하고 질의응답을 진행하십시오.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14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Relationship Id="rId9" Type="http://schemas.openxmlformats.org/officeDocument/2006/relationships/image" Target="../media/image64.png"/><Relationship Id="rId10" Type="http://schemas.openxmlformats.org/officeDocument/2006/relationships/image" Target="../media/image65.png"/><Relationship Id="rId11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Relationship Id="rId7" Type="http://schemas.openxmlformats.org/officeDocument/2006/relationships/image" Target="../media/image9.png"/><Relationship Id="rId8" Type="http://schemas.openxmlformats.org/officeDocument/2006/relationships/image" Target="../media/image5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Relationship Id="rId8" Type="http://schemas.openxmlformats.org/officeDocument/2006/relationships/image" Target="../media/image3.png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jihanvin-Desktop-NIVNAH-AI/16a96446-d9b3-40e2-af9e-a3011ae3db84/scratchpad/assets/bg_lin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8439" y="0"/>
            <a:ext cx="7763256" cy="6858000"/>
          </a:xfrm>
          <a:prstGeom prst="rect">
            <a:avLst/>
          </a:prstGeom>
        </p:spPr>
      </p:pic>
      <p:pic>
        <p:nvPicPr>
          <p:cNvPr id="3" name="Image 1" descr="/private/tmp/claude-501/-Users-jihanvin-Desktop-NIVNAH-AI/16a96446-d9b3-40e2-af9e-a3011ae3db84/scratchpad/assets/west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02920"/>
            <a:ext cx="1371600" cy="4114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783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제안서   |   엔드포인트 보안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48840"/>
            <a:ext cx="8778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웨스틴 리조트 괌을 위한 실시간 엔드포인트 보호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794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Falcon® 기반 (EPP / EDR)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시큐코리아 보안 제안서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9834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제안사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2303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(주)시큐코리아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3291840" y="49834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고객사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3291840" y="52303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웨스틴 리조트 괌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035040" y="49834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제안일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6035040" y="52303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9월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589520" y="62179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솔루션</a:t>
            </a:r>
            <a:endParaRPr lang="en-US" sz="900" dirty="0"/>
          </a:p>
        </p:txBody>
      </p:sp>
      <p:pic>
        <p:nvPicPr>
          <p:cNvPr id="14" name="Image 2" descr="/private/tmp/claude-501/-Users-jihanvin-Desktop-NIVNAH-AI/16a96446-d9b3-40e2-af9e-a3011ae3db84/scratchpad/assets/cs_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6236208"/>
            <a:ext cx="1600200" cy="182880"/>
          </a:xfrm>
          <a:prstGeom prst="rect">
            <a:avLst/>
          </a:prstGeom>
        </p:spPr>
      </p:pic>
      <p:pic>
        <p:nvPicPr>
          <p:cNvPr id="15" name="Image 3" descr="/private/tmp/claude-501/-Users-jihanvin-Desktop-NIVNAH-AI/16a96446-d9b3-40e2-af9e-a3011ae3db84/scratchpad/assets/secukorea_ligh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6163056"/>
            <a:ext cx="1325880" cy="3154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보안 공격 트렌드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사이버 공격은 이제 몇 초 만에 퍼집니다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2567864" cy="2148840"/>
          </a:xfrm>
          <a:prstGeom prst="roundRect">
            <a:avLst>
              <a:gd name="adj" fmla="val 3404"/>
            </a:avLst>
          </a:prstGeom>
          <a:solidFill>
            <a:srgbClr val="171B22"/>
          </a:solidFill>
          <a:ln w="9525">
            <a:solidFill>
              <a:srgbClr val="2A30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87452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27초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15768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해커가 PC 한 대에서 다른 시스템으로 퍼지는 최단 시간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90824" y="1600200"/>
            <a:ext cx="2567864" cy="2148840"/>
          </a:xfrm>
          <a:prstGeom prst="roundRect">
            <a:avLst>
              <a:gd name="adj" fmla="val 3404"/>
            </a:avLst>
          </a:prstGeom>
          <a:solidFill>
            <a:srgbClr val="171B22"/>
          </a:solidFill>
          <a:ln w="9525">
            <a:solidFill>
              <a:srgbClr val="2A30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65144" y="187452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3665144" y="2715768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AI를 활용한 해커 공격 증가율 (2025)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33008" y="1600200"/>
            <a:ext cx="2567864" cy="2148840"/>
          </a:xfrm>
          <a:prstGeom prst="roundRect">
            <a:avLst>
              <a:gd name="adj" fmla="val 3404"/>
            </a:avLst>
          </a:prstGeom>
          <a:solidFill>
            <a:srgbClr val="171B22"/>
          </a:solidFill>
          <a:ln w="9525">
            <a:solidFill>
              <a:srgbClr val="2A30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07328" y="187452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6507328" y="2715768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 알려지지 않은 보안 허점을 노린 공격 증가율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075191" y="1600200"/>
            <a:ext cx="2567864" cy="2148840"/>
          </a:xfrm>
          <a:prstGeom prst="roundRect">
            <a:avLst>
              <a:gd name="adj" fmla="val 3404"/>
            </a:avLst>
          </a:prstGeom>
          <a:solidFill>
            <a:srgbClr val="171B22"/>
          </a:solidFill>
          <a:ln w="9525">
            <a:solidFill>
              <a:srgbClr val="2A30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349511" y="187452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9349511" y="2715768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 1년간 랜섬웨어 피해를 입은 기업 비율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114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리조트에 주는 의미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45720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" y="4682642"/>
            <a:ext cx="281635" cy="28163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234440" y="4553712"/>
            <a:ext cx="27837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새롭고 알려지지 않은 공격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1234440" y="4882896"/>
            <a:ext cx="2783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공격은 대응책이 나오기 전에 들어옵니다. 행위를 감시하는 보호만이 막을 수 있습니다.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338218" y="45720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8861" y="4682642"/>
            <a:ext cx="281635" cy="28163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024018" y="4553712"/>
            <a:ext cx="27837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몇 주가 아닌 몇 초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5024018" y="4882896"/>
            <a:ext cx="2783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보호되지 않은 PC는 몇 초 만에 뚫리고, 공격이 다른 시스템으로 번집니다.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8127797" y="45720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8439" y="4682642"/>
            <a:ext cx="281635" cy="28163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813597" y="4553712"/>
            <a:ext cx="27837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몸값 지불은 해결책이 아님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8813597" y="4882896"/>
            <a:ext cx="2783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몸값을 낸 피해자의 83%가 다시 공격받았고, 93%는 결국 데이터를 도난당했습니다.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610819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 i="1" dirty="0">
                <a:solidFill>
                  <a:srgbClr val="7D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CrowdStrike 2026 Global Threat Report; CrowdStrike State of Ransomware Survey.</a:t>
            </a:r>
            <a:endParaRPr lang="en-US" sz="80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|   CrowdStrike Falcon 제안서  ·  웨스틴 리조트 괌</a:t>
            </a:r>
            <a:endParaRPr lang="en-US" sz="900" dirty="0"/>
          </a:p>
        </p:txBody>
      </p:sp>
      <p:pic>
        <p:nvPicPr>
          <p:cNvPr id="32" name="Image 4" descr="/private/tmp/claude-501/-Users-jihanvin-Desktop-NIVNAH-AI/16a96446-d9b3-40e2-af9e-a3011ae3db84/scratchpad/assets/secukorea_ligh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쉽게 이해하기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정기 안전점검 vs. 24시간 보안팀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5074920" cy="3611880"/>
          </a:xfrm>
          <a:prstGeom prst="roundRect">
            <a:avLst>
              <a:gd name="adj" fmla="val 2532"/>
            </a:avLst>
          </a:prstGeom>
          <a:solidFill>
            <a:srgbClr val="F3F5F8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18745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498" y="2015338"/>
            <a:ext cx="358445" cy="35844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190195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NESSUS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1691640" y="2157984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소방 안전점검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88036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점검원이 정해진 날 건물을 돌며 고칠 곳을 적어 보고서를 건넵니다. 유용하지만, 실제로 불이 났을 때 점검원은 그 자리에 없습니다.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023360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8720" y="39776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알려진 문제 발견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389120"/>
            <a:ext cx="182880" cy="1828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88720" y="43434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정해진 일정에 보고</a:t>
            </a:r>
            <a:endParaRPr lang="en-US" sz="1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754880"/>
            <a:ext cx="182880" cy="18288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188720" y="47091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조치는 고객 몫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6568135" y="1554480"/>
            <a:ext cx="5074920" cy="3611880"/>
          </a:xfrm>
          <a:prstGeom prst="roundRect">
            <a:avLst>
              <a:gd name="adj" fmla="val 2532"/>
            </a:avLst>
          </a:prstGeom>
          <a:solidFill>
            <a:srgbClr val="FDECEC"/>
          </a:solidFill>
          <a:ln w="9525">
            <a:solidFill>
              <a:srgbClr val="F6C9CB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6888175" y="18745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8993" y="2015338"/>
            <a:ext cx="358445" cy="35844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711135" y="190195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FALCON</a:t>
            </a:r>
            <a:endParaRPr lang="en-US" sz="1100" dirty="0"/>
          </a:p>
        </p:txBody>
      </p:sp>
      <p:sp>
        <p:nvSpPr>
          <p:cNvPr id="21" name="Text 13"/>
          <p:cNvSpPr txBox="1"/>
          <p:nvPr/>
        </p:nvSpPr>
        <p:spPr>
          <a:xfrm>
            <a:off x="7711135" y="2157984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화재감지기, 스프링클러 &amp; 24시간 보안팀</a:t>
            </a:r>
            <a:endParaRPr lang="en-US" sz="1700" dirty="0"/>
          </a:p>
        </p:txBody>
      </p:sp>
      <p:sp>
        <p:nvSpPr>
          <p:cNvPr id="22" name="Text 14"/>
          <p:cNvSpPr txBox="1"/>
          <p:nvPr/>
        </p:nvSpPr>
        <p:spPr>
          <a:xfrm>
            <a:off x="6888175" y="288036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PC의 센서가 위험을 즉시 포착해 자동으로 막고, 24시간 대기 중인 전문가에게 바로 알립니다.</a:t>
            </a:r>
            <a:endParaRPr lang="en-US" sz="12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8175" y="4023360"/>
            <a:ext cx="182880" cy="18288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7208215" y="39776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즉시 탐지</a:t>
            </a:r>
            <a:endParaRPr lang="en-US" sz="125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8175" y="4389120"/>
            <a:ext cx="182880" cy="18288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208215" y="43434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 자동 차단</a:t>
            </a:r>
            <a:endParaRPr lang="en-US" sz="125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8175" y="4754880"/>
            <a:ext cx="182880" cy="18288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7208215" y="47091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전문가 24시간 대응</a:t>
            </a:r>
            <a:endParaRPr lang="en-US" sz="1250" dirty="0"/>
          </a:p>
        </p:txBody>
      </p:sp>
      <p:sp>
        <p:nvSpPr>
          <p:cNvPr id="29" name="Shape 18"/>
          <p:cNvSpPr/>
          <p:nvPr/>
        </p:nvSpPr>
        <p:spPr>
          <a:xfrm>
            <a:off x="5775808" y="3040380"/>
            <a:ext cx="640080" cy="640080"/>
          </a:xfrm>
          <a:prstGeom prst="ellipse">
            <a:avLst/>
          </a:prstGeom>
          <a:solidFill>
            <a:srgbClr val="0B0D1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19"/>
          <p:cNvSpPr txBox="1"/>
          <p:nvPr/>
        </p:nvSpPr>
        <p:spPr>
          <a:xfrm>
            <a:off x="5775808" y="30403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500" dirty="0"/>
          </a:p>
        </p:txBody>
      </p:sp>
      <p:sp>
        <p:nvSpPr>
          <p:cNvPr id="42" name="Text 31"/>
          <p:cNvSpPr txBox="1"/>
          <p:nvPr/>
        </p:nvSpPr>
        <p:spPr>
          <a:xfrm>
            <a:off x="548640" y="5440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600" b="1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Nessus</a:t>
            </a:r>
            <a:r>
              <a:rPr lang="en-US" sz="16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무엇이 문제인지 알려주고,  </a:t>
            </a:r>
            <a:r>
              <a:rPr lang="en-US" sz="1600" b="1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</a:t>
            </a:r>
            <a:r>
              <a:rPr lang="en-US" sz="16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 24시간 공격을 막아냅니다.</a:t>
            </a:r>
            <a:endParaRPr lang="en-US" sz="1600" dirty="0"/>
          </a:p>
        </p:txBody>
      </p:sp>
      <p:sp>
        <p:nvSpPr>
          <p:cNvPr id="43" name="Text 32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|   CrowdStrike Falcon 제안서  ·  웨스틴 리조트 괌</a:t>
            </a:r>
            <a:endParaRPr lang="en-US" sz="900" dirty="0"/>
          </a:p>
        </p:txBody>
      </p:sp>
      <p:pic>
        <p:nvPicPr>
          <p:cNvPr id="44" name="Image 9" descr="/private/tmp/claude-501/-Users-jihanvin-Desktop-NIVNAH-AI/16a96446-d9b3-40e2-af9e-a3011ae3db84/scratchpad/assets/secukorea_dar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기능 비교</a:t>
            </a:r>
            <a:endParaRPr lang="en-US" sz="13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한눈에 비교: Nessus vs. CrowdStrike Falcon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4415" cy="45262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9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6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Nessus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B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CrowdStrike Falcon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2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하는 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취약점을 찾아 보고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공격 차단</a:t>
                      </a:r>
                      <a:r>
                        <a:rPr lang="en-US" sz="1400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— 모든 PC와 서버에서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보호 시점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정해진 스캔 날에만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 순간</a:t>
                      </a:r>
                      <a:r>
                        <a:rPr lang="en-US" sz="1400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— 연중무휴 24시간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바이러스·랜섬웨어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차단 불가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자동 차단</a:t>
                      </a:r>
                      <a:r>
                        <a:rPr lang="en-US" sz="1400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— 독립 테스트에서 랜섬웨어 100% 차단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공격 발생 시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알아채지 못함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탐지 및 격리</a:t>
                      </a:r>
                      <a:r>
                        <a:rPr lang="en-US" sz="1400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— 감염 PC를 클릭 한 번으로 격리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전문가 지원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미포함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포함</a:t>
                      </a:r>
                      <a:r>
                        <a:rPr lang="en-US" sz="1400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— 시큐코리아 24시간 지원, SK쉴더스 연계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IT팀 업무 부담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높음 — 모든 항목을 수작업으로 조치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낮음</a:t>
                      </a:r>
                      <a:r>
                        <a:rPr lang="en-US" sz="1400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— 보호가 자동으로 이뤄짐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|   CrowdStrike Falcon 제안서  ·  웨스틴 리조트 괌</a:t>
            </a:r>
            <a:endParaRPr lang="en-US" sz="900" dirty="0"/>
          </a:p>
        </p:txBody>
      </p:sp>
      <p:pic>
        <p:nvPicPr>
          <p:cNvPr id="7" name="Image 1" descr="/private/tmp/claude-501/-Users-jihanvin-Desktop-NIVNAH-AI/16a96446-d9b3-40e2-af9e-a3011ae3db84/scratchpad/assets/secukorea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기대 효과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무방비 상태에서 상시 보호로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4892040" cy="2788920"/>
          </a:xfrm>
          <a:prstGeom prst="roundRect">
            <a:avLst>
              <a:gd name="adj" fmla="val 3279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78308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 ·  엔드포인트 보안 없음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240280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07008" y="219456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악성코드·랜섬웨어 방어 없음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642616"/>
            <a:ext cx="201168" cy="20116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207008" y="259689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PC에서 무슨 일이 일어나는지 알 수 없음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044952"/>
            <a:ext cx="201168" cy="20116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207008" y="29992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발생 시 건별 수작업 대응</a:t>
            </a:r>
            <a:endParaRPr lang="en-US" sz="12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447288"/>
            <a:ext cx="201168" cy="20116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207008" y="34015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중인 공격을 막을 방법 없음</a:t>
            </a:r>
            <a:endParaRPr lang="en-US" sz="12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49624"/>
            <a:ext cx="201168" cy="201168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207008" y="380390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경영진이 보안 현황을 파악하기 어려움</a:t>
            </a:r>
            <a:endParaRPr lang="en-US" sz="12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1528" y="2674620"/>
            <a:ext cx="548640" cy="548640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6751015" y="1554480"/>
            <a:ext cx="4892040" cy="2788920"/>
          </a:xfrm>
          <a:prstGeom prst="roundRect">
            <a:avLst>
              <a:gd name="adj" fmla="val 3279"/>
            </a:avLst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</p:spPr>
      </p:sp>
      <p:sp>
        <p:nvSpPr>
          <p:cNvPr id="19" name="Text 10"/>
          <p:cNvSpPr txBox="1"/>
          <p:nvPr/>
        </p:nvSpPr>
        <p:spPr>
          <a:xfrm>
            <a:off x="7071055" y="178308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후  ·  CROWDSTRIKE FALCON</a:t>
            </a:r>
            <a:endParaRPr lang="en-US" sz="11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1055" y="2240280"/>
            <a:ext cx="201168" cy="201168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7409383" y="219456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PC·서버 실시간 차단</a:t>
            </a:r>
            <a:endParaRPr lang="en-US" sz="125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1055" y="2642616"/>
            <a:ext cx="201168" cy="201168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7409383" y="259689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24시간 상시 모니터링</a:t>
            </a:r>
            <a:endParaRPr lang="en-US" sz="125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1055" y="3044952"/>
            <a:ext cx="201168" cy="201168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7409383" y="29992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격리 및 대응</a:t>
            </a:r>
            <a:endParaRPr lang="en-US" sz="1250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1055" y="3447288"/>
            <a:ext cx="201168" cy="201168"/>
          </a:xfrm>
          <a:prstGeom prst="rect">
            <a:avLst/>
          </a:prstGeom>
        </p:spPr>
      </p:pic>
      <p:sp>
        <p:nvSpPr>
          <p:cNvPr id="27" name="Text 14"/>
          <p:cNvSpPr txBox="1"/>
          <p:nvPr/>
        </p:nvSpPr>
        <p:spPr>
          <a:xfrm>
            <a:off x="7409383" y="34015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검증된 랜섬웨어 보호</a:t>
            </a:r>
            <a:endParaRPr lang="en-US" sz="1250" dirty="0"/>
          </a:p>
        </p:txBody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1055" y="3849624"/>
            <a:ext cx="201168" cy="201168"/>
          </a:xfrm>
          <a:prstGeom prst="rect">
            <a:avLst/>
          </a:prstGeom>
        </p:spPr>
      </p:pic>
      <p:sp>
        <p:nvSpPr>
          <p:cNvPr id="29" name="Text 15"/>
          <p:cNvSpPr txBox="1"/>
          <p:nvPr/>
        </p:nvSpPr>
        <p:spPr>
          <a:xfrm>
            <a:off x="7409383" y="380390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한눈에 보는 대시보드와 경영진 보고</a:t>
            </a:r>
            <a:endParaRPr lang="en-US" sz="1250" dirty="0"/>
          </a:p>
        </p:txBody>
      </p:sp>
      <p:sp>
        <p:nvSpPr>
          <p:cNvPr id="30" name="Shape 16"/>
          <p:cNvSpPr/>
          <p:nvPr/>
        </p:nvSpPr>
        <p:spPr>
          <a:xfrm>
            <a:off x="548640" y="4617720"/>
            <a:ext cx="256786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17"/>
          <p:cNvSpPr/>
          <p:nvPr/>
        </p:nvSpPr>
        <p:spPr>
          <a:xfrm>
            <a:off x="777240" y="48463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32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" y="4946904"/>
            <a:ext cx="256032" cy="256032"/>
          </a:xfrm>
          <a:prstGeom prst="rect">
            <a:avLst/>
          </a:prstGeom>
        </p:spPr>
      </p:pic>
      <p:sp>
        <p:nvSpPr>
          <p:cNvPr id="33" name="Text 18"/>
          <p:cNvSpPr txBox="1"/>
          <p:nvPr/>
        </p:nvSpPr>
        <p:spPr>
          <a:xfrm>
            <a:off x="1371600" y="4846320"/>
            <a:ext cx="160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신뢰 보호</a:t>
            </a:r>
            <a:endParaRPr lang="en-US" sz="1300" dirty="0"/>
          </a:p>
        </p:txBody>
      </p:sp>
      <p:sp>
        <p:nvSpPr>
          <p:cNvPr id="34" name="Text 19"/>
          <p:cNvSpPr txBox="1"/>
          <p:nvPr/>
        </p:nvSpPr>
        <p:spPr>
          <a:xfrm>
            <a:off x="777240" y="5422392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정보와 결제 안전 확보</a:t>
            </a:r>
            <a:endParaRPr lang="en-US" sz="1100" dirty="0"/>
          </a:p>
        </p:txBody>
      </p:sp>
      <p:sp>
        <p:nvSpPr>
          <p:cNvPr id="35" name="Shape 20"/>
          <p:cNvSpPr/>
          <p:nvPr/>
        </p:nvSpPr>
        <p:spPr>
          <a:xfrm>
            <a:off x="3390824" y="4617720"/>
            <a:ext cx="256786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21"/>
          <p:cNvSpPr/>
          <p:nvPr/>
        </p:nvSpPr>
        <p:spPr>
          <a:xfrm>
            <a:off x="3619424" y="48463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0008" y="4946904"/>
            <a:ext cx="256032" cy="256032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4213784" y="4846320"/>
            <a:ext cx="160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비즈니스 연속성</a:t>
            </a:r>
            <a:endParaRPr lang="en-US" sz="1300" dirty="0"/>
          </a:p>
        </p:txBody>
      </p:sp>
      <p:sp>
        <p:nvSpPr>
          <p:cNvPr id="39" name="Text 23"/>
          <p:cNvSpPr txBox="1"/>
          <p:nvPr/>
        </p:nvSpPr>
        <p:spPr>
          <a:xfrm>
            <a:off x="3619424" y="5422392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프런트 데스크·백오피스 중단 방지</a:t>
            </a:r>
            <a:endParaRPr lang="en-US" sz="1100" dirty="0"/>
          </a:p>
        </p:txBody>
      </p:sp>
      <p:sp>
        <p:nvSpPr>
          <p:cNvPr id="40" name="Shape 24"/>
          <p:cNvSpPr/>
          <p:nvPr/>
        </p:nvSpPr>
        <p:spPr>
          <a:xfrm>
            <a:off x="6233008" y="4617720"/>
            <a:ext cx="256786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25"/>
          <p:cNvSpPr/>
          <p:nvPr/>
        </p:nvSpPr>
        <p:spPr>
          <a:xfrm>
            <a:off x="6461608" y="48463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42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2192" y="4946904"/>
            <a:ext cx="256032" cy="256032"/>
          </a:xfrm>
          <a:prstGeom prst="rect">
            <a:avLst/>
          </a:prstGeom>
        </p:spPr>
      </p:pic>
      <p:sp>
        <p:nvSpPr>
          <p:cNvPr id="43" name="Text 26"/>
          <p:cNvSpPr txBox="1"/>
          <p:nvPr/>
        </p:nvSpPr>
        <p:spPr>
          <a:xfrm>
            <a:off x="7055968" y="4846320"/>
            <a:ext cx="160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업무 부담 경감</a:t>
            </a:r>
            <a:endParaRPr lang="en-US" sz="1300" dirty="0"/>
          </a:p>
        </p:txBody>
      </p:sp>
      <p:sp>
        <p:nvSpPr>
          <p:cNvPr id="44" name="Text 27"/>
          <p:cNvSpPr txBox="1"/>
          <p:nvPr/>
        </p:nvSpPr>
        <p:spPr>
          <a:xfrm>
            <a:off x="6461608" y="5422392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 + 시큐코리아 24시간 지원</a:t>
            </a:r>
            <a:endParaRPr lang="en-US" sz="1100" dirty="0"/>
          </a:p>
        </p:txBody>
      </p:sp>
      <p:sp>
        <p:nvSpPr>
          <p:cNvPr id="45" name="Shape 28"/>
          <p:cNvSpPr/>
          <p:nvPr/>
        </p:nvSpPr>
        <p:spPr>
          <a:xfrm>
            <a:off x="9075191" y="4617720"/>
            <a:ext cx="256786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29"/>
          <p:cNvSpPr/>
          <p:nvPr/>
        </p:nvSpPr>
        <p:spPr>
          <a:xfrm>
            <a:off x="9303791" y="48463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4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4375" y="4946904"/>
            <a:ext cx="256032" cy="256032"/>
          </a:xfrm>
          <a:prstGeom prst="rect">
            <a:avLst/>
          </a:prstGeom>
        </p:spPr>
      </p:pic>
      <p:sp>
        <p:nvSpPr>
          <p:cNvPr id="48" name="Text 30"/>
          <p:cNvSpPr txBox="1"/>
          <p:nvPr/>
        </p:nvSpPr>
        <p:spPr>
          <a:xfrm>
            <a:off x="9898151" y="4846320"/>
            <a:ext cx="160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컴플라이언스 대응</a:t>
            </a:r>
            <a:endParaRPr lang="en-US" sz="1300" dirty="0"/>
          </a:p>
        </p:txBody>
      </p:sp>
      <p:sp>
        <p:nvSpPr>
          <p:cNvPr id="49" name="Text 31"/>
          <p:cNvSpPr txBox="1"/>
          <p:nvPr/>
        </p:nvSpPr>
        <p:spPr>
          <a:xfrm>
            <a:off x="9303791" y="5422392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 및 개인정보보호 요건 지원</a:t>
            </a:r>
            <a:endParaRPr lang="en-US" sz="1100" dirty="0"/>
          </a:p>
        </p:txBody>
      </p:sp>
      <p:sp>
        <p:nvSpPr>
          <p:cNvPr id="50" name="Text 32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|   CrowdStrike Falcon 제안서  ·  웨스틴 리조트 괌</a:t>
            </a:r>
            <a:endParaRPr lang="en-US" sz="900" dirty="0"/>
          </a:p>
        </p:txBody>
      </p:sp>
      <p:pic>
        <p:nvPicPr>
          <p:cNvPr id="51" name="Image 16" descr="/private/tmp/claude-501/-Users-jihanvin-Desktop-NIVNAH-AI/16a96446-d9b3-40e2-af9e-a3011ae3db84/scratchpad/assets/secukorea_dar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48640" y="6090000"/>
            <a:ext cx="11094415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E3202A"/>
                </a:solidFill>
                <a:latin typeface="Calibri"/>
                <a:ea typeface="Malgun Gothic"/>
              </a:rPr>
              <a:t>제안 범위:  </a:t>
            </a:r>
            <a:r>
              <a:rPr sz="1050" b="0">
                <a:solidFill>
                  <a:srgbClr val="5E6978"/>
                </a:solidFill>
                <a:latin typeface="Calibri"/>
                <a:ea typeface="Malgun Gothic"/>
              </a:rPr>
              <a:t>Falcon Prevent (차세대 백신) + Falcon Insight (탐지·대응), 시큐코리아 24시간 기술지원 포함.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 도입 사례 및 효과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공격과 실제 고객이 증명한 성능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3080000"/>
            <a:ext cx="3515258" cy="1900000"/>
          </a:xfrm>
          <a:prstGeom prst="roundRect">
            <a:avLst>
              <a:gd name="adj" fmla="val 2601"/>
            </a:avLst>
          </a:prstGeom>
          <a:solidFill>
            <a:srgbClr val="FDECEC"/>
          </a:solidFill>
          <a:ln w="9525">
            <a:solidFill>
              <a:srgbClr val="F6C9C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32400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80" y="3315000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8680" y="3245000"/>
            <a:ext cx="22350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호스피탈리티</a:t>
            </a:r>
            <a:endParaRPr lang="en-US" sz="950" dirty="0"/>
          </a:p>
        </p:txBody>
      </p:sp>
      <p:sp>
        <p:nvSpPr>
          <p:cNvPr id="9" name="Text 5"/>
          <p:cNvSpPr txBox="1"/>
          <p:nvPr/>
        </p:nvSpPr>
        <p:spPr>
          <a:xfrm>
            <a:off x="1468680" y="3470000"/>
            <a:ext cx="22350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호텔 체인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3760000"/>
            <a:ext cx="2875178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10만 대</a:t>
            </a:r>
            <a:endParaRPr lang="en-US" sz="48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4280000"/>
            <a:ext cx="28751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하루 만에 배포된 에이전트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4550000"/>
            <a:ext cx="2875178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침해사고 대응 중 하루 만에 배포.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338218" y="3080000"/>
            <a:ext cx="3515258" cy="1900000"/>
          </a:xfrm>
          <a:prstGeom prst="roundRect">
            <a:avLst>
              <a:gd name="adj" fmla="val 2601"/>
            </a:avLst>
          </a:prstGeom>
          <a:solidFill>
            <a:srgbClr val="F3F5F8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658258" y="32400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3258" y="3315000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58258" y="3245000"/>
            <a:ext cx="22350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</a:t>
            </a:r>
            <a:endParaRPr lang="en-US" sz="950" dirty="0"/>
          </a:p>
        </p:txBody>
      </p:sp>
      <p:sp>
        <p:nvSpPr>
          <p:cNvPr id="17" name="Text 12"/>
          <p:cNvSpPr txBox="1"/>
          <p:nvPr/>
        </p:nvSpPr>
        <p:spPr>
          <a:xfrm>
            <a:off x="5258258" y="3470000"/>
            <a:ext cx="22350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코번트리 대학교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4658258" y="3760000"/>
            <a:ext cx="2875178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4800" dirty="0"/>
          </a:p>
        </p:txBody>
      </p:sp>
      <p:sp>
        <p:nvSpPr>
          <p:cNvPr id="19" name="Text 14"/>
          <p:cNvSpPr txBox="1"/>
          <p:nvPr/>
        </p:nvSpPr>
        <p:spPr>
          <a:xfrm>
            <a:off x="4658258" y="4280000"/>
            <a:ext cx="28751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해결 시간 단축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658258" y="4550000"/>
            <a:ext cx="2875178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해결 시간 2–3일 → 1시간 미만.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8127797" y="3080000"/>
            <a:ext cx="3515258" cy="1900000"/>
          </a:xfrm>
          <a:prstGeom prst="roundRect">
            <a:avLst>
              <a:gd name="adj" fmla="val 2601"/>
            </a:avLst>
          </a:prstGeom>
          <a:solidFill>
            <a:srgbClr val="F3F5F8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447837" y="32400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837" y="3315000"/>
            <a:ext cx="307238" cy="30723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047837" y="3245000"/>
            <a:ext cx="22350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 브랜드 기업</a:t>
            </a:r>
            <a:endParaRPr lang="en-US" sz="950" dirty="0"/>
          </a:p>
        </p:txBody>
      </p:sp>
      <p:sp>
        <p:nvSpPr>
          <p:cNvPr id="25" name="Text 19"/>
          <p:cNvSpPr txBox="1"/>
          <p:nvPr/>
        </p:nvSpPr>
        <p:spPr>
          <a:xfrm>
            <a:off x="9047837" y="3470000"/>
            <a:ext cx="22350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Anywhere Real Estate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8447837" y="3760000"/>
            <a:ext cx="2875178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500×</a:t>
            </a:r>
            <a:endParaRPr lang="en-US" sz="4800" dirty="0"/>
          </a:p>
        </p:txBody>
      </p:sp>
      <p:sp>
        <p:nvSpPr>
          <p:cNvPr id="27" name="Text 21"/>
          <p:cNvSpPr txBox="1"/>
          <p:nvPr/>
        </p:nvSpPr>
        <p:spPr>
          <a:xfrm>
            <a:off x="8447837" y="4280000"/>
            <a:ext cx="28751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경보 감소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8447837" y="4550000"/>
            <a:ext cx="2875178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남은 경보의 98%가 실제 위협.</a:t>
            </a:r>
            <a:endParaRPr lang="en-US" sz="1150" dirty="0"/>
          </a:p>
        </p:txBody>
      </p:sp>
      <p:sp>
        <p:nvSpPr>
          <p:cNvPr id="31" name="Text 24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|   CrowdStrike Falcon 제안서  ·  웨스틴 리조트 괌</a:t>
            </a:r>
            <a:endParaRPr lang="en-US" sz="900" dirty="0"/>
          </a:p>
        </p:txBody>
      </p:sp>
      <p:pic>
        <p:nvPicPr>
          <p:cNvPr id="32" name="Image 5" descr="/private/tmp/claude-501/-Users-jihanvin-Desktop-NIVNAH-AI/16a96446-d9b3-40e2-af9e-a3011ae3db84/scratchpad/assets/secukorea_da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48640" y="1330000"/>
            <a:ext cx="11094415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3202A"/>
                </a:solidFill>
                <a:latin typeface="Calibri"/>
                <a:ea typeface="Malgun Gothic"/>
              </a:rPr>
              <a:t>실제 공격 사례  ·  </a:t>
            </a:r>
            <a:r>
              <a:rPr sz="1200" b="1">
                <a:solidFill>
                  <a:srgbClr val="1D2025"/>
                </a:solidFill>
                <a:latin typeface="Calibri"/>
                <a:ea typeface="Malgun Gothic"/>
              </a:rPr>
              <a:t>랜섬웨어 해커 조직이 북미 기업을 공격  —  </a:t>
            </a:r>
            <a:r>
              <a:rPr sz="1200" b="1">
                <a:solidFill>
                  <a:srgbClr val="E3202A"/>
                </a:solidFill>
                <a:latin typeface="Calibri"/>
                <a:ea typeface="Malgun Gothic"/>
              </a:rPr>
              <a:t>결과: 파일 하나도 암호화되기 전에 차단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1640000"/>
            <a:ext cx="2398603" cy="11000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640" y="1790000"/>
            <a:ext cx="320000" cy="320000"/>
          </a:xfrm>
          <a:prstGeom prst="ellipse">
            <a:avLst/>
          </a:prstGeom>
          <a:solidFill>
            <a:srgbClr val="5E6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Malgun Gothic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8640" y="1790000"/>
            <a:ext cx="1758603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D2025"/>
                </a:solidFill>
                <a:latin typeface="Calibri"/>
                <a:ea typeface="Malgun Gothic"/>
              </a:rPr>
              <a:t>침입 시도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8640" y="2200000"/>
            <a:ext cx="2098603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E6978"/>
                </a:solidFill>
                <a:latin typeface="Calibri"/>
                <a:ea typeface="Malgun Gothic"/>
              </a:rPr>
              <a:t>훔친 비밀번호로 네트워크에 침입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3097243" y="2090000"/>
            <a:ext cx="200000" cy="200000"/>
          </a:xfrm>
          <a:prstGeom prst="rightArrow">
            <a:avLst/>
          </a:prstGeom>
          <a:solidFill>
            <a:srgbClr val="E3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447243" y="1640000"/>
            <a:ext cx="2398603" cy="11000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9525">
            <a:solidFill>
              <a:srgbClr val="F6C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597243" y="1790000"/>
            <a:ext cx="320000" cy="320000"/>
          </a:xfrm>
          <a:prstGeom prst="ellipse">
            <a:avLst/>
          </a:prstGeom>
          <a:solidFill>
            <a:srgbClr val="E3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Malgun Gothic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07243" y="1790000"/>
            <a:ext cx="1758603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D2025"/>
                </a:solidFill>
                <a:latin typeface="Calibri"/>
                <a:ea typeface="Malgun Gothic"/>
              </a:rPr>
              <a:t>즉시 발견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7243" y="2200000"/>
            <a:ext cx="2098603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E6978"/>
                </a:solidFill>
                <a:latin typeface="Calibri"/>
                <a:ea typeface="Malgun Gothic"/>
              </a:rPr>
              <a:t>다른 PC로 이동하는 침입자를 Falcon이 탐지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5995846" y="2090000"/>
            <a:ext cx="200000" cy="200000"/>
          </a:xfrm>
          <a:prstGeom prst="rightArrow">
            <a:avLst/>
          </a:prstGeom>
          <a:solidFill>
            <a:srgbClr val="E3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345846" y="1640000"/>
            <a:ext cx="2398603" cy="11000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9525">
            <a:solidFill>
              <a:srgbClr val="F6C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95846" y="1790000"/>
            <a:ext cx="320000" cy="320000"/>
          </a:xfrm>
          <a:prstGeom prst="ellipse">
            <a:avLst/>
          </a:prstGeom>
          <a:solidFill>
            <a:srgbClr val="E3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Malgun Gothic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5846" y="1790000"/>
            <a:ext cx="1758603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D2025"/>
                </a:solidFill>
                <a:latin typeface="Calibri"/>
                <a:ea typeface="Malgun Gothic"/>
              </a:rPr>
              <a:t>해킹 도구 차단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5846" y="2200000"/>
            <a:ext cx="2098603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E6978"/>
                </a:solidFill>
                <a:latin typeface="Calibri"/>
                <a:ea typeface="Malgun Gothic"/>
              </a:rPr>
              <a:t>비밀번호 탈취와 해킹 도구 실행을 차단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8894449" y="2090000"/>
            <a:ext cx="200000" cy="200000"/>
          </a:xfrm>
          <a:prstGeom prst="rightArrow">
            <a:avLst/>
          </a:prstGeom>
          <a:solidFill>
            <a:srgbClr val="E3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244449" y="1640000"/>
            <a:ext cx="2398603" cy="11000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9525">
            <a:solidFill>
              <a:srgbClr val="F6C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394449" y="1790000"/>
            <a:ext cx="320000" cy="320000"/>
          </a:xfrm>
          <a:prstGeom prst="ellipse">
            <a:avLst/>
          </a:prstGeom>
          <a:solidFill>
            <a:srgbClr val="E3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Malgun Gothic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04449" y="1790000"/>
            <a:ext cx="1758603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D2025"/>
                </a:solidFill>
                <a:latin typeface="Calibri"/>
                <a:ea typeface="Malgun Gothic"/>
              </a:rPr>
              <a:t>랜섬웨어 차단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94449" y="2200000"/>
            <a:ext cx="2098603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E6978"/>
                </a:solidFill>
                <a:latin typeface="Calibri"/>
                <a:ea typeface="Malgun Gothic"/>
              </a:rPr>
              <a:t>파일이 암호화되기 전에 해당 PC를 격리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2800000"/>
            <a:ext cx="11094415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978"/>
                </a:solidFill>
                <a:latin typeface="Calibri"/>
                <a:ea typeface="Malgun Gothic"/>
              </a:rPr>
              <a:t>출처: CrowdStrike 사례 연구 (PUNK SPIDER, Akira 랜섬웨어). 이해를 돕기 위해 단계를 간략화함.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120000"/>
            <a:ext cx="11094415" cy="720000"/>
          </a:xfrm>
          <a:prstGeom prst="roundRect">
            <a:avLst>
              <a:gd name="adj" fmla="val 15000"/>
            </a:avLst>
          </a:prstGeom>
          <a:solidFill>
            <a:srgbClr val="1D2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5120000"/>
            <a:ext cx="3698138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5A60"/>
                </a:solidFill>
                <a:latin typeface="Calibri"/>
                <a:ea typeface="Malgun Gothic"/>
              </a:rPr>
              <a:t>100% 탐지</a:t>
            </a:r>
          </a:p>
          <a:p>
            <a:pPr algn="ctr"/>
            <a:r>
              <a:rPr sz="1000" b="0">
                <a:solidFill>
                  <a:srgbClr val="D6DAE0"/>
                </a:solidFill>
                <a:latin typeface="Calibri"/>
                <a:ea typeface="Malgun Gothic"/>
              </a:rPr>
              <a:t>MITRE ATT&amp;CK® Evaluations 2025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46778" y="5120000"/>
            <a:ext cx="3698138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5A60"/>
                </a:solidFill>
                <a:latin typeface="Calibri"/>
                <a:ea typeface="Malgun Gothic"/>
              </a:rPr>
              <a:t>리더</a:t>
            </a:r>
          </a:p>
          <a:p>
            <a:pPr algn="ctr"/>
            <a:r>
              <a:rPr sz="1000" b="0">
                <a:solidFill>
                  <a:srgbClr val="D6DAE0"/>
                </a:solidFill>
                <a:latin typeface="Calibri"/>
                <a:ea typeface="Malgun Gothic"/>
              </a:rPr>
              <a:t>Gartner® Magic Quadrant™ EPP 부문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44916" y="5120000"/>
            <a:ext cx="3698138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5A60"/>
                </a:solidFill>
                <a:latin typeface="Calibri"/>
                <a:ea typeface="Malgun Gothic"/>
              </a:rPr>
              <a:t>랜섬웨어 100% 차단</a:t>
            </a:r>
          </a:p>
          <a:p>
            <a:pPr algn="ctr"/>
            <a:r>
              <a:rPr sz="1000" b="0">
                <a:solidFill>
                  <a:srgbClr val="D6DAE0"/>
                </a:solidFill>
                <a:latin typeface="Calibri"/>
                <a:ea typeface="Malgun Gothic"/>
              </a:rPr>
              <a:t>SE Labs EDR 랜섬웨어 테스트 2024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 기술지원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시큐코리아 24시간 기술지원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73380" y="2249424"/>
            <a:ext cx="917448" cy="566928"/>
          </a:xfrm>
          <a:prstGeom prst="roundRect">
            <a:avLst>
              <a:gd name="adj" fmla="val 16129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364" y="2374148"/>
            <a:ext cx="317480" cy="317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5843" y="223113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해외 사업장 특화 24시간 원격 지원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1465843" y="2578608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해외 사업장에 맞춘 24시간 원격 지원으로, 시차나 현지 업무시간과 관계없이 언제든 도움을 받을 수 있습니다.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73380" y="3346704"/>
            <a:ext cx="917448" cy="566928"/>
          </a:xfrm>
          <a:prstGeom prst="roundRect">
            <a:avLst>
              <a:gd name="adj" fmla="val 16129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364" y="3471428"/>
            <a:ext cx="317480" cy="3174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65843" y="332841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전담 엔지니어 매칭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465843" y="3675888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시큐코리아 전담 엔지니어가 리조트 IT팀의 일원처럼 시스템을 깊이 이해하고, 일상 요청을 빠르고 일관되게 처리합니다.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373380" y="4440936"/>
            <a:ext cx="917448" cy="566928"/>
          </a:xfrm>
          <a:prstGeom prst="roundRect">
            <a:avLst>
              <a:gd name="adj" fmla="val 16129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1465843" y="442264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지원 창구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1465843" y="4770120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기술지원, 라이선스, 갱신을 하나의 파트너가 처리하며, 필요 시 SK쉴더스와 CrowdStrike로 연계합니다.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7452360" y="1554480"/>
            <a:ext cx="4190695" cy="4434840"/>
          </a:xfrm>
          <a:prstGeom prst="roundRect">
            <a:avLst>
              <a:gd name="adj" fmla="val 2182"/>
            </a:avLst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7818120" y="1828800"/>
            <a:ext cx="3459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 지원 연계  ·  SK쉴더스</a:t>
            </a:r>
            <a:endParaRPr lang="en-US" sz="11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2322576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183880" y="2286000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침해사고 대응 전문가 24시간 대응</a:t>
            </a:r>
            <a:endParaRPr lang="en-US" sz="13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2852928"/>
            <a:ext cx="237744" cy="237744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8183880" y="2816352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이벤트 시 30분 내 유선 연락, 2시간 내 초동 조치 (SLA)</a:t>
            </a:r>
            <a:endParaRPr lang="en-US" sz="13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3383280"/>
            <a:ext cx="237744" cy="237744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8183880" y="3346704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발생 시 심층 조사</a:t>
            </a:r>
            <a:endParaRPr lang="en-US" sz="13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3913632"/>
            <a:ext cx="237744" cy="237744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8183880" y="3877056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중대 보안 경보 정밀 분석</a:t>
            </a:r>
            <a:endParaRPr lang="en-US" sz="13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4443984"/>
            <a:ext cx="237744" cy="237744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8183880" y="4407408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경험 많은 전문가의 악성코드 분석</a:t>
            </a:r>
            <a:endParaRPr lang="en-US" sz="1300" dirty="0"/>
          </a:p>
        </p:txBody>
      </p:sp>
      <p:sp>
        <p:nvSpPr>
          <p:cNvPr id="33" name="Text 21"/>
          <p:cNvSpPr txBox="1"/>
          <p:nvPr/>
        </p:nvSpPr>
        <p:spPr>
          <a:xfrm>
            <a:off x="7818120" y="5120640"/>
            <a:ext cx="3459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 시 CrowdStrike 파트너 SK쉴더스가 함께 대응합니다.</a:t>
            </a:r>
            <a:endParaRPr lang="en-US" sz="1400" dirty="0"/>
          </a:p>
        </p:txBody>
      </p:sp>
      <p:sp>
        <p:nvSpPr>
          <p:cNvPr id="34" name="Text 22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 |   CrowdStrike Falcon 제안서  ·  웨스틴 리조트 괌</a:t>
            </a:r>
            <a:endParaRPr lang="en-US" sz="900" dirty="0"/>
          </a:p>
        </p:txBody>
      </p:sp>
      <p:pic>
        <p:nvPicPr>
          <p:cNvPr id="35" name="Image 10" descr="/private/tmp/claude-501/-Users-jihanvin-Desktop-NIVNAH-AI/16a96446-d9b3-40e2-af9e-a3011ae3db84/scratchpad/assets/secukorea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150FC934-B7A6-0355-1CEF-264D1BC684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065" y="4555236"/>
            <a:ext cx="816077" cy="3102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jihanvin-Desktop-NIVNAH-AI/16a96446-d9b3-40e2-af9e-a3011ae3db84/scratchpad/assets/bg_lin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8439" y="0"/>
            <a:ext cx="7763256" cy="6858000"/>
          </a:xfrm>
          <a:prstGeom prst="rect">
            <a:avLst/>
          </a:prstGeom>
        </p:spPr>
      </p:pic>
      <p:pic>
        <p:nvPicPr>
          <p:cNvPr id="3" name="Image 1" descr="/private/tmp/claude-501/-Users-jihanvin-Desktop-NIVNAH-AI/16a96446-d9b3-40e2-af9e-a3011ae3db84/scratchpad/assets/west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02920"/>
            <a:ext cx="1371600" cy="4114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4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4231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6118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Falcon으로 완성하는 웨스틴 리조트 괌의 실시간 엔드포인트 보호.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626864"/>
            <a:ext cx="219456" cy="21945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32688" y="45720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secukorea@secukorea.com</a:t>
            </a:r>
            <a:endParaRPr lang="en-US" sz="1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038344"/>
            <a:ext cx="219456" cy="219456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932688" y="49834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+82-2-3400-0877</a:t>
            </a:r>
            <a:endParaRPr lang="en-US" sz="14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449824"/>
            <a:ext cx="219456" cy="219456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932688" y="53949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www.secukorea.com</a:t>
            </a:r>
            <a:endParaRPr lang="en-US" sz="1400" dirty="0"/>
          </a:p>
        </p:txBody>
      </p:sp>
      <p:sp>
        <p:nvSpPr>
          <p:cNvPr id="13" name="Text 6"/>
          <p:cNvSpPr txBox="1"/>
          <p:nvPr/>
        </p:nvSpPr>
        <p:spPr>
          <a:xfrm>
            <a:off x="7589520" y="62179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솔루션</a:t>
            </a:r>
            <a:endParaRPr lang="en-US" sz="900" dirty="0"/>
          </a:p>
        </p:txBody>
      </p:sp>
      <p:pic>
        <p:nvPicPr>
          <p:cNvPr id="14" name="Image 5" descr="/private/tmp/claude-501/-Users-jihanvin-Desktop-NIVNAH-AI/16a96446-d9b3-40e2-af9e-a3011ae3db84/scratchpad/assets/cs_logo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5320" y="6236208"/>
            <a:ext cx="1600200" cy="182880"/>
          </a:xfrm>
          <a:prstGeom prst="rect">
            <a:avLst/>
          </a:prstGeom>
        </p:spPr>
      </p:pic>
      <p:pic>
        <p:nvPicPr>
          <p:cNvPr id="15" name="Image 6" descr="/private/tmp/claude-501/-Users-jihanvin-Desktop-NIVNAH-AI/16a96446-d9b3-40e2-af9e-a3011ae3db84/scratchpad/assets/secukorea_ligh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14432" y="6163056"/>
            <a:ext cx="1325880" cy="3154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Malgun 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Malgun 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3425</Words>
  <Application>Microsoft Office PowerPoint</Application>
  <PresentationFormat>와이드스크린</PresentationFormat>
  <Paragraphs>422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SECUKOREA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Nessus vs. CrowdStrike Falcon Platform — Proposal for The Westin Resort Guam</dc:title>
  <dc:subject>PptxGenJS Presentation</dc:subject>
  <dc:creator>SECUKOREA Inc.</dc:creator>
  <cp:lastModifiedBy>MyPC_Lenovo 03</cp:lastModifiedBy>
  <cp:revision>6</cp:revision>
  <dcterms:created xsi:type="dcterms:W3CDTF">2026-09-23T07:33:43Z</dcterms:created>
  <dcterms:modified xsi:type="dcterms:W3CDTF">2026-09-24T06:40:52Z</dcterms:modified>
</cp:coreProperties>
</file>