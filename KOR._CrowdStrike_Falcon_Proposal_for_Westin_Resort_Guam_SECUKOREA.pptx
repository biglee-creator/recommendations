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1" r:id="rId5"/>
    <p:sldId id="268" r:id="rId6"/>
    <p:sldId id="273" r:id="rId7"/>
    <p:sldId id="276" r:id="rId8"/>
    <p:sldId id="275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8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6358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타이틀 슬라이드. 리조트에는 현재 엔드포인트 보안이 없습니다. 이 제안서는 실시간 보호가 왜 필요한지, CrowdStrike Falcon이 Nessus 같은 취약점 스캐너와 어떻게 다른지, 시큐코리아가 어떻게 지원하는지를 짧게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 설명: 24시간 운영되는 리조트, 소규모 IT팀, 엔드포인트 보안 없음. 스캔 위주의 방식은 결과만 보여주고 스캔 사이에 공백이 생깁니다. 리조트에는 스스로 대응하는 보호가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 왜 중요한가: 역대 가장 빠른 확산은 27초였고, AI 활용 공격은 전년 대비 89%, 공개 전 악용된 제로데이는 42% 늘었으며, 설문 기업의 78%가 지난해 랜섬웨어 공격을 받았습니다.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비기술 관계자를 위한 비유: Nessus 같은 스캐너는 정기 소방점검입니다. Falcon은 실제로 불이 났을 때 작동하는 화재감지기, 스프링클러, 보안팀입니다.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간단한 비교입니다. Nessus 같은 스캐너는 취약점을 찾아 보고합니다. CrowdStrike Falcon은 매 순간 자동으로 공격을 막고, 시큐코리아의 24시간 지원이 함께 제공됩니다.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전후를 쉽게 비교하고, 호텔 경영진에게 중요한 네 가지 성과(고객 신뢰, 비즈니스 연속성, IT 업무 경감, 컴플라이언스)를 설명하십시오.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후 시큐코리아가 24시간 원격으로 지원하고, 전담 엔지니어가 첫 연락부터 해결까지 직접 책임집니다. 중대한 사고 시에는 CrowdStrike 파트너인 SK쉴더스가 침해사고 대응팀으로 함께 대응합니다.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청중에게 감사를 전하고 질의응답을 진행하십시오.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5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1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7.xml.rels><?xml version="1.0" encoding="UTF-8" standalone="yes"?>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jp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jihanvin-Desktop-NIVNAH-AI/16a96446-d9b3-40e2-af9e-a3011ae3db84/scratchpad/assets/bg_li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439" y="0"/>
            <a:ext cx="7763256" cy="6858000"/>
          </a:xfrm>
          <a:prstGeom prst="rect">
            <a:avLst/>
          </a:prstGeom>
        </p:spPr>
      </p:pic>
      <p:pic>
        <p:nvPicPr>
          <p:cNvPr id="3" name="Image 1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2920"/>
            <a:ext cx="137160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783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제안서   |   엔드포인트 보안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148840"/>
            <a:ext cx="8778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웨스틴 리조트 괌을 위한 실시간 엔드포인트 보호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7947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Falcon® 기반 (EPP / EDR)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시큐코리아 보안 제안서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제안사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시큐코리아</a:t>
            </a:r>
            <a:r>
              <a:rPr lang="ko-KR" alt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웨스틴 리조트 괌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0350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제안일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0350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9월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6217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솔루션</a:t>
            </a:r>
            <a:endParaRPr lang="en-US" sz="900" dirty="0"/>
          </a:p>
        </p:txBody>
      </p:sp>
      <p:pic>
        <p:nvPicPr>
          <p:cNvPr id="14" name="Image 2" descr="/private/tmp/claude-501/-Users-jihanvin-Desktop-NIVNAH-AI/16a96446-d9b3-40e2-af9e-a3011ae3db84/scratchpad/assets/cs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6236208"/>
            <a:ext cx="1600200" cy="182880"/>
          </a:xfrm>
          <a:prstGeom prst="rect">
            <a:avLst/>
          </a:prstGeom>
        </p:spPr>
      </p:pic>
      <p:pic>
        <p:nvPicPr>
          <p:cNvPr id="15" name="Image 3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4432" y="6163056"/>
            <a:ext cx="1325880" cy="3154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100" b="1" kern="0" spc="200" dirty="0">
                <a:solidFill>
                  <a:srgbClr val="E3202A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01   현황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2800" b="1" dirty="0">
                <a:solidFill>
                  <a:srgbClr val="151A21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현재 환경 및 보안 과제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1724924"/>
            <a:ext cx="317480" cy="31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58191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24시간 무중단 호텔 운영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19293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고객 개인정보, 결제 처리, 프런트 및 백오피스 시스템은 24시간 가용성과 보호가 유지되어야 합니다.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26974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2822204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267919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제한적인 현장 보안 인력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325880" y="302666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전담 보안 운영팀이 없어 수동 패치와 건별 사고 조사를 지속하기 어렵습니다.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48640" y="37947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64" y="3919484"/>
            <a:ext cx="317480" cy="317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25880" y="377647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스캔 위주의 보호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325880" y="412394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Nessus는 취약점을 식별하지만 악성코드를 차단하거나 진행 중인 공격을 막지는 못합니다. 모든 후속 조치는 수작업입니다.</a:t>
            </a:r>
            <a:r>
              <a:rPr lang="en-US" alt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 </a:t>
            </a:r>
            <a:r>
              <a:rPr lang="ko-KR" altLang="en-US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추가적으로 스캔과 스캔사이의 무방비 시간이 존재합니다</a:t>
            </a:r>
            <a:r>
              <a:rPr lang="en-US" alt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48640" y="489204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364" y="5016764"/>
            <a:ext cx="317480" cy="3174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25880" y="487375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맑은 고딕" pitchFamily="34" charset="-122"/>
                <a:cs typeface="Arial" pitchFamily="34" charset="-120"/>
              </a:rPr>
              <a:t>공격자에게 가치 높은 표적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325880" y="522122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호텔은 결제카드 정보와 고객 신원정보를 보유하고 있어 랜섬웨어와 정보 탈취의 주요 표적이 되며, 이는 브랜드 신뢰도에 직접적인 영향을 줍니다.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7452360" y="1554480"/>
            <a:ext cx="4190695" cy="4434840"/>
          </a:xfrm>
          <a:prstGeom prst="roundRect">
            <a:avLst>
              <a:gd name="adj" fmla="val 218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818120" y="18288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100" b="1" kern="0" spc="200" dirty="0">
                <a:solidFill>
                  <a:srgbClr val="E3202A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리조트에 필요한 것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2322576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83880" y="22860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악성코드·랜섬웨어 자동 차단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2852928"/>
            <a:ext cx="237744" cy="23774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183880" y="2816352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공격의 실시간 탐지 및 격리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3383280"/>
            <a:ext cx="237744" cy="23774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183880" y="3346704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IT팀의 일상 업무 부담 최소화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3913632"/>
            <a:ext cx="237744" cy="237744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8183880" y="3877056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24시간 전문가 지원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4443984"/>
            <a:ext cx="237744" cy="237744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183880" y="4407408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경영진 및 감사를 위한 명확한 보고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7818120" y="51206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400" b="1" i="1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목표는 더 많은 보고서가 아니라, 더 적은 사고입니다.</a:t>
            </a:r>
            <a:endParaRPr lang="en-US" sz="1400" dirty="0"/>
          </a:p>
        </p:txBody>
      </p:sp>
      <p:sp>
        <p:nvSpPr>
          <p:cNvPr id="34" name="Text 2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900" dirty="0">
                <a:solidFill>
                  <a:srgbClr val="5E6978"/>
                </a:solidFill>
                <a:latin typeface="Calibri" pitchFamily="34" charset="0"/>
                <a:ea typeface="맑은 고딕" pitchFamily="34" charset="-122"/>
                <a:cs typeface="Calibri" pitchFamily="34" charset="-120"/>
              </a:rPr>
              <a:t>02   |   CrowdStrike Falcon 제안서  ·  웨스틴 리조트 괌</a:t>
            </a:r>
            <a:endParaRPr lang="en-US" sz="900" dirty="0"/>
          </a:p>
        </p:txBody>
      </p:sp>
      <p:pic>
        <p:nvPicPr>
          <p:cNvPr id="35" name="Image 10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보안 공격 트렌드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사이버 공격은 이제 몇 초 만에 퍼집니다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27초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해커가 PC 한 대에서 다른 시스템으로 퍼진 역대 최단 시간 (평균 29분)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90824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65144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3665144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AI를 활용한 해커 공격의 전년 대비 증가율 (2025년)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33008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07328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507328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전 보안 허점(제로데이)을 노린 공격의 전년 대비 증가율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75191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49511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9349511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설문 기업 1,100곳 중 지난 1년간 랜섬웨어 공격을 받은 비율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114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리조트에 주는 의미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4682642"/>
            <a:ext cx="281635" cy="28163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34440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새롭고 알려지지 않은 공격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새로운 공격은 대응책이 나오기 전에 들어옵니다. 행위를 감시하는 보호만이 막을 수 있습니다.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338218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861" y="4682642"/>
            <a:ext cx="281635" cy="28163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24018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몇 주가 아닌 몇 초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024018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보호되지 않은 PC는 몇 초 만에 뚫리고, 공격이 다른 시스템으로 번집니다.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127797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439" y="4682642"/>
            <a:ext cx="281635" cy="28163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813597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몸값 지불은 해결책이 아님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8813597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몸값을 낸 피해자의 83%가 다시 공격받았고, 93%는 결국 데이터를 도난당했습니다.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610819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00" i="1" dirty="0">
                <a:solidFill>
                  <a:srgbClr val="7D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CrowdStrike 2026 Global Threat Report (2025년 데이터); CrowdStrike 2025 State of Ransomware Survey (보안 책임자 1,100명).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|   CrowdStrike Falcon 제안서  ·  웨스틴 리조트 괌</a:t>
            </a:r>
            <a:endParaRPr lang="en-US" sz="900" dirty="0"/>
          </a:p>
        </p:txBody>
      </p:sp>
      <p:pic>
        <p:nvPicPr>
          <p:cNvPr id="32" name="Image 4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쉽게 이해하기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정기 안전점검 vs. 24시간 보안팀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5074920" cy="3611880"/>
          </a:xfrm>
          <a:prstGeom prst="roundRect">
            <a:avLst>
              <a:gd name="adj" fmla="val 2532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1691640" y="21579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소방 안전점검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28803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점검원이 정해진 날 건물을 돌며 고칠 곳을 적어 보고서를 건넵니다. 유용하지만, 실제로 불이 났을 때 점검원은 그 자리에 없습니다.</a:t>
            </a:r>
            <a:endParaRPr lang="en-US" sz="12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023360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39776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알려진 문제 발견</a:t>
            </a:r>
            <a:endParaRPr lang="en-US" sz="12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89120"/>
            <a:ext cx="182880" cy="1828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43434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정해진 일정에 보고</a:t>
            </a:r>
            <a:endParaRPr lang="en-US" sz="12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54880"/>
            <a:ext cx="182880" cy="1828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47091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조치는 고객 몫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6568135" y="1554480"/>
            <a:ext cx="5074920" cy="3611880"/>
          </a:xfrm>
          <a:prstGeom prst="roundRect">
            <a:avLst>
              <a:gd name="adj" fmla="val 2532"/>
            </a:avLst>
          </a:prstGeom>
          <a:solidFill>
            <a:srgbClr val="FDECEC"/>
          </a:solidFill>
          <a:ln w="9525">
            <a:solidFill>
              <a:srgbClr val="F6C9C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888175" y="1874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8993" y="2015338"/>
            <a:ext cx="358445" cy="35844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711135" y="19019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FALCON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7711135" y="21579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화재감지기, 스프링클러 &amp; 24시간 보안팀</a:t>
            </a:r>
            <a:endParaRPr lang="en-US" sz="1700" dirty="0"/>
          </a:p>
        </p:txBody>
      </p:sp>
      <p:sp>
        <p:nvSpPr>
          <p:cNvPr id="22" name="Text 14"/>
          <p:cNvSpPr txBox="1"/>
          <p:nvPr/>
        </p:nvSpPr>
        <p:spPr>
          <a:xfrm>
            <a:off x="6888175" y="28803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PC의 센서가 위험을 즉시 포착해 자동으로 막고, 24시간 대기 중인 전문가에게 </a:t>
            </a:r>
            <a:r>
              <a:rPr lang="en-US" sz="1250" dirty="0" err="1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바로</a:t>
            </a: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알립니다</a:t>
            </a:r>
            <a:endParaRPr lang="en-US" sz="1250" dirty="0">
              <a:solidFill>
                <a:srgbClr val="5E69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023360"/>
            <a:ext cx="182880" cy="1828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208215" y="39776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즉시 탐지</a:t>
            </a:r>
            <a:endParaRPr lang="en-US" sz="125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389120"/>
            <a:ext cx="182880" cy="1828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208215" y="43434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 자동 차단</a:t>
            </a:r>
            <a:endParaRPr lang="en-US" sz="12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754880"/>
            <a:ext cx="182880" cy="1828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208215" y="47091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전문가 24시간 대응</a:t>
            </a:r>
            <a:endParaRPr lang="en-US" sz="1250" dirty="0"/>
          </a:p>
        </p:txBody>
      </p:sp>
      <p:sp>
        <p:nvSpPr>
          <p:cNvPr id="29" name="Shape 18"/>
          <p:cNvSpPr/>
          <p:nvPr/>
        </p:nvSpPr>
        <p:spPr>
          <a:xfrm>
            <a:off x="5775808" y="3040380"/>
            <a:ext cx="640080" cy="640080"/>
          </a:xfrm>
          <a:prstGeom prst="ellipse">
            <a:avLst/>
          </a:prstGeom>
          <a:solidFill>
            <a:srgbClr val="0B0D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775808" y="30403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500" dirty="0"/>
          </a:p>
        </p:txBody>
      </p:sp>
      <p:sp>
        <p:nvSpPr>
          <p:cNvPr id="42" name="Text 31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Nessus</a:t>
            </a:r>
            <a:r>
              <a:rPr lang="en-US" sz="16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는 무엇이 </a:t>
            </a:r>
            <a:r>
              <a:rPr lang="en-US" sz="160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문제인지 알려</a:t>
            </a:r>
            <a:r>
              <a:rPr lang="ko-KR" altLang="en-US" sz="160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</a:t>
            </a:r>
            <a:r>
              <a:rPr lang="en-US" sz="160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주고</a:t>
            </a:r>
            <a:r>
              <a:rPr lang="en-US" sz="16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r>
              <a:rPr lang="en-US" sz="1600" b="1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</a:t>
            </a:r>
            <a:r>
              <a:rPr lang="en-US" sz="16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 24시간 공격을 막아냅니다.</a:t>
            </a:r>
            <a:endParaRPr lang="en-US" sz="160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|   CrowdStrike Falcon 제안서  ·  웨스틴 리조트 괌</a:t>
            </a:r>
            <a:endParaRPr lang="en-US" sz="900" dirty="0"/>
          </a:p>
        </p:txBody>
      </p:sp>
      <p:pic>
        <p:nvPicPr>
          <p:cNvPr id="44" name="Image 9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기능 비교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한눈에 비교: Nessus vs. CrowdStrike Falcon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4415" cy="4526277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9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D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Nessus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6B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CrowdStrike Falcon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2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하는 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취약점을 찾아 보고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공격 차단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모든 PC와 서버에서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보호 시점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정해진 스캔 날에만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매 순간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연중무휴 24시간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바이러스·랜섬웨어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차단 불가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자동 차단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독립 테스트에서 랜섬웨어 100% 차단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공격 발생 시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알아채지 못함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탐지 및 격리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감염 PC를 클릭 한 번으로 격리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전문가 지원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미포함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포함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시큐코리아 24시간 지원, SK쉴더스 연계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IT팀 업무 부담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높음 — 모든 항목을 수작업으로 조치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낮음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보호가 자동으로 이뤄짐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|   CrowdStrike Falcon 제안서  ·  웨스틴 리조트 괌</a:t>
            </a:r>
            <a:endParaRPr lang="en-US" sz="900" dirty="0"/>
          </a:p>
        </p:txBody>
      </p:sp>
      <p:pic>
        <p:nvPicPr>
          <p:cNvPr id="7" name="Image 1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기대 효과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무방비 상태에서 상시 보호로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4892040" cy="2788920"/>
          </a:xfrm>
          <a:prstGeom prst="roundRect">
            <a:avLst>
              <a:gd name="adj" fmla="val 327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 ·  엔드포인트 보안 없음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40280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07008" y="21945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악성코드·랜섬웨어 방어 없음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64261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07008" y="25968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PC에서 무슨 일이 일어나는지 알 수 없음</a:t>
            </a:r>
            <a:endParaRPr lang="en-US" sz="12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044952"/>
            <a:ext cx="201168" cy="20116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07008" y="2999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시 건별 수작업 대응</a:t>
            </a:r>
            <a:endParaRPr lang="en-US" sz="12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47288"/>
            <a:ext cx="201168" cy="20116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07008" y="340156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중인 공격을 막을 방법 없음</a:t>
            </a:r>
            <a:endParaRPr lang="en-US" sz="12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49624"/>
            <a:ext cx="201168" cy="201168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207008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경영진이 보안 현황을 파악하기 어려움</a:t>
            </a:r>
            <a:endParaRPr lang="en-US" sz="125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674620"/>
            <a:ext cx="548640" cy="548640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6751015" y="1554480"/>
            <a:ext cx="4892040" cy="2788920"/>
          </a:xfrm>
          <a:prstGeom prst="roundRect">
            <a:avLst>
              <a:gd name="adj" fmla="val 3279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7071055" y="17830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후  ·  CROWDSTRIKE FALCON</a:t>
            </a:r>
            <a:endParaRPr lang="en-US" sz="11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2240280"/>
            <a:ext cx="201168" cy="20116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7409383" y="21945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PC·서버 실시간 차단</a:t>
            </a:r>
            <a:endParaRPr lang="en-US" sz="125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2642616"/>
            <a:ext cx="201168" cy="201168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7409383" y="25968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24시간 상시 모니터링</a:t>
            </a:r>
            <a:endParaRPr lang="en-US" sz="125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044952"/>
            <a:ext cx="201168" cy="201168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7409383" y="2999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격리 및 대응</a:t>
            </a:r>
            <a:endParaRPr lang="en-US" sz="1250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447288"/>
            <a:ext cx="201168" cy="201168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7409383" y="340156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검증된 랜섬웨어 보호</a:t>
            </a:r>
            <a:endParaRPr lang="en-US" sz="1250" dirty="0"/>
          </a:p>
        </p:txBody>
      </p:sp>
      <p:pic>
        <p:nvPicPr>
          <p:cNvPr id="28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849624"/>
            <a:ext cx="201168" cy="201168"/>
          </a:xfrm>
          <a:prstGeom prst="rect">
            <a:avLst/>
          </a:prstGeom>
        </p:spPr>
      </p:pic>
      <p:sp>
        <p:nvSpPr>
          <p:cNvPr id="29" name="Text 15"/>
          <p:cNvSpPr txBox="1"/>
          <p:nvPr/>
        </p:nvSpPr>
        <p:spPr>
          <a:xfrm>
            <a:off x="7409383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한눈에 보는 대시보드와 경영진 보고</a:t>
            </a:r>
            <a:endParaRPr lang="en-US" sz="1250" dirty="0"/>
          </a:p>
        </p:txBody>
      </p:sp>
      <p:sp>
        <p:nvSpPr>
          <p:cNvPr id="30" name="Shape 16"/>
          <p:cNvSpPr/>
          <p:nvPr/>
        </p:nvSpPr>
        <p:spPr>
          <a:xfrm>
            <a:off x="548640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17"/>
          <p:cNvSpPr/>
          <p:nvPr/>
        </p:nvSpPr>
        <p:spPr>
          <a:xfrm>
            <a:off x="777240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4946904"/>
            <a:ext cx="256032" cy="256032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1371600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고객 신뢰 보호</a:t>
            </a:r>
            <a:endParaRPr lang="en-US" sz="1300" dirty="0"/>
          </a:p>
        </p:txBody>
      </p:sp>
      <p:sp>
        <p:nvSpPr>
          <p:cNvPr id="34" name="Text 19"/>
          <p:cNvSpPr txBox="1"/>
          <p:nvPr/>
        </p:nvSpPr>
        <p:spPr>
          <a:xfrm>
            <a:off x="777240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정보와 결제 안전 확보</a:t>
            </a:r>
            <a:endParaRPr lang="en-US" sz="1100" dirty="0"/>
          </a:p>
        </p:txBody>
      </p:sp>
      <p:sp>
        <p:nvSpPr>
          <p:cNvPr id="35" name="Shape 20"/>
          <p:cNvSpPr/>
          <p:nvPr/>
        </p:nvSpPr>
        <p:spPr>
          <a:xfrm>
            <a:off x="3390824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21"/>
          <p:cNvSpPr/>
          <p:nvPr/>
        </p:nvSpPr>
        <p:spPr>
          <a:xfrm>
            <a:off x="3619424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0008" y="4946904"/>
            <a:ext cx="256032" cy="256032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4213784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비즈니스 연속성</a:t>
            </a:r>
            <a:endParaRPr lang="en-US" sz="1300" dirty="0"/>
          </a:p>
        </p:txBody>
      </p:sp>
      <p:sp>
        <p:nvSpPr>
          <p:cNvPr id="39" name="Text 23"/>
          <p:cNvSpPr txBox="1"/>
          <p:nvPr/>
        </p:nvSpPr>
        <p:spPr>
          <a:xfrm>
            <a:off x="3619424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프런트 데스크·백오피스 중단 방지</a:t>
            </a:r>
            <a:endParaRPr lang="en-US" sz="1100" dirty="0"/>
          </a:p>
        </p:txBody>
      </p:sp>
      <p:sp>
        <p:nvSpPr>
          <p:cNvPr id="40" name="Shape 24"/>
          <p:cNvSpPr/>
          <p:nvPr/>
        </p:nvSpPr>
        <p:spPr>
          <a:xfrm>
            <a:off x="6233008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25"/>
          <p:cNvSpPr/>
          <p:nvPr/>
        </p:nvSpPr>
        <p:spPr>
          <a:xfrm>
            <a:off x="6461608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2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62192" y="4946904"/>
            <a:ext cx="256032" cy="256032"/>
          </a:xfrm>
          <a:prstGeom prst="rect">
            <a:avLst/>
          </a:prstGeom>
        </p:spPr>
      </p:pic>
      <p:sp>
        <p:nvSpPr>
          <p:cNvPr id="43" name="Text 26"/>
          <p:cNvSpPr txBox="1"/>
          <p:nvPr/>
        </p:nvSpPr>
        <p:spPr>
          <a:xfrm>
            <a:off x="7055968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업무 부담 경감</a:t>
            </a:r>
            <a:endParaRPr lang="en-US" sz="1300" dirty="0"/>
          </a:p>
        </p:txBody>
      </p:sp>
      <p:sp>
        <p:nvSpPr>
          <p:cNvPr id="44" name="Text 27"/>
          <p:cNvSpPr txBox="1"/>
          <p:nvPr/>
        </p:nvSpPr>
        <p:spPr>
          <a:xfrm>
            <a:off x="6461608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자동화 + 시큐코리아 24시간 지원</a:t>
            </a:r>
            <a:endParaRPr lang="en-US" sz="1100" dirty="0"/>
          </a:p>
        </p:txBody>
      </p:sp>
      <p:sp>
        <p:nvSpPr>
          <p:cNvPr id="45" name="Shape 28"/>
          <p:cNvSpPr/>
          <p:nvPr/>
        </p:nvSpPr>
        <p:spPr>
          <a:xfrm>
            <a:off x="9075191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29"/>
          <p:cNvSpPr/>
          <p:nvPr/>
        </p:nvSpPr>
        <p:spPr>
          <a:xfrm>
            <a:off x="9303791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7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4375" y="4946904"/>
            <a:ext cx="256032" cy="256032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898151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컴플라이언스 대응</a:t>
            </a:r>
            <a:endParaRPr lang="en-US" sz="1300" dirty="0"/>
          </a:p>
        </p:txBody>
      </p:sp>
      <p:sp>
        <p:nvSpPr>
          <p:cNvPr id="49" name="Text 31"/>
          <p:cNvSpPr txBox="1"/>
          <p:nvPr/>
        </p:nvSpPr>
        <p:spPr>
          <a:xfrm>
            <a:off x="9303791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및 개인정보보호 요건 지원</a:t>
            </a:r>
            <a:endParaRPr lang="en-US" sz="1100" dirty="0"/>
          </a:p>
        </p:txBody>
      </p:sp>
      <p:sp>
        <p:nvSpPr>
          <p:cNvPr id="50" name="Text 3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|   CrowdStrike Falcon 제안서  ·  웨스틴 리조트 괌</a:t>
            </a:r>
            <a:endParaRPr lang="en-US" sz="900" dirty="0"/>
          </a:p>
        </p:txBody>
      </p:sp>
      <p:pic>
        <p:nvPicPr>
          <p:cNvPr id="51" name="Image 16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48640" y="6090000"/>
            <a:ext cx="11094415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E3202A"/>
                </a:solidFill>
                <a:latin typeface="Calibri"/>
                <a:ea typeface="Malgun Gothic"/>
              </a:rPr>
              <a:t>제안 범위:  </a:t>
            </a:r>
            <a:r>
              <a:rPr sz="1050" b="0">
                <a:solidFill>
                  <a:srgbClr val="5E6978"/>
                </a:solidFill>
                <a:latin typeface="Calibri"/>
                <a:ea typeface="Malgun Gothic"/>
              </a:rPr>
              <a:t>Falcon Prevent (차세대 백신) + Falcon Insight (탐지·대응), 시큐코리아 24시간 기술지원 포함.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기술지원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시큐코리아 24시간 기술지원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73380" y="2249424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2374148"/>
            <a:ext cx="317480" cy="31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5843" y="223113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해외 사업장 특화 24시간 원격 지원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465843" y="257860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해외 사업장에 맞춘 24시간 원격 지원으로, 시차나 현지 업무시간과 관계없이 언제든 도움을 받을 수 있습니다.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73380" y="3346704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3471428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65843" y="332841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전담 엔지니어 매칭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465843" y="36758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시큐코리아 전담 엔지니어가 리조트 IT팀의 일원처럼 시스템을 깊이 이해하고, 일상 요청을 빠르고 일관되게 처리합니다.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373380" y="4440936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1465843" y="442264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책임 있는 직접 지원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465843" y="4770120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기술지원, 라이선스, 갱신을 시큐코리아가 직접 처리하고, 첫 연락부터 문제 해결까지 끝까지 함께합니다.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7452360" y="1554480"/>
            <a:ext cx="4190695" cy="4434840"/>
          </a:xfrm>
          <a:prstGeom prst="roundRect">
            <a:avLst>
              <a:gd name="adj" fmla="val 218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818120" y="18288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전문 지원 연계  ·  SK쉴더스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322576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83880" y="22860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침해사고 대응 전문가 24시간 대응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852928"/>
            <a:ext cx="237744" cy="23774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183880" y="2816352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이벤트 시 30분 내 유선 연락, 2시간 내 초동 조치 (SLA)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3383280"/>
            <a:ext cx="237744" cy="23774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183880" y="3346704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시 심층 조사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3913632"/>
            <a:ext cx="237744" cy="237744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8183880" y="3877056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중대 보안 경보 정밀 분석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443984"/>
            <a:ext cx="237744" cy="237744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183880" y="4407408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경험 많은 전문가의 악성코드 분석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7818120" y="51206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필요 시 CrowdStrike 파트너 SK쉴더스가 함께 대응합니다.</a:t>
            </a:r>
            <a:endParaRPr lang="en-US" sz="1400" dirty="0"/>
          </a:p>
        </p:txBody>
      </p:sp>
      <p:sp>
        <p:nvSpPr>
          <p:cNvPr id="34" name="Text 2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|   CrowdStrike Falcon 제안서  ·  웨스틴 리조트 괌</a:t>
            </a:r>
            <a:endParaRPr lang="en-US" sz="900" dirty="0"/>
          </a:p>
        </p:txBody>
      </p:sp>
      <p:pic>
        <p:nvPicPr>
          <p:cNvPr id="35" name="Image 10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150FC934-B7A6-0355-1CEF-264D1BC684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364" y="4565660"/>
            <a:ext cx="317480" cy="317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jihanvin-Desktop-NIVNAH-AI/16a96446-d9b3-40e2-af9e-a3011ae3db84/scratchpad/assets/bg_li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439" y="0"/>
            <a:ext cx="7763256" cy="6858000"/>
          </a:xfrm>
          <a:prstGeom prst="rect">
            <a:avLst/>
          </a:prstGeom>
        </p:spPr>
      </p:pic>
      <p:pic>
        <p:nvPicPr>
          <p:cNvPr id="3" name="Image 1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2920"/>
            <a:ext cx="137160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4231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1188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Falcon으로 완성하는 웨스틴 리조트 괌의 실시간 엔드포인트 보호.</a:t>
            </a:r>
            <a:endParaRPr lang="en-US" sz="16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26864"/>
            <a:ext cx="219456" cy="21945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32688" y="45720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sales@secukorea.com</a:t>
            </a:r>
            <a:endParaRPr lang="en-US" sz="14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38344"/>
            <a:ext cx="219456" cy="21945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32688" y="49834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+82-2-3400-0877</a:t>
            </a:r>
            <a:endParaRPr lang="en-US" sz="14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49824"/>
            <a:ext cx="219456" cy="21945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32688" y="53949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www.secukorea.com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7589520" y="6217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솔루션</a:t>
            </a:r>
            <a:endParaRPr lang="en-US" sz="900" dirty="0"/>
          </a:p>
        </p:txBody>
      </p:sp>
      <p:pic>
        <p:nvPicPr>
          <p:cNvPr id="14" name="Image 5" descr="/private/tmp/claude-501/-Users-jihanvin-Desktop-NIVNAH-AI/16a96446-d9b3-40e2-af9e-a3011ae3db84/scratchpad/assets/cs_logo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320" y="6236208"/>
            <a:ext cx="1600200" cy="182880"/>
          </a:xfrm>
          <a:prstGeom prst="rect">
            <a:avLst/>
          </a:prstGeom>
        </p:spPr>
      </p:pic>
      <p:pic>
        <p:nvPicPr>
          <p:cNvPr id="15" name="Image 6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14432" y="6163056"/>
            <a:ext cx="1325880" cy="3154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Malgun Gothi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Malgun Gothi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1107</Words>
  <Application>Microsoft Office PowerPoint</Application>
  <PresentationFormat>와이드스크린</PresentationFormat>
  <Paragraphs>159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SECUKOREA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Nessus vs. CrowdStrike Falcon Platform — Proposal for The Westin Resort Guam</dc:title>
  <dc:subject>PptxGenJS Presentation</dc:subject>
  <dc:creator>SECUKOREA Inc.</dc:creator>
  <cp:lastModifiedBy>MyPC_Lenovo 03</cp:lastModifiedBy>
  <cp:revision>11</cp:revision>
  <dcterms:created xsi:type="dcterms:W3CDTF">2026-09-23T07:33:43Z</dcterms:created>
  <dcterms:modified xsi:type="dcterms:W3CDTF">2026-10-01T01:25:35Z</dcterms:modified>
</cp:coreProperties>
</file>