
<file path=[Content_Types].xml><?xml version="1.0" encoding="utf-8"?>
<Types xmlns="http://schemas.openxmlformats.org/package/2006/content-types">
  <Default Extension="jpg" ContentType="image/jp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0"/>
  </p:notesMasterIdLst>
  <p:sldIdLst>
    <p:sldId id="256" r:id="rId2"/>
    <p:sldId id="258" r:id="rId3"/>
    <p:sldId id="259" r:id="rId4"/>
    <p:sldId id="261" r:id="rId5"/>
    <p:sldId id="268" r:id="rId6"/>
    <p:sldId id="273" r:id="rId7"/>
    <p:sldId id="276" r:id="rId8"/>
    <p:sldId id="275" r:id="rId9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10" d="100"/>
          <a:sy n="110" d="100"/>
        </p:scale>
        <p:origin x="516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6635873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타이틀 슬라이드. 리조트에는 현재 엔드포인트 보안이 없습니다. 이 제안서는 실시간 보호가 왜 필요한지, CrowdStrike Falcon이 Nessus 같은 취약점 스캐너와 어떻게 다른지, 시큐코리아가 어떻게 지원하는지를 짧게 설명합니다.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배경 설명: 24시간 운영되는 리조트, 소규모 IT팀, 엔드포인트 보안 없음. 스캔 위주의 방식은 결과만 보여주고 스캔 사이에 공백이 생깁니다. 리조트에는 스스로 대응하는 보호가 필요합니다.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지금 왜 중요한가: 역대 가장 빠른 확산은 27초였고, AI 활용 공격은 전년 대비 89%, 공개 전 악용된 제로데이는 42% 늘었으며, 설문 기업의 78%가 지난해 랜섬웨어 공격을 받았습니다.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비기술 관계자를 위한 비유: Nessus 같은 스캐너는 정기 소방점검입니다. Falcon은 실제로 불이 났을 때 작동하는 화재감지기, 스프링클러, 보안팀입니다.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간단한 비교입니다. Nessus 같은 스캐너는 취약점을 찾아 보고합니다. CrowdStrike Falcon은 매 순간 자동으로 공격을 막고, 시큐코리아의 24시간 지원이 함께 제공됩니다.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도입 전후를 쉽게 비교하고, 호텔 경영진에게 중요한 네 가지 성과(고객 신뢰, 비즈니스 연속성, IT 업무 경감, 컴플라이언스)를 설명하십시오.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도입 후 시큐코리아가 24시간 원격으로 지원하고, 전담 엔지니어가 첫 연락부터 해결까지 직접 책임집니다. 필요 시 SK쉴더스로 에스컬레이션하며, CrowdStrike 파트너인 SK쉴더스가 침해사고 대응팀으로 함께 대응합니다.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청중에게 감사를 전하고 질의응답을 진행하십시오.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3" Type="http://schemas.openxmlformats.org/officeDocument/2006/relationships/image" Target="../media/image5.png"/><Relationship Id="rId7" Type="http://schemas.openxmlformats.org/officeDocument/2006/relationships/image" Target="../media/image9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Relationship Id="rId9" Type="http://schemas.openxmlformats.org/officeDocument/2006/relationships/image" Target="../media/image11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4.png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.png"/><Relationship Id="rId3" Type="http://schemas.openxmlformats.org/officeDocument/2006/relationships/image" Target="../media/image5.png"/><Relationship Id="rId7" Type="http://schemas.openxmlformats.org/officeDocument/2006/relationships/image" Target="../media/image18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7.png"/><Relationship Id="rId5" Type="http://schemas.openxmlformats.org/officeDocument/2006/relationships/image" Target="../media/image16.png"/><Relationship Id="rId4" Type="http://schemas.openxmlformats.org/officeDocument/2006/relationships/image" Target="../media/image15.png"/><Relationship Id="rId9" Type="http://schemas.openxmlformats.org/officeDocument/2006/relationships/image" Target="../media/image11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1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23.png"/><Relationship Id="rId3" Type="http://schemas.openxmlformats.org/officeDocument/2006/relationships/image" Target="../media/image5.png"/><Relationship Id="rId7" Type="http://schemas.openxmlformats.org/officeDocument/2006/relationships/image" Target="../media/image2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0.png"/><Relationship Id="rId11" Type="http://schemas.openxmlformats.org/officeDocument/2006/relationships/image" Target="../media/image11.png"/><Relationship Id="rId5" Type="http://schemas.openxmlformats.org/officeDocument/2006/relationships/image" Target="../media/image21.png"/><Relationship Id="rId10" Type="http://schemas.openxmlformats.org/officeDocument/2006/relationships/image" Target="../media/image25.png"/><Relationship Id="rId4" Type="http://schemas.openxmlformats.org/officeDocument/2006/relationships/image" Target="../media/image20.png"/><Relationship Id="rId9" Type="http://schemas.openxmlformats.org/officeDocument/2006/relationships/image" Target="../media/image24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26.png"/><Relationship Id="rId3" Type="http://schemas.openxmlformats.org/officeDocument/2006/relationships/image" Target="../media/image5.png"/><Relationship Id="rId7" Type="http://schemas.openxmlformats.org/officeDocument/2006/relationships/image" Target="../media/image1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0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3.png"/><Relationship Id="rId3" Type="http://schemas.openxmlformats.org/officeDocument/2006/relationships/image" Target="../media/image1.jpg"/><Relationship Id="rId7" Type="http://schemas.openxmlformats.org/officeDocument/2006/relationships/image" Target="../media/image29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8.png"/><Relationship Id="rId5" Type="http://schemas.openxmlformats.org/officeDocument/2006/relationships/image" Target="../media/image27.png"/><Relationship Id="rId4" Type="http://schemas.openxmlformats.org/officeDocument/2006/relationships/image" Target="../media/image2.png"/><Relationship Id="rId9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private/tmp/claude-501/-Users-jihanvin-Desktop-NIVNAH-AI/16a96446-d9b3-40e2-af9e-a3011ae3db84/scratchpad/assets/bg_line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28439" y="0"/>
            <a:ext cx="7763256" cy="6858000"/>
          </a:xfrm>
          <a:prstGeom prst="rect">
            <a:avLst/>
          </a:prstGeom>
        </p:spPr>
      </p:pic>
      <p:pic>
        <p:nvPicPr>
          <p:cNvPr id="3" name="Image 1" descr="/private/tmp/claude-501/-Users-jihanvin-Desktop-NIVNAH-AI/16a96446-d9b3-40e2-af9e-a3011ae3db84/scratchpad/assets/westin_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502920"/>
            <a:ext cx="1371600" cy="41148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548640" y="1783080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E3202A"/>
                </a:solidFill>
                <a:latin typeface="Arial" pitchFamily="34" charset="0"/>
                <a:ea typeface="Malgun Gothic" pitchFamily="34" charset="-122"/>
                <a:cs typeface="Arial" pitchFamily="34" charset="-120"/>
              </a:rPr>
              <a:t>사업 제안서   |   엔드포인트 보안</a:t>
            </a:r>
            <a:endParaRPr lang="en-US" sz="1200" dirty="0"/>
          </a:p>
        </p:txBody>
      </p:sp>
      <p:sp>
        <p:nvSpPr>
          <p:cNvPr id="5" name="Text 1"/>
          <p:cNvSpPr txBox="1"/>
          <p:nvPr/>
        </p:nvSpPr>
        <p:spPr>
          <a:xfrm>
            <a:off x="548640" y="2148840"/>
            <a:ext cx="877824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Malgun Gothic" pitchFamily="34" charset="-122"/>
                <a:cs typeface="Arial" pitchFamily="34" charset="-120"/>
              </a:rPr>
              <a:t>웨스틴 리조트 괌을 위한 실시간 엔드포인트 보호</a:t>
            </a:r>
            <a:endParaRPr lang="en-US" sz="4000" dirty="0"/>
          </a:p>
        </p:txBody>
      </p:sp>
      <p:sp>
        <p:nvSpPr>
          <p:cNvPr id="6" name="Text 2"/>
          <p:cNvSpPr txBox="1"/>
          <p:nvPr/>
        </p:nvSpPr>
        <p:spPr>
          <a:xfrm>
            <a:off x="548640" y="3794760"/>
            <a:ext cx="8778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400"/>
              </a:spcAft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Malgun Gothic" pitchFamily="34" charset="-122"/>
                <a:cs typeface="Calibri" pitchFamily="34" charset="-120"/>
              </a:rPr>
              <a:t>CrowdStrike Falcon® 기반 (EPP / EDR)</a:t>
            </a:r>
            <a:endParaRPr lang="en-US" sz="180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1800" dirty="0">
                <a:solidFill>
                  <a:srgbClr val="C9CED6"/>
                </a:solidFill>
                <a:latin typeface="Calibri" pitchFamily="34" charset="0"/>
                <a:ea typeface="Malgun Gothic" pitchFamily="34" charset="-122"/>
                <a:cs typeface="Calibri" pitchFamily="34" charset="-120"/>
              </a:rPr>
              <a:t>시큐코리아 보안 제안서</a:t>
            </a:r>
            <a:endParaRPr lang="en-US" sz="1800" dirty="0"/>
          </a:p>
        </p:txBody>
      </p:sp>
      <p:sp>
        <p:nvSpPr>
          <p:cNvPr id="7" name="Text 3"/>
          <p:cNvSpPr txBox="1"/>
          <p:nvPr/>
        </p:nvSpPr>
        <p:spPr>
          <a:xfrm>
            <a:off x="548640" y="4983480"/>
            <a:ext cx="2560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b="1" kern="0" spc="200" dirty="0">
                <a:solidFill>
                  <a:srgbClr val="E3202A"/>
                </a:solidFill>
                <a:latin typeface="Calibri" pitchFamily="34" charset="0"/>
                <a:ea typeface="Malgun Gothic" pitchFamily="34" charset="-122"/>
                <a:cs typeface="Calibri" pitchFamily="34" charset="-120"/>
              </a:rPr>
              <a:t>제안사</a:t>
            </a:r>
            <a:endParaRPr lang="en-US" sz="1000" dirty="0"/>
          </a:p>
        </p:txBody>
      </p:sp>
      <p:sp>
        <p:nvSpPr>
          <p:cNvPr id="8" name="Text 4"/>
          <p:cNvSpPr txBox="1"/>
          <p:nvPr/>
        </p:nvSpPr>
        <p:spPr>
          <a:xfrm>
            <a:off x="548640" y="5230368"/>
            <a:ext cx="2560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Malgun Gothic" pitchFamily="34" charset="-122"/>
                <a:cs typeface="Calibri" pitchFamily="34" charset="-120"/>
              </a:rPr>
              <a:t>시큐코리아㈜</a:t>
            </a:r>
            <a:endParaRPr lang="en-US" sz="1500" dirty="0"/>
          </a:p>
        </p:txBody>
      </p:sp>
      <p:sp>
        <p:nvSpPr>
          <p:cNvPr id="9" name="Text 5"/>
          <p:cNvSpPr txBox="1"/>
          <p:nvPr/>
        </p:nvSpPr>
        <p:spPr>
          <a:xfrm>
            <a:off x="3291840" y="4983480"/>
            <a:ext cx="2560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b="1" kern="0" spc="200" dirty="0">
                <a:solidFill>
                  <a:srgbClr val="E3202A"/>
                </a:solidFill>
                <a:latin typeface="Calibri" pitchFamily="34" charset="0"/>
                <a:ea typeface="Malgun Gothic" pitchFamily="34" charset="-122"/>
                <a:cs typeface="Calibri" pitchFamily="34" charset="-120"/>
              </a:rPr>
              <a:t>고객사</a:t>
            </a:r>
            <a:endParaRPr lang="en-US" sz="1000" dirty="0"/>
          </a:p>
        </p:txBody>
      </p:sp>
      <p:sp>
        <p:nvSpPr>
          <p:cNvPr id="10" name="Text 6"/>
          <p:cNvSpPr txBox="1"/>
          <p:nvPr/>
        </p:nvSpPr>
        <p:spPr>
          <a:xfrm>
            <a:off x="3291840" y="5230368"/>
            <a:ext cx="2560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Malgun Gothic" pitchFamily="34" charset="-122"/>
                <a:cs typeface="Calibri" pitchFamily="34" charset="-120"/>
              </a:rPr>
              <a:t>웨스틴 리조트 괌</a:t>
            </a:r>
            <a:endParaRPr lang="en-US" sz="1500" dirty="0"/>
          </a:p>
        </p:txBody>
      </p:sp>
      <p:sp>
        <p:nvSpPr>
          <p:cNvPr id="11" name="Text 7"/>
          <p:cNvSpPr txBox="1"/>
          <p:nvPr/>
        </p:nvSpPr>
        <p:spPr>
          <a:xfrm>
            <a:off x="6035040" y="4983480"/>
            <a:ext cx="2560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b="1" kern="0" spc="200" dirty="0">
                <a:solidFill>
                  <a:srgbClr val="E3202A"/>
                </a:solidFill>
                <a:latin typeface="Calibri" pitchFamily="34" charset="0"/>
                <a:ea typeface="Malgun Gothic" pitchFamily="34" charset="-122"/>
                <a:cs typeface="Calibri" pitchFamily="34" charset="-120"/>
              </a:rPr>
              <a:t>제안일</a:t>
            </a:r>
            <a:endParaRPr lang="en-US" sz="1000" dirty="0"/>
          </a:p>
        </p:txBody>
      </p:sp>
      <p:sp>
        <p:nvSpPr>
          <p:cNvPr id="12" name="Text 8"/>
          <p:cNvSpPr txBox="1"/>
          <p:nvPr/>
        </p:nvSpPr>
        <p:spPr>
          <a:xfrm>
            <a:off x="6035040" y="5230368"/>
            <a:ext cx="2560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Malgun Gothic" pitchFamily="34" charset="-122"/>
                <a:cs typeface="Calibri" pitchFamily="34" charset="-120"/>
              </a:rPr>
              <a:t>2026년 9월</a:t>
            </a:r>
            <a:endParaRPr lang="en-US" sz="1500" dirty="0"/>
          </a:p>
        </p:txBody>
      </p:sp>
      <p:sp>
        <p:nvSpPr>
          <p:cNvPr id="13" name="Text 9"/>
          <p:cNvSpPr txBox="1"/>
          <p:nvPr/>
        </p:nvSpPr>
        <p:spPr>
          <a:xfrm>
            <a:off x="7589520" y="6217920"/>
            <a:ext cx="822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A93A0"/>
                </a:solidFill>
                <a:latin typeface="Calibri" pitchFamily="34" charset="0"/>
                <a:ea typeface="Malgun Gothic" pitchFamily="34" charset="-122"/>
                <a:cs typeface="Calibri" pitchFamily="34" charset="-120"/>
              </a:rPr>
              <a:t>솔루션</a:t>
            </a:r>
            <a:endParaRPr lang="en-US" sz="900" dirty="0"/>
          </a:p>
        </p:txBody>
      </p:sp>
      <p:pic>
        <p:nvPicPr>
          <p:cNvPr id="14" name="Image 2" descr="/private/tmp/claude-501/-Users-jihanvin-Desktop-NIVNAH-AI/16a96446-d9b3-40e2-af9e-a3011ae3db84/scratchpad/assets/cs_logo_whi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75320" y="6236208"/>
            <a:ext cx="1600200" cy="182880"/>
          </a:xfrm>
          <a:prstGeom prst="rect">
            <a:avLst/>
          </a:prstGeom>
        </p:spPr>
      </p:pic>
      <p:pic>
        <p:nvPicPr>
          <p:cNvPr id="15" name="Image 3" descr="/private/tmp/claude-501/-Users-jihanvin-Desktop-NIVNAH-AI/16a96446-d9b3-40e2-af9e-a3011ae3db84/scratchpad/assets/secukorea_light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314432" y="6163056"/>
            <a:ext cx="1325880" cy="315468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ko-KR" sz="1100" b="1" kern="0" spc="200" dirty="0">
                <a:solidFill>
                  <a:srgbClr val="E3202A"/>
                </a:solidFill>
                <a:latin typeface="Arial" pitchFamily="34" charset="0"/>
                <a:ea typeface="Malgun Gothic" pitchFamily="34" charset="-122"/>
                <a:cs typeface="Arial" pitchFamily="34" charset="-120"/>
              </a:rPr>
              <a:t>01   현황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9692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sz="2800" b="1" dirty="0">
                <a:solidFill>
                  <a:srgbClr val="151A21"/>
                </a:solidFill>
                <a:latin typeface="Arial" pitchFamily="34" charset="0"/>
                <a:ea typeface="Malgun Gothic" pitchFamily="34" charset="-122"/>
                <a:cs typeface="Arial" pitchFamily="34" charset="-120"/>
              </a:rPr>
              <a:t>현재 환경 및 보안 과제</a:t>
            </a:r>
            <a:endParaRPr lang="en-US" sz="2800" dirty="0"/>
          </a:p>
        </p:txBody>
      </p:sp>
      <p:pic>
        <p:nvPicPr>
          <p:cNvPr id="4" name="Image 0" descr="/private/tmp/claude-501/-Users-jihanvin-Desktop-NIVNAH-AI/16a96446-d9b3-40e2-af9e-a3011ae3db84/scratchpad/assets/westin_gre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34472" y="402336"/>
            <a:ext cx="1005840" cy="301752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48640" y="1600200"/>
            <a:ext cx="566928" cy="566928"/>
          </a:xfrm>
          <a:prstGeom prst="roundRect">
            <a:avLst>
              <a:gd name="adj" fmla="val 16129"/>
            </a:avLst>
          </a:prstGeom>
          <a:solidFill>
            <a:srgbClr val="EAEEF3"/>
          </a:solidFill>
          <a:ln w="12700">
            <a:solidFill>
              <a:srgbClr val="EAEEF3"/>
            </a:solidFill>
            <a:prstDash val="solid"/>
          </a:ln>
        </p:spPr>
      </p:sp>
      <p:pic>
        <p:nvPicPr>
          <p:cNvPr id="6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3364" y="1724924"/>
            <a:ext cx="317480" cy="31748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325880" y="1581912"/>
            <a:ext cx="5760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ko-KR" sz="1500" b="1" dirty="0">
                <a:solidFill>
                  <a:srgbClr val="151A21"/>
                </a:solidFill>
                <a:latin typeface="Arial" pitchFamily="34" charset="0"/>
                <a:ea typeface="Malgun Gothic" pitchFamily="34" charset="-122"/>
                <a:cs typeface="Arial" pitchFamily="34" charset="-120"/>
              </a:rPr>
              <a:t>24시간 무중단 호텔 운영</a:t>
            </a:r>
            <a:endParaRPr lang="en-US" sz="1500" dirty="0"/>
          </a:p>
        </p:txBody>
      </p:sp>
      <p:sp>
        <p:nvSpPr>
          <p:cNvPr id="8" name="Text 4"/>
          <p:cNvSpPr txBox="1"/>
          <p:nvPr/>
        </p:nvSpPr>
        <p:spPr>
          <a:xfrm>
            <a:off x="1325880" y="1929384"/>
            <a:ext cx="5760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ko-KR" sz="1200" dirty="0">
                <a:solidFill>
                  <a:srgbClr val="5E6978"/>
                </a:solidFill>
                <a:latin typeface="Calibri" pitchFamily="34" charset="0"/>
                <a:ea typeface="Malgun Gothic" pitchFamily="34" charset="-122"/>
                <a:cs typeface="Calibri" pitchFamily="34" charset="-120"/>
              </a:rPr>
              <a:t>고객 개인정보, 결제 처리, 프런트 및 백오피스 시스템은 24시간 가용성과 보호가 유지되어야 합니다.</a:t>
            </a:r>
            <a:endParaRPr lang="en-US" sz="1200" dirty="0"/>
          </a:p>
        </p:txBody>
      </p:sp>
      <p:sp>
        <p:nvSpPr>
          <p:cNvPr id="9" name="Shape 5"/>
          <p:cNvSpPr/>
          <p:nvPr/>
        </p:nvSpPr>
        <p:spPr>
          <a:xfrm>
            <a:off x="548640" y="2697480"/>
            <a:ext cx="566928" cy="566928"/>
          </a:xfrm>
          <a:prstGeom prst="roundRect">
            <a:avLst>
              <a:gd name="adj" fmla="val 16129"/>
            </a:avLst>
          </a:prstGeom>
          <a:solidFill>
            <a:srgbClr val="EAEEF3"/>
          </a:solidFill>
          <a:ln w="12700">
            <a:solidFill>
              <a:srgbClr val="EAEEF3"/>
            </a:solidFill>
            <a:prstDash val="solid"/>
          </a:ln>
        </p:spPr>
      </p:sp>
      <p:pic>
        <p:nvPicPr>
          <p:cNvPr id="10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3364" y="2822204"/>
            <a:ext cx="317480" cy="317480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325880" y="2679192"/>
            <a:ext cx="5760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ko-KR" sz="1500" b="1" dirty="0">
                <a:solidFill>
                  <a:srgbClr val="151A21"/>
                </a:solidFill>
                <a:latin typeface="Arial" pitchFamily="34" charset="0"/>
                <a:ea typeface="Malgun Gothic" pitchFamily="34" charset="-122"/>
                <a:cs typeface="Arial" pitchFamily="34" charset="-120"/>
              </a:rPr>
              <a:t>제한적인 현장 보안 인력</a:t>
            </a:r>
            <a:endParaRPr lang="en-US" sz="1500" dirty="0"/>
          </a:p>
        </p:txBody>
      </p:sp>
      <p:sp>
        <p:nvSpPr>
          <p:cNvPr id="12" name="Text 7"/>
          <p:cNvSpPr txBox="1"/>
          <p:nvPr/>
        </p:nvSpPr>
        <p:spPr>
          <a:xfrm>
            <a:off x="1325880" y="3026664"/>
            <a:ext cx="5760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ko-KR" sz="1200" dirty="0">
                <a:solidFill>
                  <a:srgbClr val="5E6978"/>
                </a:solidFill>
                <a:latin typeface="Calibri" pitchFamily="34" charset="0"/>
                <a:ea typeface="Malgun Gothic" pitchFamily="34" charset="-122"/>
                <a:cs typeface="Calibri" pitchFamily="34" charset="-120"/>
              </a:rPr>
              <a:t>전담 보안 운영팀이 없어 수동 패치와 건별 사고 조사를 지속하기 어렵습니다.</a:t>
            </a:r>
            <a:endParaRPr lang="en-US" sz="1200" dirty="0"/>
          </a:p>
        </p:txBody>
      </p:sp>
      <p:sp>
        <p:nvSpPr>
          <p:cNvPr id="13" name="Shape 8"/>
          <p:cNvSpPr/>
          <p:nvPr/>
        </p:nvSpPr>
        <p:spPr>
          <a:xfrm>
            <a:off x="548640" y="3794760"/>
            <a:ext cx="566928" cy="566928"/>
          </a:xfrm>
          <a:prstGeom prst="roundRect">
            <a:avLst>
              <a:gd name="adj" fmla="val 16129"/>
            </a:avLst>
          </a:prstGeom>
          <a:solidFill>
            <a:srgbClr val="EAEEF3"/>
          </a:solidFill>
          <a:ln w="12700">
            <a:solidFill>
              <a:srgbClr val="EAEEF3"/>
            </a:solidFill>
            <a:prstDash val="solid"/>
          </a:ln>
        </p:spPr>
      </p:sp>
      <p:pic>
        <p:nvPicPr>
          <p:cNvPr id="14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73364" y="3919484"/>
            <a:ext cx="317480" cy="317480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1325880" y="3776472"/>
            <a:ext cx="5760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ko-KR" sz="1500" b="1" dirty="0">
                <a:solidFill>
                  <a:srgbClr val="151A21"/>
                </a:solidFill>
                <a:latin typeface="Arial" pitchFamily="34" charset="0"/>
                <a:ea typeface="Malgun Gothic" pitchFamily="34" charset="-122"/>
                <a:cs typeface="Arial" pitchFamily="34" charset="-120"/>
              </a:rPr>
              <a:t>스캔 위주의 보호</a:t>
            </a:r>
            <a:endParaRPr lang="en-US" sz="1500" dirty="0"/>
          </a:p>
        </p:txBody>
      </p:sp>
      <p:sp>
        <p:nvSpPr>
          <p:cNvPr id="16" name="Text 10"/>
          <p:cNvSpPr txBox="1"/>
          <p:nvPr/>
        </p:nvSpPr>
        <p:spPr>
          <a:xfrm>
            <a:off x="1325880" y="4123944"/>
            <a:ext cx="5760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altLang="ko-KR" sz="1200">
                <a:solidFill>
                  <a:srgbClr val="5E6978"/>
                </a:solidFill>
                <a:latin typeface="Calibri" pitchFamily="34" charset="0"/>
                <a:ea typeface="Malgun Gothic" pitchFamily="34" charset="-122"/>
                <a:cs typeface="Calibri" pitchFamily="34" charset="-120"/>
              </a:rPr>
              <a:t>취약점 스캐너는 취약점을 찾아내지만, 악성코드를 차단하거나 진행 중인 공격을 막지는 못합니다. 모든 후속 조치는 수작업으로 해야 하고, 스캔과 스캔 사이에는 무방비 시간이 생깁니다.</a:t>
            </a:r>
            <a:endParaRPr lang="en-US" sz="1200" dirty="0"/>
          </a:p>
        </p:txBody>
      </p:sp>
      <p:sp>
        <p:nvSpPr>
          <p:cNvPr id="17" name="Shape 11"/>
          <p:cNvSpPr/>
          <p:nvPr/>
        </p:nvSpPr>
        <p:spPr>
          <a:xfrm>
            <a:off x="548640" y="4892040"/>
            <a:ext cx="566928" cy="566928"/>
          </a:xfrm>
          <a:prstGeom prst="roundRect">
            <a:avLst>
              <a:gd name="adj" fmla="val 16129"/>
            </a:avLst>
          </a:prstGeom>
          <a:solidFill>
            <a:srgbClr val="EAEEF3"/>
          </a:solidFill>
          <a:ln w="12700">
            <a:solidFill>
              <a:srgbClr val="EAEEF3"/>
            </a:solidFill>
            <a:prstDash val="solid"/>
          </a:ln>
        </p:spPr>
      </p:sp>
      <p:pic>
        <p:nvPicPr>
          <p:cNvPr id="18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73364" y="5016764"/>
            <a:ext cx="317480" cy="317480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1325880" y="4873752"/>
            <a:ext cx="5760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ko-KR" sz="1500" b="1" dirty="0">
                <a:solidFill>
                  <a:srgbClr val="151A21"/>
                </a:solidFill>
                <a:latin typeface="Arial" pitchFamily="34" charset="0"/>
                <a:ea typeface="Malgun Gothic" pitchFamily="34" charset="-122"/>
                <a:cs typeface="Arial" pitchFamily="34" charset="-120"/>
              </a:rPr>
              <a:t>공격자에게 가치 높은 표적</a:t>
            </a:r>
            <a:endParaRPr lang="en-US" sz="1500" dirty="0"/>
          </a:p>
        </p:txBody>
      </p:sp>
      <p:sp>
        <p:nvSpPr>
          <p:cNvPr id="20" name="Text 13"/>
          <p:cNvSpPr txBox="1"/>
          <p:nvPr/>
        </p:nvSpPr>
        <p:spPr>
          <a:xfrm>
            <a:off x="1325880" y="5221224"/>
            <a:ext cx="5760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ko-KR" sz="1200" dirty="0">
                <a:solidFill>
                  <a:srgbClr val="5E6978"/>
                </a:solidFill>
                <a:latin typeface="Calibri" pitchFamily="34" charset="0"/>
                <a:ea typeface="Malgun Gothic" pitchFamily="34" charset="-122"/>
                <a:cs typeface="Calibri" pitchFamily="34" charset="-120"/>
              </a:rPr>
              <a:t>호텔은 결제카드 정보와 고객 신원정보를 보유하고 있어 랜섬웨어와 정보 탈취의 주요 표적이 되며, 이는 브랜드 신뢰도에 직접적인 영향을 줍니다.</a:t>
            </a:r>
            <a:r>
              <a:rPr lang="ko-KR" sz="1200">
                <a:solidFill>
                  <a:srgbClr val="5E6978"/>
                </a:solidFill>
                <a:latin typeface="Calibri" pitchFamily="34" charset="0"/>
                <a:ea typeface="Malgun Gothic" pitchFamily="34" charset="-122"/>
                <a:cs typeface="Calibri" pitchFamily="34" charset="-120"/>
              </a:rPr>
              <a:t/>
            </a:r>
            <a:r>
              <a:rPr lang="en-US" altLang="ko-KR" sz="1200">
                <a:solidFill>
                  <a:srgbClr val="5E6978"/>
                </a:solidFill>
                <a:latin typeface="Calibri" pitchFamily="34" charset="0"/>
                <a:ea typeface="Malgun Gothic" pitchFamily="34" charset="-122"/>
                <a:cs typeface="Calibri" pitchFamily="34" charset="-120"/>
              </a:rPr>
              <a:t/>
            </a:r>
            <a:r>
              <a:rPr lang="ko-KR" sz="1200">
                <a:solidFill>
                  <a:srgbClr val="5E6978"/>
                </a:solidFill>
                <a:latin typeface="Calibri" pitchFamily="34" charset="0"/>
                <a:ea typeface="Malgun Gothic" pitchFamily="34" charset="-122"/>
                <a:cs typeface="Calibri" pitchFamily="34" charset="-120"/>
              </a:rPr>
              <a:t/>
            </a:r>
            <a:r>
              <a:rPr lang="ko-KR" sz="1200" dirty="0">
                <a:solidFill>
                  <a:srgbClr val="5E6978"/>
                </a:solidFill>
                <a:latin typeface="Calibri" pitchFamily="34" charset="0"/>
                <a:ea typeface="Malgun Gothic" pitchFamily="34" charset="-122"/>
                <a:cs typeface="Calibri" pitchFamily="34" charset="-120"/>
              </a:rPr>
              <a:t/>
            </a:r>
            <a:endParaRPr lang="en-US" sz="1200" dirty="0"/>
          </a:p>
        </p:txBody>
      </p:sp>
      <p:sp>
        <p:nvSpPr>
          <p:cNvPr id="21" name="Shape 14"/>
          <p:cNvSpPr/>
          <p:nvPr/>
        </p:nvSpPr>
        <p:spPr>
          <a:xfrm>
            <a:off x="7452360" y="1554480"/>
            <a:ext cx="4190695" cy="4434840"/>
          </a:xfrm>
          <a:prstGeom prst="roundRect">
            <a:avLst>
              <a:gd name="adj" fmla="val 2182"/>
            </a:avLst>
          </a:prstGeom>
          <a:solidFill>
            <a:srgbClr val="0B0D12"/>
          </a:solidFill>
          <a:ln w="12700">
            <a:solidFill>
              <a:srgbClr val="0B0D12"/>
            </a:solidFill>
            <a:prstDash val="solid"/>
          </a:ln>
        </p:spPr>
      </p:sp>
      <p:sp>
        <p:nvSpPr>
          <p:cNvPr id="22" name="Text 15"/>
          <p:cNvSpPr txBox="1"/>
          <p:nvPr/>
        </p:nvSpPr>
        <p:spPr>
          <a:xfrm>
            <a:off x="7818120" y="1828800"/>
            <a:ext cx="34591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ko-KR" sz="1100" b="1" kern="0" spc="200" dirty="0">
                <a:solidFill>
                  <a:srgbClr val="E3202A"/>
                </a:solidFill>
                <a:latin typeface="Calibri" pitchFamily="34" charset="0"/>
                <a:ea typeface="Malgun Gothic" pitchFamily="34" charset="-122"/>
                <a:cs typeface="Calibri" pitchFamily="34" charset="-120"/>
              </a:rPr>
              <a:t>리조트에 필요한 것</a:t>
            </a:r>
            <a:endParaRPr lang="en-US" sz="1100" dirty="0"/>
          </a:p>
        </p:txBody>
      </p:sp>
      <p:pic>
        <p:nvPicPr>
          <p:cNvPr id="23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818120" y="2322576"/>
            <a:ext cx="237744" cy="237744"/>
          </a:xfrm>
          <a:prstGeom prst="rect">
            <a:avLst/>
          </a:prstGeom>
        </p:spPr>
      </p:pic>
      <p:sp>
        <p:nvSpPr>
          <p:cNvPr id="24" name="Text 16"/>
          <p:cNvSpPr txBox="1"/>
          <p:nvPr/>
        </p:nvSpPr>
        <p:spPr>
          <a:xfrm>
            <a:off x="8183880" y="2286000"/>
            <a:ext cx="309341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sz="1300" dirty="0">
                <a:solidFill>
                  <a:srgbClr val="FFFFFF"/>
                </a:solidFill>
                <a:latin typeface="Calibri" pitchFamily="34" charset="0"/>
                <a:ea typeface="Malgun Gothic" pitchFamily="34" charset="-122"/>
                <a:cs typeface="Calibri" pitchFamily="34" charset="-120"/>
              </a:rPr>
              <a:t>악성코드·랜섬웨어 자동 차단</a:t>
            </a:r>
            <a:endParaRPr lang="en-US" sz="1300" dirty="0"/>
          </a:p>
        </p:txBody>
      </p:sp>
      <p:pic>
        <p:nvPicPr>
          <p:cNvPr id="25" name="Image 6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818120" y="2852928"/>
            <a:ext cx="237744" cy="237744"/>
          </a:xfrm>
          <a:prstGeom prst="rect">
            <a:avLst/>
          </a:prstGeom>
        </p:spPr>
      </p:pic>
      <p:sp>
        <p:nvSpPr>
          <p:cNvPr id="26" name="Text 17"/>
          <p:cNvSpPr txBox="1"/>
          <p:nvPr/>
        </p:nvSpPr>
        <p:spPr>
          <a:xfrm>
            <a:off x="8183880" y="2816352"/>
            <a:ext cx="309341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sz="1300" dirty="0">
                <a:solidFill>
                  <a:srgbClr val="FFFFFF"/>
                </a:solidFill>
                <a:latin typeface="Calibri" pitchFamily="34" charset="0"/>
                <a:ea typeface="Malgun Gothic" pitchFamily="34" charset="-122"/>
                <a:cs typeface="Calibri" pitchFamily="34" charset="-120"/>
              </a:rPr>
              <a:t>공격의 실시간 탐지 및 격리</a:t>
            </a:r>
            <a:endParaRPr lang="en-US" sz="1300" dirty="0"/>
          </a:p>
        </p:txBody>
      </p:sp>
      <p:pic>
        <p:nvPicPr>
          <p:cNvPr id="27" name="Image 7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818120" y="3383280"/>
            <a:ext cx="237744" cy="237744"/>
          </a:xfrm>
          <a:prstGeom prst="rect">
            <a:avLst/>
          </a:prstGeom>
        </p:spPr>
      </p:pic>
      <p:sp>
        <p:nvSpPr>
          <p:cNvPr id="28" name="Text 18"/>
          <p:cNvSpPr txBox="1"/>
          <p:nvPr/>
        </p:nvSpPr>
        <p:spPr>
          <a:xfrm>
            <a:off x="8183880" y="3346704"/>
            <a:ext cx="309341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sz="1300" dirty="0">
                <a:solidFill>
                  <a:srgbClr val="FFFFFF"/>
                </a:solidFill>
                <a:latin typeface="Calibri" pitchFamily="34" charset="0"/>
                <a:ea typeface="Malgun Gothic" pitchFamily="34" charset="-122"/>
                <a:cs typeface="Calibri" pitchFamily="34" charset="-120"/>
              </a:rPr>
              <a:t>IT팀의 일상 업무 부담 최소화</a:t>
            </a:r>
            <a:endParaRPr lang="en-US" sz="1300" dirty="0"/>
          </a:p>
        </p:txBody>
      </p:sp>
      <p:pic>
        <p:nvPicPr>
          <p:cNvPr id="29" name="Image 8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818120" y="3913632"/>
            <a:ext cx="237744" cy="237744"/>
          </a:xfrm>
          <a:prstGeom prst="rect">
            <a:avLst/>
          </a:prstGeom>
        </p:spPr>
      </p:pic>
      <p:sp>
        <p:nvSpPr>
          <p:cNvPr id="30" name="Text 19"/>
          <p:cNvSpPr txBox="1"/>
          <p:nvPr/>
        </p:nvSpPr>
        <p:spPr>
          <a:xfrm>
            <a:off x="8183880" y="3877056"/>
            <a:ext cx="309341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sz="1300" dirty="0">
                <a:solidFill>
                  <a:srgbClr val="FFFFFF"/>
                </a:solidFill>
                <a:latin typeface="Calibri" pitchFamily="34" charset="0"/>
                <a:ea typeface="Malgun Gothic" pitchFamily="34" charset="-122"/>
                <a:cs typeface="Calibri" pitchFamily="34" charset="-120"/>
              </a:rPr>
              <a:t>24시간 전문가 지원</a:t>
            </a:r>
            <a:endParaRPr lang="en-US" sz="1300" dirty="0"/>
          </a:p>
        </p:txBody>
      </p:sp>
      <p:pic>
        <p:nvPicPr>
          <p:cNvPr id="31" name="Image 9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818120" y="4443984"/>
            <a:ext cx="237744" cy="237744"/>
          </a:xfrm>
          <a:prstGeom prst="rect">
            <a:avLst/>
          </a:prstGeom>
        </p:spPr>
      </p:pic>
      <p:sp>
        <p:nvSpPr>
          <p:cNvPr id="32" name="Text 20"/>
          <p:cNvSpPr txBox="1"/>
          <p:nvPr/>
        </p:nvSpPr>
        <p:spPr>
          <a:xfrm>
            <a:off x="8183880" y="4407408"/>
            <a:ext cx="309341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sz="1300" dirty="0">
                <a:solidFill>
                  <a:srgbClr val="FFFFFF"/>
                </a:solidFill>
                <a:latin typeface="Calibri" pitchFamily="34" charset="0"/>
                <a:ea typeface="Malgun Gothic" pitchFamily="34" charset="-122"/>
                <a:cs typeface="Calibri" pitchFamily="34" charset="-120"/>
              </a:rPr>
              <a:t>경영진 및 감사를 위한 명확한 보고</a:t>
            </a:r>
            <a:endParaRPr lang="en-US" sz="1300" dirty="0"/>
          </a:p>
        </p:txBody>
      </p:sp>
      <p:sp>
        <p:nvSpPr>
          <p:cNvPr id="33" name="Text 21"/>
          <p:cNvSpPr txBox="1"/>
          <p:nvPr/>
        </p:nvSpPr>
        <p:spPr>
          <a:xfrm>
            <a:off x="7818120" y="5120640"/>
            <a:ext cx="345917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sz="1400" b="1" i="1" dirty="0">
                <a:solidFill>
                  <a:srgbClr val="FFFFFF"/>
                </a:solidFill>
                <a:latin typeface="Calibri" pitchFamily="34" charset="0"/>
                <a:ea typeface="Malgun Gothic" pitchFamily="34" charset="-122"/>
                <a:cs typeface="Calibri" pitchFamily="34" charset="-120"/>
              </a:rPr>
              <a:t>목표는 더 많은 보고서가 아니라, 더 적은 사고입니다.</a:t>
            </a:r>
            <a:endParaRPr lang="en-US" sz="1400" dirty="0"/>
          </a:p>
        </p:txBody>
      </p:sp>
      <p:sp>
        <p:nvSpPr>
          <p:cNvPr id="34" name="Text 22"/>
          <p:cNvSpPr txBox="1"/>
          <p:nvPr/>
        </p:nvSpPr>
        <p:spPr>
          <a:xfrm>
            <a:off x="548640" y="6446520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sz="900" dirty="0">
                <a:solidFill>
                  <a:srgbClr val="5E6978"/>
                </a:solidFill>
                <a:latin typeface="Calibri" pitchFamily="34" charset="0"/>
                <a:ea typeface="Malgun Gothic" pitchFamily="34" charset="-122"/>
                <a:cs typeface="Calibri" pitchFamily="34" charset="-120"/>
              </a:rPr>
              <a:t>02   |   CrowdStrike Falcon 제안서  ·  웨스틴 리조트 괌</a:t>
            </a:r>
            <a:endParaRPr lang="en-US" sz="900" dirty="0"/>
          </a:p>
        </p:txBody>
      </p:sp>
      <p:pic>
        <p:nvPicPr>
          <p:cNvPr id="35" name="Image 10" descr="/private/tmp/claude-501/-Users-jihanvin-Desktop-NIVNAH-AI/16a96446-d9b3-40e2-af9e-a3011ae3db84/scratchpad/assets/secukorea_dark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661904" y="6400800"/>
            <a:ext cx="978408" cy="233172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0D1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E3202A"/>
                </a:solidFill>
                <a:latin typeface="Arial" pitchFamily="34" charset="0"/>
                <a:ea typeface="Malgun Gothic" pitchFamily="34" charset="-122"/>
                <a:cs typeface="Arial" pitchFamily="34" charset="-120"/>
              </a:rPr>
              <a:t>02   보안 공격 트렌드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9692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Malgun Gothic" pitchFamily="34" charset="-122"/>
                <a:cs typeface="Arial" pitchFamily="34" charset="-120"/>
              </a:rPr>
              <a:t>사이버 공격은 이제 몇 초 만에 퍼집니다</a:t>
            </a:r>
            <a:endParaRPr lang="en-US" sz="2800" dirty="0"/>
          </a:p>
        </p:txBody>
      </p:sp>
      <p:pic>
        <p:nvPicPr>
          <p:cNvPr id="4" name="Image 0" descr="/private/tmp/claude-501/-Users-jihanvin-Desktop-NIVNAH-AI/16a96446-d9b3-40e2-af9e-a3011ae3db84/scratchpad/assets/westin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34472" y="402336"/>
            <a:ext cx="1005840" cy="301752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48640" y="1600200"/>
            <a:ext cx="2567864" cy="2148840"/>
          </a:xfrm>
          <a:prstGeom prst="roundRect">
            <a:avLst>
              <a:gd name="adj" fmla="val 3404"/>
            </a:avLst>
          </a:prstGeom>
          <a:solidFill>
            <a:srgbClr val="171B22"/>
          </a:solidFill>
          <a:ln w="9525">
            <a:solidFill>
              <a:srgbClr val="2A303A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22960" y="1874520"/>
            <a:ext cx="201922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E3202A"/>
                </a:solidFill>
                <a:latin typeface="Arial" pitchFamily="34" charset="0"/>
                <a:ea typeface="Malgun Gothic" pitchFamily="34" charset="-122"/>
                <a:cs typeface="Arial" pitchFamily="34" charset="-120"/>
              </a:rPr>
              <a:t>27초</a:t>
            </a:r>
            <a:endParaRPr lang="en-US" sz="40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2715768"/>
            <a:ext cx="201922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C9CED6"/>
                </a:solidFill>
                <a:latin typeface="Calibri" pitchFamily="34" charset="0"/>
                <a:ea typeface="Malgun Gothic" pitchFamily="34" charset="-122"/>
                <a:cs typeface="Calibri" pitchFamily="34" charset="-120"/>
              </a:rPr>
              <a:t>해커가 PC 한 대에서 다른 시스템으로 퍼진 역대 최단 시간 (평균 29분)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3390824" y="1600200"/>
            <a:ext cx="2567864" cy="2148840"/>
          </a:xfrm>
          <a:prstGeom prst="roundRect">
            <a:avLst>
              <a:gd name="adj" fmla="val 3404"/>
            </a:avLst>
          </a:prstGeom>
          <a:solidFill>
            <a:srgbClr val="171B22"/>
          </a:solidFill>
          <a:ln w="9525">
            <a:solidFill>
              <a:srgbClr val="2A303A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3665144" y="1874520"/>
            <a:ext cx="201922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E3202A"/>
                </a:solidFill>
                <a:latin typeface="Arial" pitchFamily="34" charset="0"/>
                <a:ea typeface="Malgun Gothic" pitchFamily="34" charset="-122"/>
                <a:cs typeface="Arial" pitchFamily="34" charset="-120"/>
              </a:rPr>
              <a:t>89%</a:t>
            </a:r>
            <a:endParaRPr lang="en-US" sz="4000" dirty="0"/>
          </a:p>
        </p:txBody>
      </p:sp>
      <p:sp>
        <p:nvSpPr>
          <p:cNvPr id="10" name="Text 7"/>
          <p:cNvSpPr txBox="1"/>
          <p:nvPr/>
        </p:nvSpPr>
        <p:spPr>
          <a:xfrm>
            <a:off x="3665144" y="2715768"/>
            <a:ext cx="201922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C9CED6"/>
                </a:solidFill>
                <a:latin typeface="Calibri" pitchFamily="34" charset="0"/>
                <a:ea typeface="Malgun Gothic" pitchFamily="34" charset="-122"/>
                <a:cs typeface="Calibri" pitchFamily="34" charset="-120"/>
              </a:rPr>
              <a:t>AI를 활용한 해커 공격의 전년 대비 증가율 (2025년)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233008" y="1600200"/>
            <a:ext cx="2567864" cy="2148840"/>
          </a:xfrm>
          <a:prstGeom prst="roundRect">
            <a:avLst>
              <a:gd name="adj" fmla="val 3404"/>
            </a:avLst>
          </a:prstGeom>
          <a:solidFill>
            <a:srgbClr val="171B22"/>
          </a:solidFill>
          <a:ln w="9525">
            <a:solidFill>
              <a:srgbClr val="2A303A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507328" y="1874520"/>
            <a:ext cx="201922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E3202A"/>
                </a:solidFill>
                <a:latin typeface="Arial" pitchFamily="34" charset="0"/>
                <a:ea typeface="Malgun Gothic" pitchFamily="34" charset="-122"/>
                <a:cs typeface="Arial" pitchFamily="34" charset="-120"/>
              </a:rPr>
              <a:t>42%</a:t>
            </a:r>
            <a:endParaRPr lang="en-US" sz="4000" dirty="0"/>
          </a:p>
        </p:txBody>
      </p:sp>
      <p:sp>
        <p:nvSpPr>
          <p:cNvPr id="13" name="Text 10"/>
          <p:cNvSpPr txBox="1"/>
          <p:nvPr/>
        </p:nvSpPr>
        <p:spPr>
          <a:xfrm>
            <a:off x="6507328" y="2715768"/>
            <a:ext cx="201922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C9CED6"/>
                </a:solidFill>
                <a:latin typeface="Calibri" pitchFamily="34" charset="0"/>
                <a:ea typeface="Malgun Gothic" pitchFamily="34" charset="-122"/>
                <a:cs typeface="Calibri" pitchFamily="34" charset="-120"/>
              </a:rPr>
              <a:t>공개 전 보안 허점(제로데이)을 노린 공격의 전년 대비 증가율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9075191" y="1600200"/>
            <a:ext cx="2567864" cy="2148840"/>
          </a:xfrm>
          <a:prstGeom prst="roundRect">
            <a:avLst>
              <a:gd name="adj" fmla="val 3404"/>
            </a:avLst>
          </a:prstGeom>
          <a:solidFill>
            <a:srgbClr val="171B22"/>
          </a:solidFill>
          <a:ln w="9525">
            <a:solidFill>
              <a:srgbClr val="2A303A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9349511" y="1874520"/>
            <a:ext cx="201922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E3202A"/>
                </a:solidFill>
                <a:latin typeface="Arial" pitchFamily="34" charset="0"/>
                <a:ea typeface="Malgun Gothic" pitchFamily="34" charset="-122"/>
                <a:cs typeface="Arial" pitchFamily="34" charset="-120"/>
              </a:rPr>
              <a:t>78%</a:t>
            </a:r>
            <a:endParaRPr lang="en-US" sz="4000" dirty="0"/>
          </a:p>
        </p:txBody>
      </p:sp>
      <p:sp>
        <p:nvSpPr>
          <p:cNvPr id="16" name="Text 13"/>
          <p:cNvSpPr txBox="1"/>
          <p:nvPr/>
        </p:nvSpPr>
        <p:spPr>
          <a:xfrm>
            <a:off x="9349511" y="2715768"/>
            <a:ext cx="201922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C9CED6"/>
                </a:solidFill>
                <a:latin typeface="Calibri" pitchFamily="34" charset="0"/>
                <a:ea typeface="Malgun Gothic" pitchFamily="34" charset="-122"/>
                <a:cs typeface="Calibri" pitchFamily="34" charset="-120"/>
              </a:rPr>
              <a:t>설문 기업 1,100곳 중 지난 1년간 랜섬웨어 공격을 받은 비율</a:t>
            </a:r>
            <a:endParaRPr lang="en-US" sz="1200" dirty="0"/>
          </a:p>
        </p:txBody>
      </p:sp>
      <p:sp>
        <p:nvSpPr>
          <p:cNvPr id="17" name="Text 14"/>
          <p:cNvSpPr txBox="1"/>
          <p:nvPr/>
        </p:nvSpPr>
        <p:spPr>
          <a:xfrm>
            <a:off x="548640" y="411480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FFFFFF"/>
                </a:solidFill>
                <a:latin typeface="Calibri" pitchFamily="34" charset="0"/>
                <a:ea typeface="Malgun Gothic" pitchFamily="34" charset="-122"/>
                <a:cs typeface="Calibri" pitchFamily="34" charset="-120"/>
              </a:rPr>
              <a:t>리조트에 주는 의미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548640" y="4572000"/>
            <a:ext cx="502920" cy="502920"/>
          </a:xfrm>
          <a:prstGeom prst="roundRect">
            <a:avLst>
              <a:gd name="adj" fmla="val 18182"/>
            </a:avLst>
          </a:prstGeom>
          <a:solidFill>
            <a:srgbClr val="E3202A"/>
          </a:solidFill>
          <a:ln w="12700">
            <a:solidFill>
              <a:srgbClr val="E3202A"/>
            </a:solidFill>
            <a:prstDash val="solid"/>
          </a:ln>
        </p:spPr>
      </p:sp>
      <p:pic>
        <p:nvPicPr>
          <p:cNvPr id="19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9282" y="4682642"/>
            <a:ext cx="281635" cy="281635"/>
          </a:xfrm>
          <a:prstGeom prst="rect">
            <a:avLst/>
          </a:prstGeom>
        </p:spPr>
      </p:pic>
      <p:sp>
        <p:nvSpPr>
          <p:cNvPr id="20" name="Text 16"/>
          <p:cNvSpPr txBox="1"/>
          <p:nvPr/>
        </p:nvSpPr>
        <p:spPr>
          <a:xfrm>
            <a:off x="1234440" y="4553712"/>
            <a:ext cx="278373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Malgun Gothic" pitchFamily="34" charset="-122"/>
                <a:cs typeface="Arial" pitchFamily="34" charset="-120"/>
              </a:rPr>
              <a:t>새롭고 알려지지 않은 공격</a:t>
            </a:r>
            <a:endParaRPr lang="en-US" sz="1400" dirty="0"/>
          </a:p>
        </p:txBody>
      </p:sp>
      <p:sp>
        <p:nvSpPr>
          <p:cNvPr id="21" name="Text 17"/>
          <p:cNvSpPr txBox="1"/>
          <p:nvPr/>
        </p:nvSpPr>
        <p:spPr>
          <a:xfrm>
            <a:off x="1234440" y="4882896"/>
            <a:ext cx="278373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C9CED6"/>
                </a:solidFill>
                <a:latin typeface="Calibri" pitchFamily="34" charset="0"/>
                <a:ea typeface="Malgun Gothic" pitchFamily="34" charset="-122"/>
                <a:cs typeface="Calibri" pitchFamily="34" charset="-120"/>
              </a:rPr>
              <a:t>새로운 공격은 대응책이 나오기 전에 들어옵니다. 행위를 감시하는 보호만이 막을 수 있습니다.</a:t>
            </a:r>
            <a:endParaRPr lang="en-US" sz="1200" dirty="0"/>
          </a:p>
        </p:txBody>
      </p:sp>
      <p:sp>
        <p:nvSpPr>
          <p:cNvPr id="22" name="Shape 18"/>
          <p:cNvSpPr/>
          <p:nvPr/>
        </p:nvSpPr>
        <p:spPr>
          <a:xfrm>
            <a:off x="4338218" y="4572000"/>
            <a:ext cx="502920" cy="502920"/>
          </a:xfrm>
          <a:prstGeom prst="roundRect">
            <a:avLst>
              <a:gd name="adj" fmla="val 18182"/>
            </a:avLst>
          </a:prstGeom>
          <a:solidFill>
            <a:srgbClr val="E3202A"/>
          </a:solidFill>
          <a:ln w="12700">
            <a:solidFill>
              <a:srgbClr val="E3202A"/>
            </a:solidFill>
            <a:prstDash val="solid"/>
          </a:ln>
        </p:spPr>
      </p:sp>
      <p:pic>
        <p:nvPicPr>
          <p:cNvPr id="23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48861" y="4682642"/>
            <a:ext cx="281635" cy="281635"/>
          </a:xfrm>
          <a:prstGeom prst="rect">
            <a:avLst/>
          </a:prstGeom>
        </p:spPr>
      </p:pic>
      <p:sp>
        <p:nvSpPr>
          <p:cNvPr id="24" name="Text 19"/>
          <p:cNvSpPr txBox="1"/>
          <p:nvPr/>
        </p:nvSpPr>
        <p:spPr>
          <a:xfrm>
            <a:off x="5024018" y="4553712"/>
            <a:ext cx="278373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Malgun Gothic" pitchFamily="34" charset="-122"/>
                <a:cs typeface="Arial" pitchFamily="34" charset="-120"/>
              </a:rPr>
              <a:t>몇 주가 아닌 몇 초</a:t>
            </a:r>
            <a:endParaRPr lang="en-US" sz="1400" dirty="0"/>
          </a:p>
        </p:txBody>
      </p:sp>
      <p:sp>
        <p:nvSpPr>
          <p:cNvPr id="25" name="Text 20"/>
          <p:cNvSpPr txBox="1"/>
          <p:nvPr/>
        </p:nvSpPr>
        <p:spPr>
          <a:xfrm>
            <a:off x="5024018" y="4882896"/>
            <a:ext cx="278373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C9CED6"/>
                </a:solidFill>
                <a:latin typeface="Calibri" pitchFamily="34" charset="0"/>
                <a:ea typeface="Malgun Gothic" pitchFamily="34" charset="-122"/>
                <a:cs typeface="Calibri" pitchFamily="34" charset="-120"/>
              </a:rPr>
              <a:t>보호되지 않은 PC는 몇 초 만에 뚫리고, 공격이 다른 시스템으로 번집니다.</a:t>
            </a:r>
            <a:endParaRPr lang="en-US" sz="1200" dirty="0"/>
          </a:p>
        </p:txBody>
      </p:sp>
      <p:sp>
        <p:nvSpPr>
          <p:cNvPr id="26" name="Shape 21"/>
          <p:cNvSpPr/>
          <p:nvPr/>
        </p:nvSpPr>
        <p:spPr>
          <a:xfrm>
            <a:off x="8127797" y="4572000"/>
            <a:ext cx="502920" cy="502920"/>
          </a:xfrm>
          <a:prstGeom prst="roundRect">
            <a:avLst>
              <a:gd name="adj" fmla="val 18182"/>
            </a:avLst>
          </a:prstGeom>
          <a:solidFill>
            <a:srgbClr val="E3202A"/>
          </a:solidFill>
          <a:ln w="12700">
            <a:solidFill>
              <a:srgbClr val="E3202A"/>
            </a:solidFill>
            <a:prstDash val="solid"/>
          </a:ln>
        </p:spPr>
      </p:sp>
      <p:pic>
        <p:nvPicPr>
          <p:cNvPr id="27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38439" y="4682642"/>
            <a:ext cx="281635" cy="281635"/>
          </a:xfrm>
          <a:prstGeom prst="rect">
            <a:avLst/>
          </a:prstGeom>
        </p:spPr>
      </p:pic>
      <p:sp>
        <p:nvSpPr>
          <p:cNvPr id="28" name="Text 22"/>
          <p:cNvSpPr txBox="1"/>
          <p:nvPr/>
        </p:nvSpPr>
        <p:spPr>
          <a:xfrm>
            <a:off x="8813597" y="4553712"/>
            <a:ext cx="278373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Malgun Gothic" pitchFamily="34" charset="-122"/>
                <a:cs typeface="Arial" pitchFamily="34" charset="-120"/>
              </a:rPr>
              <a:t>몸값 지불은 해결책이 아님</a:t>
            </a:r>
            <a:endParaRPr lang="en-US" sz="1400" dirty="0"/>
          </a:p>
        </p:txBody>
      </p:sp>
      <p:sp>
        <p:nvSpPr>
          <p:cNvPr id="29" name="Text 23"/>
          <p:cNvSpPr txBox="1"/>
          <p:nvPr/>
        </p:nvSpPr>
        <p:spPr>
          <a:xfrm>
            <a:off x="8813597" y="4882896"/>
            <a:ext cx="278373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C9CED6"/>
                </a:solidFill>
                <a:latin typeface="Calibri" pitchFamily="34" charset="0"/>
                <a:ea typeface="Malgun Gothic" pitchFamily="34" charset="-122"/>
                <a:cs typeface="Calibri" pitchFamily="34" charset="-120"/>
              </a:rPr>
              <a:t>몸값을 낸 피해자의 83%가 다시 공격받았고, 93%는 결국 데이터를 도난당했습니다.</a:t>
            </a:r>
            <a:endParaRPr lang="en-US" sz="1200" dirty="0"/>
          </a:p>
        </p:txBody>
      </p:sp>
      <p:sp>
        <p:nvSpPr>
          <p:cNvPr id="30" name="Text 24"/>
          <p:cNvSpPr txBox="1"/>
          <p:nvPr/>
        </p:nvSpPr>
        <p:spPr>
          <a:xfrm>
            <a:off x="548640" y="6108192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800" i="1" dirty="0">
                <a:solidFill>
                  <a:srgbClr val="7D8794"/>
                </a:solidFill>
                <a:latin typeface="Calibri" pitchFamily="34" charset="0"/>
                <a:ea typeface="Malgun Gothic" pitchFamily="34" charset="-122"/>
                <a:cs typeface="Calibri" pitchFamily="34" charset="-120"/>
              </a:rPr>
              <a:t>출처: CrowdStrike 2026 Global Threat Report (2025년 데이터); CrowdStrike 2025 State of Ransomware Survey (보안 책임자 1,100명).</a:t>
            </a:r>
            <a:endParaRPr lang="en-US" sz="800" dirty="0"/>
          </a:p>
        </p:txBody>
      </p:sp>
      <p:sp>
        <p:nvSpPr>
          <p:cNvPr id="31" name="Text 25"/>
          <p:cNvSpPr txBox="1"/>
          <p:nvPr/>
        </p:nvSpPr>
        <p:spPr>
          <a:xfrm>
            <a:off x="548640" y="6446520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A93A0"/>
                </a:solidFill>
                <a:latin typeface="Calibri" pitchFamily="34" charset="0"/>
                <a:ea typeface="Malgun Gothic" pitchFamily="34" charset="-122"/>
                <a:cs typeface="Calibri" pitchFamily="34" charset="-120"/>
              </a:rPr>
              <a:t>03   |   CrowdStrike Falcon 제안서  ·  웨스틴 리조트 괌</a:t>
            </a:r>
            <a:endParaRPr lang="en-US" sz="900" dirty="0"/>
          </a:p>
        </p:txBody>
      </p:sp>
      <p:pic>
        <p:nvPicPr>
          <p:cNvPr id="32" name="Image 4" descr="/private/tmp/claude-501/-Users-jihanvin-Desktop-NIVNAH-AI/16a96446-d9b3-40e2-af9e-a3011ae3db84/scratchpad/assets/secukorea_light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661904" y="6400800"/>
            <a:ext cx="978408" cy="233172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E3202A"/>
                </a:solidFill>
                <a:latin typeface="Arial" pitchFamily="34" charset="0"/>
                <a:ea typeface="Malgun Gothic" pitchFamily="34" charset="-122"/>
                <a:cs typeface="Arial" pitchFamily="34" charset="-120"/>
              </a:rPr>
              <a:t>03   쉽게 이해하기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9692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51A21"/>
                </a:solidFill>
                <a:latin typeface="Arial" pitchFamily="34" charset="0"/>
                <a:ea typeface="Malgun Gothic" pitchFamily="34" charset="-122"/>
                <a:cs typeface="Arial" pitchFamily="34" charset="-120"/>
              </a:rPr>
              <a:t>정기 안전점검 vs. 24시간 보안팀</a:t>
            </a:r>
            <a:endParaRPr lang="en-US" sz="2800" dirty="0"/>
          </a:p>
        </p:txBody>
      </p:sp>
      <p:pic>
        <p:nvPicPr>
          <p:cNvPr id="4" name="Image 0" descr="/private/tmp/claude-501/-Users-jihanvin-Desktop-NIVNAH-AI/16a96446-d9b3-40e2-af9e-a3011ae3db84/scratchpad/assets/westin_gre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34472" y="402336"/>
            <a:ext cx="1005840" cy="301752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48640" y="1554480"/>
            <a:ext cx="5074920" cy="3611880"/>
          </a:xfrm>
          <a:prstGeom prst="roundRect">
            <a:avLst>
              <a:gd name="adj" fmla="val 2532"/>
            </a:avLst>
          </a:prstGeom>
          <a:solidFill>
            <a:srgbClr val="F3F5F8"/>
          </a:solidFill>
          <a:ln w="9525">
            <a:solidFill>
              <a:srgbClr val="DCE1E7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868680" y="1874520"/>
            <a:ext cx="640080" cy="640080"/>
          </a:xfrm>
          <a:prstGeom prst="roundRect">
            <a:avLst>
              <a:gd name="adj" fmla="val 14286"/>
            </a:avLst>
          </a:prstGeom>
          <a:solidFill>
            <a:srgbClr val="EAEEF3"/>
          </a:solidFill>
          <a:ln w="12700">
            <a:solidFill>
              <a:srgbClr val="EAEEF3"/>
            </a:solidFill>
            <a:prstDash val="solid"/>
          </a:ln>
        </p:spPr>
      </p:sp>
      <p:pic>
        <p:nvPicPr>
          <p:cNvPr id="7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9498" y="2015338"/>
            <a:ext cx="358445" cy="358445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691640" y="1901952"/>
            <a:ext cx="3703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5D6B7E"/>
                </a:solidFill>
                <a:latin typeface="Calibri" pitchFamily="34" charset="0"/>
                <a:ea typeface="Malgun Gothic" pitchFamily="34" charset="-122"/>
                <a:cs typeface="Calibri" pitchFamily="34" charset="-120"/>
              </a:rPr>
              <a:t>NESSUS</a:t>
            </a:r>
            <a:endParaRPr lang="en-US" sz="1100" dirty="0"/>
          </a:p>
        </p:txBody>
      </p:sp>
      <p:sp>
        <p:nvSpPr>
          <p:cNvPr id="9" name="Text 5"/>
          <p:cNvSpPr txBox="1"/>
          <p:nvPr/>
        </p:nvSpPr>
        <p:spPr>
          <a:xfrm>
            <a:off x="1691640" y="2157984"/>
            <a:ext cx="3703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b="1" dirty="0">
                <a:solidFill>
                  <a:srgbClr val="151A21"/>
                </a:solidFill>
                <a:latin typeface="Arial" pitchFamily="34" charset="0"/>
                <a:ea typeface="Malgun Gothic" pitchFamily="34" charset="-122"/>
                <a:cs typeface="Arial" pitchFamily="34" charset="-120"/>
              </a:rPr>
              <a:t>소방 안전점검</a:t>
            </a:r>
            <a:endParaRPr lang="en-US" sz="1700" dirty="0"/>
          </a:p>
        </p:txBody>
      </p:sp>
      <p:sp>
        <p:nvSpPr>
          <p:cNvPr id="10" name="Text 6"/>
          <p:cNvSpPr txBox="1"/>
          <p:nvPr/>
        </p:nvSpPr>
        <p:spPr>
          <a:xfrm>
            <a:off x="868680" y="2880360"/>
            <a:ext cx="44348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5E6978"/>
                </a:solidFill>
                <a:latin typeface="Calibri" pitchFamily="34" charset="0"/>
                <a:ea typeface="Malgun Gothic" pitchFamily="34" charset="-122"/>
                <a:cs typeface="Calibri" pitchFamily="34" charset="-120"/>
              </a:rPr>
              <a:t>점검원이 정해진 날 건물을 돌며 고칠 곳을 적어 보고서를 건넵니다. 유용하지만, 실제로 불이 났을 때 점검원은 그 자리에 없습니다.</a:t>
            </a:r>
            <a:endParaRPr lang="en-US" sz="1250" dirty="0"/>
          </a:p>
        </p:txBody>
      </p:sp>
      <p:pic>
        <p:nvPicPr>
          <p:cNvPr id="11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8680" y="4023360"/>
            <a:ext cx="182880" cy="182880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1188720" y="3977640"/>
            <a:ext cx="4160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51A21"/>
                </a:solidFill>
                <a:latin typeface="Calibri" pitchFamily="34" charset="0"/>
                <a:ea typeface="Malgun Gothic" pitchFamily="34" charset="-122"/>
                <a:cs typeface="Calibri" pitchFamily="34" charset="-120"/>
              </a:rPr>
              <a:t>알려진 문제 발견</a:t>
            </a:r>
            <a:endParaRPr lang="en-US" sz="1250" dirty="0"/>
          </a:p>
        </p:txBody>
      </p:sp>
      <p:pic>
        <p:nvPicPr>
          <p:cNvPr id="13" name="Image 3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8680" y="4389120"/>
            <a:ext cx="182880" cy="182880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1188720" y="4343400"/>
            <a:ext cx="4160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51A21"/>
                </a:solidFill>
                <a:latin typeface="Calibri" pitchFamily="34" charset="0"/>
                <a:ea typeface="Malgun Gothic" pitchFamily="34" charset="-122"/>
                <a:cs typeface="Calibri" pitchFamily="34" charset="-120"/>
              </a:rPr>
              <a:t>정해진 일정에 보고</a:t>
            </a:r>
            <a:endParaRPr lang="en-US" sz="1250" dirty="0"/>
          </a:p>
        </p:txBody>
      </p:sp>
      <p:pic>
        <p:nvPicPr>
          <p:cNvPr id="15" name="Image 4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68680" y="4754880"/>
            <a:ext cx="182880" cy="182880"/>
          </a:xfrm>
          <a:prstGeom prst="rect">
            <a:avLst/>
          </a:prstGeom>
        </p:spPr>
      </p:pic>
      <p:sp>
        <p:nvSpPr>
          <p:cNvPr id="16" name="Text 9"/>
          <p:cNvSpPr txBox="1"/>
          <p:nvPr/>
        </p:nvSpPr>
        <p:spPr>
          <a:xfrm>
            <a:off x="1188720" y="4709160"/>
            <a:ext cx="4160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51A21"/>
                </a:solidFill>
                <a:latin typeface="Calibri" pitchFamily="34" charset="0"/>
                <a:ea typeface="Malgun Gothic" pitchFamily="34" charset="-122"/>
                <a:cs typeface="Calibri" pitchFamily="34" charset="-120"/>
              </a:rPr>
              <a:t>조치는 고객 몫</a:t>
            </a:r>
            <a:endParaRPr lang="en-US" sz="1250" dirty="0"/>
          </a:p>
        </p:txBody>
      </p:sp>
      <p:sp>
        <p:nvSpPr>
          <p:cNvPr id="17" name="Shape 10"/>
          <p:cNvSpPr/>
          <p:nvPr/>
        </p:nvSpPr>
        <p:spPr>
          <a:xfrm>
            <a:off x="6568135" y="1554480"/>
            <a:ext cx="5074920" cy="3611880"/>
          </a:xfrm>
          <a:prstGeom prst="roundRect">
            <a:avLst>
              <a:gd name="adj" fmla="val 2532"/>
            </a:avLst>
          </a:prstGeom>
          <a:solidFill>
            <a:srgbClr val="FDECEC"/>
          </a:solidFill>
          <a:ln w="9525">
            <a:solidFill>
              <a:srgbClr val="F6C9CB"/>
            </a:solidFill>
            <a:prstDash val="solid"/>
          </a:ln>
        </p:spPr>
      </p:sp>
      <p:sp>
        <p:nvSpPr>
          <p:cNvPr id="18" name="Shape 11"/>
          <p:cNvSpPr/>
          <p:nvPr/>
        </p:nvSpPr>
        <p:spPr>
          <a:xfrm>
            <a:off x="6888175" y="1874520"/>
            <a:ext cx="640080" cy="640080"/>
          </a:xfrm>
          <a:prstGeom prst="roundRect">
            <a:avLst>
              <a:gd name="adj" fmla="val 14286"/>
            </a:avLst>
          </a:prstGeom>
          <a:solidFill>
            <a:srgbClr val="E3202A"/>
          </a:solidFill>
          <a:ln w="12700">
            <a:solidFill>
              <a:srgbClr val="E3202A"/>
            </a:solidFill>
            <a:prstDash val="solid"/>
          </a:ln>
        </p:spPr>
      </p:sp>
      <p:pic>
        <p:nvPicPr>
          <p:cNvPr id="19" name="Image 5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028993" y="2015338"/>
            <a:ext cx="358445" cy="358445"/>
          </a:xfrm>
          <a:prstGeom prst="rect">
            <a:avLst/>
          </a:prstGeom>
        </p:spPr>
      </p:pic>
      <p:sp>
        <p:nvSpPr>
          <p:cNvPr id="20" name="Text 12"/>
          <p:cNvSpPr txBox="1"/>
          <p:nvPr/>
        </p:nvSpPr>
        <p:spPr>
          <a:xfrm>
            <a:off x="7711135" y="1901952"/>
            <a:ext cx="3703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E3202A"/>
                </a:solidFill>
                <a:latin typeface="Calibri" pitchFamily="34" charset="0"/>
                <a:ea typeface="Malgun Gothic" pitchFamily="34" charset="-122"/>
                <a:cs typeface="Calibri" pitchFamily="34" charset="-120"/>
              </a:rPr>
              <a:t>CROWDSTRIKE FALCON</a:t>
            </a:r>
            <a:endParaRPr lang="en-US" sz="1100" dirty="0"/>
          </a:p>
        </p:txBody>
      </p:sp>
      <p:sp>
        <p:nvSpPr>
          <p:cNvPr id="21" name="Text 13"/>
          <p:cNvSpPr txBox="1"/>
          <p:nvPr/>
        </p:nvSpPr>
        <p:spPr>
          <a:xfrm>
            <a:off x="7711135" y="2157984"/>
            <a:ext cx="3703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b="1" dirty="0">
                <a:solidFill>
                  <a:srgbClr val="151A21"/>
                </a:solidFill>
                <a:latin typeface="Arial" pitchFamily="34" charset="0"/>
                <a:ea typeface="Malgun Gothic" pitchFamily="34" charset="-122"/>
                <a:cs typeface="Arial" pitchFamily="34" charset="-120"/>
              </a:rPr>
              <a:t>화재감지기, 스프링클러 &amp; 24시간 보안팀</a:t>
            </a:r>
            <a:endParaRPr lang="en-US" sz="1700" dirty="0"/>
          </a:p>
        </p:txBody>
      </p:sp>
      <p:sp>
        <p:nvSpPr>
          <p:cNvPr id="22" name="Text 14"/>
          <p:cNvSpPr txBox="1"/>
          <p:nvPr/>
        </p:nvSpPr>
        <p:spPr>
          <a:xfrm>
            <a:off x="6888175" y="2880360"/>
            <a:ext cx="44348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5E6978"/>
                </a:solidFill>
                <a:latin typeface="Calibri" pitchFamily="34" charset="0"/>
                <a:ea typeface="Malgun Gothic" pitchFamily="34" charset="-122"/>
                <a:cs typeface="Calibri" pitchFamily="34" charset="-120"/>
              </a:rPr>
              <a:t>모든 PC의 센서가 위험을 즉시 포착해 자동으로 막고, 24시간 대기 중인 전문가에게 바로 알립니다.</a:t>
            </a:r>
          </a:p>
        </p:txBody>
      </p:sp>
      <p:pic>
        <p:nvPicPr>
          <p:cNvPr id="23" name="Image 6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888175" y="4023360"/>
            <a:ext cx="182880" cy="182880"/>
          </a:xfrm>
          <a:prstGeom prst="rect">
            <a:avLst/>
          </a:prstGeom>
        </p:spPr>
      </p:pic>
      <p:sp>
        <p:nvSpPr>
          <p:cNvPr id="24" name="Text 15"/>
          <p:cNvSpPr txBox="1"/>
          <p:nvPr/>
        </p:nvSpPr>
        <p:spPr>
          <a:xfrm>
            <a:off x="7208215" y="3977640"/>
            <a:ext cx="4160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51A21"/>
                </a:solidFill>
                <a:latin typeface="Calibri" pitchFamily="34" charset="0"/>
                <a:ea typeface="Malgun Gothic" pitchFamily="34" charset="-122"/>
                <a:cs typeface="Calibri" pitchFamily="34" charset="-120"/>
              </a:rPr>
              <a:t>위협 즉시 탐지</a:t>
            </a:r>
            <a:endParaRPr lang="en-US" sz="1250" dirty="0"/>
          </a:p>
        </p:txBody>
      </p:sp>
      <p:pic>
        <p:nvPicPr>
          <p:cNvPr id="25" name="Image 7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888175" y="4389120"/>
            <a:ext cx="182880" cy="182880"/>
          </a:xfrm>
          <a:prstGeom prst="rect">
            <a:avLst/>
          </a:prstGeom>
        </p:spPr>
      </p:pic>
      <p:sp>
        <p:nvSpPr>
          <p:cNvPr id="26" name="Text 16"/>
          <p:cNvSpPr txBox="1"/>
          <p:nvPr/>
        </p:nvSpPr>
        <p:spPr>
          <a:xfrm>
            <a:off x="7208215" y="4343400"/>
            <a:ext cx="4160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51A21"/>
                </a:solidFill>
                <a:latin typeface="Calibri" pitchFamily="34" charset="0"/>
                <a:ea typeface="Malgun Gothic" pitchFamily="34" charset="-122"/>
                <a:cs typeface="Calibri" pitchFamily="34" charset="-120"/>
              </a:rPr>
              <a:t>공격 자동 차단</a:t>
            </a:r>
            <a:endParaRPr lang="en-US" sz="1250" dirty="0"/>
          </a:p>
        </p:txBody>
      </p:sp>
      <p:pic>
        <p:nvPicPr>
          <p:cNvPr id="27" name="Image 8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888175" y="4754880"/>
            <a:ext cx="182880" cy="182880"/>
          </a:xfrm>
          <a:prstGeom prst="rect">
            <a:avLst/>
          </a:prstGeom>
        </p:spPr>
      </p:pic>
      <p:sp>
        <p:nvSpPr>
          <p:cNvPr id="28" name="Text 17"/>
          <p:cNvSpPr txBox="1"/>
          <p:nvPr/>
        </p:nvSpPr>
        <p:spPr>
          <a:xfrm>
            <a:off x="7208215" y="4709160"/>
            <a:ext cx="4160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51A21"/>
                </a:solidFill>
                <a:latin typeface="Calibri" pitchFamily="34" charset="0"/>
                <a:ea typeface="Malgun Gothic" pitchFamily="34" charset="-122"/>
                <a:cs typeface="Calibri" pitchFamily="34" charset="-120"/>
              </a:rPr>
              <a:t>전문가 24시간 대응</a:t>
            </a:r>
            <a:endParaRPr lang="en-US" sz="1250" dirty="0"/>
          </a:p>
        </p:txBody>
      </p:sp>
      <p:sp>
        <p:nvSpPr>
          <p:cNvPr id="29" name="Shape 18"/>
          <p:cNvSpPr/>
          <p:nvPr/>
        </p:nvSpPr>
        <p:spPr>
          <a:xfrm>
            <a:off x="5775808" y="3040380"/>
            <a:ext cx="640080" cy="640080"/>
          </a:xfrm>
          <a:prstGeom prst="ellipse">
            <a:avLst/>
          </a:prstGeom>
          <a:solidFill>
            <a:srgbClr val="0B0D12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30" name="Text 19"/>
          <p:cNvSpPr txBox="1"/>
          <p:nvPr/>
        </p:nvSpPr>
        <p:spPr>
          <a:xfrm>
            <a:off x="5775808" y="30403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Malgun Gothic" pitchFamily="34" charset="-122"/>
                <a:cs typeface="Arial" pitchFamily="34" charset="-120"/>
              </a:rPr>
              <a:t>VS</a:t>
            </a:r>
            <a:endParaRPr lang="en-US" sz="1500" dirty="0"/>
          </a:p>
        </p:txBody>
      </p:sp>
      <p:sp>
        <p:nvSpPr>
          <p:cNvPr id="42" name="Text 31"/>
          <p:cNvSpPr txBox="1"/>
          <p:nvPr/>
        </p:nvSpPr>
        <p:spPr>
          <a:xfrm>
            <a:off x="548640" y="544068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5D6B7E"/>
                </a:solidFill>
                <a:latin typeface="Calibri" pitchFamily="34" charset="0"/>
                <a:ea typeface="Malgun Gothic" pitchFamily="34" charset="-122"/>
                <a:cs typeface="Calibri" pitchFamily="34" charset="-120"/>
              </a:rPr>
              <a:t>Nessus</a:t>
            </a:r>
            <a:r>
              <a:rPr lang="en-US" sz="1600" dirty="0">
                <a:solidFill>
                  <a:srgbClr val="5E6978"/>
                </a:solidFill>
                <a:latin typeface="Calibri" pitchFamily="34" charset="0"/>
                <a:ea typeface="Malgun Gothic" pitchFamily="34" charset="-122"/>
                <a:cs typeface="Calibri" pitchFamily="34" charset="-120"/>
              </a:rPr>
              <a:t>는 무엇이 문제인지 알려만주고,  </a:t>
            </a:r>
            <a:r>
              <a:rPr lang="en-US" sz="1600" b="1" dirty="0">
                <a:solidFill>
                  <a:srgbClr val="E3202A"/>
                </a:solidFill>
                <a:latin typeface="Calibri" pitchFamily="34" charset="0"/>
                <a:ea typeface="Malgun Gothic" pitchFamily="34" charset="-122"/>
                <a:cs typeface="Calibri" pitchFamily="34" charset="-120"/>
              </a:rPr>
              <a:t>Falcon</a:t>
            </a:r>
            <a:r>
              <a:rPr lang="en-US" sz="1600" dirty="0">
                <a:solidFill>
                  <a:srgbClr val="5E6978"/>
                </a:solidFill>
                <a:latin typeface="Calibri" pitchFamily="34" charset="0"/>
                <a:ea typeface="Malgun Gothic" pitchFamily="34" charset="-122"/>
                <a:cs typeface="Calibri" pitchFamily="34" charset="-120"/>
              </a:rPr>
              <a:t>은 24시간 공격을 막아냅니다.</a:t>
            </a:r>
            <a:endParaRPr lang="en-US" sz="1600" dirty="0"/>
          </a:p>
        </p:txBody>
      </p:sp>
      <p:sp>
        <p:nvSpPr>
          <p:cNvPr id="43" name="Text 32"/>
          <p:cNvSpPr txBox="1"/>
          <p:nvPr/>
        </p:nvSpPr>
        <p:spPr>
          <a:xfrm>
            <a:off x="548640" y="6446520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E6978"/>
                </a:solidFill>
                <a:latin typeface="Calibri" pitchFamily="34" charset="0"/>
                <a:ea typeface="Malgun Gothic" pitchFamily="34" charset="-122"/>
                <a:cs typeface="Calibri" pitchFamily="34" charset="-120"/>
              </a:rPr>
              <a:t>04   |   CrowdStrike Falcon 제안서  ·  웨스틴 리조트 괌</a:t>
            </a:r>
            <a:endParaRPr lang="en-US" sz="900" dirty="0"/>
          </a:p>
        </p:txBody>
      </p:sp>
      <p:pic>
        <p:nvPicPr>
          <p:cNvPr id="44" name="Image 9" descr="/private/tmp/claude-501/-Users-jihanvin-Desktop-NIVNAH-AI/16a96446-d9b3-40e2-af9e-a3011ae3db84/scratchpad/assets/secukorea_dark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661904" y="6400800"/>
            <a:ext cx="978408" cy="233172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E3202A"/>
                </a:solidFill>
                <a:latin typeface="Arial" pitchFamily="34" charset="0"/>
                <a:ea typeface="Malgun Gothic" pitchFamily="34" charset="-122"/>
                <a:cs typeface="Arial" pitchFamily="34" charset="-120"/>
              </a:rPr>
              <a:t>04   기능 비교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9692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51A21"/>
                </a:solidFill>
                <a:latin typeface="Arial" pitchFamily="34" charset="0"/>
                <a:ea typeface="Malgun Gothic" pitchFamily="34" charset="-122"/>
                <a:cs typeface="Arial" pitchFamily="34" charset="-120"/>
              </a:rPr>
              <a:t>한눈에 비교: Nessus vs. CrowdStrike Falcon</a:t>
            </a:r>
            <a:endParaRPr lang="en-US" sz="2800" dirty="0"/>
          </a:p>
        </p:txBody>
      </p:sp>
      <p:pic>
        <p:nvPicPr>
          <p:cNvPr id="4" name="Image 0" descr="/private/tmp/claude-501/-Users-jihanvin-Desktop-NIVNAH-AI/16a96446-d9b3-40e2-af9e-a3011ae3db84/scratchpad/assets/westin_gre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34472" y="402336"/>
            <a:ext cx="1005840" cy="301752"/>
          </a:xfrm>
          <a:prstGeom prst="rect">
            <a:avLst/>
          </a:prstGeom>
        </p:spPr>
      </p:pic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81328"/>
          <a:ext cx="11094415" cy="4526277"/>
        </p:xfrm>
        <a:graphic>
          <a:graphicData uri="http://schemas.openxmlformats.org/drawingml/2006/table">
            <a:tbl>
              <a:tblPr/>
              <a:tblGrid>
                <a:gridCol w="2743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6118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73933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646611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Malgun Gothic" pitchFamily="34" charset="-122"/>
                          <a:cs typeface="Arial" pitchFamily="34" charset="-120"/>
                        </a:rPr>
                        <a:t> </a:t>
                      </a:r>
                      <a:endParaRPr lang="en-US" sz="1450" dirty="0">
                        <a:latin typeface="Arial" charset="0"/>
                        <a:ea typeface="Malgun Gothic" charset="0"/>
                        <a:cs typeface="Arial" charset="0"/>
                      </a:endParaRPr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D1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Malgun Gothic" pitchFamily="34" charset="-122"/>
                          <a:cs typeface="Arial" pitchFamily="34" charset="-120"/>
                        </a:rPr>
                        <a:t>Nessus</a:t>
                      </a:r>
                      <a:endParaRPr lang="en-US" sz="1450" dirty="0">
                        <a:latin typeface="Arial" charset="0"/>
                        <a:ea typeface="Malgun Gothic" charset="0"/>
                        <a:cs typeface="Arial" charset="0"/>
                      </a:endParaRPr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6B7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Malgun Gothic" pitchFamily="34" charset="-122"/>
                          <a:cs typeface="Arial" pitchFamily="34" charset="-120"/>
                        </a:rPr>
                        <a:t>CrowdStrike Falcon</a:t>
                      </a:r>
                      <a:endParaRPr lang="en-US" sz="1450" dirty="0">
                        <a:latin typeface="Arial" charset="0"/>
                        <a:ea typeface="Malgun Gothic" charset="0"/>
                        <a:cs typeface="Arial" charset="0"/>
                      </a:endParaRPr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20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46611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151A21"/>
                          </a:solidFill>
                          <a:latin typeface="Calibri" pitchFamily="34" charset="0"/>
                          <a:ea typeface="Malgun Gothic" pitchFamily="34" charset="-122"/>
                          <a:cs typeface="Calibri" pitchFamily="34" charset="-120"/>
                        </a:rPr>
                        <a:t>하는 일</a:t>
                      </a:r>
                      <a:endParaRPr lang="en-US" sz="1400" dirty="0">
                        <a:latin typeface="Calibri" charset="0"/>
                        <a:ea typeface="Malgun Gothic" charset="0"/>
                        <a:cs typeface="Calibri" charset="0"/>
                      </a:endParaRPr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5D6B7E"/>
                          </a:solidFill>
                          <a:latin typeface="Calibri" pitchFamily="34" charset="0"/>
                          <a:ea typeface="Malgun Gothic" pitchFamily="34" charset="-122"/>
                          <a:cs typeface="Calibri" pitchFamily="34" charset="-120"/>
                        </a:rPr>
                        <a:t>취약점을 찾아 보고</a:t>
                      </a:r>
                      <a:endParaRPr lang="en-US" sz="1400" dirty="0">
                        <a:latin typeface="Calibri" charset="0"/>
                        <a:ea typeface="Malgun Gothic" charset="0"/>
                        <a:cs typeface="Calibri" charset="0"/>
                      </a:endParaRPr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E3202A"/>
                          </a:solidFill>
                          <a:latin typeface="Calibri" pitchFamily="34" charset="0"/>
                          <a:ea typeface="Malgun Gothic" pitchFamily="34" charset="-122"/>
                          <a:cs typeface="Calibri" pitchFamily="34" charset="-120"/>
                        </a:rPr>
                        <a:t>공격 차단</a:t>
                      </a:r>
                      <a:r>
                        <a:rPr lang="en-US" sz="1400" dirty="0">
                          <a:solidFill>
                            <a:srgbClr val="151A21"/>
                          </a:solidFill>
                          <a:latin typeface="Calibri" pitchFamily="34" charset="0"/>
                          <a:ea typeface="Malgun Gothic" pitchFamily="34" charset="-122"/>
                          <a:cs typeface="Calibri" pitchFamily="34" charset="-120"/>
                        </a:rPr>
                        <a:t>  — 모든 PC와 서버에서</a:t>
                      </a:r>
                      <a:endParaRPr lang="en-US" sz="1400" dirty="0">
                        <a:latin typeface="Calibri" charset="0"/>
                        <a:ea typeface="Malgun Gothic" charset="0"/>
                        <a:cs typeface="Calibri" charset="0"/>
                      </a:endParaRPr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46611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151A21"/>
                          </a:solidFill>
                          <a:latin typeface="Calibri" pitchFamily="34" charset="0"/>
                          <a:ea typeface="Malgun Gothic" pitchFamily="34" charset="-122"/>
                          <a:cs typeface="Calibri" pitchFamily="34" charset="-120"/>
                        </a:rPr>
                        <a:t>보호 시점</a:t>
                      </a:r>
                      <a:endParaRPr lang="en-US" sz="1400" dirty="0">
                        <a:latin typeface="Calibri" charset="0"/>
                        <a:ea typeface="Malgun Gothic" charset="0"/>
                        <a:cs typeface="Calibri" charset="0"/>
                      </a:endParaRPr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5D6B7E"/>
                          </a:solidFill>
                          <a:latin typeface="Calibri" pitchFamily="34" charset="0"/>
                          <a:ea typeface="Malgun Gothic" pitchFamily="34" charset="-122"/>
                          <a:cs typeface="Calibri" pitchFamily="34" charset="-120"/>
                        </a:rPr>
                        <a:t>정해진 스캔 날에만</a:t>
                      </a:r>
                      <a:endParaRPr lang="en-US" sz="1400" dirty="0">
                        <a:latin typeface="Calibri" charset="0"/>
                        <a:ea typeface="Malgun Gothic" charset="0"/>
                        <a:cs typeface="Calibri" charset="0"/>
                      </a:endParaRPr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E3202A"/>
                          </a:solidFill>
                          <a:latin typeface="Calibri" pitchFamily="34" charset="0"/>
                          <a:ea typeface="Malgun Gothic" pitchFamily="34" charset="-122"/>
                          <a:cs typeface="Calibri" pitchFamily="34" charset="-120"/>
                        </a:rPr>
                        <a:t>매 순간</a:t>
                      </a:r>
                      <a:r>
                        <a:rPr lang="en-US" sz="1400" dirty="0">
                          <a:solidFill>
                            <a:srgbClr val="151A21"/>
                          </a:solidFill>
                          <a:latin typeface="Calibri" pitchFamily="34" charset="0"/>
                          <a:ea typeface="Malgun Gothic" pitchFamily="34" charset="-122"/>
                          <a:cs typeface="Calibri" pitchFamily="34" charset="-120"/>
                        </a:rPr>
                        <a:t>  — 연중무휴 24시간</a:t>
                      </a:r>
                      <a:endParaRPr lang="en-US" sz="1400" dirty="0">
                        <a:latin typeface="Calibri" charset="0"/>
                        <a:ea typeface="Malgun Gothic" charset="0"/>
                        <a:cs typeface="Calibri" charset="0"/>
                      </a:endParaRPr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46611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151A21"/>
                          </a:solidFill>
                          <a:latin typeface="Calibri" pitchFamily="34" charset="0"/>
                          <a:ea typeface="Malgun Gothic" pitchFamily="34" charset="-122"/>
                          <a:cs typeface="Calibri" pitchFamily="34" charset="-120"/>
                        </a:rPr>
                        <a:t>바이러스·랜섬웨어</a:t>
                      </a:r>
                      <a:endParaRPr lang="en-US" sz="1400" dirty="0">
                        <a:latin typeface="Calibri" charset="0"/>
                        <a:ea typeface="Malgun Gothic" charset="0"/>
                        <a:cs typeface="Calibri" charset="0"/>
                      </a:endParaRPr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5D6B7E"/>
                          </a:solidFill>
                          <a:latin typeface="Calibri" pitchFamily="34" charset="0"/>
                          <a:ea typeface="Malgun Gothic" pitchFamily="34" charset="-122"/>
                          <a:cs typeface="Calibri" pitchFamily="34" charset="-120"/>
                        </a:rPr>
                        <a:t>차단 불가</a:t>
                      </a:r>
                      <a:endParaRPr lang="en-US" sz="1400" dirty="0">
                        <a:latin typeface="Calibri" charset="0"/>
                        <a:ea typeface="Malgun Gothic" charset="0"/>
                        <a:cs typeface="Calibri" charset="0"/>
                      </a:endParaRPr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E3202A"/>
                          </a:solidFill>
                          <a:latin typeface="Calibri" pitchFamily="34" charset="0"/>
                          <a:ea typeface="Malgun Gothic" pitchFamily="34" charset="-122"/>
                          <a:cs typeface="Calibri" pitchFamily="34" charset="-120"/>
                        </a:rPr>
                        <a:t>자동 차단</a:t>
                      </a:r>
                      <a:r>
                        <a:rPr lang="en-US" sz="1400" dirty="0">
                          <a:solidFill>
                            <a:srgbClr val="151A21"/>
                          </a:solidFill>
                          <a:latin typeface="Calibri" pitchFamily="34" charset="0"/>
                          <a:ea typeface="Malgun Gothic" pitchFamily="34" charset="-122"/>
                          <a:cs typeface="Calibri" pitchFamily="34" charset="-120"/>
                        </a:rPr>
                        <a:t>  — 독립 테스트에서 랜섬웨어 100% 차단</a:t>
                      </a:r>
                      <a:endParaRPr lang="en-US" sz="1400" dirty="0">
                        <a:latin typeface="Calibri" charset="0"/>
                        <a:ea typeface="Malgun Gothic" charset="0"/>
                        <a:cs typeface="Calibri" charset="0"/>
                      </a:endParaRPr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46611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151A21"/>
                          </a:solidFill>
                          <a:latin typeface="Calibri" pitchFamily="34" charset="0"/>
                          <a:ea typeface="Malgun Gothic" pitchFamily="34" charset="-122"/>
                          <a:cs typeface="Calibri" pitchFamily="34" charset="-120"/>
                        </a:rPr>
                        <a:t>공격 발생 시</a:t>
                      </a:r>
                      <a:endParaRPr lang="en-US" sz="1400" dirty="0">
                        <a:latin typeface="Calibri" charset="0"/>
                        <a:ea typeface="Malgun Gothic" charset="0"/>
                        <a:cs typeface="Calibri" charset="0"/>
                      </a:endParaRPr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5D6B7E"/>
                          </a:solidFill>
                          <a:latin typeface="Calibri" pitchFamily="34" charset="0"/>
                          <a:ea typeface="Malgun Gothic" pitchFamily="34" charset="-122"/>
                          <a:cs typeface="Calibri" pitchFamily="34" charset="-120"/>
                        </a:rPr>
                        <a:t>알아채지 못함</a:t>
                      </a:r>
                      <a:endParaRPr lang="en-US" sz="1400" dirty="0">
                        <a:latin typeface="Calibri" charset="0"/>
                        <a:ea typeface="Malgun Gothic" charset="0"/>
                        <a:cs typeface="Calibri" charset="0"/>
                      </a:endParaRPr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E3202A"/>
                          </a:solidFill>
                          <a:latin typeface="Calibri" pitchFamily="34" charset="0"/>
                          <a:ea typeface="Malgun Gothic" pitchFamily="34" charset="-122"/>
                          <a:cs typeface="Calibri" pitchFamily="34" charset="-120"/>
                        </a:rPr>
                        <a:t>탐지 및 격리</a:t>
                      </a:r>
                      <a:r>
                        <a:rPr lang="en-US" sz="1400" dirty="0">
                          <a:solidFill>
                            <a:srgbClr val="151A21"/>
                          </a:solidFill>
                          <a:latin typeface="Calibri" pitchFamily="34" charset="0"/>
                          <a:ea typeface="Malgun Gothic" pitchFamily="34" charset="-122"/>
                          <a:cs typeface="Calibri" pitchFamily="34" charset="-120"/>
                        </a:rPr>
                        <a:t>  — 감염 PC를 클릭 한 번으로 격리</a:t>
                      </a:r>
                      <a:endParaRPr lang="en-US" sz="1400" dirty="0">
                        <a:latin typeface="Calibri" charset="0"/>
                        <a:ea typeface="Malgun Gothic" charset="0"/>
                        <a:cs typeface="Calibri" charset="0"/>
                      </a:endParaRPr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46611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151A21"/>
                          </a:solidFill>
                          <a:latin typeface="Calibri" pitchFamily="34" charset="0"/>
                          <a:ea typeface="Malgun Gothic" pitchFamily="34" charset="-122"/>
                          <a:cs typeface="Calibri" pitchFamily="34" charset="-120"/>
                        </a:rPr>
                        <a:t>전문가 지원</a:t>
                      </a:r>
                      <a:endParaRPr lang="en-US" sz="1400" dirty="0">
                        <a:latin typeface="Calibri" charset="0"/>
                        <a:ea typeface="Malgun Gothic" charset="0"/>
                        <a:cs typeface="Calibri" charset="0"/>
                      </a:endParaRPr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5D6B7E"/>
                          </a:solidFill>
                          <a:latin typeface="Calibri" pitchFamily="34" charset="0"/>
                          <a:ea typeface="Malgun Gothic" pitchFamily="34" charset="-122"/>
                          <a:cs typeface="Calibri" pitchFamily="34" charset="-120"/>
                        </a:rPr>
                        <a:t>미포함</a:t>
                      </a:r>
                      <a:endParaRPr lang="en-US" sz="1400" dirty="0">
                        <a:latin typeface="Calibri" charset="0"/>
                        <a:ea typeface="Malgun Gothic" charset="0"/>
                        <a:cs typeface="Calibri" charset="0"/>
                      </a:endParaRPr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E3202A"/>
                          </a:solidFill>
                          <a:latin typeface="Calibri" pitchFamily="34" charset="0"/>
                          <a:ea typeface="Malgun Gothic" pitchFamily="34" charset="-122"/>
                          <a:cs typeface="Calibri" pitchFamily="34" charset="-120"/>
                        </a:rPr>
                        <a:t>포함</a:t>
                      </a:r>
                      <a:r>
                        <a:rPr lang="en-US" sz="1400" dirty="0">
                          <a:solidFill>
                            <a:srgbClr val="151A21"/>
                          </a:solidFill>
                          <a:latin typeface="Calibri" pitchFamily="34" charset="0"/>
                          <a:ea typeface="Malgun Gothic" pitchFamily="34" charset="-122"/>
                          <a:cs typeface="Calibri" pitchFamily="34" charset="-120"/>
                        </a:rPr>
                        <a:t>  — 시큐코리아 24시간 지원, SK쉴더스 연계</a:t>
                      </a:r>
                      <a:endParaRPr lang="en-US" sz="1400" dirty="0">
                        <a:latin typeface="Calibri" charset="0"/>
                        <a:ea typeface="Malgun Gothic" charset="0"/>
                        <a:cs typeface="Calibri" charset="0"/>
                      </a:endParaRPr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646611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151A21"/>
                          </a:solidFill>
                          <a:latin typeface="Calibri" pitchFamily="34" charset="0"/>
                          <a:ea typeface="Malgun Gothic" pitchFamily="34" charset="-122"/>
                          <a:cs typeface="Calibri" pitchFamily="34" charset="-120"/>
                        </a:rPr>
                        <a:t>IT팀 업무 부담</a:t>
                      </a:r>
                      <a:endParaRPr lang="en-US" sz="1400" dirty="0">
                        <a:latin typeface="Calibri" charset="0"/>
                        <a:ea typeface="Malgun Gothic" charset="0"/>
                        <a:cs typeface="Calibri" charset="0"/>
                      </a:endParaRPr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5D6B7E"/>
                          </a:solidFill>
                          <a:latin typeface="Calibri" pitchFamily="34" charset="0"/>
                          <a:ea typeface="Malgun Gothic" pitchFamily="34" charset="-122"/>
                          <a:cs typeface="Calibri" pitchFamily="34" charset="-120"/>
                        </a:rPr>
                        <a:t>높음 — 모든 항목을 수작업으로 조치</a:t>
                      </a:r>
                      <a:endParaRPr lang="en-US" sz="1400" dirty="0">
                        <a:latin typeface="Calibri" charset="0"/>
                        <a:ea typeface="Malgun Gothic" charset="0"/>
                        <a:cs typeface="Calibri" charset="0"/>
                      </a:endParaRPr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E3202A"/>
                          </a:solidFill>
                          <a:latin typeface="Calibri" pitchFamily="34" charset="0"/>
                          <a:ea typeface="Malgun Gothic" pitchFamily="34" charset="-122"/>
                          <a:cs typeface="Calibri" pitchFamily="34" charset="-120"/>
                        </a:rPr>
                        <a:t>낮음</a:t>
                      </a:r>
                      <a:r>
                        <a:rPr lang="en-US" sz="1400" dirty="0">
                          <a:solidFill>
                            <a:srgbClr val="151A21"/>
                          </a:solidFill>
                          <a:latin typeface="Calibri" pitchFamily="34" charset="0"/>
                          <a:ea typeface="Malgun Gothic" pitchFamily="34" charset="-122"/>
                          <a:cs typeface="Calibri" pitchFamily="34" charset="-120"/>
                        </a:rPr>
                        <a:t>  — 보호가 자동으로 이뤄짐</a:t>
                      </a:r>
                      <a:endParaRPr lang="en-US" sz="1400" dirty="0">
                        <a:latin typeface="Calibri" charset="0"/>
                        <a:ea typeface="Malgun Gothic" charset="0"/>
                        <a:cs typeface="Calibri" charset="0"/>
                      </a:endParaRPr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sp>
        <p:nvSpPr>
          <p:cNvPr id="6" name="Text 2"/>
          <p:cNvSpPr txBox="1"/>
          <p:nvPr/>
        </p:nvSpPr>
        <p:spPr>
          <a:xfrm>
            <a:off x="548640" y="6446520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E6978"/>
                </a:solidFill>
                <a:latin typeface="Calibri" pitchFamily="34" charset="0"/>
                <a:ea typeface="Malgun Gothic" pitchFamily="34" charset="-122"/>
                <a:cs typeface="Calibri" pitchFamily="34" charset="-120"/>
              </a:rPr>
              <a:t>05   |   CrowdStrike Falcon 제안서  ·  웨스틴 리조트 괌</a:t>
            </a:r>
            <a:endParaRPr lang="en-US" sz="900" dirty="0"/>
          </a:p>
        </p:txBody>
      </p:sp>
      <p:pic>
        <p:nvPicPr>
          <p:cNvPr id="7" name="Image 1" descr="/private/tmp/claude-501/-Users-jihanvin-Desktop-NIVNAH-AI/16a96446-d9b3-40e2-af9e-a3011ae3db84/scratchpad/assets/secukorea_dar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661904" y="6400800"/>
            <a:ext cx="978408" cy="233172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E3202A"/>
                </a:solidFill>
                <a:latin typeface="Arial" pitchFamily="34" charset="0"/>
                <a:ea typeface="Malgun Gothic" pitchFamily="34" charset="-122"/>
                <a:cs typeface="Arial" pitchFamily="34" charset="-120"/>
              </a:rPr>
              <a:t>05   기대 효과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9692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51A21"/>
                </a:solidFill>
                <a:latin typeface="Arial" pitchFamily="34" charset="0"/>
                <a:ea typeface="Malgun Gothic" pitchFamily="34" charset="-122"/>
                <a:cs typeface="Arial" pitchFamily="34" charset="-120"/>
              </a:rPr>
              <a:t>무방비 상태에서 상시 보호로</a:t>
            </a:r>
            <a:endParaRPr lang="en-US" sz="2800" dirty="0"/>
          </a:p>
        </p:txBody>
      </p:sp>
      <p:pic>
        <p:nvPicPr>
          <p:cNvPr id="4" name="Image 0" descr="/private/tmp/claude-501/-Users-jihanvin-Desktop-NIVNAH-AI/16a96446-d9b3-40e2-af9e-a3011ae3db84/scratchpad/assets/westin_gre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34472" y="402336"/>
            <a:ext cx="1005840" cy="301752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48640" y="1554480"/>
            <a:ext cx="4892040" cy="2788920"/>
          </a:xfrm>
          <a:prstGeom prst="roundRect">
            <a:avLst>
              <a:gd name="adj" fmla="val 3279"/>
            </a:avLst>
          </a:prstGeom>
          <a:solidFill>
            <a:srgbClr val="EAEEF3"/>
          </a:solidFill>
          <a:ln w="12700">
            <a:solidFill>
              <a:srgbClr val="EAEEF3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68680" y="1783080"/>
            <a:ext cx="4251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5D6B7E"/>
                </a:solidFill>
                <a:latin typeface="Calibri" pitchFamily="34" charset="0"/>
                <a:ea typeface="Malgun Gothic" pitchFamily="34" charset="-122"/>
                <a:cs typeface="Calibri" pitchFamily="34" charset="-120"/>
              </a:rPr>
              <a:t>현재  ·  엔드포인트 보안 없음</a:t>
            </a:r>
            <a:endParaRPr lang="en-US" sz="1100" dirty="0"/>
          </a:p>
        </p:txBody>
      </p:sp>
      <p:pic>
        <p:nvPicPr>
          <p:cNvPr id="7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2240280"/>
            <a:ext cx="201168" cy="20116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207008" y="2194560"/>
            <a:ext cx="3977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51A21"/>
                </a:solidFill>
                <a:latin typeface="Calibri" pitchFamily="34" charset="0"/>
                <a:ea typeface="Malgun Gothic" pitchFamily="34" charset="-122"/>
                <a:cs typeface="Calibri" pitchFamily="34" charset="-120"/>
              </a:rPr>
              <a:t>악성코드·랜섬웨어 방어 없음</a:t>
            </a:r>
            <a:endParaRPr lang="en-US" sz="1250" dirty="0"/>
          </a:p>
        </p:txBody>
      </p:sp>
      <p:pic>
        <p:nvPicPr>
          <p:cNvPr id="9" name="Image 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2642616"/>
            <a:ext cx="201168" cy="201168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1207008" y="2596896"/>
            <a:ext cx="3977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51A21"/>
                </a:solidFill>
                <a:latin typeface="Calibri" pitchFamily="34" charset="0"/>
                <a:ea typeface="Malgun Gothic" pitchFamily="34" charset="-122"/>
                <a:cs typeface="Calibri" pitchFamily="34" charset="-120"/>
              </a:rPr>
              <a:t>PC에서 무슨 일이 일어나는지 알 수 없음</a:t>
            </a:r>
            <a:endParaRPr lang="en-US" sz="1250" dirty="0"/>
          </a:p>
        </p:txBody>
      </p:sp>
      <p:pic>
        <p:nvPicPr>
          <p:cNvPr id="11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3044952"/>
            <a:ext cx="201168" cy="201168"/>
          </a:xfrm>
          <a:prstGeom prst="rect">
            <a:avLst/>
          </a:prstGeom>
        </p:spPr>
      </p:pic>
      <p:sp>
        <p:nvSpPr>
          <p:cNvPr id="12" name="Text 6"/>
          <p:cNvSpPr txBox="1"/>
          <p:nvPr/>
        </p:nvSpPr>
        <p:spPr>
          <a:xfrm>
            <a:off x="1207008" y="2999232"/>
            <a:ext cx="3977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51A21"/>
                </a:solidFill>
                <a:latin typeface="Calibri" pitchFamily="34" charset="0"/>
                <a:ea typeface="Malgun Gothic" pitchFamily="34" charset="-122"/>
                <a:cs typeface="Calibri" pitchFamily="34" charset="-120"/>
              </a:rPr>
              <a:t>사고 발생 시 건별 수작업 대응</a:t>
            </a:r>
            <a:endParaRPr lang="en-US" sz="1250" dirty="0"/>
          </a:p>
        </p:txBody>
      </p:sp>
      <p:pic>
        <p:nvPicPr>
          <p:cNvPr id="13" name="Image 4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3447288"/>
            <a:ext cx="201168" cy="201168"/>
          </a:xfrm>
          <a:prstGeom prst="rect">
            <a:avLst/>
          </a:prstGeom>
        </p:spPr>
      </p:pic>
      <p:sp>
        <p:nvSpPr>
          <p:cNvPr id="14" name="Text 7"/>
          <p:cNvSpPr txBox="1"/>
          <p:nvPr/>
        </p:nvSpPr>
        <p:spPr>
          <a:xfrm>
            <a:off x="1207008" y="3401568"/>
            <a:ext cx="3977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51A21"/>
                </a:solidFill>
                <a:latin typeface="Calibri" pitchFamily="34" charset="0"/>
                <a:ea typeface="Malgun Gothic" pitchFamily="34" charset="-122"/>
                <a:cs typeface="Calibri" pitchFamily="34" charset="-120"/>
              </a:rPr>
              <a:t>진행 중인 공격을 막을 방법 없음</a:t>
            </a:r>
            <a:endParaRPr lang="en-US" sz="1250" dirty="0"/>
          </a:p>
        </p:txBody>
      </p:sp>
      <p:pic>
        <p:nvPicPr>
          <p:cNvPr id="15" name="Image 5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3849624"/>
            <a:ext cx="201168" cy="201168"/>
          </a:xfrm>
          <a:prstGeom prst="rect">
            <a:avLst/>
          </a:prstGeom>
        </p:spPr>
      </p:pic>
      <p:sp>
        <p:nvSpPr>
          <p:cNvPr id="16" name="Text 8"/>
          <p:cNvSpPr txBox="1"/>
          <p:nvPr/>
        </p:nvSpPr>
        <p:spPr>
          <a:xfrm>
            <a:off x="1207008" y="3803904"/>
            <a:ext cx="3977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51A21"/>
                </a:solidFill>
                <a:latin typeface="Calibri" pitchFamily="34" charset="0"/>
                <a:ea typeface="Malgun Gothic" pitchFamily="34" charset="-122"/>
                <a:cs typeface="Calibri" pitchFamily="34" charset="-120"/>
              </a:rPr>
              <a:t>경영진이 보안 현황을 파악하기 어려움</a:t>
            </a:r>
            <a:endParaRPr lang="en-US" sz="1250" dirty="0"/>
          </a:p>
        </p:txBody>
      </p:sp>
      <p:pic>
        <p:nvPicPr>
          <p:cNvPr id="17" name="Image 6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21528" y="2674620"/>
            <a:ext cx="548640" cy="548640"/>
          </a:xfrm>
          <a:prstGeom prst="rect">
            <a:avLst/>
          </a:prstGeom>
        </p:spPr>
      </p:pic>
      <p:sp>
        <p:nvSpPr>
          <p:cNvPr id="18" name="Shape 9"/>
          <p:cNvSpPr/>
          <p:nvPr/>
        </p:nvSpPr>
        <p:spPr>
          <a:xfrm>
            <a:off x="6751015" y="1554480"/>
            <a:ext cx="4892040" cy="2788920"/>
          </a:xfrm>
          <a:prstGeom prst="roundRect">
            <a:avLst>
              <a:gd name="adj" fmla="val 3279"/>
            </a:avLst>
          </a:prstGeom>
          <a:solidFill>
            <a:srgbClr val="0B0D12"/>
          </a:solidFill>
          <a:ln w="12700">
            <a:solidFill>
              <a:srgbClr val="0B0D12"/>
            </a:solidFill>
            <a:prstDash val="solid"/>
          </a:ln>
        </p:spPr>
      </p:sp>
      <p:sp>
        <p:nvSpPr>
          <p:cNvPr id="19" name="Text 10"/>
          <p:cNvSpPr txBox="1"/>
          <p:nvPr/>
        </p:nvSpPr>
        <p:spPr>
          <a:xfrm>
            <a:off x="7071055" y="1783080"/>
            <a:ext cx="4251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E3202A"/>
                </a:solidFill>
                <a:latin typeface="Calibri" pitchFamily="34" charset="0"/>
                <a:ea typeface="Malgun Gothic" pitchFamily="34" charset="-122"/>
                <a:cs typeface="Calibri" pitchFamily="34" charset="-120"/>
              </a:rPr>
              <a:t>도입 후  ·  CROWDSTRIKE FALCON</a:t>
            </a:r>
            <a:endParaRPr lang="en-US" sz="1100" dirty="0"/>
          </a:p>
        </p:txBody>
      </p:sp>
      <p:pic>
        <p:nvPicPr>
          <p:cNvPr id="20" name="Image 7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071055" y="2240280"/>
            <a:ext cx="201168" cy="201168"/>
          </a:xfrm>
          <a:prstGeom prst="rect">
            <a:avLst/>
          </a:prstGeom>
        </p:spPr>
      </p:pic>
      <p:sp>
        <p:nvSpPr>
          <p:cNvPr id="21" name="Text 11"/>
          <p:cNvSpPr txBox="1"/>
          <p:nvPr/>
        </p:nvSpPr>
        <p:spPr>
          <a:xfrm>
            <a:off x="7409383" y="2194560"/>
            <a:ext cx="3977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Malgun Gothic" pitchFamily="34" charset="-122"/>
                <a:cs typeface="Calibri" pitchFamily="34" charset="-120"/>
              </a:rPr>
              <a:t>모든 PC·서버 실시간 차단</a:t>
            </a:r>
            <a:endParaRPr lang="en-US" sz="1250" dirty="0"/>
          </a:p>
        </p:txBody>
      </p:sp>
      <p:pic>
        <p:nvPicPr>
          <p:cNvPr id="22" name="Image 8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071055" y="2642616"/>
            <a:ext cx="201168" cy="201168"/>
          </a:xfrm>
          <a:prstGeom prst="rect">
            <a:avLst/>
          </a:prstGeom>
        </p:spPr>
      </p:pic>
      <p:sp>
        <p:nvSpPr>
          <p:cNvPr id="23" name="Text 12"/>
          <p:cNvSpPr txBox="1"/>
          <p:nvPr/>
        </p:nvSpPr>
        <p:spPr>
          <a:xfrm>
            <a:off x="7409383" y="2596896"/>
            <a:ext cx="3977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Malgun Gothic" pitchFamily="34" charset="-122"/>
                <a:cs typeface="Calibri" pitchFamily="34" charset="-120"/>
              </a:rPr>
              <a:t>24시간 상시 모니터링</a:t>
            </a:r>
            <a:endParaRPr lang="en-US" sz="1250" dirty="0"/>
          </a:p>
        </p:txBody>
      </p:sp>
      <p:pic>
        <p:nvPicPr>
          <p:cNvPr id="24" name="Image 9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071055" y="3044952"/>
            <a:ext cx="201168" cy="201168"/>
          </a:xfrm>
          <a:prstGeom prst="rect">
            <a:avLst/>
          </a:prstGeom>
        </p:spPr>
      </p:pic>
      <p:sp>
        <p:nvSpPr>
          <p:cNvPr id="25" name="Text 13"/>
          <p:cNvSpPr txBox="1"/>
          <p:nvPr/>
        </p:nvSpPr>
        <p:spPr>
          <a:xfrm>
            <a:off x="7409383" y="2999232"/>
            <a:ext cx="3977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Malgun Gothic" pitchFamily="34" charset="-122"/>
                <a:cs typeface="Calibri" pitchFamily="34" charset="-120"/>
              </a:rPr>
              <a:t>자동 격리 및 대응</a:t>
            </a:r>
            <a:endParaRPr lang="en-US" sz="1250" dirty="0"/>
          </a:p>
        </p:txBody>
      </p:sp>
      <p:pic>
        <p:nvPicPr>
          <p:cNvPr id="26" name="Image 10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071055" y="3447288"/>
            <a:ext cx="201168" cy="201168"/>
          </a:xfrm>
          <a:prstGeom prst="rect">
            <a:avLst/>
          </a:prstGeom>
        </p:spPr>
      </p:pic>
      <p:sp>
        <p:nvSpPr>
          <p:cNvPr id="27" name="Text 14"/>
          <p:cNvSpPr txBox="1"/>
          <p:nvPr/>
        </p:nvSpPr>
        <p:spPr>
          <a:xfrm>
            <a:off x="7409383" y="3401568"/>
            <a:ext cx="3977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Malgun Gothic" pitchFamily="34" charset="-122"/>
                <a:cs typeface="Calibri" pitchFamily="34" charset="-120"/>
              </a:rPr>
              <a:t>검증된 랜섬웨어 보호</a:t>
            </a:r>
            <a:endParaRPr lang="en-US" sz="1250" dirty="0"/>
          </a:p>
        </p:txBody>
      </p:sp>
      <p:pic>
        <p:nvPicPr>
          <p:cNvPr id="28" name="Image 11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071055" y="3849624"/>
            <a:ext cx="201168" cy="201168"/>
          </a:xfrm>
          <a:prstGeom prst="rect">
            <a:avLst/>
          </a:prstGeom>
        </p:spPr>
      </p:pic>
      <p:sp>
        <p:nvSpPr>
          <p:cNvPr id="29" name="Text 15"/>
          <p:cNvSpPr txBox="1"/>
          <p:nvPr/>
        </p:nvSpPr>
        <p:spPr>
          <a:xfrm>
            <a:off x="7409383" y="3803904"/>
            <a:ext cx="3977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Malgun Gothic" pitchFamily="34" charset="-122"/>
                <a:cs typeface="Calibri" pitchFamily="34" charset="-120"/>
              </a:rPr>
              <a:t>한눈에 보는 대시보드와 경영진 보고</a:t>
            </a:r>
            <a:endParaRPr lang="en-US" sz="1250" dirty="0"/>
          </a:p>
        </p:txBody>
      </p:sp>
      <p:sp>
        <p:nvSpPr>
          <p:cNvPr id="30" name="Shape 16"/>
          <p:cNvSpPr/>
          <p:nvPr/>
        </p:nvSpPr>
        <p:spPr>
          <a:xfrm>
            <a:off x="548640" y="4617720"/>
            <a:ext cx="2567864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9525">
            <a:solidFill>
              <a:srgbClr val="DCE1E7"/>
            </a:solidFill>
            <a:prstDash val="solid"/>
          </a:ln>
          <a:effectLst>
            <a:outerShdw blurRad="101600" dist="25400" dir="5400000" algn="bl" rotWithShape="0">
              <a:srgbClr val="000000">
                <a:alpha val="10000"/>
              </a:srgbClr>
            </a:outerShdw>
          </a:effectLst>
        </p:spPr>
      </p:sp>
      <p:sp>
        <p:nvSpPr>
          <p:cNvPr id="31" name="Shape 17"/>
          <p:cNvSpPr/>
          <p:nvPr/>
        </p:nvSpPr>
        <p:spPr>
          <a:xfrm>
            <a:off x="777240" y="484632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DECEC"/>
          </a:solidFill>
          <a:ln w="12700">
            <a:solidFill>
              <a:srgbClr val="FDECEC"/>
            </a:solidFill>
            <a:prstDash val="solid"/>
          </a:ln>
        </p:spPr>
      </p:sp>
      <p:pic>
        <p:nvPicPr>
          <p:cNvPr id="32" name="Image 12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77824" y="4946904"/>
            <a:ext cx="256032" cy="256032"/>
          </a:xfrm>
          <a:prstGeom prst="rect">
            <a:avLst/>
          </a:prstGeom>
        </p:spPr>
      </p:pic>
      <p:sp>
        <p:nvSpPr>
          <p:cNvPr id="33" name="Text 18"/>
          <p:cNvSpPr txBox="1"/>
          <p:nvPr/>
        </p:nvSpPr>
        <p:spPr>
          <a:xfrm>
            <a:off x="1371600" y="4846320"/>
            <a:ext cx="16077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51A21"/>
                </a:solidFill>
                <a:latin typeface="Arial" pitchFamily="34" charset="0"/>
                <a:ea typeface="Malgun Gothic" pitchFamily="34" charset="-122"/>
                <a:cs typeface="Arial" pitchFamily="34" charset="-120"/>
              </a:rPr>
              <a:t>고객 신뢰 보호</a:t>
            </a:r>
            <a:endParaRPr lang="en-US" sz="1300" dirty="0"/>
          </a:p>
        </p:txBody>
      </p:sp>
      <p:sp>
        <p:nvSpPr>
          <p:cNvPr id="34" name="Text 19"/>
          <p:cNvSpPr txBox="1"/>
          <p:nvPr/>
        </p:nvSpPr>
        <p:spPr>
          <a:xfrm>
            <a:off x="777240" y="5422392"/>
            <a:ext cx="21106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5E6978"/>
                </a:solidFill>
                <a:latin typeface="Calibri" pitchFamily="34" charset="0"/>
                <a:ea typeface="Malgun Gothic" pitchFamily="34" charset="-122"/>
                <a:cs typeface="Calibri" pitchFamily="34" charset="-120"/>
              </a:rPr>
              <a:t>고객 정보와 결제 안전 확보</a:t>
            </a:r>
            <a:endParaRPr lang="en-US" sz="1100" dirty="0"/>
          </a:p>
        </p:txBody>
      </p:sp>
      <p:sp>
        <p:nvSpPr>
          <p:cNvPr id="35" name="Shape 20"/>
          <p:cNvSpPr/>
          <p:nvPr/>
        </p:nvSpPr>
        <p:spPr>
          <a:xfrm>
            <a:off x="3390824" y="4617720"/>
            <a:ext cx="2567864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9525">
            <a:solidFill>
              <a:srgbClr val="DCE1E7"/>
            </a:solidFill>
            <a:prstDash val="solid"/>
          </a:ln>
          <a:effectLst>
            <a:outerShdw blurRad="101600" dist="25400" dir="5400000" algn="bl" rotWithShape="0">
              <a:srgbClr val="000000">
                <a:alpha val="10000"/>
              </a:srgbClr>
            </a:outerShdw>
          </a:effectLst>
        </p:spPr>
      </p:sp>
      <p:sp>
        <p:nvSpPr>
          <p:cNvPr id="36" name="Shape 21"/>
          <p:cNvSpPr/>
          <p:nvPr/>
        </p:nvSpPr>
        <p:spPr>
          <a:xfrm>
            <a:off x="3619424" y="484632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DECEC"/>
          </a:solidFill>
          <a:ln w="12700">
            <a:solidFill>
              <a:srgbClr val="FDECEC"/>
            </a:solidFill>
            <a:prstDash val="solid"/>
          </a:ln>
        </p:spPr>
      </p:sp>
      <p:pic>
        <p:nvPicPr>
          <p:cNvPr id="37" name="Image 13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720008" y="4946904"/>
            <a:ext cx="256032" cy="256032"/>
          </a:xfrm>
          <a:prstGeom prst="rect">
            <a:avLst/>
          </a:prstGeom>
        </p:spPr>
      </p:pic>
      <p:sp>
        <p:nvSpPr>
          <p:cNvPr id="38" name="Text 22"/>
          <p:cNvSpPr txBox="1"/>
          <p:nvPr/>
        </p:nvSpPr>
        <p:spPr>
          <a:xfrm>
            <a:off x="4213784" y="4846320"/>
            <a:ext cx="16077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51A21"/>
                </a:solidFill>
                <a:latin typeface="Arial" pitchFamily="34" charset="0"/>
                <a:ea typeface="Malgun Gothic" pitchFamily="34" charset="-122"/>
                <a:cs typeface="Arial" pitchFamily="34" charset="-120"/>
              </a:rPr>
              <a:t>비즈니스 연속성</a:t>
            </a:r>
            <a:endParaRPr lang="en-US" sz="1300" dirty="0"/>
          </a:p>
        </p:txBody>
      </p:sp>
      <p:sp>
        <p:nvSpPr>
          <p:cNvPr id="39" name="Text 23"/>
          <p:cNvSpPr txBox="1"/>
          <p:nvPr/>
        </p:nvSpPr>
        <p:spPr>
          <a:xfrm>
            <a:off x="3619424" y="5422392"/>
            <a:ext cx="21106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5E6978"/>
                </a:solidFill>
                <a:latin typeface="Calibri" pitchFamily="34" charset="0"/>
                <a:ea typeface="Malgun Gothic" pitchFamily="34" charset="-122"/>
                <a:cs typeface="Calibri" pitchFamily="34" charset="-120"/>
              </a:rPr>
              <a:t>프런트 데스크·백오피스 중단 방지</a:t>
            </a:r>
            <a:endParaRPr lang="en-US" sz="1100" dirty="0"/>
          </a:p>
        </p:txBody>
      </p:sp>
      <p:sp>
        <p:nvSpPr>
          <p:cNvPr id="40" name="Shape 24"/>
          <p:cNvSpPr/>
          <p:nvPr/>
        </p:nvSpPr>
        <p:spPr>
          <a:xfrm>
            <a:off x="6233008" y="4617720"/>
            <a:ext cx="2567864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9525">
            <a:solidFill>
              <a:srgbClr val="DCE1E7"/>
            </a:solidFill>
            <a:prstDash val="solid"/>
          </a:ln>
          <a:effectLst>
            <a:outerShdw blurRad="101600" dist="25400" dir="5400000" algn="bl" rotWithShape="0">
              <a:srgbClr val="000000">
                <a:alpha val="10000"/>
              </a:srgbClr>
            </a:outerShdw>
          </a:effectLst>
        </p:spPr>
      </p:sp>
      <p:sp>
        <p:nvSpPr>
          <p:cNvPr id="41" name="Shape 25"/>
          <p:cNvSpPr/>
          <p:nvPr/>
        </p:nvSpPr>
        <p:spPr>
          <a:xfrm>
            <a:off x="6461608" y="484632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DECEC"/>
          </a:solidFill>
          <a:ln w="12700">
            <a:solidFill>
              <a:srgbClr val="FDECEC"/>
            </a:solidFill>
            <a:prstDash val="solid"/>
          </a:ln>
        </p:spPr>
      </p:sp>
      <p:pic>
        <p:nvPicPr>
          <p:cNvPr id="42" name="Image 14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562192" y="4946904"/>
            <a:ext cx="256032" cy="256032"/>
          </a:xfrm>
          <a:prstGeom prst="rect">
            <a:avLst/>
          </a:prstGeom>
        </p:spPr>
      </p:pic>
      <p:sp>
        <p:nvSpPr>
          <p:cNvPr id="43" name="Text 26"/>
          <p:cNvSpPr txBox="1"/>
          <p:nvPr/>
        </p:nvSpPr>
        <p:spPr>
          <a:xfrm>
            <a:off x="7055968" y="4846320"/>
            <a:ext cx="16077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51A21"/>
                </a:solidFill>
                <a:latin typeface="Arial" pitchFamily="34" charset="0"/>
                <a:ea typeface="Malgun Gothic" pitchFamily="34" charset="-122"/>
                <a:cs typeface="Arial" pitchFamily="34" charset="-120"/>
              </a:rPr>
              <a:t>IT 업무 부담 경감</a:t>
            </a:r>
            <a:endParaRPr lang="en-US" sz="1300" dirty="0"/>
          </a:p>
        </p:txBody>
      </p:sp>
      <p:sp>
        <p:nvSpPr>
          <p:cNvPr id="44" name="Text 27"/>
          <p:cNvSpPr txBox="1"/>
          <p:nvPr/>
        </p:nvSpPr>
        <p:spPr>
          <a:xfrm>
            <a:off x="6461608" y="5422392"/>
            <a:ext cx="21106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5E6978"/>
                </a:solidFill>
                <a:latin typeface="Calibri" pitchFamily="34" charset="0"/>
                <a:ea typeface="Malgun Gothic" pitchFamily="34" charset="-122"/>
                <a:cs typeface="Calibri" pitchFamily="34" charset="-120"/>
              </a:rPr>
              <a:t>자동화 + 시큐코리아 24시간 지원</a:t>
            </a:r>
            <a:endParaRPr lang="en-US" sz="1100" dirty="0"/>
          </a:p>
        </p:txBody>
      </p:sp>
      <p:sp>
        <p:nvSpPr>
          <p:cNvPr id="45" name="Shape 28"/>
          <p:cNvSpPr/>
          <p:nvPr/>
        </p:nvSpPr>
        <p:spPr>
          <a:xfrm>
            <a:off x="9075191" y="4617720"/>
            <a:ext cx="2567864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9525">
            <a:solidFill>
              <a:srgbClr val="DCE1E7"/>
            </a:solidFill>
            <a:prstDash val="solid"/>
          </a:ln>
          <a:effectLst>
            <a:outerShdw blurRad="101600" dist="25400" dir="5400000" algn="bl" rotWithShape="0">
              <a:srgbClr val="000000">
                <a:alpha val="10000"/>
              </a:srgbClr>
            </a:outerShdw>
          </a:effectLst>
        </p:spPr>
      </p:sp>
      <p:sp>
        <p:nvSpPr>
          <p:cNvPr id="46" name="Shape 29"/>
          <p:cNvSpPr/>
          <p:nvPr/>
        </p:nvSpPr>
        <p:spPr>
          <a:xfrm>
            <a:off x="9303791" y="484632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DECEC"/>
          </a:solidFill>
          <a:ln w="12700">
            <a:solidFill>
              <a:srgbClr val="FDECEC"/>
            </a:solidFill>
            <a:prstDash val="solid"/>
          </a:ln>
        </p:spPr>
      </p:sp>
      <p:pic>
        <p:nvPicPr>
          <p:cNvPr id="47" name="Image 15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404375" y="4946904"/>
            <a:ext cx="256032" cy="256032"/>
          </a:xfrm>
          <a:prstGeom prst="rect">
            <a:avLst/>
          </a:prstGeom>
        </p:spPr>
      </p:pic>
      <p:sp>
        <p:nvSpPr>
          <p:cNvPr id="48" name="Text 30"/>
          <p:cNvSpPr txBox="1"/>
          <p:nvPr/>
        </p:nvSpPr>
        <p:spPr>
          <a:xfrm>
            <a:off x="9898151" y="4846320"/>
            <a:ext cx="16077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51A21"/>
                </a:solidFill>
                <a:latin typeface="Arial" pitchFamily="34" charset="0"/>
                <a:ea typeface="Malgun Gothic" pitchFamily="34" charset="-122"/>
                <a:cs typeface="Arial" pitchFamily="34" charset="-120"/>
              </a:rPr>
              <a:t>컴플라이언스 대응</a:t>
            </a:r>
            <a:endParaRPr lang="en-US" sz="1300" dirty="0"/>
          </a:p>
        </p:txBody>
      </p:sp>
      <p:sp>
        <p:nvSpPr>
          <p:cNvPr id="49" name="Text 31"/>
          <p:cNvSpPr txBox="1"/>
          <p:nvPr/>
        </p:nvSpPr>
        <p:spPr>
          <a:xfrm>
            <a:off x="9303791" y="5422392"/>
            <a:ext cx="21106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5E6978"/>
                </a:solidFill>
                <a:latin typeface="Calibri" pitchFamily="34" charset="0"/>
                <a:ea typeface="Malgun Gothic" pitchFamily="34" charset="-122"/>
                <a:cs typeface="Calibri" pitchFamily="34" charset="-120"/>
              </a:rPr>
              <a:t>PCI DSS 및 개인정보보호 요건 지원</a:t>
            </a:r>
            <a:endParaRPr lang="en-US" sz="1100" dirty="0"/>
          </a:p>
        </p:txBody>
      </p:sp>
      <p:sp>
        <p:nvSpPr>
          <p:cNvPr id="50" name="Text 32"/>
          <p:cNvSpPr txBox="1"/>
          <p:nvPr/>
        </p:nvSpPr>
        <p:spPr>
          <a:xfrm>
            <a:off x="548640" y="6446520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E6978"/>
                </a:solidFill>
                <a:latin typeface="Calibri" pitchFamily="34" charset="0"/>
                <a:ea typeface="Malgun Gothic" pitchFamily="34" charset="-122"/>
                <a:cs typeface="Calibri" pitchFamily="34" charset="-120"/>
              </a:rPr>
              <a:t>06   |   CrowdStrike Falcon 제안서  ·  웨스틴 리조트 괌</a:t>
            </a:r>
            <a:endParaRPr lang="en-US" sz="900" dirty="0"/>
          </a:p>
        </p:txBody>
      </p:sp>
      <p:pic>
        <p:nvPicPr>
          <p:cNvPr id="51" name="Image 16" descr="/private/tmp/claude-501/-Users-jihanvin-Desktop-NIVNAH-AI/16a96446-d9b3-40e2-af9e-a3011ae3db84/scratchpad/assets/secukorea_dark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661904" y="6400800"/>
            <a:ext cx="978408" cy="233172"/>
          </a:xfrm>
          <a:prstGeom prst="rect">
            <a:avLst/>
          </a:prstGeom>
        </p:spPr>
      </p:pic>
      <p:sp>
        <p:nvSpPr>
          <p:cNvPr id="52" name="TextBox 51"/>
          <p:cNvSpPr txBox="1"/>
          <p:nvPr/>
        </p:nvSpPr>
        <p:spPr>
          <a:xfrm>
            <a:off x="548640" y="6090000"/>
            <a:ext cx="11094415" cy="2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>
                <a:solidFill>
                  <a:srgbClr val="E3202A"/>
                </a:solidFill>
                <a:latin typeface="Calibri"/>
                <a:ea typeface="Malgun Gothic"/>
              </a:rPr>
              <a:t>제안 범위:  </a:t>
            </a:r>
            <a:r>
              <a:rPr sz="1050" b="0">
                <a:solidFill>
                  <a:srgbClr val="5E6978"/>
                </a:solidFill>
                <a:latin typeface="Calibri"/>
                <a:ea typeface="Malgun Gothic"/>
              </a:rPr>
              <a:t>Falcon Prevent (차세대 백신) + Falcon Insight (탐지·대응), 시큐코리아 24시간 기술지원 포함.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E3202A"/>
                </a:solidFill>
                <a:latin typeface="Arial" pitchFamily="34" charset="0"/>
                <a:ea typeface="Malgun Gothic" pitchFamily="34" charset="-122"/>
                <a:cs typeface="Arial" pitchFamily="34" charset="-120"/>
              </a:rPr>
              <a:t>06   기술지원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9692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51A21"/>
                </a:solidFill>
                <a:latin typeface="Arial" pitchFamily="34" charset="0"/>
                <a:ea typeface="Malgun Gothic" pitchFamily="34" charset="-122"/>
                <a:cs typeface="Arial" pitchFamily="34" charset="-120"/>
              </a:rPr>
              <a:t>시큐코리아 24시간 기술지원</a:t>
            </a:r>
            <a:endParaRPr lang="en-US" sz="2800" dirty="0"/>
          </a:p>
        </p:txBody>
      </p:sp>
      <p:pic>
        <p:nvPicPr>
          <p:cNvPr id="4" name="Image 0" descr="/private/tmp/claude-501/-Users-jihanvin-Desktop-NIVNAH-AI/16a96446-d9b3-40e2-af9e-a3011ae3db84/scratchpad/assets/westin_gre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34472" y="402336"/>
            <a:ext cx="1005840" cy="301752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373380" y="2249424"/>
            <a:ext cx="917448" cy="566928"/>
          </a:xfrm>
          <a:prstGeom prst="roundRect">
            <a:avLst>
              <a:gd name="adj" fmla="val 16129"/>
            </a:avLst>
          </a:prstGeom>
          <a:solidFill>
            <a:srgbClr val="EAEEF3"/>
          </a:solidFill>
          <a:ln w="12700">
            <a:solidFill>
              <a:srgbClr val="EAEEF3"/>
            </a:solidFill>
            <a:prstDash val="solid"/>
          </a:ln>
        </p:spPr>
      </p:sp>
      <p:pic>
        <p:nvPicPr>
          <p:cNvPr id="6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3364" y="2374148"/>
            <a:ext cx="317480" cy="31748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465843" y="2231136"/>
            <a:ext cx="5760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151A21"/>
                </a:solidFill>
                <a:latin typeface="Arial" pitchFamily="34" charset="0"/>
                <a:ea typeface="Malgun Gothic" pitchFamily="34" charset="-122"/>
                <a:cs typeface="Arial" pitchFamily="34" charset="-120"/>
              </a:rPr>
              <a:t>해외 사업장 특화 24시간 원격 지원</a:t>
            </a:r>
            <a:endParaRPr lang="en-US" sz="1500" dirty="0"/>
          </a:p>
        </p:txBody>
      </p:sp>
      <p:sp>
        <p:nvSpPr>
          <p:cNvPr id="8" name="Text 4"/>
          <p:cNvSpPr txBox="1"/>
          <p:nvPr/>
        </p:nvSpPr>
        <p:spPr>
          <a:xfrm>
            <a:off x="1465843" y="2578608"/>
            <a:ext cx="5760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5E6978"/>
                </a:solidFill>
                <a:latin typeface="Calibri" pitchFamily="34" charset="0"/>
                <a:ea typeface="Malgun Gothic" pitchFamily="34" charset="-122"/>
                <a:cs typeface="Calibri" pitchFamily="34" charset="-120"/>
              </a:rPr>
              <a:t>해외 사업장에 맞춘 24시간 원격 지원으로, 시차나 현지 업무시간과 관계없이 언제든 도움을 받을 수 있습니다.</a:t>
            </a:r>
            <a:endParaRPr lang="en-US" sz="1200" dirty="0"/>
          </a:p>
        </p:txBody>
      </p:sp>
      <p:sp>
        <p:nvSpPr>
          <p:cNvPr id="9" name="Shape 5"/>
          <p:cNvSpPr/>
          <p:nvPr/>
        </p:nvSpPr>
        <p:spPr>
          <a:xfrm>
            <a:off x="373380" y="3346704"/>
            <a:ext cx="917448" cy="566928"/>
          </a:xfrm>
          <a:prstGeom prst="roundRect">
            <a:avLst>
              <a:gd name="adj" fmla="val 16129"/>
            </a:avLst>
          </a:prstGeom>
          <a:solidFill>
            <a:srgbClr val="EAEEF3"/>
          </a:solidFill>
          <a:ln w="12700">
            <a:solidFill>
              <a:srgbClr val="EAEEF3"/>
            </a:solidFill>
            <a:prstDash val="solid"/>
          </a:ln>
        </p:spPr>
      </p:sp>
      <p:pic>
        <p:nvPicPr>
          <p:cNvPr id="10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3364" y="3471428"/>
            <a:ext cx="317480" cy="317480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465843" y="3328416"/>
            <a:ext cx="5760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151A21"/>
                </a:solidFill>
                <a:latin typeface="Arial" pitchFamily="34" charset="0"/>
                <a:ea typeface="Malgun Gothic" pitchFamily="34" charset="-122"/>
                <a:cs typeface="Arial" pitchFamily="34" charset="-120"/>
              </a:rPr>
              <a:t>전담 엔지니어 매칭</a:t>
            </a:r>
            <a:endParaRPr lang="en-US" sz="1500" dirty="0"/>
          </a:p>
        </p:txBody>
      </p:sp>
      <p:sp>
        <p:nvSpPr>
          <p:cNvPr id="12" name="Text 7"/>
          <p:cNvSpPr txBox="1"/>
          <p:nvPr/>
        </p:nvSpPr>
        <p:spPr>
          <a:xfrm>
            <a:off x="1465843" y="3675888"/>
            <a:ext cx="5760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>
                <a:solidFill>
                  <a:srgbClr val="5E6978"/>
                </a:solidFill>
                <a:latin typeface="Calibri" pitchFamily="34" charset="0"/>
                <a:ea typeface="Malgun Gothic" pitchFamily="34" charset="-122"/>
                <a:cs typeface="Calibri" pitchFamily="34" charset="-120"/>
              </a:rPr>
              <a:t>시큐코리아 전담 엔지니어가 리조트 IT팀의 일원처럼 시스템을 깊이 이해하고, 일상 요청을 빠르고 일관되게 처리합니다.</a:t>
            </a:r>
            <a:endParaRPr lang="en-US" sz="1200" dirty="0"/>
          </a:p>
        </p:txBody>
      </p:sp>
      <p:sp>
        <p:nvSpPr>
          <p:cNvPr id="17" name="Shape 11"/>
          <p:cNvSpPr/>
          <p:nvPr/>
        </p:nvSpPr>
        <p:spPr>
          <a:xfrm>
            <a:off x="373380" y="4440936"/>
            <a:ext cx="917448" cy="566928"/>
          </a:xfrm>
          <a:prstGeom prst="roundRect">
            <a:avLst>
              <a:gd name="adj" fmla="val 16129"/>
            </a:avLst>
          </a:prstGeom>
          <a:solidFill>
            <a:srgbClr val="EAEEF3"/>
          </a:solidFill>
          <a:ln w="12700">
            <a:solidFill>
              <a:srgbClr val="EAEEF3"/>
            </a:solidFill>
            <a:prstDash val="solid"/>
          </a:ln>
        </p:spPr>
      </p:sp>
      <p:sp>
        <p:nvSpPr>
          <p:cNvPr id="19" name="Text 12"/>
          <p:cNvSpPr txBox="1"/>
          <p:nvPr/>
        </p:nvSpPr>
        <p:spPr>
          <a:xfrm>
            <a:off x="1465843" y="4422648"/>
            <a:ext cx="5760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151A21"/>
                </a:solidFill>
                <a:latin typeface="Arial" pitchFamily="34" charset="0"/>
                <a:ea typeface="Malgun Gothic" pitchFamily="34" charset="-122"/>
                <a:cs typeface="Arial" pitchFamily="34" charset="-120"/>
              </a:rPr>
              <a:t>책임 있는 직접 지원</a:t>
            </a:r>
            <a:endParaRPr lang="en-US" sz="1500" dirty="0"/>
          </a:p>
        </p:txBody>
      </p:sp>
      <p:sp>
        <p:nvSpPr>
          <p:cNvPr id="20" name="Text 13"/>
          <p:cNvSpPr txBox="1"/>
          <p:nvPr/>
        </p:nvSpPr>
        <p:spPr>
          <a:xfrm>
            <a:off x="1465843" y="4770120"/>
            <a:ext cx="5760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5E6978"/>
                </a:solidFill>
                <a:latin typeface="Calibri" pitchFamily="34" charset="0"/>
                <a:ea typeface="Malgun Gothic" pitchFamily="34" charset="-122"/>
                <a:cs typeface="Calibri" pitchFamily="34" charset="-120"/>
              </a:rPr>
              <a:t>기술지원, 라이선스, 갱신을 시큐코리아가 직접 처리하고, 첫 연락부터 문제 해결까지 끝까지 함께합니다. 필요 시 SK쉴더스로 에스컬레이션합니다.</a:t>
            </a:r>
            <a:r>
              <a:rPr lang="en-US" sz="1200">
                <a:solidFill>
                  <a:srgbClr val="5E6978"/>
                </a:solidFill>
                <a:latin typeface="Calibri" pitchFamily="34" charset="0"/>
                <a:ea typeface="Malgun Gothic" pitchFamily="34" charset="-122"/>
                <a:cs typeface="Calibri" pitchFamily="34" charset="-120"/>
              </a:rPr>
              <a:t/>
            </a:r>
            <a:endParaRPr lang="en-US" sz="1200" dirty="0"/>
          </a:p>
        </p:txBody>
      </p:sp>
      <p:sp>
        <p:nvSpPr>
          <p:cNvPr id="21" name="Shape 14"/>
          <p:cNvSpPr/>
          <p:nvPr/>
        </p:nvSpPr>
        <p:spPr>
          <a:xfrm>
            <a:off x="7452360" y="1554480"/>
            <a:ext cx="4190695" cy="4434840"/>
          </a:xfrm>
          <a:prstGeom prst="roundRect">
            <a:avLst>
              <a:gd name="adj" fmla="val 2182"/>
            </a:avLst>
          </a:prstGeom>
          <a:solidFill>
            <a:srgbClr val="0B0D12"/>
          </a:solidFill>
          <a:ln w="12700">
            <a:solidFill>
              <a:srgbClr val="0B0D12"/>
            </a:solidFill>
            <a:prstDash val="solid"/>
          </a:ln>
        </p:spPr>
      </p:sp>
      <p:sp>
        <p:nvSpPr>
          <p:cNvPr id="22" name="Text 15"/>
          <p:cNvSpPr txBox="1"/>
          <p:nvPr/>
        </p:nvSpPr>
        <p:spPr>
          <a:xfrm>
            <a:off x="7818120" y="1828800"/>
            <a:ext cx="34591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E3202A"/>
                </a:solidFill>
                <a:latin typeface="Calibri" pitchFamily="34" charset="0"/>
                <a:ea typeface="Malgun Gothic" pitchFamily="34" charset="-122"/>
                <a:cs typeface="Calibri" pitchFamily="34" charset="-120"/>
              </a:rPr>
              <a:t>전문 지원 연계  ·  SK쉴더스</a:t>
            </a:r>
            <a:endParaRPr lang="en-US" sz="1100" dirty="0"/>
          </a:p>
        </p:txBody>
      </p:sp>
      <p:pic>
        <p:nvPicPr>
          <p:cNvPr id="23" name="Image 5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818120" y="2322576"/>
            <a:ext cx="237744" cy="237744"/>
          </a:xfrm>
          <a:prstGeom prst="rect">
            <a:avLst/>
          </a:prstGeom>
        </p:spPr>
      </p:pic>
      <p:sp>
        <p:nvSpPr>
          <p:cNvPr id="24" name="Text 16"/>
          <p:cNvSpPr txBox="1"/>
          <p:nvPr/>
        </p:nvSpPr>
        <p:spPr>
          <a:xfrm>
            <a:off x="8183880" y="2286000"/>
            <a:ext cx="309341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Malgun Gothic" pitchFamily="34" charset="-122"/>
                <a:cs typeface="Calibri" pitchFamily="34" charset="-120"/>
              </a:rPr>
              <a:t>침해사고 대응 전문가 24시간 대응</a:t>
            </a:r>
            <a:endParaRPr lang="en-US" sz="1300" dirty="0"/>
          </a:p>
        </p:txBody>
      </p:sp>
      <p:pic>
        <p:nvPicPr>
          <p:cNvPr id="25" name="Image 6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818120" y="2852928"/>
            <a:ext cx="237744" cy="237744"/>
          </a:xfrm>
          <a:prstGeom prst="rect">
            <a:avLst/>
          </a:prstGeom>
        </p:spPr>
      </p:pic>
      <p:sp>
        <p:nvSpPr>
          <p:cNvPr id="26" name="Text 17"/>
          <p:cNvSpPr txBox="1"/>
          <p:nvPr/>
        </p:nvSpPr>
        <p:spPr>
          <a:xfrm>
            <a:off x="8183880" y="2816352"/>
            <a:ext cx="309341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Malgun Gothic" pitchFamily="34" charset="-122"/>
                <a:cs typeface="Calibri" pitchFamily="34" charset="-120"/>
              </a:rPr>
              <a:t>Critical 이벤트 시 30분 내 유선 연락, 2시간 내 초동 조치 (SLA)</a:t>
            </a:r>
            <a:endParaRPr lang="en-US" sz="1300" dirty="0"/>
          </a:p>
        </p:txBody>
      </p:sp>
      <p:pic>
        <p:nvPicPr>
          <p:cNvPr id="27" name="Image 7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818120" y="3383280"/>
            <a:ext cx="237744" cy="237744"/>
          </a:xfrm>
          <a:prstGeom prst="rect">
            <a:avLst/>
          </a:prstGeom>
        </p:spPr>
      </p:pic>
      <p:sp>
        <p:nvSpPr>
          <p:cNvPr id="28" name="Text 18"/>
          <p:cNvSpPr txBox="1"/>
          <p:nvPr/>
        </p:nvSpPr>
        <p:spPr>
          <a:xfrm>
            <a:off x="8183880" y="3346704"/>
            <a:ext cx="309341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Malgun Gothic" pitchFamily="34" charset="-122"/>
                <a:cs typeface="Calibri" pitchFamily="34" charset="-120"/>
              </a:rPr>
              <a:t>사고 발생 시 심층 조사</a:t>
            </a:r>
            <a:endParaRPr lang="en-US" sz="1300" dirty="0"/>
          </a:p>
        </p:txBody>
      </p:sp>
      <p:pic>
        <p:nvPicPr>
          <p:cNvPr id="29" name="Image 8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818120" y="3913632"/>
            <a:ext cx="237744" cy="237744"/>
          </a:xfrm>
          <a:prstGeom prst="rect">
            <a:avLst/>
          </a:prstGeom>
        </p:spPr>
      </p:pic>
      <p:sp>
        <p:nvSpPr>
          <p:cNvPr id="30" name="Text 19"/>
          <p:cNvSpPr txBox="1"/>
          <p:nvPr/>
        </p:nvSpPr>
        <p:spPr>
          <a:xfrm>
            <a:off x="8183880" y="3877056"/>
            <a:ext cx="309341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Malgun Gothic" pitchFamily="34" charset="-122"/>
                <a:cs typeface="Calibri" pitchFamily="34" charset="-120"/>
              </a:rPr>
              <a:t>중대 보안 경보 정밀 분석</a:t>
            </a:r>
            <a:endParaRPr lang="en-US" sz="1300" dirty="0"/>
          </a:p>
        </p:txBody>
      </p:sp>
      <p:pic>
        <p:nvPicPr>
          <p:cNvPr id="31" name="Image 9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818120" y="4443984"/>
            <a:ext cx="237744" cy="237744"/>
          </a:xfrm>
          <a:prstGeom prst="rect">
            <a:avLst/>
          </a:prstGeom>
        </p:spPr>
      </p:pic>
      <p:sp>
        <p:nvSpPr>
          <p:cNvPr id="32" name="Text 20"/>
          <p:cNvSpPr txBox="1"/>
          <p:nvPr/>
        </p:nvSpPr>
        <p:spPr>
          <a:xfrm>
            <a:off x="8183880" y="4407408"/>
            <a:ext cx="309341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Malgun Gothic" pitchFamily="34" charset="-122"/>
                <a:cs typeface="Calibri" pitchFamily="34" charset="-120"/>
              </a:rPr>
              <a:t>경험 많은 전문가의 악성코드 분석</a:t>
            </a:r>
            <a:endParaRPr lang="en-US" sz="1300" dirty="0"/>
          </a:p>
        </p:txBody>
      </p:sp>
      <p:sp>
        <p:nvSpPr>
          <p:cNvPr id="33" name="Text 21"/>
          <p:cNvSpPr txBox="1"/>
          <p:nvPr/>
        </p:nvSpPr>
        <p:spPr>
          <a:xfrm>
            <a:off x="7818120" y="5120640"/>
            <a:ext cx="345917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i="1" dirty="0">
                <a:solidFill>
                  <a:srgbClr val="FFFFFF"/>
                </a:solidFill>
                <a:latin typeface="Calibri" pitchFamily="34" charset="0"/>
                <a:ea typeface="Malgun Gothic" pitchFamily="34" charset="-122"/>
                <a:cs typeface="Calibri" pitchFamily="34" charset="-120"/>
              </a:rPr>
              <a:t>필요 시 CrowdStrike 파트너 SK쉴더스가 함께 대응합니다.</a:t>
            </a:r>
            <a:endParaRPr lang="en-US" sz="1400" dirty="0"/>
          </a:p>
        </p:txBody>
      </p:sp>
      <p:sp>
        <p:nvSpPr>
          <p:cNvPr id="34" name="Text 22"/>
          <p:cNvSpPr txBox="1"/>
          <p:nvPr/>
        </p:nvSpPr>
        <p:spPr>
          <a:xfrm>
            <a:off x="548640" y="6446520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E6978"/>
                </a:solidFill>
                <a:latin typeface="Calibri" pitchFamily="34" charset="0"/>
                <a:ea typeface="Malgun Gothic" pitchFamily="34" charset="-122"/>
                <a:cs typeface="Calibri" pitchFamily="34" charset="-120"/>
              </a:rPr>
              <a:t>07   |   CrowdStrike Falcon 제안서  ·  웨스틴 리조트 괌</a:t>
            </a:r>
            <a:endParaRPr lang="en-US" sz="900" dirty="0"/>
          </a:p>
        </p:txBody>
      </p:sp>
      <p:pic>
        <p:nvPicPr>
          <p:cNvPr id="35" name="Image 10" descr="/private/tmp/claude-501/-Users-jihanvin-Desktop-NIVNAH-AI/16a96446-d9b3-40e2-af9e-a3011ae3db84/scratchpad/assets/secukorea_dark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661904" y="6400800"/>
            <a:ext cx="978408" cy="233172"/>
          </a:xfrm>
          <a:prstGeom prst="rect">
            <a:avLst/>
          </a:prstGeom>
        </p:spPr>
      </p:pic>
      <p:pic>
        <p:nvPicPr>
          <p:cNvPr id="37" name="그림 36">
            <a:extLst>
              <a:ext uri="{FF2B5EF4-FFF2-40B4-BE49-F238E27FC236}">
                <a16:creationId xmlns:a16="http://schemas.microsoft.com/office/drawing/2014/main" id="{150FC934-B7A6-0355-1CEF-264D1BC68403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73364" y="4565660"/>
            <a:ext cx="317480" cy="31748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private/tmp/claude-501/-Users-jihanvin-Desktop-NIVNAH-AI/16a96446-d9b3-40e2-af9e-a3011ae3db84/scratchpad/assets/bg_line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28439" y="0"/>
            <a:ext cx="7763256" cy="6858000"/>
          </a:xfrm>
          <a:prstGeom prst="rect">
            <a:avLst/>
          </a:prstGeom>
        </p:spPr>
      </p:pic>
      <p:pic>
        <p:nvPicPr>
          <p:cNvPr id="3" name="Image 1" descr="/private/tmp/claude-501/-Users-jihanvin-Desktop-NIVNAH-AI/16a96446-d9b3-40e2-af9e-a3011ae3db84/scratchpad/assets/westin_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502920"/>
            <a:ext cx="1371600" cy="41148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548640" y="20116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kern="0" spc="300" dirty="0">
                <a:solidFill>
                  <a:srgbClr val="E3202A"/>
                </a:solidFill>
                <a:latin typeface="Calibri" pitchFamily="34" charset="0"/>
                <a:ea typeface="Malgun Gothic" pitchFamily="34" charset="-122"/>
                <a:cs typeface="Calibri" pitchFamily="34" charset="-120"/>
              </a:rPr>
              <a:t>Q &amp; A</a:t>
            </a:r>
            <a:endParaRPr lang="en-US" sz="1400" dirty="0"/>
          </a:p>
        </p:txBody>
      </p:sp>
      <p:sp>
        <p:nvSpPr>
          <p:cNvPr id="5" name="Text 1"/>
          <p:cNvSpPr txBox="1"/>
          <p:nvPr/>
        </p:nvSpPr>
        <p:spPr>
          <a:xfrm>
            <a:off x="548640" y="2423160"/>
            <a:ext cx="7315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400" b="1" dirty="0">
                <a:solidFill>
                  <a:srgbClr val="FFFFFF"/>
                </a:solidFill>
                <a:latin typeface="Arial" pitchFamily="34" charset="0"/>
                <a:ea typeface="Malgun Gothic" pitchFamily="34" charset="-122"/>
                <a:cs typeface="Arial" pitchFamily="34" charset="-120"/>
              </a:rPr>
              <a:t>감사합니다</a:t>
            </a:r>
            <a:endParaRPr lang="en-US" sz="5400" dirty="0"/>
          </a:p>
        </p:txBody>
      </p:sp>
      <p:sp>
        <p:nvSpPr>
          <p:cNvPr id="6" name="Text 2"/>
          <p:cNvSpPr txBox="1"/>
          <p:nvPr/>
        </p:nvSpPr>
        <p:spPr>
          <a:xfrm>
            <a:off x="548640" y="3611880"/>
            <a:ext cx="8961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dirty="0">
                <a:solidFill>
                  <a:srgbClr val="C9CED6"/>
                </a:solidFill>
                <a:latin typeface="Calibri" pitchFamily="34" charset="0"/>
                <a:ea typeface="Malgun Gothic" pitchFamily="34" charset="-122"/>
                <a:cs typeface="Calibri" pitchFamily="34" charset="-120"/>
              </a:rPr>
              <a:t>CrowdStrike Falcon으로 완성하는 웨스틴 리조트 괌의 실시간 엔드포인트 보호.</a:t>
            </a:r>
            <a:endParaRPr lang="en-US" sz="1600" dirty="0"/>
          </a:p>
        </p:txBody>
      </p:sp>
      <p:pic>
        <p:nvPicPr>
          <p:cNvPr id="7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8640" y="4626864"/>
            <a:ext cx="219456" cy="219456"/>
          </a:xfrm>
          <a:prstGeom prst="rect">
            <a:avLst/>
          </a:prstGeom>
        </p:spPr>
      </p:pic>
      <p:sp>
        <p:nvSpPr>
          <p:cNvPr id="8" name="Text 3"/>
          <p:cNvSpPr txBox="1"/>
          <p:nvPr/>
        </p:nvSpPr>
        <p:spPr>
          <a:xfrm>
            <a:off x="932688" y="4572000"/>
            <a:ext cx="4572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Malgun Gothic" pitchFamily="34" charset="-122"/>
                <a:cs typeface="Calibri" pitchFamily="34" charset="-120"/>
              </a:rPr>
              <a:t>sales@secukorea.com</a:t>
            </a:r>
            <a:endParaRPr lang="en-US" sz="1400" dirty="0"/>
          </a:p>
        </p:txBody>
      </p:sp>
      <p:pic>
        <p:nvPicPr>
          <p:cNvPr id="9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8640" y="5038344"/>
            <a:ext cx="219456" cy="219456"/>
          </a:xfrm>
          <a:prstGeom prst="rect">
            <a:avLst/>
          </a:prstGeom>
        </p:spPr>
      </p:pic>
      <p:sp>
        <p:nvSpPr>
          <p:cNvPr id="10" name="Text 4"/>
          <p:cNvSpPr txBox="1"/>
          <p:nvPr/>
        </p:nvSpPr>
        <p:spPr>
          <a:xfrm>
            <a:off x="932688" y="4983480"/>
            <a:ext cx="4572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Malgun Gothic" pitchFamily="34" charset="-122"/>
                <a:cs typeface="Calibri" pitchFamily="34" charset="-120"/>
              </a:rPr>
              <a:t>+82-2-3400-0877</a:t>
            </a:r>
            <a:endParaRPr lang="en-US" sz="1400" dirty="0"/>
          </a:p>
        </p:txBody>
      </p:sp>
      <p:pic>
        <p:nvPicPr>
          <p:cNvPr id="11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48640" y="5449824"/>
            <a:ext cx="219456" cy="219456"/>
          </a:xfrm>
          <a:prstGeom prst="rect">
            <a:avLst/>
          </a:prstGeom>
        </p:spPr>
      </p:pic>
      <p:sp>
        <p:nvSpPr>
          <p:cNvPr id="12" name="Text 5"/>
          <p:cNvSpPr txBox="1"/>
          <p:nvPr/>
        </p:nvSpPr>
        <p:spPr>
          <a:xfrm>
            <a:off x="932688" y="5394960"/>
            <a:ext cx="4572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Malgun Gothic" pitchFamily="34" charset="-122"/>
                <a:cs typeface="Calibri" pitchFamily="34" charset="-120"/>
              </a:rPr>
              <a:t>www.secukorea.com</a:t>
            </a:r>
            <a:endParaRPr lang="en-US" sz="1400" dirty="0"/>
          </a:p>
        </p:txBody>
      </p:sp>
      <p:sp>
        <p:nvSpPr>
          <p:cNvPr id="13" name="Text 6"/>
          <p:cNvSpPr txBox="1"/>
          <p:nvPr/>
        </p:nvSpPr>
        <p:spPr>
          <a:xfrm>
            <a:off x="7589520" y="6217920"/>
            <a:ext cx="822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A93A0"/>
                </a:solidFill>
                <a:latin typeface="Calibri" pitchFamily="34" charset="0"/>
                <a:ea typeface="Malgun Gothic" pitchFamily="34" charset="-122"/>
                <a:cs typeface="Calibri" pitchFamily="34" charset="-120"/>
              </a:rPr>
              <a:t>솔루션</a:t>
            </a:r>
            <a:endParaRPr lang="en-US" sz="900" dirty="0"/>
          </a:p>
        </p:txBody>
      </p:sp>
      <p:pic>
        <p:nvPicPr>
          <p:cNvPr id="14" name="Image 5" descr="/private/tmp/claude-501/-Users-jihanvin-Desktop-NIVNAH-AI/16a96446-d9b3-40e2-af9e-a3011ae3db84/scratchpad/assets/cs_logo_whit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275320" y="6236208"/>
            <a:ext cx="1600200" cy="182880"/>
          </a:xfrm>
          <a:prstGeom prst="rect">
            <a:avLst/>
          </a:prstGeom>
        </p:spPr>
      </p:pic>
      <p:pic>
        <p:nvPicPr>
          <p:cNvPr id="15" name="Image 6" descr="/private/tmp/claude-501/-Users-jihanvin-Desktop-NIVNAH-AI/16a96446-d9b3-40e2-af9e-a3011ae3db84/scratchpad/assets/secukorea_light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314432" y="6163056"/>
            <a:ext cx="1325880" cy="315468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Malgun Gothic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Malgun Gothic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51</TotalTime>
  <Words>1255</Words>
  <Application>Microsoft Office PowerPoint</Application>
  <PresentationFormat>와이드스크린</PresentationFormat>
  <Paragraphs>152</Paragraphs>
  <Slides>8</Slides>
  <Notes>8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>SECUKOREA Inc.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Nessus vs. CrowdStrike Falcon Platform — Proposal for The Westin Resort Guam</dc:title>
  <dc:subject>PptxGenJS Presentation</dc:subject>
  <dc:creator>SECUKOREA Inc.</dc:creator>
  <cp:lastModifiedBy>MyPC_Lenovo 03</cp:lastModifiedBy>
  <cp:revision>13</cp:revision>
  <dcterms:created xsi:type="dcterms:W3CDTF">2026-09-23T07:33:43Z</dcterms:created>
  <dcterms:modified xsi:type="dcterms:W3CDTF">2026-10-01T01:43:34Z</dcterms:modified>
</cp:coreProperties>
</file>