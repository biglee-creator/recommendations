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60" r:id="rId6"/>
    <p:sldId id="269" r:id="rId15"/>
    <p:sldId id="273" r:id="rId19"/>
    <p:sldId id="265" r:id="rId11"/>
    <p:sldId id="276" r:id="rId27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6" Type="http://schemas.openxmlformats.org/officeDocument/2006/relationships/slide" Target="slides/slide3.xml"/><Relationship Id="rId11" Type="http://schemas.openxmlformats.org/officeDocument/2006/relationships/slide" Target="slides/slide6.xml"/><Relationship Id="rId15" Type="http://schemas.openxmlformats.org/officeDocument/2006/relationships/slide" Target="slides/slide4.xml"/><Relationship Id="rId19" Type="http://schemas.openxmlformats.org/officeDocument/2006/relationships/slide" Target="slides/slide5.xml"/><Relationship Id="rId21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리조트에는 현재 엔드포인트 보안이 없습니다. 이 제안서는 리조트의 현재 상황, Trend Micro Apex One이 Nessus 같은 취약점 스캐너와 어떻게 다른지, 시큐코리아가 어떻게 지원하는지를 짧게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 설명: 24시간 운영되는 리조트, 소규모 IT팀, 엔드포인트 보안 없음, 패치하기 어려운 오래된 시스템. 오른쪽에는 리조트에 필요한 것을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비기술 관계자를 위한 비유: Nessus 같은 스캐너는 고장 난 자물쇠를 적는 점검원입니다. Apex One은 모든 문에 경비원을 세우고, 바로 임시 자물쇠를 채우며, 랜섬웨어 피해를 되돌립니다.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호텔에 가장 중요한 두 가지 보호 기능입니다. 랜섬웨어를 막고 손상된 파일을 자동으로 복구합니다. 가상패치는 알려진 취약점에 바로 임시 자물쇠를 채워, 정식 패치 전까지 오래된 시스템도 안전하게 지킵니다.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간단한 비교입니다. Nessus 같은 스캐너는 취약점을 찾아 보고합니다. Apex One은 취약점을 찾는 것은 물론 바로 보호하고, 바이러스·랜섬웨어를 자동으로 막으며, 시큐코리아의 24시간 지원이 함께 제공됩니다.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전후를 쉽게 비교하고, 호텔 경영진에게 중요한 네 가지 성과(고객 신뢰, 비즈니스 연속성, IT 업무 경감, 컴플라이언스)를 설명하십시오.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감사를 전하고 질의응답을 진행하십시오.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시큐코리아는 두 가지 방식으로 리조트를 지원합니다. 해외 사업장에 맞춘 24시간 원격 기술지원, 그리고 단일 창구가 되는 전담 엔지니어입니다. 필요 시 Trend Micro로 연계합니다. 리조트의 안정적이고 걱정 없는 보안을 약속합니다.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99" Type="http://schemas.openxmlformats.org/officeDocument/2006/relationships/notesSlide" Target="../notesSlides/notesSlide2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60120"/>
            <a:ext cx="4937760" cy="4937760"/>
          </a:xfrm>
          <a:prstGeom prst="ellipse">
            <a:avLst/>
          </a:prstGeom>
          <a:ln w="15875">
            <a:solidFill>
              <a:srgbClr val="0F8B9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417320"/>
            <a:ext cx="4023360" cy="4023360"/>
          </a:xfrm>
          <a:prstGeom prst="ellipse">
            <a:avLst/>
          </a:prstGeom>
          <a:ln w="15875">
            <a:solidFill>
              <a:srgbClr val="0F8B99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74520"/>
            <a:ext cx="3108960" cy="310896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08" y="2807208"/>
            <a:ext cx="1243584" cy="1243584"/>
          </a:xfrm>
          <a:prstGeom prst="rect">
            <a:avLst/>
          </a:prstGeom>
        </p:spPr>
      </p:pic>
      <p:pic>
        <p:nvPicPr>
          <p:cNvPr id="6" name="Image 1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645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제안서   |   엔드포인트 보안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9659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웨스틴 리조트 괌을 위한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엔드포인트 보호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Micro Apex One™ 기반 (EPP / EDR)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시큐코리아 보안 제안서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제안사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276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(주)시큐코리아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880360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880360" y="5276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웨스틴 리조트 괌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212080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제안일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212080" y="5276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9월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62179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pic>
        <p:nvPicPr>
          <p:cNvPr id="17" name="Image 2" descr="/private/tmp/claude-501/-Users-jihanvin-Desktop-NIVNAH-AI/16a96446-d9b3-40e2-af9e-a3011ae3db84/scratchpad/assets/tm_logo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089904"/>
            <a:ext cx="1340012" cy="475488"/>
          </a:xfrm>
          <a:prstGeom prst="rect">
            <a:avLst/>
          </a:prstGeom>
        </p:spPr>
      </p:pic>
      <p:pic>
        <p:nvPicPr>
          <p:cNvPr id="18" name="Image 3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현재 상황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리조트의 현재 상황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1753271"/>
            <a:ext cx="260787" cy="26078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5819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 무중단 호텔 운영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19293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개인정보, 결제 처리, 프런트 데스크·백오피스 시스템은 24시간 끊김 없이 보호되어야 합니다.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2850551"/>
            <a:ext cx="260787" cy="26078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67919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제한된 현장 보안 인력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302666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보안팀 없이 수동 패치와 건별 사고 조사를 계속하기는 어렵습니다.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3947831"/>
            <a:ext cx="260787" cy="26078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7764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엔드포인트 보안 없음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412394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리조트 PC·서버에 백신이나 EDR이 없어, 악성코드·랜섬웨어·침입을 알아채지도 막지도 못합니다.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4892040"/>
            <a:ext cx="566928" cy="56692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11" y="5045111"/>
            <a:ext cx="260787" cy="26078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87375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오래된 시스템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325880" y="522122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Windows 시스템과 호텔 애플리케이션은 빠르게 패치하기 어려워, 알려진 취약점이 공격에 노출됩니다.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452360" y="1554480"/>
            <a:ext cx="4190695" cy="4434840"/>
          </a:xfrm>
          <a:prstGeom prst="roundRect">
            <a:avLst>
              <a:gd name="adj" fmla="val 2618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818120" y="1828800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리조트에 필요한 것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3225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183880" y="2286000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악성코드·랜섬웨어 자동 방어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285292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183880" y="2816352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패치를 기다리지 않고 취약점 보호</a:t>
            </a:r>
            <a:endParaRPr lang="en-US" sz="13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383280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183880" y="3346704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시스템과 핵심 시스템 잠금</a:t>
            </a:r>
            <a:endParaRPr lang="en-US" sz="13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391363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183880" y="3877056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고객·결제 정보 보호 (PCI DSS)</a:t>
            </a:r>
            <a:endParaRPr lang="en-US" sz="13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4443984"/>
            <a:ext cx="237744" cy="237744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8183880" y="4407408"/>
            <a:ext cx="3093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IT팀의 일상 업무 부담 최소화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7818120" y="5120640"/>
            <a:ext cx="3459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목표는 더 많은 보고서가 아니라, 더 적은 사고입니다.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|   Trend Micro Apex One 제안서  ·  웨스틴 리조트 괌</a:t>
            </a:r>
            <a:endParaRPr lang="en-US" sz="900" dirty="0"/>
          </a:p>
        </p:txBody>
      </p:sp>
      <p:pic>
        <p:nvPicPr>
          <p:cNvPr id="35" name="Image 10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쉽게 이해하기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안전점검 vs. 모든 문을 지키는 경비원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074920" cy="3611880"/>
          </a:xfrm>
          <a:prstGeom prst="roundRect">
            <a:avLst>
              <a:gd name="adj" fmla="val 3544"/>
            </a:avLst>
          </a:prstGeom>
          <a:solidFill>
            <a:srgbClr val="F4F5F7"/>
          </a:solidFill>
          <a:ln w="9525">
            <a:solidFill>
              <a:srgbClr val="DEE1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658368" cy="658368"/>
          </a:xfrm>
          <a:prstGeom prst="ellipse">
            <a:avLst/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39" y="2052279"/>
            <a:ext cx="302849" cy="30284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09928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709928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점검원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점검원이 정해진 날 건물을 돌며 고장 난 자물쇠를 모두 적습니다. 유용하지만, 누군가 고치러 올 때까지 문은 열려 있습니다.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문제 발견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8912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일정에 보고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54880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88720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조치는 고객 몫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568135" y="1554480"/>
            <a:ext cx="5074920" cy="3611880"/>
          </a:xfrm>
          <a:prstGeom prst="roundRect">
            <a:avLst>
              <a:gd name="adj" fmla="val 3544"/>
            </a:avLst>
          </a:prstGeom>
          <a:solidFill>
            <a:srgbClr val="E7F5F7"/>
          </a:solidFill>
          <a:ln w="9525">
            <a:solidFill>
              <a:srgbClr val="BFE4E8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888175" y="1874520"/>
            <a:ext cx="658368" cy="658368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935" y="2052279"/>
            <a:ext cx="302849" cy="3028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729423" y="190195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MICRO APEX ONE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7729423" y="21579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경비원, 임시 자물쇠 &amp; 되돌리기 버튼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6888175" y="28803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문 앞에 경비원이 서고, 고장 난 문에는 바로 임시 자물쇠를 채우며(가상패치), 랜섬웨어가 공격해도 손상된 파일을 되살립니다.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8175" y="402336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208215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자동 차단</a:t>
            </a:r>
            <a:endParaRPr lang="en-US" sz="12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8175" y="438912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208215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고칠 때까지 취약점 보호</a:t>
            </a:r>
            <a:endParaRPr lang="en-US" sz="12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8175" y="475488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208215" y="4709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랜섬웨어 피해 복구</a:t>
            </a:r>
            <a:endParaRPr lang="en-US" sz="1250" dirty="0"/>
          </a:p>
        </p:txBody>
      </p:sp>
      <p:sp>
        <p:nvSpPr>
          <p:cNvPr id="29" name="Shape 18"/>
          <p:cNvSpPr/>
          <p:nvPr/>
        </p:nvSpPr>
        <p:spPr>
          <a:xfrm>
            <a:off x="5775808" y="3040380"/>
            <a:ext cx="640080" cy="640080"/>
          </a:xfrm>
          <a:prstGeom prst="ellipse">
            <a:avLst/>
          </a:prstGeom>
          <a:solidFill>
            <a:srgbClr val="1024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19"/>
          <p:cNvSpPr txBox="1"/>
          <p:nvPr/>
        </p:nvSpPr>
        <p:spPr>
          <a:xfrm>
            <a:off x="5775808" y="3040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42" name="Text 31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Nessus</a:t>
            </a:r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열린 문을 적어 주고,  </a:t>
            </a:r>
            <a:pPr indent="0" marL="0">
              <a:buNone/>
            </a:pPr>
            <a:r>
              <a:rPr lang="en-US" sz="1600" b="1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One</a:t>
            </a:r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바로 잠그고 랜섬웨어 피해까지 되돌립니다.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|   Trend Micro Apex One 제안서  ·  웨스틴 리조트 괌</a:t>
            </a:r>
            <a:endParaRPr lang="en-US" sz="900" dirty="0"/>
          </a:p>
        </p:txBody>
      </p:sp>
      <p:pic>
        <p:nvPicPr>
          <p:cNvPr id="44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기능 비교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비교: Nessus vs. Trend Micro Apex One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11880"/>
                <a:gridCol w="4739335"/>
              </a:tblGrid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Nessus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B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 Micro Apex One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B99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하는 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취약점을 찾아 보고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취약점 발견 + 공격 차단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모든 PC와 서버에서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보호 시점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정해진 스캔 날에만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 순간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사내·외부 어디서나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바이러스·랜섬웨어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차단 불가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차단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손상된 파일 복구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알려진 취약점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찾기만 하고, 조치는 수작업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발견 및 보호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패치 설치 전부터 보호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전문가 지원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미포함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시큐코리아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24시간 기술지원 + 전담 엔지니어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IT팀 업무 부담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D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 — 모든 항목을 수작업으로 조치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8B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— 보호가 자동으로 이뤄짐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|   Trend Micro Apex One 제안서  ·  웨스틴 리조트 괌</a:t>
            </a:r>
            <a:endParaRPr lang="en-US" sz="900" dirty="0"/>
          </a:p>
        </p:txBody>
      </p:sp>
      <p:pic>
        <p:nvPicPr>
          <p:cNvPr id="7" name="Image 1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기대 효과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무방비 상태에서 상시 보호로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4892040" cy="2788920"/>
          </a:xfrm>
          <a:prstGeom prst="roundRect">
            <a:avLst>
              <a:gd name="adj" fmla="val 4590"/>
            </a:avLst>
          </a:prstGeom>
          <a:solidFill>
            <a:srgbClr val="EAEEF3"/>
          </a:solidFill>
          <a:ln w="12700">
            <a:solidFill>
              <a:srgbClr val="EAEE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·  엔드포인트 보안 없음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07008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악성코드·랜섬웨어 방어 없음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4261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07008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전까지 취약점 노출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4495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07008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시스템 보호 어려움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4728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07008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중인 공격을 막을 방법 없음</a:t>
            </a:r>
            <a:endParaRPr lang="en-US" sz="12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49624"/>
            <a:ext cx="201168" cy="20116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207008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시 건별 수작업 대응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5775808" y="262890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629" y="2801722"/>
            <a:ext cx="294437" cy="294437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6751015" y="1554480"/>
            <a:ext cx="4892040" cy="2788920"/>
          </a:xfrm>
          <a:prstGeom prst="roundRect">
            <a:avLst>
              <a:gd name="adj" fmla="val 459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20" name="Text 11"/>
          <p:cNvSpPr txBox="1"/>
          <p:nvPr/>
        </p:nvSpPr>
        <p:spPr>
          <a:xfrm>
            <a:off x="7071055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후  ·  TREND MICRO APEX ONE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055" y="2240280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409383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PC·서버 자동 보호</a:t>
            </a:r>
            <a:endParaRPr lang="en-US" sz="12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1055" y="2642616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409383" y="25968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즉시 보호</a:t>
            </a:r>
            <a:endParaRPr lang="en-US" sz="12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1055" y="3044952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409383" y="2999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시스템 보호 및 잠금</a:t>
            </a:r>
            <a:endParaRPr lang="en-US" sz="12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1055" y="3447288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409383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랜섬웨어 차단 및 파일 복구</a:t>
            </a:r>
            <a:endParaRPr lang="en-US" sz="12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1055" y="3849624"/>
            <a:ext cx="201168" cy="201168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7409383" y="38039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일정에 패치</a:t>
            </a:r>
            <a:endParaRPr lang="en-US" sz="1250" dirty="0"/>
          </a:p>
        </p:txBody>
      </p:sp>
      <p:sp>
        <p:nvSpPr>
          <p:cNvPr id="31" name="Shape 17"/>
          <p:cNvSpPr/>
          <p:nvPr/>
        </p:nvSpPr>
        <p:spPr>
          <a:xfrm>
            <a:off x="548640" y="461772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E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18"/>
          <p:cNvSpPr/>
          <p:nvPr/>
        </p:nvSpPr>
        <p:spPr>
          <a:xfrm>
            <a:off x="777240" y="4846320"/>
            <a:ext cx="475488" cy="475488"/>
          </a:xfrm>
          <a:prstGeom prst="ellipse">
            <a:avLst/>
          </a:prstGeom>
          <a:solidFill>
            <a:srgbClr val="E7F5F7"/>
          </a:solidFill>
          <a:ln w="12700">
            <a:solidFill>
              <a:srgbClr val="E7F5F7"/>
            </a:solidFill>
            <a:prstDash val="solid"/>
          </a:ln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622" y="4974702"/>
            <a:ext cx="218724" cy="218724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1371600" y="4846320"/>
            <a:ext cx="160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신뢰 보호</a:t>
            </a:r>
            <a:endParaRPr lang="en-US" sz="1300" dirty="0"/>
          </a:p>
        </p:txBody>
      </p:sp>
      <p:sp>
        <p:nvSpPr>
          <p:cNvPr id="35" name="Text 20"/>
          <p:cNvSpPr txBox="1"/>
          <p:nvPr/>
        </p:nvSpPr>
        <p:spPr>
          <a:xfrm>
            <a:off x="777240" y="544068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정보와 결제 안전 확보</a:t>
            </a:r>
            <a:endParaRPr lang="en-US" sz="1100" dirty="0"/>
          </a:p>
        </p:txBody>
      </p:sp>
      <p:sp>
        <p:nvSpPr>
          <p:cNvPr id="36" name="Shape 21"/>
          <p:cNvSpPr/>
          <p:nvPr/>
        </p:nvSpPr>
        <p:spPr>
          <a:xfrm>
            <a:off x="3390824" y="461772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E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22"/>
          <p:cNvSpPr/>
          <p:nvPr/>
        </p:nvSpPr>
        <p:spPr>
          <a:xfrm>
            <a:off x="3619424" y="4846320"/>
            <a:ext cx="475488" cy="475488"/>
          </a:xfrm>
          <a:prstGeom prst="ellipse">
            <a:avLst/>
          </a:prstGeom>
          <a:solidFill>
            <a:srgbClr val="E7F5F7"/>
          </a:solidFill>
          <a:ln w="12700">
            <a:solidFill>
              <a:srgbClr val="E7F5F7"/>
            </a:solidFill>
            <a:prstDash val="solid"/>
          </a:ln>
        </p:spPr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7806" y="4974702"/>
            <a:ext cx="218724" cy="218724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4213784" y="4846320"/>
            <a:ext cx="160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연속성</a:t>
            </a:r>
            <a:endParaRPr lang="en-US" sz="1300" dirty="0"/>
          </a:p>
        </p:txBody>
      </p:sp>
      <p:sp>
        <p:nvSpPr>
          <p:cNvPr id="40" name="Text 24"/>
          <p:cNvSpPr txBox="1"/>
          <p:nvPr/>
        </p:nvSpPr>
        <p:spPr>
          <a:xfrm>
            <a:off x="3619424" y="544068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패치·랜섬웨어로 인한 중단 없음</a:t>
            </a:r>
            <a:endParaRPr lang="en-US" sz="1100" dirty="0"/>
          </a:p>
        </p:txBody>
      </p:sp>
      <p:sp>
        <p:nvSpPr>
          <p:cNvPr id="41" name="Shape 25"/>
          <p:cNvSpPr/>
          <p:nvPr/>
        </p:nvSpPr>
        <p:spPr>
          <a:xfrm>
            <a:off x="6233008" y="461772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E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26"/>
          <p:cNvSpPr/>
          <p:nvPr/>
        </p:nvSpPr>
        <p:spPr>
          <a:xfrm>
            <a:off x="6461608" y="4846320"/>
            <a:ext cx="475488" cy="475488"/>
          </a:xfrm>
          <a:prstGeom prst="ellipse">
            <a:avLst/>
          </a:prstGeom>
          <a:solidFill>
            <a:srgbClr val="E7F5F7"/>
          </a:solidFill>
          <a:ln w="12700">
            <a:solidFill>
              <a:srgbClr val="E7F5F7"/>
            </a:solidFill>
            <a:prstDash val="solid"/>
          </a:ln>
        </p:spPr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9989" y="4974702"/>
            <a:ext cx="218724" cy="218724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7055968" y="4846320"/>
            <a:ext cx="160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업무 부담 경감</a:t>
            </a:r>
            <a:endParaRPr lang="en-US" sz="1300" dirty="0"/>
          </a:p>
        </p:txBody>
      </p:sp>
      <p:sp>
        <p:nvSpPr>
          <p:cNvPr id="45" name="Text 28"/>
          <p:cNvSpPr txBox="1"/>
          <p:nvPr/>
        </p:nvSpPr>
        <p:spPr>
          <a:xfrm>
            <a:off x="6461608" y="544068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+ 시큐코리아 24시간 지원</a:t>
            </a:r>
            <a:endParaRPr lang="en-US" sz="1100" dirty="0"/>
          </a:p>
        </p:txBody>
      </p:sp>
      <p:sp>
        <p:nvSpPr>
          <p:cNvPr id="46" name="Shape 29"/>
          <p:cNvSpPr/>
          <p:nvPr/>
        </p:nvSpPr>
        <p:spPr>
          <a:xfrm>
            <a:off x="9075191" y="461772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E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Shape 30"/>
          <p:cNvSpPr/>
          <p:nvPr/>
        </p:nvSpPr>
        <p:spPr>
          <a:xfrm>
            <a:off x="9303791" y="4846320"/>
            <a:ext cx="475488" cy="475488"/>
          </a:xfrm>
          <a:prstGeom prst="ellipse">
            <a:avLst/>
          </a:prstGeom>
          <a:solidFill>
            <a:srgbClr val="E7F5F7"/>
          </a:solidFill>
          <a:ln w="12700">
            <a:solidFill>
              <a:srgbClr val="E7F5F7"/>
            </a:solidFill>
            <a:prstDash val="solid"/>
          </a:ln>
        </p:spPr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32173" y="4974702"/>
            <a:ext cx="218724" cy="218724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9898151" y="4846320"/>
            <a:ext cx="1607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컴플라이언스 대응</a:t>
            </a:r>
            <a:endParaRPr lang="en-US" sz="1300" dirty="0"/>
          </a:p>
        </p:txBody>
      </p:sp>
      <p:sp>
        <p:nvSpPr>
          <p:cNvPr id="50" name="Text 32"/>
          <p:cNvSpPr txBox="1"/>
          <p:nvPr/>
        </p:nvSpPr>
        <p:spPr>
          <a:xfrm>
            <a:off x="9303791" y="544068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템플릿과 감사 대응 보고</a:t>
            </a:r>
            <a:endParaRPr lang="en-US" sz="1100" dirty="0"/>
          </a:p>
        </p:txBody>
      </p:sp>
      <p:sp>
        <p:nvSpPr>
          <p:cNvPr id="51" name="Text 33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|   Trend Micro Apex One 제안서  ·  웨스틴 리조트 괌</a:t>
            </a:r>
            <a:endParaRPr lang="en-US" sz="900" dirty="0"/>
          </a:p>
        </p:txBody>
      </p:sp>
      <p:pic>
        <p:nvPicPr>
          <p:cNvPr id="52" name="Image 16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48640" y="6090000"/>
            <a:ext cx="11094415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8B99"/>
                </a:solidFill>
                <a:latin typeface="Calibri"/>
                <a:ea typeface="Malgun Gothic"/>
              </a:rPr>
              <a:t>제안 범위:  </a:t>
            </a:r>
            <a:r>
              <a:rPr sz="1050" b="0">
                <a:solidFill>
                  <a:srgbClr val="5F6670"/>
                </a:solidFill>
                <a:latin typeface="Calibri"/>
                <a:ea typeface="Malgun Gothic"/>
              </a:rPr>
              <a:t>Apex One On-premises — Standard 115대 + Advanced 10대 (1년 구독), 시큐코리아 24시간 지원 포함.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핵심 보호 기능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호텔에 가장 중요한 두 가지 보호 기능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8288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랜섬웨어 차단 &amp; 복구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암호화를 순식간에 차단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2" y="296174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807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탐지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머신러닝과 전문가 규칙으로 수상한 파일 암호화를 포착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88720" y="3447288"/>
            <a:ext cx="0" cy="329184"/>
          </a:xfrm>
          <a:prstGeom prst="line">
            <a:avLst/>
          </a:prstGeom>
          <a:noFill/>
          <a:ln w="19050">
            <a:solidFill>
              <a:srgbClr val="5A606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3967582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차단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암호화 프로세스를 즉시 종료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1188720" y="4453128"/>
            <a:ext cx="0" cy="329184"/>
          </a:xfrm>
          <a:prstGeom prst="line">
            <a:avLst/>
          </a:prstGeom>
          <a:noFill/>
          <a:ln w="19050">
            <a:solidFill>
              <a:srgbClr val="5A606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8680" y="480060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2" y="497342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818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복구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전에 암호화된 파일도 자동으로 복구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1554480"/>
            <a:ext cx="5425135" cy="4434840"/>
          </a:xfrm>
          <a:prstGeom prst="roundRect">
            <a:avLst>
              <a:gd name="adj" fmla="val 2887"/>
            </a:avLst>
          </a:prstGeom>
          <a:solidFill>
            <a:srgbClr val="F4F5F7"/>
          </a:solidFill>
          <a:ln w="9525">
            <a:solidFill>
              <a:srgbClr val="DEE1E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537960" y="1828800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가상패치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2103120"/>
            <a:ext cx="4785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 채우는 임시 자물쇠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537960" y="254203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패치할 수 없는 오래된 시스템까지 취약점을 즉시 보호합니다.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537960" y="301752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840" y="3106400"/>
            <a:ext cx="151425" cy="15142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40880" y="298094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설치 전에 알려진 취약점 공격 차단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537960" y="356616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840" y="3655040"/>
            <a:ext cx="151425" cy="15142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352958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지원이 끝난 오래된 Windows 시스템 보호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537960" y="411480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840" y="4203680"/>
            <a:ext cx="151425" cy="15142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40880" y="407822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성수기 긴급 패치 불필요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6537960" y="466344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840" y="4752320"/>
            <a:ext cx="151425" cy="15142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40880" y="462686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패치는 원하는 일정에 설치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537960" y="521208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6840" y="5300960"/>
            <a:ext cx="151425" cy="15142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40880" y="517550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Micro Zero Day Initiative 연구 기반</a:t>
            </a:r>
            <a:endParaRPr lang="en-US" sz="1250" dirty="0"/>
          </a:p>
        </p:txBody>
      </p:sp>
      <p:sp>
        <p:nvSpPr>
          <p:cNvPr id="41" name="Text 30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|   Trend Micro Apex One 제안서  ·  웨스틴 리조트 괌</a:t>
            </a:r>
            <a:endParaRPr lang="en-US" sz="900" dirty="0"/>
          </a:p>
        </p:txBody>
      </p:sp>
      <p:pic>
        <p:nvPicPr>
          <p:cNvPr id="42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기술지원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시큐코리아 기술지원</a:t>
            </a:r>
            <a:endParaRPr lang="en-US" sz="2800" dirty="0"/>
          </a:p>
        </p:txBody>
      </p:sp>
      <p:pic>
        <p:nvPicPr>
          <p:cNvPr id="4" name="Image 0" descr="/private/tmp/claude-501/-Users-jihanvin-Desktop-NIVNAH-AI/16a96446-d9b3-40e2-af9e-a3011ae3db84/scratchpad/assets/westin_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402336"/>
            <a:ext cx="1005840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8288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 기술지원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리조트가 필요할 때 언제든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2" y="296174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807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연락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전화·이메일로 언제든 시큐코리아에 연락 — 시차 걱정 없음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1188720" y="3447288"/>
            <a:ext cx="0" cy="329184"/>
          </a:xfrm>
          <a:prstGeom prst="line">
            <a:avLst/>
          </a:prstGeom>
          <a:noFill/>
          <a:ln w="19050">
            <a:solidFill>
              <a:srgbClr val="5A606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3967582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진단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엔지니어가 원격으로 접속해 상황 확인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1188720" y="4453128"/>
            <a:ext cx="0" cy="329184"/>
          </a:xfrm>
          <a:prstGeom prst="line">
            <a:avLst/>
          </a:prstGeom>
          <a:noFill/>
          <a:ln w="19050">
            <a:solidFill>
              <a:srgbClr val="5A606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8680" y="4800600"/>
            <a:ext cx="640080" cy="640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2" y="497342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4818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해결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5120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원격으로 문제를 해결하고, 안정될 때까지 사후 점검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1554480"/>
            <a:ext cx="5425135" cy="4434840"/>
          </a:xfrm>
          <a:prstGeom prst="roundRect">
            <a:avLst>
              <a:gd name="adj" fmla="val 2887"/>
            </a:avLst>
          </a:prstGeom>
          <a:solidFill>
            <a:srgbClr val="F4F5F7"/>
          </a:solidFill>
          <a:ln w="9525">
            <a:solidFill>
              <a:srgbClr val="DEE1E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537960" y="1828800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엔지니어 배정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2103120"/>
            <a:ext cx="4785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리조트 전담 엔지니어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537960" y="2542032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시큐코리아가 웨스틴 리조트 괌에 전담 엔지니어를 배정합니다.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537960" y="301752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840" y="3106400"/>
            <a:ext cx="151425" cy="15142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40880" y="298094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일상 요청을 위한 단일 창구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537960" y="356616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840" y="3655040"/>
            <a:ext cx="151425" cy="15142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352958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시 Trend Micro로 신속한 연계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537960" y="411480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840" y="4203680"/>
            <a:ext cx="151425" cy="15142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40880" y="407822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안정적이고 끊김 없는 보안을 약속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6537960" y="466344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840" y="4752320"/>
            <a:ext cx="151425" cy="15142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040880" y="462686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리조트의 완벽한 보안 안심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537960" y="5212080"/>
            <a:ext cx="329184" cy="329184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6840" y="5300960"/>
            <a:ext cx="151425" cy="15142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40880" y="5175504"/>
            <a:ext cx="4327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안전을 함께 지키는 장기 파트너</a:t>
            </a:r>
            <a:endParaRPr lang="en-US" sz="1250" dirty="0"/>
          </a:p>
        </p:txBody>
      </p:sp>
      <p:sp>
        <p:nvSpPr>
          <p:cNvPr id="41" name="Text 30"/>
          <p:cNvSpPr txBox="1"/>
          <p:nvPr/>
        </p:nvSpPr>
        <p:spPr>
          <a:xfrm>
            <a:off x="548640" y="64465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|   Trend Micro Apex One 제안서  ·  웨스틴 리조트 괌</a:t>
            </a:r>
            <a:endParaRPr lang="en-US" sz="900" dirty="0"/>
          </a:p>
        </p:txBody>
      </p:sp>
      <p:pic>
        <p:nvPicPr>
          <p:cNvPr id="42" name="Image 9" descr="/private/tmp/claude-501/-Users-jihanvin-Desktop-NIVNAH-AI/16a96446-d9b3-40e2-af9e-a3011ae3db84/scratchpad/assets/secukorea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6400800"/>
            <a:ext cx="978408" cy="2331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754880" cy="4754880"/>
          </a:xfrm>
          <a:prstGeom prst="ellipse">
            <a:avLst/>
          </a:prstGeom>
          <a:ln w="15875">
            <a:solidFill>
              <a:srgbClr val="0F8B9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371600"/>
            <a:ext cx="3840480" cy="3840480"/>
          </a:xfrm>
          <a:prstGeom prst="ellipse">
            <a:avLst/>
          </a:prstGeom>
          <a:ln w="15875">
            <a:solidFill>
              <a:srgbClr val="0F8B99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828800"/>
            <a:ext cx="2926080" cy="2926080"/>
          </a:xfrm>
          <a:prstGeom prst="ellipse">
            <a:avLst/>
          </a:prstGeom>
          <a:solidFill>
            <a:srgbClr val="0F8B99"/>
          </a:solidFill>
          <a:ln w="12700">
            <a:solidFill>
              <a:srgbClr val="0F8B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4" y="2706624"/>
            <a:ext cx="1170432" cy="1170432"/>
          </a:xfrm>
          <a:prstGeom prst="rect">
            <a:avLst/>
          </a:prstGeom>
        </p:spPr>
      </p:pic>
      <p:pic>
        <p:nvPicPr>
          <p:cNvPr id="6" name="Image 1" descr="/private/tmp/claude-501/-Users-jihanvin-Desktop-NIVNAH-AI/16a96446-d9b3-40e2-af9e-a3011ae3db84/scratchpad/assets/west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37160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423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6118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Micro Apex One으로 완성하는 웨스틴 리조트 괌의 자동·상시 엔드포인트 보호.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2686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2688" y="45720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secukorea@secukorea.com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38344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32688" y="4983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+82-2-3400-0877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49824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32688" y="5394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www.secukorea.com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7818120" y="62179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pic>
        <p:nvPicPr>
          <p:cNvPr id="17" name="Image 5" descr="/private/tmp/claude-501/-Users-jihanvin-Desktop-NIVNAH-AI/16a96446-d9b3-40e2-af9e-a3011ae3db84/scratchpad/assets/tm_logo_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6089904"/>
            <a:ext cx="1340012" cy="475488"/>
          </a:xfrm>
          <a:prstGeom prst="rect">
            <a:avLst/>
          </a:prstGeom>
        </p:spPr>
      </p:pic>
      <p:pic>
        <p:nvPicPr>
          <p:cNvPr id="18" name="Image 6" descr="/private/tmp/claude-501/-Users-jihanvin-Desktop-NIVNAH-AI/16a96446-d9b3-40e2-af9e-a3011ae3db84/scratchpad/assets/secukorea_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6163056"/>
            <a:ext cx="1325880" cy="315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SECUKOREA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Nessus vs. Trend Micro Apex One — Proposal for The Westin Resort Guam</dc:title>
  <dc:subject>PptxGenJS Presentation</dc:subject>
  <dc:creator>SECUKOREA Inc.</dc:creator>
  <cp:lastModifiedBy>SECUKOREA Inc.</cp:lastModifiedBy>
  <cp:revision>1</cp:revision>
  <dcterms:created xsi:type="dcterms:W3CDTF">2026-09-23T08:02:01Z</dcterms:created>
  <dcterms:modified xsi:type="dcterms:W3CDTF">2026-09-23T08:02:01Z</dcterms:modified>
</cp:coreProperties>
</file>