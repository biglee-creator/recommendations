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notesSlides/notesSlide2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6" r:id="rId27"/>
    <p:sldId id="273" r:id="rId19"/>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9" Type="http://schemas.openxmlformats.org/officeDocument/2006/relationships/slide" Target="slides/slide18.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  <Relationship Id="rId27" Type="http://schemas.openxmlformats.org/officeDocument/2006/relationships/slide" Target="slides/slide2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proposal compares the resort’s current tool, Nessus, with Trend Micro Apex One and recommends replacing Nessus with Apex One: vulnerability assessment plus automatic protection and virtual patching in one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Nessus only tells us where the gaps are. Apex One replaces it — it assesses vulnerabilities and also closes them automatically, including virtual patches for systems that cannot be patched right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a 24/7 resort with a small IT team, payment terminals and some older systems. Nessus only produces findings; the resort needs a tool that also protects.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Nessus: it is a good vulnerability scanner. But its job ends with a report. Shielding, prevention, response and remediation are all left to the IT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non-technical stakeholders: Nessus is the inspector who lists broken locks. Apex One replaces the inspector — it finds the broken locks too, posts a guard at every door, fits a temporary lock right away, and can undo ransomware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timeline; actual timing varies by vulnerability. The point: without virtual patching, every vulnerability stays exploitable from disclosure until the patch is installed. Apex One shields the endpoint early, often before the vendor patch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One is automated, insightful and connected, delivered as one lightweight agent. It natively covers Windows, Mac, servers and POS terminals. In this proposal it runs on premises: an Apex One server with the Apex Central console, connected to Trend Micro’s Smart Protection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One does not rely on one technique. Known-good and known-bad are handled quickly; unknown files pass through machine learning and behavioral analysis. This keeps detection high with few false alarms.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One replaces the scanner and goes further: it finds the CVE, shields it the same day with a virtual patch, and IT installs the permanent patch in a planned window. Especially valuable for legacy systems that may never get a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protections that matter most for a hotel: ransomware is stopped and its damage undone, and POS or front-desk systems can be locked so only approved software ever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Guest data and card data are the resort’s most sensitive assets. Data loss prevention, device control and web protection work in the same Apex One agent, with PCI DSS templates out of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for a small IT team: Apex One detects and stops attacks by behavior, isolates infected endpoints, and gives one console for investigation. SECUKOREA engineers support the resort around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covers Apex One On-premises: 115 Standard and 10 Advanced licenses on a 1-year subscription, backed by SECUKOREA’s 24/7 technical support and a dedicated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summary. Apex One covers what Nessus does on endpoints — vulnerability assessment — and adds protection, virtual patching, POS lockdown and data protection, with lower day-to-day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 Micro is an established vendor with 30+ years in security. Customer examples include a quick-service restaurant chain with POS environments, similar to hospitality.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replace Nessus with Apex One. Apex One is deployed first and its vulnerability assessments are verified; Nessus is then retired, so there is never a gap in visibility. SECUKOREA supports the resort 24/7.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before and after, then the four business outcomes that matter to hotel management: guest trust, continuity, IT workload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SECUKOREA supports the resort in two simple ways: 24/7 remote technical support built for overseas sites, and a dedicated engineer assigned to The Westin Resort Guam for stable, well-maintained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slideLayout" Target="../slideLayouts/slideLayout1.xml"/><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slideLayout" Target="../slideLayouts/slideLayout1.xml"/><Relationship Id="rId1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image" Target="../media/image-8-21.png"/><Relationship Id="rId22" Type="http://schemas.openxmlformats.org/officeDocument/2006/relationships/image" Target="../media/image-8-22.png"/><Relationship Id="rId23" Type="http://schemas.openxmlformats.org/officeDocument/2006/relationships/slideLayout" Target="../slideLayouts/slideLayout1.xml"/><Relationship Id="rId2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slideLayout" Target="../slideLayouts/slideLayout1.xml"/><Relationship Id="rId1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slideLayout" Target="../slideLayouts/slideLayout1.xml"/><Relationship Id="rId2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image" Target="../media/image-18-16.png"/><Relationship Id="rId17" Type="http://schemas.openxmlformats.org/officeDocument/2006/relationships/image" Target="../media/image-18-17.png"/><Relationship Id="rId18" Type="http://schemas.openxmlformats.org/officeDocument/2006/relationships/slideLayout" Target="../slideLayouts/slideLayout1.xml"/><Relationship Id="rId19"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99"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A"/>
        </a:solidFill>
      </p:bgPr>
    </p:bg>
    <p:spTree>
      <p:nvGrpSpPr>
        <p:cNvPr id="1" name=""/>
        <p:cNvGrpSpPr/>
        <p:nvPr/>
      </p:nvGrpSpPr>
      <p:grpSpPr>
        <a:xfrm>
          <a:off x="0" y="0"/>
          <a:ext cx="0" cy="0"/>
          <a:chOff x="0" y="0"/>
          <a:chExt cx="0" cy="0"/>
        </a:xfrm>
      </p:grpSpPr>
      <p:sp>
        <p:nvSpPr>
          <p:cNvPr id="2" name="Shape 0"/>
          <p:cNvSpPr/>
          <p:nvPr/>
        </p:nvSpPr>
        <p:spPr>
          <a:xfrm>
            <a:off x="7132320" y="960120"/>
            <a:ext cx="4937760" cy="4937760"/>
          </a:xfrm>
          <a:prstGeom prst="ellipse">
            <a:avLst/>
          </a:prstGeom>
          <a:ln w="15875">
            <a:solidFill>
              <a:srgbClr val="0F8B99">
                <a:alpha val="15000"/>
              </a:srgbClr>
            </a:solidFill>
            <a:prstDash val="solid"/>
          </a:ln>
        </p:spPr>
      </p:sp>
      <p:sp>
        <p:nvSpPr>
          <p:cNvPr id="3" name="Shape 1"/>
          <p:cNvSpPr/>
          <p:nvPr/>
        </p:nvSpPr>
        <p:spPr>
          <a:xfrm>
            <a:off x="7589520" y="1417320"/>
            <a:ext cx="4023360" cy="4023360"/>
          </a:xfrm>
          <a:prstGeom prst="ellipse">
            <a:avLst/>
          </a:prstGeom>
          <a:ln w="15875">
            <a:solidFill>
              <a:srgbClr val="0F8B99">
                <a:alpha val="35000"/>
              </a:srgbClr>
            </a:solidFill>
            <a:prstDash val="solid"/>
          </a:ln>
        </p:spPr>
      </p:sp>
      <p:sp>
        <p:nvSpPr>
          <p:cNvPr id="4" name="Shape 2"/>
          <p:cNvSpPr/>
          <p:nvPr/>
        </p:nvSpPr>
        <p:spPr>
          <a:xfrm>
            <a:off x="8046720" y="1874520"/>
            <a:ext cx="3108960" cy="3108960"/>
          </a:xfrm>
          <a:prstGeom prst="ellipse">
            <a:avLst/>
          </a:prstGeom>
          <a:solidFill>
            <a:srgbClr val="0F8B99"/>
          </a:solidFill>
          <a:ln w="12700">
            <a:solidFill>
              <a:srgbClr val="0F8B99"/>
            </a:solidFill>
            <a:prstDash val="solid"/>
          </a:ln>
        </p:spPr>
      </p:sp>
      <p:pic>
        <p:nvPicPr>
          <p:cNvPr id="5" name="Image 0" descr="preencoded.png">    </p:cNvPr>
          <p:cNvPicPr>
            <a:picLocks noChangeAspect="1"/>
          </p:cNvPicPr>
          <p:nvPr/>
        </p:nvPicPr>
        <p:blipFill>
          <a:blip r:embed="rId1"/>
          <a:stretch>
            <a:fillRect/>
          </a:stretch>
        </p:blipFill>
        <p:spPr>
          <a:xfrm>
            <a:off x="8979408" y="2807208"/>
            <a:ext cx="1243584" cy="1243584"/>
          </a:xfrm>
          <a:prstGeom prst="rect">
            <a:avLst/>
          </a:prstGeom>
        </p:spPr>
      </p:pic>
      <p:pic>
        <p:nvPicPr>
          <p:cNvPr id="6" name="Image 1" descr="/private/tmp/claude-501/-Users-jihanvin-Desktop-NIVNAH-AI/16a96446-d9b3-40e2-af9e-a3011ae3db84/scratchpad/assets/westin_white.png">    </p:cNvPr>
          <p:cNvPicPr>
            <a:picLocks noChangeAspect="1"/>
          </p:cNvPicPr>
          <p:nvPr/>
        </p:nvPicPr>
        <p:blipFill>
          <a:blip r:embed="rId2"/>
          <a:stretch>
            <a:fillRect/>
          </a:stretch>
        </p:blipFill>
        <p:spPr>
          <a:xfrm>
            <a:off x="548640" y="502920"/>
            <a:ext cx="1371600" cy="411480"/>
          </a:xfrm>
          <a:prstGeom prst="rect">
            <a:avLst/>
          </a:prstGeom>
        </p:spPr>
      </p:pic>
      <p:sp>
        <p:nvSpPr>
          <p:cNvPr id="7" name="Text 3"/>
          <p:cNvSpPr txBox="1"/>
          <p:nvPr/>
        </p:nvSpPr>
        <p:spPr>
          <a:xfrm>
            <a:off x="548640" y="1645920"/>
            <a:ext cx="6400800" cy="292608"/>
          </a:xfrm>
          <a:prstGeom prst="rect">
            <a:avLst/>
          </a:prstGeom>
          <a:noFill/>
          <a:ln/>
        </p:spPr>
        <p:txBody>
          <a:bodyPr wrap="square" lIns="0" tIns="0" rIns="0" bIns="0" rtlCol="0" anchor="t"/>
          <a:lstStyle/>
          <a:p>
            <a:pPr indent="0" marL="0">
              <a:buNone/>
            </a:pPr>
            <a:r>
              <a:rPr lang="en-US" sz="1200" b="1" spc="300" kern="0" dirty="0">
                <a:solidFill>
                  <a:srgbClr val="0F8B99"/>
                </a:solidFill>
                <a:latin typeface="Arial" pitchFamily="34" charset="0"/>
                <a:ea typeface="Arial" pitchFamily="34" charset="-122"/>
                <a:cs typeface="Arial" pitchFamily="34" charset="-120"/>
              </a:rPr>
              <a:t>BUSINESS PROPOSAL   |   ENDPOINT SECURITY</a:t>
            </a:r>
            <a:endParaRPr lang="en-US" sz="1200" dirty="0"/>
          </a:p>
        </p:txBody>
      </p:sp>
      <p:sp>
        <p:nvSpPr>
          <p:cNvPr id="8" name="Text 4"/>
          <p:cNvSpPr txBox="1"/>
          <p:nvPr/>
        </p:nvSpPr>
        <p:spPr>
          <a:xfrm>
            <a:off x="548640" y="1965960"/>
            <a:ext cx="6400800" cy="182880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From Finding</a:t>
            </a:r>
            <a:endParaRPr lang="en-US" sz="3600" dirty="0"/>
          </a:p>
          <a:p>
            <a:pPr indent="0" marL="0">
              <a:buNone/>
            </a:pPr>
            <a:r>
              <a:rPr lang="en-US" sz="3600" b="1" dirty="0">
                <a:solidFill>
                  <a:srgbClr val="FFFFFF"/>
                </a:solidFill>
                <a:latin typeface="Arial" pitchFamily="34" charset="0"/>
                <a:ea typeface="Arial" pitchFamily="34" charset="-122"/>
                <a:cs typeface="Arial" pitchFamily="34" charset="-120"/>
              </a:rPr>
              <a:t>Vulnerabilities to</a:t>
            </a:r>
            <a:endParaRPr lang="en-US" sz="3600" dirty="0"/>
          </a:p>
          <a:p>
            <a:pPr indent="0" marL="0">
              <a:buNone/>
            </a:pPr>
            <a:r>
              <a:rPr lang="en-US" sz="3600" b="1" dirty="0">
                <a:solidFill>
                  <a:srgbClr val="FFFFFF"/>
                </a:solidFill>
                <a:latin typeface="Arial" pitchFamily="34" charset="0"/>
                <a:ea typeface="Arial" pitchFamily="34" charset="-122"/>
                <a:cs typeface="Arial" pitchFamily="34" charset="-120"/>
              </a:rPr>
              <a:t>Stopping Attacks</a:t>
            </a:r>
            <a:endParaRPr lang="en-US" sz="3600" dirty="0"/>
          </a:p>
        </p:txBody>
      </p:sp>
      <p:sp>
        <p:nvSpPr>
          <p:cNvPr id="9" name="Text 5"/>
          <p:cNvSpPr txBox="1"/>
          <p:nvPr/>
        </p:nvSpPr>
        <p:spPr>
          <a:xfrm>
            <a:off x="548640" y="3931920"/>
            <a:ext cx="6400800" cy="731520"/>
          </a:xfrm>
          <a:prstGeom prst="rect">
            <a:avLst/>
          </a:prstGeom>
          <a:noFill/>
          <a:ln/>
        </p:spPr>
        <p:txBody>
          <a:bodyPr wrap="square" lIns="0" tIns="0" rIns="0" bIns="0" rtlCol="0" anchor="t"/>
          <a:lstStyle/>
          <a:p>
            <a:pPr indent="0" marL="0">
              <a:spcAft>
                <a:spcPts val="400"/>
              </a:spcAft>
              <a:buNone/>
            </a:pPr>
            <a:r>
              <a:rPr lang="en-US" sz="1800" b="1" dirty="0">
                <a:solidFill>
                  <a:srgbClr val="FFFFFF"/>
                </a:solidFill>
                <a:latin typeface="Calibri" pitchFamily="34" charset="0"/>
                <a:ea typeface="Calibri" pitchFamily="34" charset="-122"/>
                <a:cs typeface="Calibri" pitchFamily="34" charset="-120"/>
              </a:rPr>
              <a:t>Nessus vs. Trend Micro Apex One™ (EPP / EDR)</a:t>
            </a:r>
            <a:endParaRPr lang="en-US" sz="1800" dirty="0"/>
          </a:p>
          <a:p>
            <a:pPr indent="0" marL="0">
              <a:spcAft>
                <a:spcPts val="400"/>
              </a:spcAft>
              <a:buNone/>
            </a:pPr>
            <a:r>
              <a:rPr lang="en-US" sz="1800" dirty="0">
                <a:solidFill>
                  <a:srgbClr val="C8CCD2"/>
                </a:solidFill>
                <a:latin typeface="Calibri" pitchFamily="34" charset="0"/>
                <a:ea typeface="Calibri" pitchFamily="34" charset="-122"/>
                <a:cs typeface="Calibri" pitchFamily="34" charset="-120"/>
              </a:rPr>
              <a:t>A comparative proposal for The Westin Resort Guam</a:t>
            </a:r>
            <a:endParaRPr lang="en-US" sz="1800" dirty="0"/>
          </a:p>
        </p:txBody>
      </p:sp>
      <p:sp>
        <p:nvSpPr>
          <p:cNvPr id="10" name="Text 6"/>
          <p:cNvSpPr txBox="1"/>
          <p:nvPr/>
        </p:nvSpPr>
        <p:spPr>
          <a:xfrm>
            <a:off x="548640" y="5029200"/>
            <a:ext cx="2194560" cy="219456"/>
          </a:xfrm>
          <a:prstGeom prst="rect">
            <a:avLst/>
          </a:prstGeom>
          <a:noFill/>
          <a:ln/>
        </p:spPr>
        <p:txBody>
          <a:bodyPr wrap="square" lIns="0" tIns="0" rIns="0" bIns="0" rtlCol="0" anchor="t"/>
          <a:lstStyle/>
          <a:p>
            <a:pPr indent="0" marL="0">
              <a:buNone/>
            </a:pPr>
            <a:r>
              <a:rPr lang="en-US" sz="1000" b="1" spc="200" kern="0" dirty="0">
                <a:solidFill>
                  <a:srgbClr val="0F8B99"/>
                </a:solidFill>
                <a:latin typeface="Calibri" pitchFamily="34" charset="0"/>
                <a:ea typeface="Calibri" pitchFamily="34" charset="-122"/>
                <a:cs typeface="Calibri" pitchFamily="34" charset="-120"/>
              </a:rPr>
              <a:t>PROPOSER</a:t>
            </a:r>
            <a:endParaRPr lang="en-US" sz="1000" dirty="0"/>
          </a:p>
        </p:txBody>
      </p:sp>
      <p:sp>
        <p:nvSpPr>
          <p:cNvPr id="11" name="Text 7"/>
          <p:cNvSpPr txBox="1"/>
          <p:nvPr/>
        </p:nvSpPr>
        <p:spPr>
          <a:xfrm>
            <a:off x="548640" y="5276088"/>
            <a:ext cx="219456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SECUKOREA Inc.</a:t>
            </a:r>
            <a:endParaRPr lang="en-US" sz="1500" dirty="0"/>
          </a:p>
        </p:txBody>
      </p:sp>
      <p:sp>
        <p:nvSpPr>
          <p:cNvPr id="12" name="Text 8"/>
          <p:cNvSpPr txBox="1"/>
          <p:nvPr/>
        </p:nvSpPr>
        <p:spPr>
          <a:xfrm>
            <a:off x="2880360" y="5029200"/>
            <a:ext cx="2194560" cy="219456"/>
          </a:xfrm>
          <a:prstGeom prst="rect">
            <a:avLst/>
          </a:prstGeom>
          <a:noFill/>
          <a:ln/>
        </p:spPr>
        <p:txBody>
          <a:bodyPr wrap="square" lIns="0" tIns="0" rIns="0" bIns="0" rtlCol="0" anchor="t"/>
          <a:lstStyle/>
          <a:p>
            <a:pPr indent="0" marL="0">
              <a:buNone/>
            </a:pPr>
            <a:r>
              <a:rPr lang="en-US" sz="1000" b="1" spc="200" kern="0" dirty="0">
                <a:solidFill>
                  <a:srgbClr val="0F8B99"/>
                </a:solidFill>
                <a:latin typeface="Calibri" pitchFamily="34" charset="0"/>
                <a:ea typeface="Calibri" pitchFamily="34" charset="-122"/>
                <a:cs typeface="Calibri" pitchFamily="34" charset="-120"/>
              </a:rPr>
              <a:t>CLIENT</a:t>
            </a:r>
            <a:endParaRPr lang="en-US" sz="1000" dirty="0"/>
          </a:p>
        </p:txBody>
      </p:sp>
      <p:sp>
        <p:nvSpPr>
          <p:cNvPr id="13" name="Text 9"/>
          <p:cNvSpPr txBox="1"/>
          <p:nvPr/>
        </p:nvSpPr>
        <p:spPr>
          <a:xfrm>
            <a:off x="2880360" y="5276088"/>
            <a:ext cx="219456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The Westin Resort Guam</a:t>
            </a:r>
            <a:endParaRPr lang="en-US" sz="1500" dirty="0"/>
          </a:p>
        </p:txBody>
      </p:sp>
      <p:sp>
        <p:nvSpPr>
          <p:cNvPr id="14" name="Text 10"/>
          <p:cNvSpPr txBox="1"/>
          <p:nvPr/>
        </p:nvSpPr>
        <p:spPr>
          <a:xfrm>
            <a:off x="5212080" y="5029200"/>
            <a:ext cx="2194560" cy="219456"/>
          </a:xfrm>
          <a:prstGeom prst="rect">
            <a:avLst/>
          </a:prstGeom>
          <a:noFill/>
          <a:ln/>
        </p:spPr>
        <p:txBody>
          <a:bodyPr wrap="square" lIns="0" tIns="0" rIns="0" bIns="0" rtlCol="0" anchor="t"/>
          <a:lstStyle/>
          <a:p>
            <a:pPr indent="0" marL="0">
              <a:buNone/>
            </a:pPr>
            <a:r>
              <a:rPr lang="en-US" sz="1000" b="1" spc="200" kern="0" dirty="0">
                <a:solidFill>
                  <a:srgbClr val="0F8B99"/>
                </a:solidFill>
                <a:latin typeface="Calibri" pitchFamily="34" charset="0"/>
                <a:ea typeface="Calibri" pitchFamily="34" charset="-122"/>
                <a:cs typeface="Calibri" pitchFamily="34" charset="-120"/>
              </a:rPr>
              <a:t>DATE</a:t>
            </a:r>
            <a:endParaRPr lang="en-US" sz="1000" dirty="0"/>
          </a:p>
        </p:txBody>
      </p:sp>
      <p:sp>
        <p:nvSpPr>
          <p:cNvPr id="15" name="Text 11"/>
          <p:cNvSpPr txBox="1"/>
          <p:nvPr/>
        </p:nvSpPr>
        <p:spPr>
          <a:xfrm>
            <a:off x="5212080" y="5276088"/>
            <a:ext cx="219456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September 2026</a:t>
            </a:r>
            <a:endParaRPr lang="en-US" sz="1500" dirty="0"/>
          </a:p>
        </p:txBody>
      </p:sp>
      <p:sp>
        <p:nvSpPr>
          <p:cNvPr id="16" name="Text 12"/>
          <p:cNvSpPr txBox="1"/>
          <p:nvPr/>
        </p:nvSpPr>
        <p:spPr>
          <a:xfrm>
            <a:off x="7818120" y="6217920"/>
            <a:ext cx="73152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Solution</a:t>
            </a:r>
            <a:endParaRPr lang="en-US" sz="900" dirty="0"/>
          </a:p>
        </p:txBody>
      </p:sp>
      <p:pic>
        <p:nvPicPr>
          <p:cNvPr id="17" name="Image 2" descr="/private/tmp/claude-501/-Users-jihanvin-Desktop-NIVNAH-AI/16a96446-d9b3-40e2-af9e-a3011ae3db84/scratchpad/assets/tm_logo_light.png">    </p:cNvPr>
          <p:cNvPicPr>
            <a:picLocks noChangeAspect="1"/>
          </p:cNvPicPr>
          <p:nvPr/>
        </p:nvPicPr>
        <p:blipFill>
          <a:blip r:embed="rId3"/>
          <a:stretch>
            <a:fillRect/>
          </a:stretch>
        </p:blipFill>
        <p:spPr>
          <a:xfrm>
            <a:off x="8503920" y="6089904"/>
            <a:ext cx="1340012" cy="475488"/>
          </a:xfrm>
          <a:prstGeom prst="rect">
            <a:avLst/>
          </a:prstGeom>
        </p:spPr>
      </p:pic>
      <p:pic>
        <p:nvPicPr>
          <p:cNvPr id="18" name="Image 3" descr="/private/tmp/claude-501/-Users-jihanvin-Desktop-NIVNAH-AI/16a96446-d9b3-40e2-af9e-a3011ae3db84/scratchpad/assets/secukorea_light.png">    </p:cNvPr>
          <p:cNvPicPr>
            <a:picLocks noChangeAspect="1"/>
          </p:cNvPicPr>
          <p:nvPr/>
        </p:nvPicPr>
        <p:blipFill>
          <a:blip r:embed="rId4"/>
          <a:stretch>
            <a:fillRect/>
          </a:stretch>
        </p:blipFill>
        <p:spPr>
          <a:xfrm>
            <a:off x="10314432" y="6163056"/>
            <a:ext cx="1325880" cy="315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EXECUTIVE SUMMARY</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Replace Nessus with One Agent That Also Protects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17320"/>
            <a:ext cx="11094415" cy="566928"/>
          </a:xfrm>
          <a:prstGeom prst="rect">
            <a:avLst/>
          </a:prstGeom>
          <a:noFill/>
          <a:ln/>
        </p:spPr>
        <p:txBody>
          <a:bodyPr wrap="square" lIns="0" tIns="0" rIns="0" bIns="0" rtlCol="0" anchor="t"/>
          <a:lstStyle/>
          <a:p>
            <a:pPr indent="0" marL="0">
              <a:buNone/>
            </a:pPr>
            <a:r>
              <a:rPr lang="en-US" sz="1400" dirty="0">
                <a:solidFill>
                  <a:srgbClr val="5F6670"/>
                </a:solidFill>
                <a:latin typeface="Calibri" pitchFamily="34" charset="0"/>
                <a:ea typeface="Calibri" pitchFamily="34" charset="-122"/>
                <a:cs typeface="Calibri" pitchFamily="34" charset="-120"/>
              </a:rPr>
              <a:t>The Westin Resort Guam uses Nessus today, but it only reports vulnerabilities. We propose replacing it with Trend Micro Apex One: vulnerability assessment by CVE, plus automatic protection, virtual patching and detection and response — all in one lightweight agent.</a:t>
            </a:r>
            <a:endParaRPr lang="en-US" sz="1400" dirty="0"/>
          </a:p>
        </p:txBody>
      </p:sp>
      <p:sp>
        <p:nvSpPr>
          <p:cNvPr id="6" name="Shape 3"/>
          <p:cNvSpPr/>
          <p:nvPr/>
        </p:nvSpPr>
        <p:spPr>
          <a:xfrm>
            <a:off x="548640" y="2148840"/>
            <a:ext cx="3515258" cy="2487168"/>
          </a:xfrm>
          <a:prstGeom prst="roundRect">
            <a:avLst>
              <a:gd name="adj" fmla="val 4412"/>
            </a:avLst>
          </a:prstGeom>
          <a:solidFill>
            <a:srgbClr val="F4F5F7"/>
          </a:solidFill>
          <a:ln w="9525">
            <a:solidFill>
              <a:srgbClr val="DEE1E5"/>
            </a:solidFill>
            <a:prstDash val="solid"/>
          </a:ln>
        </p:spPr>
      </p:sp>
      <p:sp>
        <p:nvSpPr>
          <p:cNvPr id="7" name="Shape 4"/>
          <p:cNvSpPr/>
          <p:nvPr/>
        </p:nvSpPr>
        <p:spPr>
          <a:xfrm>
            <a:off x="822960" y="2423160"/>
            <a:ext cx="530352" cy="530352"/>
          </a:xfrm>
          <a:prstGeom prst="ellipse">
            <a:avLst/>
          </a:prstGeom>
          <a:solidFill>
            <a:srgbClr val="EAEEF3"/>
          </a:solidFill>
          <a:ln w="12700">
            <a:solidFill>
              <a:srgbClr val="EAEEF3"/>
            </a:solidFill>
            <a:prstDash val="solid"/>
          </a:ln>
        </p:spPr>
      </p:sp>
      <p:pic>
        <p:nvPicPr>
          <p:cNvPr id="8" name="Image 1" descr="preencoded.png">    </p:cNvPr>
          <p:cNvPicPr>
            <a:picLocks noChangeAspect="1"/>
          </p:cNvPicPr>
          <p:nvPr/>
        </p:nvPicPr>
        <p:blipFill>
          <a:blip r:embed="rId2"/>
          <a:stretch>
            <a:fillRect/>
          </a:stretch>
        </p:blipFill>
        <p:spPr>
          <a:xfrm>
            <a:off x="966155" y="2566355"/>
            <a:ext cx="243962" cy="243962"/>
          </a:xfrm>
          <a:prstGeom prst="rect">
            <a:avLst/>
          </a:prstGeom>
        </p:spPr>
      </p:pic>
      <p:sp>
        <p:nvSpPr>
          <p:cNvPr id="9" name="Text 5"/>
          <p:cNvSpPr txBox="1"/>
          <p:nvPr/>
        </p:nvSpPr>
        <p:spPr>
          <a:xfrm>
            <a:off x="1481328" y="2551176"/>
            <a:ext cx="2417978" cy="274320"/>
          </a:xfrm>
          <a:prstGeom prst="rect">
            <a:avLst/>
          </a:prstGeom>
          <a:noFill/>
          <a:ln/>
        </p:spPr>
        <p:txBody>
          <a:bodyPr wrap="square" lIns="0" tIns="0" rIns="0" bIns="0" rtlCol="0" anchor="ctr"/>
          <a:lstStyle/>
          <a:p>
            <a:pPr indent="0" marL="0">
              <a:buNone/>
            </a:pPr>
            <a:r>
              <a:rPr lang="en-US" sz="1050" b="1" spc="150" kern="0" dirty="0">
                <a:solidFill>
                  <a:srgbClr val="5D6B7E"/>
                </a:solidFill>
                <a:latin typeface="Calibri" pitchFamily="34" charset="0"/>
                <a:ea typeface="Calibri" pitchFamily="34" charset="-122"/>
                <a:cs typeface="Calibri" pitchFamily="34" charset="-120"/>
              </a:rPr>
              <a:t>WHERE WE ARE</a:t>
            </a:r>
            <a:endParaRPr lang="en-US" sz="1050" dirty="0"/>
          </a:p>
        </p:txBody>
      </p:sp>
      <p:sp>
        <p:nvSpPr>
          <p:cNvPr id="10" name="Text 6"/>
          <p:cNvSpPr txBox="1"/>
          <p:nvPr/>
        </p:nvSpPr>
        <p:spPr>
          <a:xfrm>
            <a:off x="822960" y="3081528"/>
            <a:ext cx="2966618" cy="566928"/>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24/7 resort, small IT team, scan-only security</a:t>
            </a:r>
            <a:endParaRPr lang="en-US" sz="1500" dirty="0"/>
          </a:p>
        </p:txBody>
      </p:sp>
      <p:sp>
        <p:nvSpPr>
          <p:cNvPr id="11" name="Text 7"/>
          <p:cNvSpPr txBox="1"/>
          <p:nvPr/>
        </p:nvSpPr>
        <p:spPr>
          <a:xfrm>
            <a:off x="822960" y="3675888"/>
            <a:ext cx="2966618" cy="89611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Guest data, payments and front-desk systems must stay protected around the clock. Today Nessus reports vulnerabilities, but every fix and every incident depends on staff effort.</a:t>
            </a:r>
            <a:endParaRPr lang="en-US" sz="1200" dirty="0"/>
          </a:p>
        </p:txBody>
      </p:sp>
      <p:sp>
        <p:nvSpPr>
          <p:cNvPr id="12" name="Shape 8"/>
          <p:cNvSpPr/>
          <p:nvPr/>
        </p:nvSpPr>
        <p:spPr>
          <a:xfrm>
            <a:off x="4338218" y="2148840"/>
            <a:ext cx="3515258" cy="2487168"/>
          </a:xfrm>
          <a:prstGeom prst="roundRect">
            <a:avLst>
              <a:gd name="adj" fmla="val 4412"/>
            </a:avLst>
          </a:prstGeom>
          <a:solidFill>
            <a:srgbClr val="F4F5F7"/>
          </a:solidFill>
          <a:ln w="9525">
            <a:solidFill>
              <a:srgbClr val="DEE1E5"/>
            </a:solidFill>
            <a:prstDash val="solid"/>
          </a:ln>
        </p:spPr>
      </p:sp>
      <p:sp>
        <p:nvSpPr>
          <p:cNvPr id="13" name="Shape 9"/>
          <p:cNvSpPr/>
          <p:nvPr/>
        </p:nvSpPr>
        <p:spPr>
          <a:xfrm>
            <a:off x="4612538" y="2423160"/>
            <a:ext cx="530352" cy="530352"/>
          </a:xfrm>
          <a:prstGeom prst="ellipse">
            <a:avLst/>
          </a:prstGeom>
          <a:solidFill>
            <a:srgbClr val="EAEEF3"/>
          </a:solidFill>
          <a:ln w="12700">
            <a:solidFill>
              <a:srgbClr val="EAEEF3"/>
            </a:solidFill>
            <a:prstDash val="solid"/>
          </a:ln>
        </p:spPr>
      </p:sp>
      <p:pic>
        <p:nvPicPr>
          <p:cNvPr id="14" name="Image 2" descr="preencoded.png">    </p:cNvPr>
          <p:cNvPicPr>
            <a:picLocks noChangeAspect="1"/>
          </p:cNvPicPr>
          <p:nvPr/>
        </p:nvPicPr>
        <p:blipFill>
          <a:blip r:embed="rId3"/>
          <a:stretch>
            <a:fillRect/>
          </a:stretch>
        </p:blipFill>
        <p:spPr>
          <a:xfrm>
            <a:off x="4755733" y="2566355"/>
            <a:ext cx="243962" cy="243962"/>
          </a:xfrm>
          <a:prstGeom prst="rect">
            <a:avLst/>
          </a:prstGeom>
        </p:spPr>
      </p:pic>
      <p:sp>
        <p:nvSpPr>
          <p:cNvPr id="15" name="Text 10"/>
          <p:cNvSpPr txBox="1"/>
          <p:nvPr/>
        </p:nvSpPr>
        <p:spPr>
          <a:xfrm>
            <a:off x="5270906" y="2551176"/>
            <a:ext cx="2417978" cy="274320"/>
          </a:xfrm>
          <a:prstGeom prst="rect">
            <a:avLst/>
          </a:prstGeom>
          <a:noFill/>
          <a:ln/>
        </p:spPr>
        <p:txBody>
          <a:bodyPr wrap="square" lIns="0" tIns="0" rIns="0" bIns="0" rtlCol="0" anchor="ctr"/>
          <a:lstStyle/>
          <a:p>
            <a:pPr indent="0" marL="0">
              <a:buNone/>
            </a:pPr>
            <a:r>
              <a:rPr lang="en-US" sz="1050" b="1" spc="150" kern="0" dirty="0">
                <a:solidFill>
                  <a:srgbClr val="5D6B7E"/>
                </a:solidFill>
                <a:latin typeface="Calibri" pitchFamily="34" charset="0"/>
                <a:ea typeface="Calibri" pitchFamily="34" charset="-122"/>
                <a:cs typeface="Calibri" pitchFamily="34" charset="-120"/>
              </a:rPr>
              <a:t>THE GAP</a:t>
            </a:r>
            <a:endParaRPr lang="en-US" sz="1050" dirty="0"/>
          </a:p>
        </p:txBody>
      </p:sp>
      <p:sp>
        <p:nvSpPr>
          <p:cNvPr id="16" name="Text 11"/>
          <p:cNvSpPr txBox="1"/>
          <p:nvPr/>
        </p:nvSpPr>
        <p:spPr>
          <a:xfrm>
            <a:off x="4612538" y="3081528"/>
            <a:ext cx="2966618" cy="566928"/>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Finding a weakness is not fixing it</a:t>
            </a:r>
            <a:endParaRPr lang="en-US" sz="1500" dirty="0"/>
          </a:p>
        </p:txBody>
      </p:sp>
      <p:sp>
        <p:nvSpPr>
          <p:cNvPr id="17" name="Text 12"/>
          <p:cNvSpPr txBox="1"/>
          <p:nvPr/>
        </p:nvSpPr>
        <p:spPr>
          <a:xfrm>
            <a:off x="4612538" y="3675888"/>
            <a:ext cx="2966618" cy="89611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Each finding still needs a patch, testing and a maintenance window. Until then — or indefinitely on legacy systems — the weakness stays open to attack.</a:t>
            </a:r>
            <a:endParaRPr lang="en-US" sz="1200" dirty="0"/>
          </a:p>
        </p:txBody>
      </p:sp>
      <p:sp>
        <p:nvSpPr>
          <p:cNvPr id="18" name="Shape 13"/>
          <p:cNvSpPr/>
          <p:nvPr/>
        </p:nvSpPr>
        <p:spPr>
          <a:xfrm>
            <a:off x="8127797" y="2148840"/>
            <a:ext cx="3515258" cy="2487168"/>
          </a:xfrm>
          <a:prstGeom prst="roundRect">
            <a:avLst>
              <a:gd name="adj" fmla="val 4412"/>
            </a:avLst>
          </a:prstGeom>
          <a:solidFill>
            <a:srgbClr val="E7F5F7"/>
          </a:solidFill>
          <a:ln w="9525">
            <a:solidFill>
              <a:srgbClr val="BFE4E8"/>
            </a:solidFill>
            <a:prstDash val="solid"/>
          </a:ln>
        </p:spPr>
      </p:sp>
      <p:sp>
        <p:nvSpPr>
          <p:cNvPr id="19" name="Shape 14"/>
          <p:cNvSpPr/>
          <p:nvPr/>
        </p:nvSpPr>
        <p:spPr>
          <a:xfrm>
            <a:off x="8402117" y="2423160"/>
            <a:ext cx="530352" cy="530352"/>
          </a:xfrm>
          <a:prstGeom prst="ellipse">
            <a:avLst/>
          </a:prstGeom>
          <a:solidFill>
            <a:srgbClr val="0F8B99"/>
          </a:solidFill>
          <a:ln w="12700">
            <a:solidFill>
              <a:srgbClr val="0F8B99"/>
            </a:solidFill>
            <a:prstDash val="solid"/>
          </a:ln>
        </p:spPr>
      </p:sp>
      <p:pic>
        <p:nvPicPr>
          <p:cNvPr id="20" name="Image 3" descr="preencoded.png">    </p:cNvPr>
          <p:cNvPicPr>
            <a:picLocks noChangeAspect="1"/>
          </p:cNvPicPr>
          <p:nvPr/>
        </p:nvPicPr>
        <p:blipFill>
          <a:blip r:embed="rId4"/>
          <a:stretch>
            <a:fillRect/>
          </a:stretch>
        </p:blipFill>
        <p:spPr>
          <a:xfrm>
            <a:off x="8545312" y="2566355"/>
            <a:ext cx="243962" cy="243962"/>
          </a:xfrm>
          <a:prstGeom prst="rect">
            <a:avLst/>
          </a:prstGeom>
        </p:spPr>
      </p:pic>
      <p:sp>
        <p:nvSpPr>
          <p:cNvPr id="21" name="Text 15"/>
          <p:cNvSpPr txBox="1"/>
          <p:nvPr/>
        </p:nvSpPr>
        <p:spPr>
          <a:xfrm>
            <a:off x="9060485" y="2551176"/>
            <a:ext cx="2417978" cy="274320"/>
          </a:xfrm>
          <a:prstGeom prst="rect">
            <a:avLst/>
          </a:prstGeom>
          <a:noFill/>
          <a:ln/>
        </p:spPr>
        <p:txBody>
          <a:bodyPr wrap="square" lIns="0" tIns="0" rIns="0" bIns="0" rtlCol="0" anchor="ctr"/>
          <a:lstStyle/>
          <a:p>
            <a:pPr indent="0" marL="0">
              <a:buNone/>
            </a:pPr>
            <a:r>
              <a:rPr lang="en-US" sz="1050" b="1" spc="150" kern="0" dirty="0">
                <a:solidFill>
                  <a:srgbClr val="0F8B99"/>
                </a:solidFill>
                <a:latin typeface="Calibri" pitchFamily="34" charset="0"/>
                <a:ea typeface="Calibri" pitchFamily="34" charset="-122"/>
                <a:cs typeface="Calibri" pitchFamily="34" charset="-120"/>
              </a:rPr>
              <a:t>OUR PROPOSAL</a:t>
            </a:r>
            <a:endParaRPr lang="en-US" sz="1050" dirty="0"/>
          </a:p>
        </p:txBody>
      </p:sp>
      <p:sp>
        <p:nvSpPr>
          <p:cNvPr id="22" name="Text 16"/>
          <p:cNvSpPr txBox="1"/>
          <p:nvPr/>
        </p:nvSpPr>
        <p:spPr>
          <a:xfrm>
            <a:off x="8402117" y="3081528"/>
            <a:ext cx="2966618" cy="566928"/>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Replace Nessus with Apex One</a:t>
            </a:r>
            <a:endParaRPr lang="en-US" sz="1500" dirty="0"/>
          </a:p>
        </p:txBody>
      </p:sp>
      <p:sp>
        <p:nvSpPr>
          <p:cNvPr id="23" name="Text 17"/>
          <p:cNvSpPr txBox="1"/>
          <p:nvPr/>
        </p:nvSpPr>
        <p:spPr>
          <a:xfrm>
            <a:off x="8402117" y="3675888"/>
            <a:ext cx="2966618" cy="89611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One on-premises agent combines anti-malware, ransomware rollback, virtual patching and app control — POS included.</a:t>
            </a:r>
            <a:endParaRPr lang="en-US" sz="1200" dirty="0"/>
          </a:p>
        </p:txBody>
      </p:sp>
      <p:sp>
        <p:nvSpPr>
          <p:cNvPr id="24" name="Shape 18"/>
          <p:cNvSpPr/>
          <p:nvPr/>
        </p:nvSpPr>
        <p:spPr>
          <a:xfrm>
            <a:off x="548640" y="4846320"/>
            <a:ext cx="11094415" cy="1115568"/>
          </a:xfrm>
          <a:prstGeom prst="roundRect">
            <a:avLst>
              <a:gd name="adj" fmla="val 9836"/>
            </a:avLst>
          </a:prstGeom>
          <a:solidFill>
            <a:srgbClr val="10243A"/>
          </a:solidFill>
          <a:ln w="12700">
            <a:solidFill>
              <a:srgbClr val="10243A"/>
            </a:solidFill>
            <a:prstDash val="solid"/>
          </a:ln>
        </p:spPr>
      </p:sp>
      <p:sp>
        <p:nvSpPr>
          <p:cNvPr id="25" name="Text 19"/>
          <p:cNvSpPr txBox="1"/>
          <p:nvPr/>
        </p:nvSpPr>
        <p:spPr>
          <a:xfrm>
            <a:off x="868680" y="4974336"/>
            <a:ext cx="2224964" cy="457200"/>
          </a:xfrm>
          <a:prstGeom prst="rect">
            <a:avLst/>
          </a:prstGeom>
          <a:noFill/>
          <a:ln/>
        </p:spPr>
        <p:txBody>
          <a:bodyPr wrap="square" lIns="0" tIns="0" rIns="0" bIns="0" rtlCol="0" anchor="ctr"/>
          <a:lstStyle/>
          <a:p>
            <a:pPr indent="0" marL="0">
              <a:buNone/>
            </a:pPr>
            <a:r>
              <a:rPr lang="en-US" sz="2400" b="1" dirty="0">
                <a:solidFill>
                  <a:srgbClr val="0F8B99"/>
                </a:solidFill>
                <a:latin typeface="Arial" pitchFamily="34" charset="0"/>
                <a:ea typeface="Arial" pitchFamily="34" charset="-122"/>
                <a:cs typeface="Arial" pitchFamily="34" charset="-120"/>
              </a:rPr>
              <a:t>250M+</a:t>
            </a:r>
            <a:endParaRPr lang="en-US" sz="2400" dirty="0"/>
          </a:p>
        </p:txBody>
      </p:sp>
      <p:sp>
        <p:nvSpPr>
          <p:cNvPr id="26" name="Text 20"/>
          <p:cNvSpPr txBox="1"/>
          <p:nvPr/>
        </p:nvSpPr>
        <p:spPr>
          <a:xfrm>
            <a:off x="868680" y="5449824"/>
            <a:ext cx="2224964" cy="402336"/>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Endpoints protected by Trend Micro worldwide</a:t>
            </a:r>
            <a:endParaRPr lang="en-US" sz="1050" dirty="0"/>
          </a:p>
        </p:txBody>
      </p:sp>
      <p:sp>
        <p:nvSpPr>
          <p:cNvPr id="27" name="Text 21"/>
          <p:cNvSpPr txBox="1"/>
          <p:nvPr/>
        </p:nvSpPr>
        <p:spPr>
          <a:xfrm>
            <a:off x="3642284" y="4974336"/>
            <a:ext cx="2224964" cy="457200"/>
          </a:xfrm>
          <a:prstGeom prst="rect">
            <a:avLst/>
          </a:prstGeom>
          <a:noFill/>
          <a:ln/>
        </p:spPr>
        <p:txBody>
          <a:bodyPr wrap="square" lIns="0" tIns="0" rIns="0" bIns="0" rtlCol="0" anchor="ctr"/>
          <a:lstStyle/>
          <a:p>
            <a:pPr indent="0" marL="0">
              <a:buNone/>
            </a:pPr>
            <a:r>
              <a:rPr lang="en-US" sz="2400" b="1" dirty="0">
                <a:solidFill>
                  <a:srgbClr val="0F8B99"/>
                </a:solidFill>
                <a:latin typeface="Arial" pitchFamily="34" charset="0"/>
                <a:ea typeface="Arial" pitchFamily="34" charset="-122"/>
                <a:cs typeface="Arial" pitchFamily="34" charset="-120"/>
              </a:rPr>
              <a:t>48 of 50</a:t>
            </a:r>
            <a:endParaRPr lang="en-US" sz="2400" dirty="0"/>
          </a:p>
        </p:txBody>
      </p:sp>
      <p:sp>
        <p:nvSpPr>
          <p:cNvPr id="28" name="Text 22"/>
          <p:cNvSpPr txBox="1"/>
          <p:nvPr/>
        </p:nvSpPr>
        <p:spPr>
          <a:xfrm>
            <a:off x="3642284" y="5449824"/>
            <a:ext cx="2224964" cy="402336"/>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Top global corporations trust Trend Micro</a:t>
            </a:r>
            <a:endParaRPr lang="en-US" sz="1050" dirty="0"/>
          </a:p>
        </p:txBody>
      </p:sp>
      <p:sp>
        <p:nvSpPr>
          <p:cNvPr id="29" name="Text 23"/>
          <p:cNvSpPr txBox="1"/>
          <p:nvPr/>
        </p:nvSpPr>
        <p:spPr>
          <a:xfrm>
            <a:off x="6415888" y="4974336"/>
            <a:ext cx="2224964" cy="457200"/>
          </a:xfrm>
          <a:prstGeom prst="rect">
            <a:avLst/>
          </a:prstGeom>
          <a:noFill/>
          <a:ln/>
        </p:spPr>
        <p:txBody>
          <a:bodyPr wrap="square" lIns="0" tIns="0" rIns="0" bIns="0" rtlCol="0" anchor="ctr"/>
          <a:lstStyle/>
          <a:p>
            <a:pPr indent="0" marL="0">
              <a:buNone/>
            </a:pPr>
            <a:r>
              <a:rPr lang="en-US" sz="2400" b="1" dirty="0">
                <a:solidFill>
                  <a:srgbClr val="0F8B99"/>
                </a:solidFill>
                <a:latin typeface="Arial" pitchFamily="34" charset="0"/>
                <a:ea typeface="Arial" pitchFamily="34" charset="-122"/>
                <a:cs typeface="Arial" pitchFamily="34" charset="-120"/>
              </a:rPr>
              <a:t>30+ yrs</a:t>
            </a:r>
            <a:endParaRPr lang="en-US" sz="2400" dirty="0"/>
          </a:p>
        </p:txBody>
      </p:sp>
      <p:sp>
        <p:nvSpPr>
          <p:cNvPr id="30" name="Text 24"/>
          <p:cNvSpPr txBox="1"/>
          <p:nvPr/>
        </p:nvSpPr>
        <p:spPr>
          <a:xfrm>
            <a:off x="6415888" y="5449824"/>
            <a:ext cx="2224964" cy="402336"/>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Of continuous security innovation</a:t>
            </a:r>
            <a:endParaRPr lang="en-US" sz="1050" dirty="0"/>
          </a:p>
        </p:txBody>
      </p:sp>
      <p:sp>
        <p:nvSpPr>
          <p:cNvPr id="31" name="Text 25"/>
          <p:cNvSpPr txBox="1"/>
          <p:nvPr/>
        </p:nvSpPr>
        <p:spPr>
          <a:xfrm>
            <a:off x="9189491" y="4974336"/>
            <a:ext cx="2224964" cy="457200"/>
          </a:xfrm>
          <a:prstGeom prst="rect">
            <a:avLst/>
          </a:prstGeom>
          <a:noFill/>
          <a:ln/>
        </p:spPr>
        <p:txBody>
          <a:bodyPr wrap="square" lIns="0" tIns="0" rIns="0" bIns="0" rtlCol="0" anchor="ctr"/>
          <a:lstStyle/>
          <a:p>
            <a:pPr indent="0" marL="0">
              <a:buNone/>
            </a:pPr>
            <a:r>
              <a:rPr lang="en-US" sz="2400" b="1" dirty="0">
                <a:solidFill>
                  <a:srgbClr val="0F8B99"/>
                </a:solidFill>
                <a:latin typeface="Arial" pitchFamily="34" charset="0"/>
                <a:ea typeface="Arial" pitchFamily="34" charset="-122"/>
                <a:cs typeface="Arial" pitchFamily="34" charset="-120"/>
              </a:rPr>
              <a:t>1 agent</a:t>
            </a:r>
            <a:endParaRPr lang="en-US" sz="2400" dirty="0"/>
          </a:p>
        </p:txBody>
      </p:sp>
      <p:sp>
        <p:nvSpPr>
          <p:cNvPr id="32" name="Text 26"/>
          <p:cNvSpPr txBox="1"/>
          <p:nvPr/>
        </p:nvSpPr>
        <p:spPr>
          <a:xfrm>
            <a:off x="9189491" y="5449824"/>
            <a:ext cx="2224964" cy="402336"/>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Anti-malware, virtual patching, app and device control together</a:t>
            </a:r>
            <a:endParaRPr lang="en-US" sz="1050" dirty="0"/>
          </a:p>
        </p:txBody>
      </p:sp>
      <p:sp>
        <p:nvSpPr>
          <p:cNvPr id="33" name="Text 27"/>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A94A1"/>
                </a:solidFill>
                <a:latin typeface="Calibri" pitchFamily="34" charset="0"/>
                <a:ea typeface="Calibri" pitchFamily="34" charset="-122"/>
                <a:cs typeface="Calibri" pitchFamily="34" charset="-120"/>
              </a:rPr>
              <a:t>Sources: Trend Micro Apex One™ Solution Brief; Trend Micro Apex One™ Datasheet.</a:t>
            </a:r>
            <a:endParaRPr lang="en-US" sz="800" dirty="0"/>
          </a:p>
        </p:txBody>
      </p:sp>
      <p:sp>
        <p:nvSpPr>
          <p:cNvPr id="34" name="Text 2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02   |   Nessus vs. Trend Micro Apex One™  ·  Proposal for The Westin Resort Guam</a:t>
            </a:r>
            <a:endParaRPr lang="en-US" sz="900" dirty="0"/>
          </a:p>
        </p:txBody>
      </p:sp>
      <p:pic>
        <p:nvPicPr>
          <p:cNvPr id="35" name="Image 4" descr="/private/tmp/claude-501/-Users-jihanvin-Desktop-NIVNAH-AI/16a96446-d9b3-40e2-af9e-a3011ae3db84/scratchpad/assets/secukorea_dark.png">    </p:cNvPr>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01   CURRENT STATE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Current Environment &amp; Security Challenges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566928" cy="566928"/>
          </a:xfrm>
          <a:prstGeom prst="ellipse">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701711" y="1753271"/>
            <a:ext cx="260787" cy="260787"/>
          </a:xfrm>
          <a:prstGeom prst="rect">
            <a:avLst/>
          </a:prstGeom>
        </p:spPr>
      </p:pic>
      <p:sp>
        <p:nvSpPr>
          <p:cNvPr id="7" name="Text 3"/>
          <p:cNvSpPr txBox="1"/>
          <p:nvPr/>
        </p:nvSpPr>
        <p:spPr>
          <a:xfrm>
            <a:off x="1325880" y="1581912"/>
            <a:ext cx="576072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24/7 Non-Stop Hospitality Operations</a:t>
            </a:r>
            <a:endParaRPr lang="en-US" sz="1500" dirty="0"/>
          </a:p>
        </p:txBody>
      </p:sp>
      <p:sp>
        <p:nvSpPr>
          <p:cNvPr id="8" name="Text 4"/>
          <p:cNvSpPr txBox="1"/>
          <p:nvPr/>
        </p:nvSpPr>
        <p:spPr>
          <a:xfrm>
            <a:off x="1325880" y="1929384"/>
            <a:ext cx="5760720" cy="62179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Guest personal data, payment processing, and front-desk and back-office systems must stay available and protected around the clock.</a:t>
            </a:r>
            <a:endParaRPr lang="en-US" sz="1200" dirty="0"/>
          </a:p>
        </p:txBody>
      </p:sp>
      <p:sp>
        <p:nvSpPr>
          <p:cNvPr id="9" name="Shape 5"/>
          <p:cNvSpPr/>
          <p:nvPr/>
        </p:nvSpPr>
        <p:spPr>
          <a:xfrm>
            <a:off x="548640" y="2697480"/>
            <a:ext cx="566928" cy="566928"/>
          </a:xfrm>
          <a:prstGeom prst="ellipse">
            <a:avLst/>
          </a:prstGeom>
          <a:solidFill>
            <a:srgbClr val="EAEEF3"/>
          </a:solidFill>
          <a:ln w="12700">
            <a:solidFill>
              <a:srgbClr val="EAEEF3"/>
            </a:solidFill>
            <a:prstDash val="solid"/>
          </a:ln>
        </p:spPr>
      </p:sp>
      <p:pic>
        <p:nvPicPr>
          <p:cNvPr id="10" name="Image 2" descr="preencoded.png">    </p:cNvPr>
          <p:cNvPicPr>
            <a:picLocks noChangeAspect="1"/>
          </p:cNvPicPr>
          <p:nvPr/>
        </p:nvPicPr>
        <p:blipFill>
          <a:blip r:embed="rId3"/>
          <a:stretch>
            <a:fillRect/>
          </a:stretch>
        </p:blipFill>
        <p:spPr>
          <a:xfrm>
            <a:off x="701711" y="2850551"/>
            <a:ext cx="260787" cy="260787"/>
          </a:xfrm>
          <a:prstGeom prst="rect">
            <a:avLst/>
          </a:prstGeom>
        </p:spPr>
      </p:pic>
      <p:sp>
        <p:nvSpPr>
          <p:cNvPr id="11" name="Text 6"/>
          <p:cNvSpPr txBox="1"/>
          <p:nvPr/>
        </p:nvSpPr>
        <p:spPr>
          <a:xfrm>
            <a:off x="1325880" y="2679192"/>
            <a:ext cx="576072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Limited On-Site Security Staffing</a:t>
            </a:r>
            <a:endParaRPr lang="en-US" sz="1500" dirty="0"/>
          </a:p>
        </p:txBody>
      </p:sp>
      <p:sp>
        <p:nvSpPr>
          <p:cNvPr id="12" name="Text 7"/>
          <p:cNvSpPr txBox="1"/>
          <p:nvPr/>
        </p:nvSpPr>
        <p:spPr>
          <a:xfrm>
            <a:off x="1325880" y="3026664"/>
            <a:ext cx="5760720" cy="62179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Without a dedicated security operations team, manual patching and case-by-case incident investigation are hard to sustain.</a:t>
            </a:r>
            <a:endParaRPr lang="en-US" sz="1200" dirty="0"/>
          </a:p>
        </p:txBody>
      </p:sp>
      <p:sp>
        <p:nvSpPr>
          <p:cNvPr id="13" name="Shape 8"/>
          <p:cNvSpPr/>
          <p:nvPr/>
        </p:nvSpPr>
        <p:spPr>
          <a:xfrm>
            <a:off x="548640" y="3794760"/>
            <a:ext cx="566928" cy="566928"/>
          </a:xfrm>
          <a:prstGeom prst="ellipse">
            <a:avLst/>
          </a:prstGeom>
          <a:solidFill>
            <a:srgbClr val="EAEEF3"/>
          </a:solidFill>
          <a:ln w="12700">
            <a:solidFill>
              <a:srgbClr val="EAEEF3"/>
            </a:solidFill>
            <a:prstDash val="solid"/>
          </a:ln>
        </p:spPr>
      </p:sp>
      <p:pic>
        <p:nvPicPr>
          <p:cNvPr id="14" name="Image 3" descr="preencoded.png">    </p:cNvPr>
          <p:cNvPicPr>
            <a:picLocks noChangeAspect="1"/>
          </p:cNvPicPr>
          <p:nvPr/>
        </p:nvPicPr>
        <p:blipFill>
          <a:blip r:embed="rId4"/>
          <a:stretch>
            <a:fillRect/>
          </a:stretch>
        </p:blipFill>
        <p:spPr>
          <a:xfrm>
            <a:off x="701711" y="3947831"/>
            <a:ext cx="260787" cy="260787"/>
          </a:xfrm>
          <a:prstGeom prst="rect">
            <a:avLst/>
          </a:prstGeom>
        </p:spPr>
      </p:pic>
      <p:sp>
        <p:nvSpPr>
          <p:cNvPr id="15" name="Text 9"/>
          <p:cNvSpPr txBox="1"/>
          <p:nvPr/>
        </p:nvSpPr>
        <p:spPr>
          <a:xfrm>
            <a:off x="1325880" y="3776472"/>
            <a:ext cx="576072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Scan-Only Protection Today</a:t>
            </a:r>
            <a:endParaRPr lang="en-US" sz="1500" dirty="0"/>
          </a:p>
        </p:txBody>
      </p:sp>
      <p:sp>
        <p:nvSpPr>
          <p:cNvPr id="16" name="Text 10"/>
          <p:cNvSpPr txBox="1"/>
          <p:nvPr/>
        </p:nvSpPr>
        <p:spPr>
          <a:xfrm>
            <a:off x="1325880" y="4123944"/>
            <a:ext cx="5760720" cy="62179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Nessus identifies vulnerabilities, but it does not block malware or stop an attack in progress. Every follow-up action is manual.</a:t>
            </a:r>
            <a:endParaRPr lang="en-US" sz="1200" dirty="0"/>
          </a:p>
        </p:txBody>
      </p:sp>
      <p:sp>
        <p:nvSpPr>
          <p:cNvPr id="17" name="Shape 11"/>
          <p:cNvSpPr/>
          <p:nvPr/>
        </p:nvSpPr>
        <p:spPr>
          <a:xfrm>
            <a:off x="548640" y="4892040"/>
            <a:ext cx="566928" cy="566928"/>
          </a:xfrm>
          <a:prstGeom prst="ellipse">
            <a:avLst/>
          </a:prstGeom>
          <a:solidFill>
            <a:srgbClr val="EAEEF3"/>
          </a:solidFill>
          <a:ln w="12700">
            <a:solidFill>
              <a:srgbClr val="EAEEF3"/>
            </a:solidFill>
            <a:prstDash val="solid"/>
          </a:ln>
        </p:spPr>
      </p:sp>
      <p:pic>
        <p:nvPicPr>
          <p:cNvPr id="18" name="Image 4" descr="preencoded.png">    </p:cNvPr>
          <p:cNvPicPr>
            <a:picLocks noChangeAspect="1"/>
          </p:cNvPicPr>
          <p:nvPr/>
        </p:nvPicPr>
        <p:blipFill>
          <a:blip r:embed="rId5"/>
          <a:stretch>
            <a:fillRect/>
          </a:stretch>
        </p:blipFill>
        <p:spPr>
          <a:xfrm>
            <a:off x="701711" y="5045111"/>
            <a:ext cx="260787" cy="260787"/>
          </a:xfrm>
          <a:prstGeom prst="rect">
            <a:avLst/>
          </a:prstGeom>
        </p:spPr>
      </p:pic>
      <p:sp>
        <p:nvSpPr>
          <p:cNvPr id="19" name="Text 12"/>
          <p:cNvSpPr txBox="1"/>
          <p:nvPr/>
        </p:nvSpPr>
        <p:spPr>
          <a:xfrm>
            <a:off x="1325880" y="4873752"/>
            <a:ext cx="576072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POS and Legacy Systems</a:t>
            </a:r>
            <a:endParaRPr lang="en-US" sz="1500" dirty="0"/>
          </a:p>
        </p:txBody>
      </p:sp>
      <p:sp>
        <p:nvSpPr>
          <p:cNvPr id="20" name="Text 13"/>
          <p:cNvSpPr txBox="1"/>
          <p:nvPr/>
        </p:nvSpPr>
        <p:spPr>
          <a:xfrm>
            <a:off x="1325880" y="5221224"/>
            <a:ext cx="5760720" cy="62179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Payment terminals and older Windows systems are hard to patch quickly — and card data makes them a prime target.</a:t>
            </a:r>
            <a:endParaRPr lang="en-US" sz="1200" dirty="0"/>
          </a:p>
        </p:txBody>
      </p:sp>
      <p:sp>
        <p:nvSpPr>
          <p:cNvPr id="21" name="Shape 14"/>
          <p:cNvSpPr/>
          <p:nvPr/>
        </p:nvSpPr>
        <p:spPr>
          <a:xfrm>
            <a:off x="7452360" y="1554480"/>
            <a:ext cx="4190695" cy="4434840"/>
          </a:xfrm>
          <a:prstGeom prst="roundRect">
            <a:avLst>
              <a:gd name="adj" fmla="val 2618"/>
            </a:avLst>
          </a:prstGeom>
          <a:solidFill>
            <a:srgbClr val="10243A"/>
          </a:solidFill>
          <a:ln w="12700">
            <a:solidFill>
              <a:srgbClr val="10243A"/>
            </a:solidFill>
            <a:prstDash val="solid"/>
          </a:ln>
        </p:spPr>
      </p:sp>
      <p:sp>
        <p:nvSpPr>
          <p:cNvPr id="22" name="Text 15"/>
          <p:cNvSpPr txBox="1"/>
          <p:nvPr/>
        </p:nvSpPr>
        <p:spPr>
          <a:xfrm>
            <a:off x="7818120" y="1828800"/>
            <a:ext cx="3459175" cy="274320"/>
          </a:xfrm>
          <a:prstGeom prst="rect">
            <a:avLst/>
          </a:prstGeom>
          <a:noFill/>
          <a:ln/>
        </p:spPr>
        <p:txBody>
          <a:bodyPr wrap="square" lIns="0" tIns="0" rIns="0" bIns="0" rtlCol="0" anchor="t"/>
          <a:lstStyle/>
          <a:p>
            <a:pPr indent="0" marL="0">
              <a:buNone/>
            </a:pPr>
            <a:r>
              <a:rPr lang="en-US" sz="1100" b="1" spc="200" kern="0" dirty="0">
                <a:solidFill>
                  <a:srgbClr val="0F8B99"/>
                </a:solidFill>
                <a:latin typeface="Calibri" pitchFamily="34" charset="0"/>
                <a:ea typeface="Calibri" pitchFamily="34" charset="-122"/>
                <a:cs typeface="Calibri" pitchFamily="34" charset="-120"/>
              </a:rPr>
              <a:t>WHAT THE RESORT NEEDS</a:t>
            </a:r>
            <a:endParaRPr lang="en-US" sz="1100" dirty="0"/>
          </a:p>
        </p:txBody>
      </p:sp>
      <p:pic>
        <p:nvPicPr>
          <p:cNvPr id="23" name="Image 5" descr="preencoded.png">    </p:cNvPr>
          <p:cNvPicPr>
            <a:picLocks noChangeAspect="1"/>
          </p:cNvPicPr>
          <p:nvPr/>
        </p:nvPicPr>
        <p:blipFill>
          <a:blip r:embed="rId6"/>
          <a:stretch>
            <a:fillRect/>
          </a:stretch>
        </p:blipFill>
        <p:spPr>
          <a:xfrm>
            <a:off x="7818120" y="2322576"/>
            <a:ext cx="237744" cy="237744"/>
          </a:xfrm>
          <a:prstGeom prst="rect">
            <a:avLst/>
          </a:prstGeom>
        </p:spPr>
      </p:pic>
      <p:sp>
        <p:nvSpPr>
          <p:cNvPr id="24" name="Text 16"/>
          <p:cNvSpPr txBox="1"/>
          <p:nvPr/>
        </p:nvSpPr>
        <p:spPr>
          <a:xfrm>
            <a:off x="8183880" y="2286000"/>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Automatic protection against malware and ransomware</a:t>
            </a:r>
            <a:endParaRPr lang="en-US" sz="1300" dirty="0"/>
          </a:p>
        </p:txBody>
      </p:sp>
      <p:pic>
        <p:nvPicPr>
          <p:cNvPr id="25" name="Image 6" descr="preencoded.png">    </p:cNvPr>
          <p:cNvPicPr>
            <a:picLocks noChangeAspect="1"/>
          </p:cNvPicPr>
          <p:nvPr/>
        </p:nvPicPr>
        <p:blipFill>
          <a:blip r:embed="rId7"/>
          <a:stretch>
            <a:fillRect/>
          </a:stretch>
        </p:blipFill>
        <p:spPr>
          <a:xfrm>
            <a:off x="7818120" y="2852928"/>
            <a:ext cx="237744" cy="237744"/>
          </a:xfrm>
          <a:prstGeom prst="rect">
            <a:avLst/>
          </a:prstGeom>
        </p:spPr>
      </p:pic>
      <p:sp>
        <p:nvSpPr>
          <p:cNvPr id="26" name="Text 17"/>
          <p:cNvSpPr txBox="1"/>
          <p:nvPr/>
        </p:nvSpPr>
        <p:spPr>
          <a:xfrm>
            <a:off x="8183880" y="2816352"/>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Vulnerabilities shielded without waiting for patches</a:t>
            </a:r>
            <a:endParaRPr lang="en-US" sz="1300" dirty="0"/>
          </a:p>
        </p:txBody>
      </p:sp>
      <p:pic>
        <p:nvPicPr>
          <p:cNvPr id="27" name="Image 7" descr="preencoded.png">    </p:cNvPr>
          <p:cNvPicPr>
            <a:picLocks noChangeAspect="1"/>
          </p:cNvPicPr>
          <p:nvPr/>
        </p:nvPicPr>
        <p:blipFill>
          <a:blip r:embed="rId8"/>
          <a:stretch>
            <a:fillRect/>
          </a:stretch>
        </p:blipFill>
        <p:spPr>
          <a:xfrm>
            <a:off x="7818120" y="3383280"/>
            <a:ext cx="237744" cy="237744"/>
          </a:xfrm>
          <a:prstGeom prst="rect">
            <a:avLst/>
          </a:prstGeom>
        </p:spPr>
      </p:pic>
      <p:sp>
        <p:nvSpPr>
          <p:cNvPr id="28" name="Text 18"/>
          <p:cNvSpPr txBox="1"/>
          <p:nvPr/>
        </p:nvSpPr>
        <p:spPr>
          <a:xfrm>
            <a:off x="8183880" y="3346704"/>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POS and fixed-function systems locked down</a:t>
            </a:r>
            <a:endParaRPr lang="en-US" sz="1300" dirty="0"/>
          </a:p>
        </p:txBody>
      </p:sp>
      <p:pic>
        <p:nvPicPr>
          <p:cNvPr id="29" name="Image 8" descr="preencoded.png">    </p:cNvPr>
          <p:cNvPicPr>
            <a:picLocks noChangeAspect="1"/>
          </p:cNvPicPr>
          <p:nvPr/>
        </p:nvPicPr>
        <p:blipFill>
          <a:blip r:embed="rId9"/>
          <a:stretch>
            <a:fillRect/>
          </a:stretch>
        </p:blipFill>
        <p:spPr>
          <a:xfrm>
            <a:off x="7818120" y="3913632"/>
            <a:ext cx="237744" cy="237744"/>
          </a:xfrm>
          <a:prstGeom prst="rect">
            <a:avLst/>
          </a:prstGeom>
        </p:spPr>
      </p:pic>
      <p:sp>
        <p:nvSpPr>
          <p:cNvPr id="30" name="Text 19"/>
          <p:cNvSpPr txBox="1"/>
          <p:nvPr/>
        </p:nvSpPr>
        <p:spPr>
          <a:xfrm>
            <a:off x="8183880" y="3877056"/>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Guest and payment data protected (PCI DSS)</a:t>
            </a:r>
            <a:endParaRPr lang="en-US" sz="1300" dirty="0"/>
          </a:p>
        </p:txBody>
      </p:sp>
      <p:pic>
        <p:nvPicPr>
          <p:cNvPr id="31" name="Image 9" descr="preencoded.png">    </p:cNvPr>
          <p:cNvPicPr>
            <a:picLocks noChangeAspect="1"/>
          </p:cNvPicPr>
          <p:nvPr/>
        </p:nvPicPr>
        <p:blipFill>
          <a:blip r:embed="rId10"/>
          <a:stretch>
            <a:fillRect/>
          </a:stretch>
        </p:blipFill>
        <p:spPr>
          <a:xfrm>
            <a:off x="7818120" y="4443984"/>
            <a:ext cx="237744" cy="237744"/>
          </a:xfrm>
          <a:prstGeom prst="rect">
            <a:avLst/>
          </a:prstGeom>
        </p:spPr>
      </p:pic>
      <p:sp>
        <p:nvSpPr>
          <p:cNvPr id="32" name="Text 20"/>
          <p:cNvSpPr txBox="1"/>
          <p:nvPr/>
        </p:nvSpPr>
        <p:spPr>
          <a:xfrm>
            <a:off x="8183880" y="4407408"/>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Low day-to-day workload for the IT team</a:t>
            </a:r>
            <a:endParaRPr lang="en-US" sz="1300" dirty="0"/>
          </a:p>
        </p:txBody>
      </p:sp>
      <p:sp>
        <p:nvSpPr>
          <p:cNvPr id="33" name="Text 21"/>
          <p:cNvSpPr txBox="1"/>
          <p:nvPr/>
        </p:nvSpPr>
        <p:spPr>
          <a:xfrm>
            <a:off x="7818120" y="5120640"/>
            <a:ext cx="3459175" cy="54864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The goal is not more reports — it is fewer incidents.</a:t>
            </a:r>
            <a:endParaRPr lang="en-US" sz="1400" dirty="0"/>
          </a:p>
        </p:txBody>
      </p:sp>
      <p:sp>
        <p:nvSpPr>
          <p:cNvPr id="34" name="Text 2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03   |   Nessus vs. Trend Micro Apex One™  ·  Proposal for The Westin Resort Guam</a:t>
            </a:r>
            <a:endParaRPr lang="en-US" sz="900" dirty="0"/>
          </a:p>
        </p:txBody>
      </p:sp>
      <p:pic>
        <p:nvPicPr>
          <p:cNvPr id="35" name="Image 10" descr="/private/tmp/claude-501/-Users-jihanvin-Desktop-NIVNAH-AI/16a96446-d9b3-40e2-af9e-a3011ae3db84/scratchpad/assets/secukorea_dark.png">    </p:cNvPr>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02   EXISTING TOOL</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What Nessus Does — and Where It Stops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2487168" cy="1417320"/>
          </a:xfrm>
          <a:prstGeom prst="roundRect">
            <a:avLst>
              <a:gd name="adj" fmla="val 7742"/>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777240" y="1828800"/>
            <a:ext cx="292608" cy="292608"/>
          </a:xfrm>
          <a:prstGeom prst="rect">
            <a:avLst/>
          </a:prstGeom>
        </p:spPr>
      </p:pic>
      <p:sp>
        <p:nvSpPr>
          <p:cNvPr id="7" name="Text 3"/>
          <p:cNvSpPr txBox="1"/>
          <p:nvPr/>
        </p:nvSpPr>
        <p:spPr>
          <a:xfrm>
            <a:off x="1188720"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1  SCAN</a:t>
            </a:r>
            <a:endParaRPr lang="en-US" sz="1150" dirty="0"/>
          </a:p>
        </p:txBody>
      </p:sp>
      <p:sp>
        <p:nvSpPr>
          <p:cNvPr id="8" name="Text 4"/>
          <p:cNvSpPr txBox="1"/>
          <p:nvPr/>
        </p:nvSpPr>
        <p:spPr>
          <a:xfrm>
            <a:off x="777240" y="2240280"/>
            <a:ext cx="2075688" cy="685800"/>
          </a:xfrm>
          <a:prstGeom prst="rect">
            <a:avLst/>
          </a:prstGeom>
          <a:noFill/>
          <a:ln/>
        </p:spPr>
        <p:txBody>
          <a:bodyPr wrap="square" lIns="0" tIns="0" rIns="0" bIns="0" rtlCol="0" anchor="t"/>
          <a:lstStyle/>
          <a:p>
            <a:pPr indent="0" marL="0">
              <a:buNone/>
            </a:pPr>
            <a:r>
              <a:rPr lang="en-US" sz="1150" dirty="0">
                <a:solidFill>
                  <a:srgbClr val="0E2233"/>
                </a:solidFill>
                <a:latin typeface="Calibri" pitchFamily="34" charset="0"/>
                <a:ea typeface="Calibri" pitchFamily="34" charset="-122"/>
                <a:cs typeface="Calibri" pitchFamily="34" charset="-120"/>
              </a:rPr>
              <a:t>Periodic network and credentialed scans find vulnerabilities and misconfigurations</a:t>
            </a:r>
            <a:endParaRPr lang="en-US" sz="1150" dirty="0"/>
          </a:p>
        </p:txBody>
      </p:sp>
      <p:pic>
        <p:nvPicPr>
          <p:cNvPr id="9" name="Image 2" descr="preencoded.png">    </p:cNvPr>
          <p:cNvPicPr>
            <a:picLocks noChangeAspect="1"/>
          </p:cNvPicPr>
          <p:nvPr/>
        </p:nvPicPr>
        <p:blipFill>
          <a:blip r:embed="rId3"/>
          <a:stretch>
            <a:fillRect/>
          </a:stretch>
        </p:blipFill>
        <p:spPr>
          <a:xfrm>
            <a:off x="3127248" y="2208276"/>
            <a:ext cx="201168" cy="201168"/>
          </a:xfrm>
          <a:prstGeom prst="rect">
            <a:avLst/>
          </a:prstGeom>
        </p:spPr>
      </p:pic>
      <p:sp>
        <p:nvSpPr>
          <p:cNvPr id="10" name="Shape 5"/>
          <p:cNvSpPr/>
          <p:nvPr/>
        </p:nvSpPr>
        <p:spPr>
          <a:xfrm>
            <a:off x="3419856" y="1600200"/>
            <a:ext cx="2487168" cy="1417320"/>
          </a:xfrm>
          <a:prstGeom prst="roundRect">
            <a:avLst>
              <a:gd name="adj" fmla="val 7742"/>
            </a:avLst>
          </a:prstGeom>
          <a:solidFill>
            <a:srgbClr val="EAEEF3"/>
          </a:solidFill>
          <a:ln w="12700">
            <a:solidFill>
              <a:srgbClr val="EAEEF3"/>
            </a:solidFill>
            <a:prstDash val="solid"/>
          </a:ln>
        </p:spPr>
      </p:sp>
      <p:pic>
        <p:nvPicPr>
          <p:cNvPr id="11" name="Image 3" descr="preencoded.png">    </p:cNvPr>
          <p:cNvPicPr>
            <a:picLocks noChangeAspect="1"/>
          </p:cNvPicPr>
          <p:nvPr/>
        </p:nvPicPr>
        <p:blipFill>
          <a:blip r:embed="rId4"/>
          <a:stretch>
            <a:fillRect/>
          </a:stretch>
        </p:blipFill>
        <p:spPr>
          <a:xfrm>
            <a:off x="3648456" y="1828800"/>
            <a:ext cx="292608" cy="292608"/>
          </a:xfrm>
          <a:prstGeom prst="rect">
            <a:avLst/>
          </a:prstGeom>
        </p:spPr>
      </p:pic>
      <p:sp>
        <p:nvSpPr>
          <p:cNvPr id="12" name="Text 6"/>
          <p:cNvSpPr txBox="1"/>
          <p:nvPr/>
        </p:nvSpPr>
        <p:spPr>
          <a:xfrm>
            <a:off x="4059936"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2  REPORT</a:t>
            </a:r>
            <a:endParaRPr lang="en-US" sz="1150" dirty="0"/>
          </a:p>
        </p:txBody>
      </p:sp>
      <p:sp>
        <p:nvSpPr>
          <p:cNvPr id="13" name="Text 7"/>
          <p:cNvSpPr txBox="1"/>
          <p:nvPr/>
        </p:nvSpPr>
        <p:spPr>
          <a:xfrm>
            <a:off x="3648456" y="2240280"/>
            <a:ext cx="2075688" cy="685800"/>
          </a:xfrm>
          <a:prstGeom prst="rect">
            <a:avLst/>
          </a:prstGeom>
          <a:noFill/>
          <a:ln/>
        </p:spPr>
        <p:txBody>
          <a:bodyPr wrap="square" lIns="0" tIns="0" rIns="0" bIns="0" rtlCol="0" anchor="t"/>
          <a:lstStyle/>
          <a:p>
            <a:pPr indent="0" marL="0">
              <a:buNone/>
            </a:pPr>
            <a:r>
              <a:rPr lang="en-US" sz="1150" dirty="0">
                <a:solidFill>
                  <a:srgbClr val="0E2233"/>
                </a:solidFill>
                <a:latin typeface="Calibri" pitchFamily="34" charset="0"/>
                <a:ea typeface="Calibri" pitchFamily="34" charset="-122"/>
                <a:cs typeface="Calibri" pitchFamily="34" charset="-120"/>
              </a:rPr>
              <a:t>Findings are listed with severity ratings to help prioritize</a:t>
            </a:r>
            <a:endParaRPr lang="en-US" sz="1150" dirty="0"/>
          </a:p>
        </p:txBody>
      </p:sp>
      <p:pic>
        <p:nvPicPr>
          <p:cNvPr id="14" name="Image 4" descr="preencoded.png">    </p:cNvPr>
          <p:cNvPicPr>
            <a:picLocks noChangeAspect="1"/>
          </p:cNvPicPr>
          <p:nvPr/>
        </p:nvPicPr>
        <p:blipFill>
          <a:blip r:embed="rId5"/>
          <a:stretch>
            <a:fillRect/>
          </a:stretch>
        </p:blipFill>
        <p:spPr>
          <a:xfrm>
            <a:off x="5998464" y="2208276"/>
            <a:ext cx="201168" cy="201168"/>
          </a:xfrm>
          <a:prstGeom prst="rect">
            <a:avLst/>
          </a:prstGeom>
        </p:spPr>
      </p:pic>
      <p:sp>
        <p:nvSpPr>
          <p:cNvPr id="15" name="Shape 8"/>
          <p:cNvSpPr/>
          <p:nvPr/>
        </p:nvSpPr>
        <p:spPr>
          <a:xfrm>
            <a:off x="6291072" y="1600200"/>
            <a:ext cx="2487168" cy="1417320"/>
          </a:xfrm>
          <a:prstGeom prst="roundRect">
            <a:avLst>
              <a:gd name="adj" fmla="val 7742"/>
            </a:avLst>
          </a:prstGeom>
          <a:solidFill>
            <a:srgbClr val="EAEEF3"/>
          </a:solidFill>
          <a:ln w="12700">
            <a:solidFill>
              <a:srgbClr val="EAEEF3"/>
            </a:solidFill>
            <a:prstDash val="solid"/>
          </a:ln>
        </p:spPr>
      </p:sp>
      <p:pic>
        <p:nvPicPr>
          <p:cNvPr id="16" name="Image 5" descr="preencoded.png">    </p:cNvPr>
          <p:cNvPicPr>
            <a:picLocks noChangeAspect="1"/>
          </p:cNvPicPr>
          <p:nvPr/>
        </p:nvPicPr>
        <p:blipFill>
          <a:blip r:embed="rId6"/>
          <a:stretch>
            <a:fillRect/>
          </a:stretch>
        </p:blipFill>
        <p:spPr>
          <a:xfrm>
            <a:off x="6519672" y="1828800"/>
            <a:ext cx="292608" cy="292608"/>
          </a:xfrm>
          <a:prstGeom prst="rect">
            <a:avLst/>
          </a:prstGeom>
        </p:spPr>
      </p:pic>
      <p:sp>
        <p:nvSpPr>
          <p:cNvPr id="17" name="Text 9"/>
          <p:cNvSpPr txBox="1"/>
          <p:nvPr/>
        </p:nvSpPr>
        <p:spPr>
          <a:xfrm>
            <a:off x="6931152"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3  MANUAL FOLLOW-UP</a:t>
            </a:r>
            <a:endParaRPr lang="en-US" sz="1150" dirty="0"/>
          </a:p>
        </p:txBody>
      </p:sp>
      <p:sp>
        <p:nvSpPr>
          <p:cNvPr id="18" name="Text 10"/>
          <p:cNvSpPr txBox="1"/>
          <p:nvPr/>
        </p:nvSpPr>
        <p:spPr>
          <a:xfrm>
            <a:off x="6519672" y="2240280"/>
            <a:ext cx="2075688" cy="685800"/>
          </a:xfrm>
          <a:prstGeom prst="rect">
            <a:avLst/>
          </a:prstGeom>
          <a:noFill/>
          <a:ln/>
        </p:spPr>
        <p:txBody>
          <a:bodyPr wrap="square" lIns="0" tIns="0" rIns="0" bIns="0" rtlCol="0" anchor="t"/>
          <a:lstStyle/>
          <a:p>
            <a:pPr indent="0" marL="0">
              <a:buNone/>
            </a:pPr>
            <a:r>
              <a:rPr lang="en-US" sz="1150" dirty="0">
                <a:solidFill>
                  <a:srgbClr val="0E2233"/>
                </a:solidFill>
                <a:latin typeface="Calibri" pitchFamily="34" charset="0"/>
                <a:ea typeface="Calibri" pitchFamily="34" charset="-122"/>
                <a:cs typeface="Calibri" pitchFamily="34" charset="-120"/>
              </a:rPr>
              <a:t>IT staff research, patch and verify each finding by hand</a:t>
            </a:r>
            <a:endParaRPr lang="en-US" sz="1150" dirty="0"/>
          </a:p>
        </p:txBody>
      </p:sp>
      <p:pic>
        <p:nvPicPr>
          <p:cNvPr id="19" name="Image 6" descr="preencoded.png">    </p:cNvPr>
          <p:cNvPicPr>
            <a:picLocks noChangeAspect="1"/>
          </p:cNvPicPr>
          <p:nvPr/>
        </p:nvPicPr>
        <p:blipFill>
          <a:blip r:embed="rId7"/>
          <a:stretch>
            <a:fillRect/>
          </a:stretch>
        </p:blipFill>
        <p:spPr>
          <a:xfrm>
            <a:off x="8869680" y="2208276"/>
            <a:ext cx="201168" cy="201168"/>
          </a:xfrm>
          <a:prstGeom prst="rect">
            <a:avLst/>
          </a:prstGeom>
        </p:spPr>
      </p:pic>
      <p:sp>
        <p:nvSpPr>
          <p:cNvPr id="20" name="Shape 11"/>
          <p:cNvSpPr/>
          <p:nvPr/>
        </p:nvSpPr>
        <p:spPr>
          <a:xfrm>
            <a:off x="9162288" y="1600200"/>
            <a:ext cx="2480767" cy="1417320"/>
          </a:xfrm>
          <a:prstGeom prst="roundRect">
            <a:avLst>
              <a:gd name="adj" fmla="val 7742"/>
            </a:avLst>
          </a:prstGeom>
          <a:solidFill>
            <a:srgbClr val="E7F5F7"/>
          </a:solidFill>
          <a:ln w="15875">
            <a:solidFill>
              <a:srgbClr val="0F8B99"/>
            </a:solidFill>
            <a:prstDash val="solid"/>
          </a:ln>
        </p:spPr>
      </p:sp>
      <p:pic>
        <p:nvPicPr>
          <p:cNvPr id="21" name="Image 7" descr="preencoded.png">    </p:cNvPr>
          <p:cNvPicPr>
            <a:picLocks noChangeAspect="1"/>
          </p:cNvPicPr>
          <p:nvPr/>
        </p:nvPicPr>
        <p:blipFill>
          <a:blip r:embed="rId8"/>
          <a:stretch>
            <a:fillRect/>
          </a:stretch>
        </p:blipFill>
        <p:spPr>
          <a:xfrm>
            <a:off x="9390888" y="1828800"/>
            <a:ext cx="292608" cy="292608"/>
          </a:xfrm>
          <a:prstGeom prst="rect">
            <a:avLst/>
          </a:prstGeom>
        </p:spPr>
      </p:pic>
      <p:sp>
        <p:nvSpPr>
          <p:cNvPr id="22" name="Text 12"/>
          <p:cNvSpPr txBox="1"/>
          <p:nvPr/>
        </p:nvSpPr>
        <p:spPr>
          <a:xfrm>
            <a:off x="9802368" y="1828800"/>
            <a:ext cx="1703527" cy="292608"/>
          </a:xfrm>
          <a:prstGeom prst="rect">
            <a:avLst/>
          </a:prstGeom>
          <a:noFill/>
          <a:ln/>
        </p:spPr>
        <p:txBody>
          <a:bodyPr wrap="square" lIns="0" tIns="0" rIns="0" bIns="0" rtlCol="0" anchor="ctr"/>
          <a:lstStyle/>
          <a:p>
            <a:pPr indent="0" marL="0">
              <a:buNone/>
            </a:pPr>
            <a:r>
              <a:rPr lang="en-US" sz="1150" b="1" spc="100" kern="0" dirty="0">
                <a:solidFill>
                  <a:srgbClr val="0F8B99"/>
                </a:solidFill>
                <a:latin typeface="Calibri" pitchFamily="34" charset="0"/>
                <a:ea typeface="Calibri" pitchFamily="34" charset="-122"/>
                <a:cs typeface="Calibri" pitchFamily="34" charset="-120"/>
              </a:rPr>
              <a:t>ENDS HERE</a:t>
            </a:r>
            <a:endParaRPr lang="en-US" sz="1150" dirty="0"/>
          </a:p>
        </p:txBody>
      </p:sp>
      <p:sp>
        <p:nvSpPr>
          <p:cNvPr id="23" name="Text 13"/>
          <p:cNvSpPr txBox="1"/>
          <p:nvPr/>
        </p:nvSpPr>
        <p:spPr>
          <a:xfrm>
            <a:off x="9390888" y="2240280"/>
            <a:ext cx="2069287" cy="685800"/>
          </a:xfrm>
          <a:prstGeom prst="rect">
            <a:avLst/>
          </a:prstGeom>
          <a:noFill/>
          <a:ln/>
        </p:spPr>
        <p:txBody>
          <a:bodyPr wrap="square" lIns="0" tIns="0" rIns="0" bIns="0" rtlCol="0" anchor="t"/>
          <a:lstStyle/>
          <a:p>
            <a:pPr indent="0" marL="0">
              <a:buNone/>
            </a:pPr>
            <a:r>
              <a:rPr lang="en-US" sz="1150" b="1" dirty="0">
                <a:solidFill>
                  <a:srgbClr val="0A6470"/>
                </a:solidFill>
                <a:latin typeface="Calibri" pitchFamily="34" charset="0"/>
                <a:ea typeface="Calibri" pitchFamily="34" charset="-122"/>
                <a:cs typeface="Calibri" pitchFamily="34" charset="-120"/>
              </a:rPr>
              <a:t>No prevention · No shielding · No response to live attacks</a:t>
            </a:r>
            <a:endParaRPr lang="en-US" sz="1150" dirty="0"/>
          </a:p>
        </p:txBody>
      </p:sp>
      <p:sp>
        <p:nvSpPr>
          <p:cNvPr id="24" name="Shape 14"/>
          <p:cNvSpPr/>
          <p:nvPr/>
        </p:nvSpPr>
        <p:spPr>
          <a:xfrm>
            <a:off x="548640" y="3310128"/>
            <a:ext cx="4297680" cy="2697480"/>
          </a:xfrm>
          <a:prstGeom prst="roundRect">
            <a:avLst>
              <a:gd name="adj" fmla="val 4068"/>
            </a:avLst>
          </a:prstGeom>
          <a:solidFill>
            <a:srgbClr val="F4F5F7"/>
          </a:solidFill>
          <a:ln w="9525">
            <a:solidFill>
              <a:srgbClr val="DEE1E5"/>
            </a:solidFill>
            <a:prstDash val="solid"/>
          </a:ln>
        </p:spPr>
      </p:sp>
      <p:sp>
        <p:nvSpPr>
          <p:cNvPr id="25" name="Text 15"/>
          <p:cNvSpPr txBox="1"/>
          <p:nvPr/>
        </p:nvSpPr>
        <p:spPr>
          <a:xfrm>
            <a:off x="822960" y="3538728"/>
            <a:ext cx="374904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Where Nessus adds value</a:t>
            </a:r>
            <a:endParaRPr lang="en-US" sz="1500" dirty="0"/>
          </a:p>
        </p:txBody>
      </p:sp>
      <p:pic>
        <p:nvPicPr>
          <p:cNvPr id="26" name="Image 8" descr="preencoded.png">    </p:cNvPr>
          <p:cNvPicPr>
            <a:picLocks noChangeAspect="1"/>
          </p:cNvPicPr>
          <p:nvPr/>
        </p:nvPicPr>
        <p:blipFill>
          <a:blip r:embed="rId9"/>
          <a:stretch>
            <a:fillRect/>
          </a:stretch>
        </p:blipFill>
        <p:spPr>
          <a:xfrm>
            <a:off x="822960" y="4069080"/>
            <a:ext cx="219456" cy="219456"/>
          </a:xfrm>
          <a:prstGeom prst="rect">
            <a:avLst/>
          </a:prstGeom>
        </p:spPr>
      </p:pic>
      <p:sp>
        <p:nvSpPr>
          <p:cNvPr id="27" name="Text 16"/>
          <p:cNvSpPr txBox="1"/>
          <p:nvPr/>
        </p:nvSpPr>
        <p:spPr>
          <a:xfrm>
            <a:off x="1170432" y="4041648"/>
            <a:ext cx="3383280" cy="512064"/>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Broad discovery of known vulnerabilities and misconfigurations</a:t>
            </a:r>
            <a:endParaRPr lang="en-US" sz="1200" dirty="0"/>
          </a:p>
        </p:txBody>
      </p:sp>
      <p:pic>
        <p:nvPicPr>
          <p:cNvPr id="28" name="Image 9" descr="preencoded.png">    </p:cNvPr>
          <p:cNvPicPr>
            <a:picLocks noChangeAspect="1"/>
          </p:cNvPicPr>
          <p:nvPr/>
        </p:nvPicPr>
        <p:blipFill>
          <a:blip r:embed="rId10"/>
          <a:stretch>
            <a:fillRect/>
          </a:stretch>
        </p:blipFill>
        <p:spPr>
          <a:xfrm>
            <a:off x="822960" y="4672584"/>
            <a:ext cx="219456" cy="219456"/>
          </a:xfrm>
          <a:prstGeom prst="rect">
            <a:avLst/>
          </a:prstGeom>
        </p:spPr>
      </p:pic>
      <p:sp>
        <p:nvSpPr>
          <p:cNvPr id="29" name="Text 17"/>
          <p:cNvSpPr txBox="1"/>
          <p:nvPr/>
        </p:nvSpPr>
        <p:spPr>
          <a:xfrm>
            <a:off x="1170432" y="4645152"/>
            <a:ext cx="3383280" cy="512064"/>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Risk-rated findings that help set priorities</a:t>
            </a:r>
            <a:endParaRPr lang="en-US" sz="1200" dirty="0"/>
          </a:p>
        </p:txBody>
      </p:sp>
      <p:pic>
        <p:nvPicPr>
          <p:cNvPr id="30" name="Image 10" descr="preencoded.png">    </p:cNvPr>
          <p:cNvPicPr>
            <a:picLocks noChangeAspect="1"/>
          </p:cNvPicPr>
          <p:nvPr/>
        </p:nvPicPr>
        <p:blipFill>
          <a:blip r:embed="rId11"/>
          <a:stretch>
            <a:fillRect/>
          </a:stretch>
        </p:blipFill>
        <p:spPr>
          <a:xfrm>
            <a:off x="822960" y="5276088"/>
            <a:ext cx="219456" cy="219456"/>
          </a:xfrm>
          <a:prstGeom prst="rect">
            <a:avLst/>
          </a:prstGeom>
        </p:spPr>
      </p:pic>
      <p:sp>
        <p:nvSpPr>
          <p:cNvPr id="31" name="Text 18"/>
          <p:cNvSpPr txBox="1"/>
          <p:nvPr/>
        </p:nvSpPr>
        <p:spPr>
          <a:xfrm>
            <a:off x="1170432" y="5248656"/>
            <a:ext cx="3383280" cy="512064"/>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Useful for periodic audits and compliance checks</a:t>
            </a:r>
            <a:endParaRPr lang="en-US" sz="1200" dirty="0"/>
          </a:p>
        </p:txBody>
      </p:sp>
      <p:sp>
        <p:nvSpPr>
          <p:cNvPr id="32" name="Shape 19"/>
          <p:cNvSpPr/>
          <p:nvPr/>
        </p:nvSpPr>
        <p:spPr>
          <a:xfrm>
            <a:off x="5120640" y="3310128"/>
            <a:ext cx="6522415" cy="2697480"/>
          </a:xfrm>
          <a:prstGeom prst="roundRect">
            <a:avLst>
              <a:gd name="adj" fmla="val 4068"/>
            </a:avLst>
          </a:prstGeom>
          <a:solidFill>
            <a:srgbClr val="FFFFFF"/>
          </a:solidFill>
          <a:ln w="9525">
            <a:solidFill>
              <a:srgbClr val="DEE1E5"/>
            </a:solidFill>
            <a:prstDash val="solid"/>
          </a:ln>
        </p:spPr>
      </p:sp>
      <p:sp>
        <p:nvSpPr>
          <p:cNvPr id="33" name="Text 20"/>
          <p:cNvSpPr txBox="1"/>
          <p:nvPr/>
        </p:nvSpPr>
        <p:spPr>
          <a:xfrm>
            <a:off x="5394960" y="3538728"/>
            <a:ext cx="5973775"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Where it falls short for the resort</a:t>
            </a:r>
            <a:endParaRPr lang="en-US" sz="1500" dirty="0"/>
          </a:p>
        </p:txBody>
      </p:sp>
      <p:pic>
        <p:nvPicPr>
          <p:cNvPr id="34" name="Image 11" descr="preencoded.png">    </p:cNvPr>
          <p:cNvPicPr>
            <a:picLocks noChangeAspect="1"/>
          </p:cNvPicPr>
          <p:nvPr/>
        </p:nvPicPr>
        <p:blipFill>
          <a:blip r:embed="rId12"/>
          <a:stretch>
            <a:fillRect/>
          </a:stretch>
        </p:blipFill>
        <p:spPr>
          <a:xfrm>
            <a:off x="5394960" y="4059936"/>
            <a:ext cx="201168" cy="201168"/>
          </a:xfrm>
          <a:prstGeom prst="rect">
            <a:avLst/>
          </a:prstGeom>
        </p:spPr>
      </p:pic>
      <p:sp>
        <p:nvSpPr>
          <p:cNvPr id="35" name="Text 21"/>
          <p:cNvSpPr txBox="1"/>
          <p:nvPr/>
        </p:nvSpPr>
        <p:spPr>
          <a:xfrm>
            <a:off x="5715000" y="4023360"/>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Point-in-time only</a:t>
            </a:r>
            <a:pPr indent="0" marL="0">
              <a:buNone/>
            </a:pPr>
            <a:r>
              <a:rPr lang="en-US" sz="1200" dirty="0">
                <a:solidFill>
                  <a:srgbClr val="5F6670"/>
                </a:solidFill>
                <a:latin typeface="Calibri" pitchFamily="34" charset="0"/>
                <a:ea typeface="Calibri" pitchFamily="34" charset="-122"/>
                <a:cs typeface="Calibri" pitchFamily="34" charset="-120"/>
              </a:rPr>
              <a:t>  —  no visibility between scans</a:t>
            </a:r>
            <a:endParaRPr lang="en-US" sz="1200" dirty="0"/>
          </a:p>
        </p:txBody>
      </p:sp>
      <p:pic>
        <p:nvPicPr>
          <p:cNvPr id="36" name="Image 12" descr="preencoded.png">    </p:cNvPr>
          <p:cNvPicPr>
            <a:picLocks noChangeAspect="1"/>
          </p:cNvPicPr>
          <p:nvPr/>
        </p:nvPicPr>
        <p:blipFill>
          <a:blip r:embed="rId13"/>
          <a:stretch>
            <a:fillRect/>
          </a:stretch>
        </p:blipFill>
        <p:spPr>
          <a:xfrm>
            <a:off x="5394960" y="4434840"/>
            <a:ext cx="201168" cy="201168"/>
          </a:xfrm>
          <a:prstGeom prst="rect">
            <a:avLst/>
          </a:prstGeom>
        </p:spPr>
      </p:pic>
      <p:sp>
        <p:nvSpPr>
          <p:cNvPr id="37" name="Text 22"/>
          <p:cNvSpPr txBox="1"/>
          <p:nvPr/>
        </p:nvSpPr>
        <p:spPr>
          <a:xfrm>
            <a:off x="5715000" y="4398264"/>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No malware or ransomware prevention</a:t>
            </a:r>
            <a:pPr indent="0" marL="0">
              <a:buNone/>
            </a:pPr>
            <a:r>
              <a:rPr lang="en-US" sz="1200" dirty="0">
                <a:solidFill>
                  <a:srgbClr val="5F6670"/>
                </a:solidFill>
                <a:latin typeface="Calibri" pitchFamily="34" charset="0"/>
                <a:ea typeface="Calibri" pitchFamily="34" charset="-122"/>
                <a:cs typeface="Calibri" pitchFamily="34" charset="-120"/>
              </a:rPr>
              <a:t>  —  a separate antivirus is still needed (EPP)</a:t>
            </a:r>
            <a:endParaRPr lang="en-US" sz="1200" dirty="0"/>
          </a:p>
        </p:txBody>
      </p:sp>
      <p:pic>
        <p:nvPicPr>
          <p:cNvPr id="38" name="Image 13" descr="preencoded.png">    </p:cNvPr>
          <p:cNvPicPr>
            <a:picLocks noChangeAspect="1"/>
          </p:cNvPicPr>
          <p:nvPr/>
        </p:nvPicPr>
        <p:blipFill>
          <a:blip r:embed="rId14"/>
          <a:stretch>
            <a:fillRect/>
          </a:stretch>
        </p:blipFill>
        <p:spPr>
          <a:xfrm>
            <a:off x="5394960" y="4809744"/>
            <a:ext cx="201168" cy="201168"/>
          </a:xfrm>
          <a:prstGeom prst="rect">
            <a:avLst/>
          </a:prstGeom>
        </p:spPr>
      </p:pic>
      <p:sp>
        <p:nvSpPr>
          <p:cNvPr id="39" name="Text 23"/>
          <p:cNvSpPr txBox="1"/>
          <p:nvPr/>
        </p:nvSpPr>
        <p:spPr>
          <a:xfrm>
            <a:off x="5715000" y="4773168"/>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No detection or response to active attacks</a:t>
            </a:r>
            <a:pPr indent="0" marL="0">
              <a:buNone/>
            </a:pPr>
            <a:r>
              <a:rPr lang="en-US" sz="1200" dirty="0">
                <a:solidFill>
                  <a:srgbClr val="5F6670"/>
                </a:solidFill>
                <a:latin typeface="Calibri" pitchFamily="34" charset="0"/>
                <a:ea typeface="Calibri" pitchFamily="34" charset="-122"/>
                <a:cs typeface="Calibri" pitchFamily="34" charset="-120"/>
              </a:rPr>
              <a:t>  —  no EDR capability</a:t>
            </a:r>
            <a:endParaRPr lang="en-US" sz="1200" dirty="0"/>
          </a:p>
        </p:txBody>
      </p:sp>
      <p:pic>
        <p:nvPicPr>
          <p:cNvPr id="40" name="Image 14" descr="preencoded.png">    </p:cNvPr>
          <p:cNvPicPr>
            <a:picLocks noChangeAspect="1"/>
          </p:cNvPicPr>
          <p:nvPr/>
        </p:nvPicPr>
        <p:blipFill>
          <a:blip r:embed="rId15"/>
          <a:stretch>
            <a:fillRect/>
          </a:stretch>
        </p:blipFill>
        <p:spPr>
          <a:xfrm>
            <a:off x="5394960" y="5184648"/>
            <a:ext cx="201168" cy="201168"/>
          </a:xfrm>
          <a:prstGeom prst="rect">
            <a:avLst/>
          </a:prstGeom>
        </p:spPr>
      </p:pic>
      <p:sp>
        <p:nvSpPr>
          <p:cNvPr id="41" name="Text 24"/>
          <p:cNvSpPr txBox="1"/>
          <p:nvPr/>
        </p:nvSpPr>
        <p:spPr>
          <a:xfrm>
            <a:off x="5715000" y="5148072"/>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Remediation is fully manual</a:t>
            </a:r>
            <a:pPr indent="0" marL="0">
              <a:buNone/>
            </a:pPr>
            <a:r>
              <a:rPr lang="en-US" sz="1200" dirty="0">
                <a:solidFill>
                  <a:srgbClr val="5F6670"/>
                </a:solidFill>
                <a:latin typeface="Calibri" pitchFamily="34" charset="0"/>
                <a:ea typeface="Calibri" pitchFamily="34" charset="-122"/>
                <a:cs typeface="Calibri" pitchFamily="34" charset="-120"/>
              </a:rPr>
              <a:t>  —  every finding adds IT workload</a:t>
            </a:r>
            <a:endParaRPr lang="en-US" sz="1200" dirty="0"/>
          </a:p>
        </p:txBody>
      </p:sp>
      <p:pic>
        <p:nvPicPr>
          <p:cNvPr id="42" name="Image 15" descr="preencoded.png">    </p:cNvPr>
          <p:cNvPicPr>
            <a:picLocks noChangeAspect="1"/>
          </p:cNvPicPr>
          <p:nvPr/>
        </p:nvPicPr>
        <p:blipFill>
          <a:blip r:embed="rId16"/>
          <a:stretch>
            <a:fillRect/>
          </a:stretch>
        </p:blipFill>
        <p:spPr>
          <a:xfrm>
            <a:off x="5394960" y="5559552"/>
            <a:ext cx="201168" cy="201168"/>
          </a:xfrm>
          <a:prstGeom prst="rect">
            <a:avLst/>
          </a:prstGeom>
        </p:spPr>
      </p:pic>
      <p:sp>
        <p:nvSpPr>
          <p:cNvPr id="43" name="Text 25"/>
          <p:cNvSpPr txBox="1"/>
          <p:nvPr/>
        </p:nvSpPr>
        <p:spPr>
          <a:xfrm>
            <a:off x="5715000" y="5522976"/>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No protection until a patch is installed</a:t>
            </a:r>
            <a:pPr indent="0" marL="0">
              <a:buNone/>
            </a:pPr>
            <a:r>
              <a:rPr lang="en-US" sz="1200" dirty="0">
                <a:solidFill>
                  <a:srgbClr val="5F6670"/>
                </a:solidFill>
                <a:latin typeface="Calibri" pitchFamily="34" charset="0"/>
                <a:ea typeface="Calibri" pitchFamily="34" charset="-122"/>
                <a:cs typeface="Calibri" pitchFamily="34" charset="-120"/>
              </a:rPr>
              <a:t>  —  legacy systems may never be patched</a:t>
            </a:r>
            <a:endParaRPr lang="en-US" sz="1200" dirty="0"/>
          </a:p>
        </p:txBody>
      </p:sp>
      <p:sp>
        <p:nvSpPr>
          <p:cNvPr id="44" name="Text 26"/>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04   |   Nessus vs. Trend Micro Apex One™  ·  Proposal for The Westin Resort Guam</a:t>
            </a:r>
            <a:endParaRPr lang="en-US" sz="900" dirty="0"/>
          </a:p>
        </p:txBody>
      </p:sp>
      <p:pic>
        <p:nvPicPr>
          <p:cNvPr id="45"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03   A SIMPLE WAY TO SEE IT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A Safety Inspection vs. Guards on Every Door</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074920" cy="3611880"/>
          </a:xfrm>
          <a:prstGeom prst="roundRect">
            <a:avLst>
              <a:gd name="adj" fmla="val 3544"/>
            </a:avLst>
          </a:prstGeom>
          <a:solidFill>
            <a:srgbClr val="F4F5F7"/>
          </a:solidFill>
          <a:ln w="9525">
            <a:solidFill>
              <a:srgbClr val="DEE1E5"/>
            </a:solidFill>
            <a:prstDash val="solid"/>
          </a:ln>
        </p:spPr>
      </p:sp>
      <p:sp>
        <p:nvSpPr>
          <p:cNvPr id="6" name="Shape 3"/>
          <p:cNvSpPr/>
          <p:nvPr/>
        </p:nvSpPr>
        <p:spPr>
          <a:xfrm>
            <a:off x="868680" y="1874520"/>
            <a:ext cx="658368" cy="658368"/>
          </a:xfrm>
          <a:prstGeom prst="ellipse">
            <a:avLst/>
          </a:prstGeom>
          <a:solidFill>
            <a:srgbClr val="EAEEF3"/>
          </a:solidFill>
          <a:ln w="12700">
            <a:solidFill>
              <a:srgbClr val="EAEEF3"/>
            </a:solidFill>
            <a:prstDash val="solid"/>
          </a:ln>
        </p:spPr>
      </p:sp>
      <p:pic>
        <p:nvPicPr>
          <p:cNvPr id="7" name="Image 1" descr="preencoded.png">    </p:cNvPr>
          <p:cNvPicPr>
            <a:picLocks noChangeAspect="1"/>
          </p:cNvPicPr>
          <p:nvPr/>
        </p:nvPicPr>
        <p:blipFill>
          <a:blip r:embed="rId2"/>
          <a:stretch>
            <a:fillRect/>
          </a:stretch>
        </p:blipFill>
        <p:spPr>
          <a:xfrm>
            <a:off x="1046439" y="2052279"/>
            <a:ext cx="302849" cy="302849"/>
          </a:xfrm>
          <a:prstGeom prst="rect">
            <a:avLst/>
          </a:prstGeom>
        </p:spPr>
      </p:pic>
      <p:sp>
        <p:nvSpPr>
          <p:cNvPr id="8" name="Text 4"/>
          <p:cNvSpPr txBox="1"/>
          <p:nvPr/>
        </p:nvSpPr>
        <p:spPr>
          <a:xfrm>
            <a:off x="1709928" y="1901952"/>
            <a:ext cx="3703320" cy="237744"/>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NESSUS</a:t>
            </a:r>
            <a:endParaRPr lang="en-US" sz="1100" dirty="0"/>
          </a:p>
        </p:txBody>
      </p:sp>
      <p:sp>
        <p:nvSpPr>
          <p:cNvPr id="9" name="Text 5"/>
          <p:cNvSpPr txBox="1"/>
          <p:nvPr/>
        </p:nvSpPr>
        <p:spPr>
          <a:xfrm>
            <a:off x="1709928" y="2157984"/>
            <a:ext cx="3703320" cy="566928"/>
          </a:xfrm>
          <a:prstGeom prst="rect">
            <a:avLst/>
          </a:prstGeom>
          <a:noFill/>
          <a:ln/>
        </p:spPr>
        <p:txBody>
          <a:bodyPr wrap="square" lIns="0" tIns="0" rIns="0" bIns="0" rtlCol="0" anchor="t"/>
          <a:lstStyle/>
          <a:p>
            <a:pPr indent="0" marL="0">
              <a:buNone/>
            </a:pPr>
            <a:r>
              <a:rPr lang="en-US" sz="1700" b="1" dirty="0">
                <a:solidFill>
                  <a:srgbClr val="0E2233"/>
                </a:solidFill>
                <a:latin typeface="Arial" pitchFamily="34" charset="0"/>
                <a:ea typeface="Arial" pitchFamily="34" charset="-122"/>
                <a:cs typeface="Arial" pitchFamily="34" charset="-120"/>
              </a:rPr>
              <a:t>The Safety Inspector</a:t>
            </a:r>
            <a:endParaRPr lang="en-US" sz="1700" dirty="0"/>
          </a:p>
        </p:txBody>
      </p:sp>
      <p:sp>
        <p:nvSpPr>
          <p:cNvPr id="10" name="Text 6"/>
          <p:cNvSpPr txBox="1"/>
          <p:nvPr/>
        </p:nvSpPr>
        <p:spPr>
          <a:xfrm>
            <a:off x="868680" y="2880360"/>
            <a:ext cx="4434840" cy="960120"/>
          </a:xfrm>
          <a:prstGeom prst="rect">
            <a:avLst/>
          </a:prstGeom>
          <a:noFill/>
          <a:ln/>
        </p:spPr>
        <p:txBody>
          <a:bodyPr wrap="square" lIns="0" tIns="0" rIns="0" bIns="0" rtlCol="0" anchor="t"/>
          <a:lstStyle/>
          <a:p>
            <a:pPr indent="0" marL="0">
              <a:buNone/>
            </a:pPr>
            <a:r>
              <a:rPr lang="en-US" sz="1250" dirty="0">
                <a:solidFill>
                  <a:srgbClr val="5F6670"/>
                </a:solidFill>
                <a:latin typeface="Calibri" pitchFamily="34" charset="0"/>
                <a:ea typeface="Calibri" pitchFamily="34" charset="-122"/>
                <a:cs typeface="Calibri" pitchFamily="34" charset="-120"/>
              </a:rPr>
              <a:t>An inspector walks the building on a schedule and lists every broken lock. Valuable — but the doors stay open until someone comes to repair them.</a:t>
            </a:r>
            <a:endParaRPr lang="en-US" sz="1250" dirty="0"/>
          </a:p>
        </p:txBody>
      </p:sp>
      <p:pic>
        <p:nvPicPr>
          <p:cNvPr id="11" name="Image 2" descr="preencoded.png">    </p:cNvPr>
          <p:cNvPicPr>
            <a:picLocks noChangeAspect="1"/>
          </p:cNvPicPr>
          <p:nvPr/>
        </p:nvPicPr>
        <p:blipFill>
          <a:blip r:embed="rId3"/>
          <a:stretch>
            <a:fillRect/>
          </a:stretch>
        </p:blipFill>
        <p:spPr>
          <a:xfrm>
            <a:off x="868680" y="4023360"/>
            <a:ext cx="182880" cy="182880"/>
          </a:xfrm>
          <a:prstGeom prst="rect">
            <a:avLst/>
          </a:prstGeom>
        </p:spPr>
      </p:pic>
      <p:sp>
        <p:nvSpPr>
          <p:cNvPr id="12" name="Text 7"/>
          <p:cNvSpPr txBox="1"/>
          <p:nvPr/>
        </p:nvSpPr>
        <p:spPr>
          <a:xfrm>
            <a:off x="1188720" y="397764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Finds known issues</a:t>
            </a:r>
            <a:endParaRPr lang="en-US" sz="1250" dirty="0"/>
          </a:p>
        </p:txBody>
      </p:sp>
      <p:pic>
        <p:nvPicPr>
          <p:cNvPr id="13" name="Image 3" descr="preencoded.png">    </p:cNvPr>
          <p:cNvPicPr>
            <a:picLocks noChangeAspect="1"/>
          </p:cNvPicPr>
          <p:nvPr/>
        </p:nvPicPr>
        <p:blipFill>
          <a:blip r:embed="rId4"/>
          <a:stretch>
            <a:fillRect/>
          </a:stretch>
        </p:blipFill>
        <p:spPr>
          <a:xfrm>
            <a:off x="868680" y="4389120"/>
            <a:ext cx="182880" cy="182880"/>
          </a:xfrm>
          <a:prstGeom prst="rect">
            <a:avLst/>
          </a:prstGeom>
        </p:spPr>
      </p:pic>
      <p:sp>
        <p:nvSpPr>
          <p:cNvPr id="14" name="Text 8"/>
          <p:cNvSpPr txBox="1"/>
          <p:nvPr/>
        </p:nvSpPr>
        <p:spPr>
          <a:xfrm>
            <a:off x="1188720" y="434340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Reports on a schedule</a:t>
            </a:r>
            <a:endParaRPr lang="en-US" sz="1250" dirty="0"/>
          </a:p>
        </p:txBody>
      </p:sp>
      <p:pic>
        <p:nvPicPr>
          <p:cNvPr id="15" name="Image 4" descr="preencoded.png">    </p:cNvPr>
          <p:cNvPicPr>
            <a:picLocks noChangeAspect="1"/>
          </p:cNvPicPr>
          <p:nvPr/>
        </p:nvPicPr>
        <p:blipFill>
          <a:blip r:embed="rId5"/>
          <a:stretch>
            <a:fillRect/>
          </a:stretch>
        </p:blipFill>
        <p:spPr>
          <a:xfrm>
            <a:off x="868680" y="4754880"/>
            <a:ext cx="182880" cy="182880"/>
          </a:xfrm>
          <a:prstGeom prst="rect">
            <a:avLst/>
          </a:prstGeom>
        </p:spPr>
      </p:pic>
      <p:sp>
        <p:nvSpPr>
          <p:cNvPr id="16" name="Text 9"/>
          <p:cNvSpPr txBox="1"/>
          <p:nvPr/>
        </p:nvSpPr>
        <p:spPr>
          <a:xfrm>
            <a:off x="1188720" y="470916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Leaves the fixing to you</a:t>
            </a:r>
            <a:endParaRPr lang="en-US" sz="1250" dirty="0"/>
          </a:p>
        </p:txBody>
      </p:sp>
      <p:sp>
        <p:nvSpPr>
          <p:cNvPr id="17" name="Shape 10"/>
          <p:cNvSpPr/>
          <p:nvPr/>
        </p:nvSpPr>
        <p:spPr>
          <a:xfrm>
            <a:off x="6568135" y="1554480"/>
            <a:ext cx="5074920" cy="3611880"/>
          </a:xfrm>
          <a:prstGeom prst="roundRect">
            <a:avLst>
              <a:gd name="adj" fmla="val 3544"/>
            </a:avLst>
          </a:prstGeom>
          <a:solidFill>
            <a:srgbClr val="E7F5F7"/>
          </a:solidFill>
          <a:ln w="9525">
            <a:solidFill>
              <a:srgbClr val="BFE4E8"/>
            </a:solidFill>
            <a:prstDash val="solid"/>
          </a:ln>
        </p:spPr>
      </p:sp>
      <p:sp>
        <p:nvSpPr>
          <p:cNvPr id="18" name="Shape 11"/>
          <p:cNvSpPr/>
          <p:nvPr/>
        </p:nvSpPr>
        <p:spPr>
          <a:xfrm>
            <a:off x="6888175" y="1874520"/>
            <a:ext cx="658368" cy="658368"/>
          </a:xfrm>
          <a:prstGeom prst="ellipse">
            <a:avLst/>
          </a:prstGeom>
          <a:solidFill>
            <a:srgbClr val="0F8B99"/>
          </a:solidFill>
          <a:ln w="12700">
            <a:solidFill>
              <a:srgbClr val="0F8B99"/>
            </a:solidFill>
            <a:prstDash val="solid"/>
          </a:ln>
        </p:spPr>
      </p:sp>
      <p:pic>
        <p:nvPicPr>
          <p:cNvPr id="19" name="Image 5" descr="preencoded.png">    </p:cNvPr>
          <p:cNvPicPr>
            <a:picLocks noChangeAspect="1"/>
          </p:cNvPicPr>
          <p:nvPr/>
        </p:nvPicPr>
        <p:blipFill>
          <a:blip r:embed="rId6"/>
          <a:stretch>
            <a:fillRect/>
          </a:stretch>
        </p:blipFill>
        <p:spPr>
          <a:xfrm>
            <a:off x="7065935" y="2052279"/>
            <a:ext cx="302849" cy="302849"/>
          </a:xfrm>
          <a:prstGeom prst="rect">
            <a:avLst/>
          </a:prstGeom>
        </p:spPr>
      </p:pic>
      <p:sp>
        <p:nvSpPr>
          <p:cNvPr id="20" name="Text 12"/>
          <p:cNvSpPr txBox="1"/>
          <p:nvPr/>
        </p:nvSpPr>
        <p:spPr>
          <a:xfrm>
            <a:off x="7729423" y="1901952"/>
            <a:ext cx="3703320" cy="237744"/>
          </a:xfrm>
          <a:prstGeom prst="rect">
            <a:avLst/>
          </a:prstGeom>
          <a:noFill/>
          <a:ln/>
        </p:spPr>
        <p:txBody>
          <a:bodyPr wrap="square" lIns="0" tIns="0" rIns="0" bIns="0" rtlCol="0" anchor="t"/>
          <a:lstStyle/>
          <a:p>
            <a:pPr indent="0" marL="0">
              <a:buNone/>
            </a:pPr>
            <a:r>
              <a:rPr lang="en-US" sz="1100" b="1" spc="200" kern="0" dirty="0">
                <a:solidFill>
                  <a:srgbClr val="0F8B99"/>
                </a:solidFill>
                <a:latin typeface="Calibri" pitchFamily="34" charset="0"/>
                <a:ea typeface="Calibri" pitchFamily="34" charset="-122"/>
                <a:cs typeface="Calibri" pitchFamily="34" charset="-120"/>
              </a:rPr>
              <a:t>TREND MICRO APEX ONE</a:t>
            </a:r>
            <a:endParaRPr lang="en-US" sz="1100" dirty="0"/>
          </a:p>
        </p:txBody>
      </p:sp>
      <p:sp>
        <p:nvSpPr>
          <p:cNvPr id="21" name="Text 13"/>
          <p:cNvSpPr txBox="1"/>
          <p:nvPr/>
        </p:nvSpPr>
        <p:spPr>
          <a:xfrm>
            <a:off x="7729423" y="2157984"/>
            <a:ext cx="3703320" cy="566928"/>
          </a:xfrm>
          <a:prstGeom prst="rect">
            <a:avLst/>
          </a:prstGeom>
          <a:noFill/>
          <a:ln/>
        </p:spPr>
        <p:txBody>
          <a:bodyPr wrap="square" lIns="0" tIns="0" rIns="0" bIns="0" rtlCol="0" anchor="t"/>
          <a:lstStyle/>
          <a:p>
            <a:pPr indent="0" marL="0">
              <a:buNone/>
            </a:pPr>
            <a:r>
              <a:rPr lang="en-US" sz="1700" b="1" dirty="0">
                <a:solidFill>
                  <a:srgbClr val="0E2233"/>
                </a:solidFill>
                <a:latin typeface="Arial" pitchFamily="34" charset="0"/>
                <a:ea typeface="Arial" pitchFamily="34" charset="-122"/>
                <a:cs typeface="Arial" pitchFamily="34" charset="-120"/>
              </a:rPr>
              <a:t>Guards, Temporary Locks &amp; an Undo Button</a:t>
            </a:r>
            <a:endParaRPr lang="en-US" sz="1700" dirty="0"/>
          </a:p>
        </p:txBody>
      </p:sp>
      <p:sp>
        <p:nvSpPr>
          <p:cNvPr id="22" name="Text 14"/>
          <p:cNvSpPr txBox="1"/>
          <p:nvPr/>
        </p:nvSpPr>
        <p:spPr>
          <a:xfrm>
            <a:off x="6888175" y="2880360"/>
            <a:ext cx="4434840" cy="960120"/>
          </a:xfrm>
          <a:prstGeom prst="rect">
            <a:avLst/>
          </a:prstGeom>
          <a:noFill/>
          <a:ln/>
        </p:spPr>
        <p:txBody>
          <a:bodyPr wrap="square" lIns="0" tIns="0" rIns="0" bIns="0" rtlCol="0" anchor="t"/>
          <a:lstStyle/>
          <a:p>
            <a:pPr indent="0" marL="0">
              <a:buNone/>
            </a:pPr>
            <a:r>
              <a:rPr lang="en-US" sz="1250" dirty="0">
                <a:solidFill>
                  <a:srgbClr val="5F6670"/>
                </a:solidFill>
                <a:latin typeface="Calibri" pitchFamily="34" charset="0"/>
                <a:ea typeface="Calibri" pitchFamily="34" charset="-122"/>
                <a:cs typeface="Calibri" pitchFamily="34" charset="-120"/>
              </a:rPr>
              <a:t>A guard stands at every door, a temporary lock goes on each broken door right away (virtual patching), and if ransomware strikes, damaged files are restored.</a:t>
            </a:r>
            <a:endParaRPr lang="en-US" sz="1250" dirty="0"/>
          </a:p>
        </p:txBody>
      </p:sp>
      <p:pic>
        <p:nvPicPr>
          <p:cNvPr id="23" name="Image 6" descr="preencoded.png">    </p:cNvPr>
          <p:cNvPicPr>
            <a:picLocks noChangeAspect="1"/>
          </p:cNvPicPr>
          <p:nvPr/>
        </p:nvPicPr>
        <p:blipFill>
          <a:blip r:embed="rId7"/>
          <a:stretch>
            <a:fillRect/>
          </a:stretch>
        </p:blipFill>
        <p:spPr>
          <a:xfrm>
            <a:off x="6888175" y="4023360"/>
            <a:ext cx="182880" cy="182880"/>
          </a:xfrm>
          <a:prstGeom prst="rect">
            <a:avLst/>
          </a:prstGeom>
        </p:spPr>
      </p:pic>
      <p:sp>
        <p:nvSpPr>
          <p:cNvPr id="24" name="Text 15"/>
          <p:cNvSpPr txBox="1"/>
          <p:nvPr/>
        </p:nvSpPr>
        <p:spPr>
          <a:xfrm>
            <a:off x="7208215" y="397764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Blocks threats automatically</a:t>
            </a:r>
            <a:endParaRPr lang="en-US" sz="1250" dirty="0"/>
          </a:p>
        </p:txBody>
      </p:sp>
      <p:pic>
        <p:nvPicPr>
          <p:cNvPr id="25" name="Image 7" descr="preencoded.png">    </p:cNvPr>
          <p:cNvPicPr>
            <a:picLocks noChangeAspect="1"/>
          </p:cNvPicPr>
          <p:nvPr/>
        </p:nvPicPr>
        <p:blipFill>
          <a:blip r:embed="rId8"/>
          <a:stretch>
            <a:fillRect/>
          </a:stretch>
        </p:blipFill>
        <p:spPr>
          <a:xfrm>
            <a:off x="6888175" y="4389120"/>
            <a:ext cx="182880" cy="182880"/>
          </a:xfrm>
          <a:prstGeom prst="rect">
            <a:avLst/>
          </a:prstGeom>
        </p:spPr>
      </p:pic>
      <p:sp>
        <p:nvSpPr>
          <p:cNvPr id="26" name="Text 16"/>
          <p:cNvSpPr txBox="1"/>
          <p:nvPr/>
        </p:nvSpPr>
        <p:spPr>
          <a:xfrm>
            <a:off x="7208215" y="434340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Shields weaknesses until repaired</a:t>
            </a:r>
            <a:endParaRPr lang="en-US" sz="1250" dirty="0"/>
          </a:p>
        </p:txBody>
      </p:sp>
      <p:pic>
        <p:nvPicPr>
          <p:cNvPr id="27" name="Image 8" descr="preencoded.png">    </p:cNvPr>
          <p:cNvPicPr>
            <a:picLocks noChangeAspect="1"/>
          </p:cNvPicPr>
          <p:nvPr/>
        </p:nvPicPr>
        <p:blipFill>
          <a:blip r:embed="rId9"/>
          <a:stretch>
            <a:fillRect/>
          </a:stretch>
        </p:blipFill>
        <p:spPr>
          <a:xfrm>
            <a:off x="6888175" y="4754880"/>
            <a:ext cx="182880" cy="182880"/>
          </a:xfrm>
          <a:prstGeom prst="rect">
            <a:avLst/>
          </a:prstGeom>
        </p:spPr>
      </p:pic>
      <p:sp>
        <p:nvSpPr>
          <p:cNvPr id="28" name="Text 17"/>
          <p:cNvSpPr txBox="1"/>
          <p:nvPr/>
        </p:nvSpPr>
        <p:spPr>
          <a:xfrm>
            <a:off x="7208215" y="470916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Rolls back ransomware damage</a:t>
            </a:r>
            <a:endParaRPr lang="en-US" sz="1250" dirty="0"/>
          </a:p>
        </p:txBody>
      </p:sp>
      <p:sp>
        <p:nvSpPr>
          <p:cNvPr id="29" name="Shape 18"/>
          <p:cNvSpPr/>
          <p:nvPr/>
        </p:nvSpPr>
        <p:spPr>
          <a:xfrm>
            <a:off x="5775808" y="3040380"/>
            <a:ext cx="640080" cy="640080"/>
          </a:xfrm>
          <a:prstGeom prst="ellipse">
            <a:avLst/>
          </a:prstGeom>
          <a:solidFill>
            <a:srgbClr val="10243A"/>
          </a:solidFill>
          <a:ln w="25400">
            <a:solidFill>
              <a:srgbClr val="FFFFFF"/>
            </a:solidFill>
            <a:prstDash val="solid"/>
          </a:ln>
        </p:spPr>
      </p:sp>
      <p:sp>
        <p:nvSpPr>
          <p:cNvPr id="30" name="Text 19"/>
          <p:cNvSpPr txBox="1"/>
          <p:nvPr/>
        </p:nvSpPr>
        <p:spPr>
          <a:xfrm>
            <a:off x="5775808" y="3040380"/>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VS</a:t>
            </a:r>
            <a:endParaRPr lang="en-US" sz="1500" dirty="0"/>
          </a:p>
        </p:txBody>
      </p:sp>
      <p:sp>
        <p:nvSpPr>
          <p:cNvPr id="31" name="Text 20"/>
          <p:cNvSpPr txBox="1"/>
          <p:nvPr/>
        </p:nvSpPr>
        <p:spPr>
          <a:xfrm>
            <a:off x="548640" y="5532120"/>
            <a:ext cx="1828800" cy="274320"/>
          </a:xfrm>
          <a:prstGeom prst="rect">
            <a:avLst/>
          </a:prstGeom>
          <a:noFill/>
          <a:ln/>
        </p:spPr>
        <p:txBody>
          <a:bodyPr wrap="square" lIns="0" tIns="0" rIns="0" bIns="0" rtlCol="0" anchor="ctr"/>
          <a:lstStyle/>
          <a:p>
            <a:pPr indent="0" marL="0">
              <a:buNone/>
            </a:pPr>
            <a:r>
              <a:rPr lang="en-US" sz="1000" b="1" spc="150" kern="0" dirty="0">
                <a:solidFill>
                  <a:srgbClr val="5F6670"/>
                </a:solidFill>
                <a:latin typeface="Calibri" pitchFamily="34" charset="0"/>
                <a:ea typeface="Calibri" pitchFamily="34" charset="-122"/>
                <a:cs typeface="Calibri" pitchFamily="34" charset="-120"/>
              </a:rPr>
              <a:t>SECURITY LIFECYCLE</a:t>
            </a:r>
            <a:endParaRPr lang="en-US" sz="1000" dirty="0"/>
          </a:p>
        </p:txBody>
      </p:sp>
      <p:sp>
        <p:nvSpPr>
          <p:cNvPr id="32" name="Shape 21"/>
          <p:cNvSpPr/>
          <p:nvPr/>
        </p:nvSpPr>
        <p:spPr>
          <a:xfrm>
            <a:off x="2468880" y="5440680"/>
            <a:ext cx="1234440" cy="457200"/>
          </a:xfrm>
          <a:prstGeom prst="roundRect">
            <a:avLst>
              <a:gd name="adj" fmla="val 50000"/>
            </a:avLst>
          </a:prstGeom>
          <a:solidFill>
            <a:srgbClr val="0F8B99"/>
          </a:solidFill>
          <a:ln w="12700">
            <a:solidFill>
              <a:srgbClr val="0F8B99"/>
            </a:solidFill>
            <a:prstDash val="solid"/>
          </a:ln>
        </p:spPr>
      </p:sp>
      <p:sp>
        <p:nvSpPr>
          <p:cNvPr id="33" name="Text 22"/>
          <p:cNvSpPr txBox="1"/>
          <p:nvPr/>
        </p:nvSpPr>
        <p:spPr>
          <a:xfrm>
            <a:off x="2468880"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Discover</a:t>
            </a:r>
            <a:endParaRPr lang="en-US" sz="1250" dirty="0"/>
          </a:p>
        </p:txBody>
      </p:sp>
      <p:sp>
        <p:nvSpPr>
          <p:cNvPr id="34" name="Shape 23"/>
          <p:cNvSpPr/>
          <p:nvPr/>
        </p:nvSpPr>
        <p:spPr>
          <a:xfrm>
            <a:off x="3867912" y="5440680"/>
            <a:ext cx="1234440" cy="457200"/>
          </a:xfrm>
          <a:prstGeom prst="roundRect">
            <a:avLst>
              <a:gd name="adj" fmla="val 50000"/>
            </a:avLst>
          </a:prstGeom>
          <a:solidFill>
            <a:srgbClr val="0F8B99"/>
          </a:solidFill>
          <a:ln w="12700">
            <a:solidFill>
              <a:srgbClr val="0F8B99"/>
            </a:solidFill>
            <a:prstDash val="solid"/>
          </a:ln>
        </p:spPr>
      </p:sp>
      <p:sp>
        <p:nvSpPr>
          <p:cNvPr id="35" name="Text 24"/>
          <p:cNvSpPr txBox="1"/>
          <p:nvPr/>
        </p:nvSpPr>
        <p:spPr>
          <a:xfrm>
            <a:off x="3867912"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Shield</a:t>
            </a:r>
            <a:endParaRPr lang="en-US" sz="1250" dirty="0"/>
          </a:p>
        </p:txBody>
      </p:sp>
      <p:sp>
        <p:nvSpPr>
          <p:cNvPr id="36" name="Shape 25"/>
          <p:cNvSpPr/>
          <p:nvPr/>
        </p:nvSpPr>
        <p:spPr>
          <a:xfrm>
            <a:off x="5266944" y="5440680"/>
            <a:ext cx="1234440" cy="457200"/>
          </a:xfrm>
          <a:prstGeom prst="roundRect">
            <a:avLst>
              <a:gd name="adj" fmla="val 50000"/>
            </a:avLst>
          </a:prstGeom>
          <a:solidFill>
            <a:srgbClr val="0F8B99"/>
          </a:solidFill>
          <a:ln w="12700">
            <a:solidFill>
              <a:srgbClr val="0F8B99"/>
            </a:solidFill>
            <a:prstDash val="solid"/>
          </a:ln>
        </p:spPr>
      </p:sp>
      <p:sp>
        <p:nvSpPr>
          <p:cNvPr id="37" name="Text 26"/>
          <p:cNvSpPr txBox="1"/>
          <p:nvPr/>
        </p:nvSpPr>
        <p:spPr>
          <a:xfrm>
            <a:off x="5266944"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Prevent</a:t>
            </a:r>
            <a:endParaRPr lang="en-US" sz="1250" dirty="0"/>
          </a:p>
        </p:txBody>
      </p:sp>
      <p:sp>
        <p:nvSpPr>
          <p:cNvPr id="38" name="Shape 27"/>
          <p:cNvSpPr/>
          <p:nvPr/>
        </p:nvSpPr>
        <p:spPr>
          <a:xfrm>
            <a:off x="6665976" y="5440680"/>
            <a:ext cx="1234440" cy="457200"/>
          </a:xfrm>
          <a:prstGeom prst="roundRect">
            <a:avLst>
              <a:gd name="adj" fmla="val 50000"/>
            </a:avLst>
          </a:prstGeom>
          <a:solidFill>
            <a:srgbClr val="0F8B99"/>
          </a:solidFill>
          <a:ln w="12700">
            <a:solidFill>
              <a:srgbClr val="0F8B99"/>
            </a:solidFill>
            <a:prstDash val="solid"/>
          </a:ln>
        </p:spPr>
      </p:sp>
      <p:sp>
        <p:nvSpPr>
          <p:cNvPr id="39" name="Text 28"/>
          <p:cNvSpPr txBox="1"/>
          <p:nvPr/>
        </p:nvSpPr>
        <p:spPr>
          <a:xfrm>
            <a:off x="6665976"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Respond</a:t>
            </a:r>
            <a:endParaRPr lang="en-US" sz="1250" dirty="0"/>
          </a:p>
        </p:txBody>
      </p:sp>
      <p:sp>
        <p:nvSpPr>
          <p:cNvPr id="40" name="Shape 29"/>
          <p:cNvSpPr/>
          <p:nvPr/>
        </p:nvSpPr>
        <p:spPr>
          <a:xfrm>
            <a:off x="8065008" y="5440680"/>
            <a:ext cx="1234440" cy="457200"/>
          </a:xfrm>
          <a:prstGeom prst="roundRect">
            <a:avLst>
              <a:gd name="adj" fmla="val 50000"/>
            </a:avLst>
          </a:prstGeom>
          <a:solidFill>
            <a:srgbClr val="0F8B99"/>
          </a:solidFill>
          <a:ln w="12700">
            <a:solidFill>
              <a:srgbClr val="0F8B99"/>
            </a:solidFill>
            <a:prstDash val="solid"/>
          </a:ln>
        </p:spPr>
      </p:sp>
      <p:sp>
        <p:nvSpPr>
          <p:cNvPr id="41" name="Text 30"/>
          <p:cNvSpPr txBox="1"/>
          <p:nvPr/>
        </p:nvSpPr>
        <p:spPr>
          <a:xfrm>
            <a:off x="8065008"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Recover</a:t>
            </a:r>
            <a:endParaRPr lang="en-US" sz="1250" dirty="0"/>
          </a:p>
        </p:txBody>
      </p:sp>
      <p:sp>
        <p:nvSpPr>
          <p:cNvPr id="42" name="Text 31"/>
          <p:cNvSpPr txBox="1"/>
          <p:nvPr/>
        </p:nvSpPr>
        <p:spPr>
          <a:xfrm>
            <a:off x="9555480" y="5440680"/>
            <a:ext cx="2087575" cy="457200"/>
          </a:xfrm>
          <a:prstGeom prst="rect">
            <a:avLst/>
          </a:prstGeom>
          <a:noFill/>
          <a:ln/>
        </p:spPr>
        <p:txBody>
          <a:bodyPr wrap="square" lIns="0" tIns="0" rIns="0" bIns="0" rtlCol="0" anchor="ctr"/>
          <a:lstStyle/>
          <a:p>
            <a:pPr indent="0" marL="0">
              <a:buNone/>
            </a:pPr>
            <a:r>
              <a:rPr lang="en-US" sz="1150" b="1" dirty="0">
                <a:solidFill>
                  <a:srgbClr val="5D6B7E"/>
                </a:solidFill>
                <a:latin typeface="Calibri" pitchFamily="34" charset="0"/>
                <a:ea typeface="Calibri" pitchFamily="34" charset="-122"/>
                <a:cs typeface="Calibri" pitchFamily="34" charset="-120"/>
              </a:rPr>
              <a:t>Nessus</a:t>
            </a:r>
            <a:pPr indent="0" marL="0">
              <a:buNone/>
            </a:pPr>
            <a:r>
              <a:rPr lang="en-US" sz="1150" dirty="0">
                <a:solidFill>
                  <a:srgbClr val="5F6670"/>
                </a:solidFill>
                <a:latin typeface="Calibri" pitchFamily="34" charset="0"/>
                <a:ea typeface="Calibri" pitchFamily="34" charset="-122"/>
                <a:cs typeface="Calibri" pitchFamily="34" charset="-120"/>
              </a:rPr>
              <a:t> covers only Discover.  </a:t>
            </a:r>
            <a:pPr indent="0" marL="0">
              <a:buNone/>
            </a:pPr>
            <a:r>
              <a:rPr lang="en-US" sz="1150" b="1" dirty="0">
                <a:solidFill>
                  <a:srgbClr val="0F8B99"/>
                </a:solidFill>
                <a:latin typeface="Calibri" pitchFamily="34" charset="0"/>
                <a:ea typeface="Calibri" pitchFamily="34" charset="-122"/>
                <a:cs typeface="Calibri" pitchFamily="34" charset="-120"/>
              </a:rPr>
              <a:t>Apex One</a:t>
            </a:r>
            <a:pPr indent="0" marL="0">
              <a:buNone/>
            </a:pPr>
            <a:r>
              <a:rPr lang="en-US" sz="1150" dirty="0">
                <a:solidFill>
                  <a:srgbClr val="5F6670"/>
                </a:solidFill>
                <a:latin typeface="Calibri" pitchFamily="34" charset="0"/>
                <a:ea typeface="Calibri" pitchFamily="34" charset="-122"/>
                <a:cs typeface="Calibri" pitchFamily="34" charset="-120"/>
              </a:rPr>
              <a:t> covers every stage.</a:t>
            </a:r>
            <a:endParaRPr lang="en-US" sz="1150" dirty="0"/>
          </a:p>
        </p:txBody>
      </p:sp>
      <p:sp>
        <p:nvSpPr>
          <p:cNvPr id="43" name="Text 3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05   |   Nessus vs. Trend Micro Apex One™  ·  Proposal for The Westin Resort Guam</a:t>
            </a:r>
            <a:endParaRPr lang="en-US" sz="900" dirty="0"/>
          </a:p>
        </p:txBody>
      </p:sp>
      <p:pic>
        <p:nvPicPr>
          <p:cNvPr id="44"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04   THE PATCH GAP</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Between Finding and Fixing, Systems Stay Exposed</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2331720" y="2395728"/>
            <a:ext cx="8991295" cy="0"/>
          </a:xfrm>
          <a:prstGeom prst="line">
            <a:avLst/>
          </a:prstGeom>
          <a:noFill/>
          <a:ln w="19050">
            <a:solidFill>
              <a:srgbClr val="B8C0CA"/>
            </a:solidFill>
            <a:prstDash val="solid"/>
          </a:ln>
        </p:spPr>
      </p:sp>
      <p:sp>
        <p:nvSpPr>
          <p:cNvPr id="6" name="Shape 3"/>
          <p:cNvSpPr/>
          <p:nvPr/>
        </p:nvSpPr>
        <p:spPr>
          <a:xfrm>
            <a:off x="2157984" y="2221992"/>
            <a:ext cx="347472" cy="347472"/>
          </a:xfrm>
          <a:prstGeom prst="ellipse">
            <a:avLst/>
          </a:prstGeom>
          <a:solidFill>
            <a:srgbClr val="5D6B7E"/>
          </a:solidFill>
          <a:ln w="19050">
            <a:solidFill>
              <a:srgbClr val="FFFFFF"/>
            </a:solidFill>
            <a:prstDash val="solid"/>
          </a:ln>
        </p:spPr>
      </p:sp>
      <p:sp>
        <p:nvSpPr>
          <p:cNvPr id="7" name="Text 4"/>
          <p:cNvSpPr txBox="1"/>
          <p:nvPr/>
        </p:nvSpPr>
        <p:spPr>
          <a:xfrm>
            <a:off x="2157984"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txBox="1"/>
          <p:nvPr/>
        </p:nvSpPr>
        <p:spPr>
          <a:xfrm>
            <a:off x="2157984" y="1536192"/>
            <a:ext cx="1920240" cy="658368"/>
          </a:xfrm>
          <a:prstGeom prst="rect">
            <a:avLst/>
          </a:prstGeom>
          <a:noFill/>
          <a:ln/>
        </p:spPr>
        <p:txBody>
          <a:bodyPr wrap="square" lIns="0" tIns="0" rIns="0" bIns="0" rtlCol="0" anchor="b"/>
          <a:lstStyle/>
          <a:p>
            <a:pPr algn="l" indent="0" marL="0">
              <a:buNone/>
            </a:pPr>
            <a:r>
              <a:rPr lang="en-US" sz="1200" b="1" dirty="0">
                <a:solidFill>
                  <a:srgbClr val="0E2233"/>
                </a:solidFill>
                <a:latin typeface="Calibri" pitchFamily="34" charset="0"/>
                <a:ea typeface="Calibri" pitchFamily="34" charset="-122"/>
                <a:cs typeface="Calibri" pitchFamily="34" charset="-120"/>
              </a:rPr>
              <a:t>Vulnerability disclosed</a:t>
            </a:r>
            <a:endParaRPr lang="en-US" sz="1200" dirty="0"/>
          </a:p>
          <a:p>
            <a:pPr algn="l" indent="0" marL="0">
              <a:buNone/>
            </a:pPr>
            <a:r>
              <a:rPr lang="en-US" sz="1050" dirty="0">
                <a:solidFill>
                  <a:srgbClr val="5F6670"/>
                </a:solidFill>
                <a:latin typeface="Calibri" pitchFamily="34" charset="0"/>
                <a:ea typeface="Calibri" pitchFamily="34" charset="-122"/>
                <a:cs typeface="Calibri" pitchFamily="34" charset="-120"/>
              </a:rPr>
              <a:t>Attacks can begin</a:t>
            </a:r>
            <a:endParaRPr lang="en-US" sz="1200" dirty="0"/>
          </a:p>
        </p:txBody>
      </p:sp>
      <p:sp>
        <p:nvSpPr>
          <p:cNvPr id="9" name="Shape 6"/>
          <p:cNvSpPr/>
          <p:nvPr/>
        </p:nvSpPr>
        <p:spPr>
          <a:xfrm>
            <a:off x="4405808" y="2221992"/>
            <a:ext cx="347472" cy="347472"/>
          </a:xfrm>
          <a:prstGeom prst="ellipse">
            <a:avLst/>
          </a:prstGeom>
          <a:solidFill>
            <a:srgbClr val="5D6B7E"/>
          </a:solidFill>
          <a:ln w="19050">
            <a:solidFill>
              <a:srgbClr val="FFFFFF"/>
            </a:solidFill>
            <a:prstDash val="solid"/>
          </a:ln>
        </p:spPr>
      </p:sp>
      <p:sp>
        <p:nvSpPr>
          <p:cNvPr id="10" name="Text 7"/>
          <p:cNvSpPr txBox="1"/>
          <p:nvPr/>
        </p:nvSpPr>
        <p:spPr>
          <a:xfrm>
            <a:off x="4405808"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txBox="1"/>
          <p:nvPr/>
        </p:nvSpPr>
        <p:spPr>
          <a:xfrm>
            <a:off x="3619424" y="1536192"/>
            <a:ext cx="1920240" cy="658368"/>
          </a:xfrm>
          <a:prstGeom prst="rect">
            <a:avLst/>
          </a:prstGeom>
          <a:noFill/>
          <a:ln/>
        </p:spPr>
        <p:txBody>
          <a:bodyPr wrap="square" lIns="0" tIns="0" rIns="0" bIns="0" rtlCol="0" anchor="b"/>
          <a:lstStyle/>
          <a:p>
            <a:pPr algn="ctr" indent="0" marL="0">
              <a:buNone/>
            </a:pPr>
            <a:r>
              <a:rPr lang="en-US" sz="1200" b="1" dirty="0">
                <a:solidFill>
                  <a:srgbClr val="0E2233"/>
                </a:solidFill>
                <a:latin typeface="Calibri" pitchFamily="34" charset="0"/>
                <a:ea typeface="Calibri" pitchFamily="34" charset="-122"/>
                <a:cs typeface="Calibri" pitchFamily="34" charset="-120"/>
              </a:rPr>
              <a:t>Next Nessus scan</a:t>
            </a:r>
            <a:endParaRPr lang="en-US" sz="1200" dirty="0"/>
          </a:p>
          <a:p>
            <a:pPr algn="ctr" indent="0" marL="0">
              <a:buNone/>
            </a:pPr>
            <a:r>
              <a:rPr lang="en-US" sz="1050" dirty="0">
                <a:solidFill>
                  <a:srgbClr val="5F6670"/>
                </a:solidFill>
                <a:latin typeface="Calibri" pitchFamily="34" charset="0"/>
                <a:ea typeface="Calibri" pitchFamily="34" charset="-122"/>
                <a:cs typeface="Calibri" pitchFamily="34" charset="-120"/>
              </a:rPr>
              <a:t>The finding is reported</a:t>
            </a:r>
            <a:endParaRPr lang="en-US" sz="1200" dirty="0"/>
          </a:p>
        </p:txBody>
      </p:sp>
      <p:sp>
        <p:nvSpPr>
          <p:cNvPr id="12" name="Shape 9"/>
          <p:cNvSpPr/>
          <p:nvPr/>
        </p:nvSpPr>
        <p:spPr>
          <a:xfrm>
            <a:off x="6653632" y="2221992"/>
            <a:ext cx="347472" cy="347472"/>
          </a:xfrm>
          <a:prstGeom prst="ellipse">
            <a:avLst/>
          </a:prstGeom>
          <a:solidFill>
            <a:srgbClr val="5D6B7E"/>
          </a:solidFill>
          <a:ln w="19050">
            <a:solidFill>
              <a:srgbClr val="FFFFFF"/>
            </a:solidFill>
            <a:prstDash val="solid"/>
          </a:ln>
        </p:spPr>
      </p:sp>
      <p:sp>
        <p:nvSpPr>
          <p:cNvPr id="13" name="Text 10"/>
          <p:cNvSpPr txBox="1"/>
          <p:nvPr/>
        </p:nvSpPr>
        <p:spPr>
          <a:xfrm>
            <a:off x="6653632"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1"/>
          <p:cNvSpPr txBox="1"/>
          <p:nvPr/>
        </p:nvSpPr>
        <p:spPr>
          <a:xfrm>
            <a:off x="5867248" y="1536192"/>
            <a:ext cx="1920240" cy="658368"/>
          </a:xfrm>
          <a:prstGeom prst="rect">
            <a:avLst/>
          </a:prstGeom>
          <a:noFill/>
          <a:ln/>
        </p:spPr>
        <p:txBody>
          <a:bodyPr wrap="square" lIns="0" tIns="0" rIns="0" bIns="0" rtlCol="0" anchor="b"/>
          <a:lstStyle/>
          <a:p>
            <a:pPr algn="ctr" indent="0" marL="0">
              <a:buNone/>
            </a:pPr>
            <a:r>
              <a:rPr lang="en-US" sz="1200" b="1" dirty="0">
                <a:solidFill>
                  <a:srgbClr val="0E2233"/>
                </a:solidFill>
                <a:latin typeface="Calibri" pitchFamily="34" charset="0"/>
                <a:ea typeface="Calibri" pitchFamily="34" charset="-122"/>
                <a:cs typeface="Calibri" pitchFamily="34" charset="-120"/>
              </a:rPr>
              <a:t>Vendor patch released</a:t>
            </a:r>
            <a:endParaRPr lang="en-US" sz="1200" dirty="0"/>
          </a:p>
          <a:p>
            <a:pPr algn="ctr" indent="0" marL="0">
              <a:buNone/>
            </a:pPr>
            <a:r>
              <a:rPr lang="en-US" sz="1050" dirty="0">
                <a:solidFill>
                  <a:srgbClr val="5F6670"/>
                </a:solidFill>
                <a:latin typeface="Calibri" pitchFamily="34" charset="0"/>
                <a:ea typeface="Calibri" pitchFamily="34" charset="-122"/>
                <a:cs typeface="Calibri" pitchFamily="34" charset="-120"/>
              </a:rPr>
              <a:t>Often days or weeks later</a:t>
            </a:r>
            <a:endParaRPr lang="en-US" sz="1200" dirty="0"/>
          </a:p>
        </p:txBody>
      </p:sp>
      <p:sp>
        <p:nvSpPr>
          <p:cNvPr id="15" name="Shape 12"/>
          <p:cNvSpPr/>
          <p:nvPr/>
        </p:nvSpPr>
        <p:spPr>
          <a:xfrm>
            <a:off x="8901455" y="2221992"/>
            <a:ext cx="347472" cy="347472"/>
          </a:xfrm>
          <a:prstGeom prst="ellipse">
            <a:avLst/>
          </a:prstGeom>
          <a:solidFill>
            <a:srgbClr val="5D6B7E"/>
          </a:solidFill>
          <a:ln w="19050">
            <a:solidFill>
              <a:srgbClr val="FFFFFF"/>
            </a:solidFill>
            <a:prstDash val="solid"/>
          </a:ln>
        </p:spPr>
      </p:sp>
      <p:sp>
        <p:nvSpPr>
          <p:cNvPr id="16" name="Text 13"/>
          <p:cNvSpPr txBox="1"/>
          <p:nvPr/>
        </p:nvSpPr>
        <p:spPr>
          <a:xfrm>
            <a:off x="8901455"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4"/>
          <p:cNvSpPr txBox="1"/>
          <p:nvPr/>
        </p:nvSpPr>
        <p:spPr>
          <a:xfrm>
            <a:off x="8115071" y="1536192"/>
            <a:ext cx="1920240" cy="658368"/>
          </a:xfrm>
          <a:prstGeom prst="rect">
            <a:avLst/>
          </a:prstGeom>
          <a:noFill/>
          <a:ln/>
        </p:spPr>
        <p:txBody>
          <a:bodyPr wrap="square" lIns="0" tIns="0" rIns="0" bIns="0" rtlCol="0" anchor="b"/>
          <a:lstStyle/>
          <a:p>
            <a:pPr algn="ctr" indent="0" marL="0">
              <a:buNone/>
            </a:pPr>
            <a:r>
              <a:rPr lang="en-US" sz="1200" b="1" dirty="0">
                <a:solidFill>
                  <a:srgbClr val="0E2233"/>
                </a:solidFill>
                <a:latin typeface="Calibri" pitchFamily="34" charset="0"/>
                <a:ea typeface="Calibri" pitchFamily="34" charset="-122"/>
                <a:cs typeface="Calibri" pitchFamily="34" charset="-120"/>
              </a:rPr>
              <a:t>Patch tested &amp; scheduled</a:t>
            </a:r>
            <a:endParaRPr lang="en-US" sz="1200" dirty="0"/>
          </a:p>
          <a:p>
            <a:pPr algn="ctr" indent="0" marL="0">
              <a:buNone/>
            </a:pPr>
            <a:r>
              <a:rPr lang="en-US" sz="1050" dirty="0">
                <a:solidFill>
                  <a:srgbClr val="5F6670"/>
                </a:solidFill>
                <a:latin typeface="Calibri" pitchFamily="34" charset="0"/>
                <a:ea typeface="Calibri" pitchFamily="34" charset="-122"/>
                <a:cs typeface="Calibri" pitchFamily="34" charset="-120"/>
              </a:rPr>
              <a:t>Maintenance window needed</a:t>
            </a:r>
            <a:endParaRPr lang="en-US" sz="1200" dirty="0"/>
          </a:p>
        </p:txBody>
      </p:sp>
      <p:sp>
        <p:nvSpPr>
          <p:cNvPr id="18" name="Shape 15"/>
          <p:cNvSpPr/>
          <p:nvPr/>
        </p:nvSpPr>
        <p:spPr>
          <a:xfrm>
            <a:off x="11149279" y="2221992"/>
            <a:ext cx="347472" cy="347472"/>
          </a:xfrm>
          <a:prstGeom prst="ellipse">
            <a:avLst/>
          </a:prstGeom>
          <a:solidFill>
            <a:srgbClr val="5D6B7E"/>
          </a:solidFill>
          <a:ln w="19050">
            <a:solidFill>
              <a:srgbClr val="FFFFFF"/>
            </a:solidFill>
            <a:prstDash val="solid"/>
          </a:ln>
        </p:spPr>
      </p:sp>
      <p:sp>
        <p:nvSpPr>
          <p:cNvPr id="19" name="Text 16"/>
          <p:cNvSpPr txBox="1"/>
          <p:nvPr/>
        </p:nvSpPr>
        <p:spPr>
          <a:xfrm>
            <a:off x="11149279"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76511" y="1536192"/>
            <a:ext cx="1920240" cy="658368"/>
          </a:xfrm>
          <a:prstGeom prst="rect">
            <a:avLst/>
          </a:prstGeom>
          <a:noFill/>
          <a:ln/>
        </p:spPr>
        <p:txBody>
          <a:bodyPr wrap="square" lIns="0" tIns="0" rIns="0" bIns="0" rtlCol="0" anchor="b"/>
          <a:lstStyle/>
          <a:p>
            <a:pPr algn="r" indent="0" marL="0">
              <a:buNone/>
            </a:pPr>
            <a:r>
              <a:rPr lang="en-US" sz="1200" b="1" dirty="0">
                <a:solidFill>
                  <a:srgbClr val="0E2233"/>
                </a:solidFill>
                <a:latin typeface="Calibri" pitchFamily="34" charset="0"/>
                <a:ea typeface="Calibri" pitchFamily="34" charset="-122"/>
                <a:cs typeface="Calibri" pitchFamily="34" charset="-120"/>
              </a:rPr>
              <a:t>Patch installed</a:t>
            </a:r>
            <a:endParaRPr lang="en-US" sz="1200" dirty="0"/>
          </a:p>
          <a:p>
            <a:pPr algn="r" indent="0" marL="0">
              <a:buNone/>
            </a:pPr>
            <a:r>
              <a:rPr lang="en-US" sz="1050" dirty="0">
                <a:solidFill>
                  <a:srgbClr val="5F6670"/>
                </a:solidFill>
                <a:latin typeface="Calibri" pitchFamily="34" charset="0"/>
                <a:ea typeface="Calibri" pitchFamily="34" charset="-122"/>
                <a:cs typeface="Calibri" pitchFamily="34" charset="-120"/>
              </a:rPr>
              <a:t>Legacy systems: may never</a:t>
            </a:r>
            <a:endParaRPr lang="en-US" sz="1200" dirty="0"/>
          </a:p>
        </p:txBody>
      </p:sp>
      <p:sp>
        <p:nvSpPr>
          <p:cNvPr id="21" name="Text 18"/>
          <p:cNvSpPr txBox="1"/>
          <p:nvPr/>
        </p:nvSpPr>
        <p:spPr>
          <a:xfrm>
            <a:off x="548640" y="3337560"/>
            <a:ext cx="1645920" cy="566928"/>
          </a:xfrm>
          <a:prstGeom prst="rect">
            <a:avLst/>
          </a:prstGeom>
          <a:noFill/>
          <a:ln/>
        </p:spPr>
        <p:txBody>
          <a:bodyPr wrap="square" lIns="0" tIns="0" rIns="0" bIns="0" rtlCol="0" anchor="ctr"/>
          <a:lstStyle/>
          <a:p>
            <a:pPr indent="0" marL="0">
              <a:buNone/>
            </a:pPr>
            <a:r>
              <a:rPr lang="en-US" sz="1500" b="1" dirty="0">
                <a:solidFill>
                  <a:srgbClr val="5D6B7E"/>
                </a:solidFill>
                <a:latin typeface="Arial" pitchFamily="34" charset="0"/>
                <a:ea typeface="Arial" pitchFamily="34" charset="-122"/>
                <a:cs typeface="Arial" pitchFamily="34" charset="-120"/>
              </a:rPr>
              <a:t>Nessus only</a:t>
            </a:r>
            <a:endParaRPr lang="en-US" sz="1200" dirty="0"/>
          </a:p>
          <a:p>
            <a:pPr indent="0" marL="0">
              <a:buNone/>
            </a:pPr>
            <a:r>
              <a:rPr lang="en-US" sz="1000" dirty="0">
                <a:solidFill>
                  <a:srgbClr val="5F6670"/>
                </a:solidFill>
                <a:latin typeface="Calibri" pitchFamily="34" charset="0"/>
                <a:ea typeface="Calibri" pitchFamily="34" charset="-122"/>
                <a:cs typeface="Calibri" pitchFamily="34" charset="-120"/>
              </a:rPr>
              <a:t>Scan, then wait</a:t>
            </a:r>
            <a:endParaRPr lang="en-US" sz="1200" dirty="0"/>
          </a:p>
        </p:txBody>
      </p:sp>
      <p:sp>
        <p:nvSpPr>
          <p:cNvPr id="22" name="Text 19"/>
          <p:cNvSpPr txBox="1"/>
          <p:nvPr/>
        </p:nvSpPr>
        <p:spPr>
          <a:xfrm>
            <a:off x="548640" y="4434840"/>
            <a:ext cx="1645920" cy="566928"/>
          </a:xfrm>
          <a:prstGeom prst="rect">
            <a:avLst/>
          </a:prstGeom>
          <a:noFill/>
          <a:ln/>
        </p:spPr>
        <p:txBody>
          <a:bodyPr wrap="square" lIns="0" tIns="0" rIns="0" bIns="0" rtlCol="0" anchor="ctr"/>
          <a:lstStyle/>
          <a:p>
            <a:pPr indent="0" marL="0">
              <a:buNone/>
            </a:pPr>
            <a:r>
              <a:rPr lang="en-US" sz="1500" b="1" dirty="0">
                <a:solidFill>
                  <a:srgbClr val="0F8B99"/>
                </a:solidFill>
                <a:latin typeface="Arial" pitchFamily="34" charset="0"/>
                <a:ea typeface="Arial" pitchFamily="34" charset="-122"/>
                <a:cs typeface="Arial" pitchFamily="34" charset="-120"/>
              </a:rPr>
              <a:t>With Apex One</a:t>
            </a:r>
            <a:endParaRPr lang="en-US" sz="1200" dirty="0"/>
          </a:p>
          <a:p>
            <a:pPr indent="0" marL="0">
              <a:buNone/>
            </a:pPr>
            <a:r>
              <a:rPr lang="en-US" sz="1000" dirty="0">
                <a:solidFill>
                  <a:srgbClr val="5F6670"/>
                </a:solidFill>
                <a:latin typeface="Calibri" pitchFamily="34" charset="0"/>
                <a:ea typeface="Calibri" pitchFamily="34" charset="-122"/>
                <a:cs typeface="Calibri" pitchFamily="34" charset="-120"/>
              </a:rPr>
              <a:t>Virtual patching</a:t>
            </a:r>
            <a:endParaRPr lang="en-US" sz="1200" dirty="0"/>
          </a:p>
        </p:txBody>
      </p:sp>
      <p:sp>
        <p:nvSpPr>
          <p:cNvPr id="23" name="Shape 20"/>
          <p:cNvSpPr/>
          <p:nvPr/>
        </p:nvSpPr>
        <p:spPr>
          <a:xfrm>
            <a:off x="2331720" y="3337560"/>
            <a:ext cx="8991295" cy="566928"/>
          </a:xfrm>
          <a:prstGeom prst="roundRect">
            <a:avLst>
              <a:gd name="adj" fmla="val 16129"/>
            </a:avLst>
          </a:prstGeom>
          <a:solidFill>
            <a:srgbClr val="D3EDF0"/>
          </a:solidFill>
          <a:ln w="9525">
            <a:solidFill>
              <a:srgbClr val="EBA9AD"/>
            </a:solidFill>
            <a:prstDash val="dash"/>
          </a:ln>
        </p:spPr>
      </p:sp>
      <p:pic>
        <p:nvPicPr>
          <p:cNvPr id="24" name="Image 1" descr="preencoded.png">    </p:cNvPr>
          <p:cNvPicPr>
            <a:picLocks noChangeAspect="1"/>
          </p:cNvPicPr>
          <p:nvPr/>
        </p:nvPicPr>
        <p:blipFill>
          <a:blip r:embed="rId2"/>
          <a:stretch>
            <a:fillRect/>
          </a:stretch>
        </p:blipFill>
        <p:spPr>
          <a:xfrm>
            <a:off x="2560320" y="3493008"/>
            <a:ext cx="256032" cy="256032"/>
          </a:xfrm>
          <a:prstGeom prst="rect">
            <a:avLst/>
          </a:prstGeom>
        </p:spPr>
      </p:pic>
      <p:sp>
        <p:nvSpPr>
          <p:cNvPr id="25" name="Text 21"/>
          <p:cNvSpPr txBox="1"/>
          <p:nvPr/>
        </p:nvSpPr>
        <p:spPr>
          <a:xfrm>
            <a:off x="2971800" y="3337560"/>
            <a:ext cx="8168335" cy="566928"/>
          </a:xfrm>
          <a:prstGeom prst="rect">
            <a:avLst/>
          </a:prstGeom>
          <a:noFill/>
          <a:ln/>
        </p:spPr>
        <p:txBody>
          <a:bodyPr wrap="square" lIns="0" tIns="0" rIns="0" bIns="0" rtlCol="0" anchor="ctr"/>
          <a:lstStyle/>
          <a:p>
            <a:pPr indent="0" marL="0">
              <a:buNone/>
            </a:pPr>
            <a:r>
              <a:rPr lang="en-US" sz="1250" b="1" dirty="0">
                <a:solidFill>
                  <a:srgbClr val="0A6470"/>
                </a:solidFill>
                <a:latin typeface="Calibri" pitchFamily="34" charset="0"/>
                <a:ea typeface="Calibri" pitchFamily="34" charset="-122"/>
                <a:cs typeface="Calibri" pitchFamily="34" charset="-120"/>
              </a:rPr>
              <a:t>EXPOSED — open to exploits until the patch is finally installed</a:t>
            </a:r>
            <a:endParaRPr lang="en-US" sz="1250" dirty="0"/>
          </a:p>
        </p:txBody>
      </p:sp>
      <p:sp>
        <p:nvSpPr>
          <p:cNvPr id="26" name="Shape 22"/>
          <p:cNvSpPr/>
          <p:nvPr/>
        </p:nvSpPr>
        <p:spPr>
          <a:xfrm>
            <a:off x="2331720" y="4434840"/>
            <a:ext cx="629391" cy="566928"/>
          </a:xfrm>
          <a:prstGeom prst="rect">
            <a:avLst/>
          </a:prstGeom>
          <a:solidFill>
            <a:srgbClr val="D3EDF0"/>
          </a:solidFill>
          <a:ln w="12700">
            <a:solidFill>
              <a:srgbClr val="D3EDF0"/>
            </a:solidFill>
            <a:prstDash val="solid"/>
          </a:ln>
        </p:spPr>
      </p:sp>
      <p:sp>
        <p:nvSpPr>
          <p:cNvPr id="27" name="Shape 23"/>
          <p:cNvSpPr/>
          <p:nvPr/>
        </p:nvSpPr>
        <p:spPr>
          <a:xfrm>
            <a:off x="2961111" y="4434840"/>
            <a:ext cx="8361905" cy="566928"/>
          </a:xfrm>
          <a:prstGeom prst="roundRect">
            <a:avLst>
              <a:gd name="adj" fmla="val 16129"/>
            </a:avLst>
          </a:prstGeom>
          <a:solidFill>
            <a:srgbClr val="0F8B99"/>
          </a:solidFill>
          <a:ln w="12700">
            <a:solidFill>
              <a:srgbClr val="0F8B99"/>
            </a:solidFill>
            <a:prstDash val="solid"/>
          </a:ln>
        </p:spPr>
      </p:sp>
      <p:pic>
        <p:nvPicPr>
          <p:cNvPr id="28" name="Image 2" descr="preencoded.png">    </p:cNvPr>
          <p:cNvPicPr>
            <a:picLocks noChangeAspect="1"/>
          </p:cNvPicPr>
          <p:nvPr/>
        </p:nvPicPr>
        <p:blipFill>
          <a:blip r:embed="rId3"/>
          <a:stretch>
            <a:fillRect/>
          </a:stretch>
        </p:blipFill>
        <p:spPr>
          <a:xfrm>
            <a:off x="3189711" y="4590288"/>
            <a:ext cx="256032" cy="256032"/>
          </a:xfrm>
          <a:prstGeom prst="rect">
            <a:avLst/>
          </a:prstGeom>
        </p:spPr>
      </p:pic>
      <p:sp>
        <p:nvSpPr>
          <p:cNvPr id="29" name="Text 24"/>
          <p:cNvSpPr txBox="1"/>
          <p:nvPr/>
        </p:nvSpPr>
        <p:spPr>
          <a:xfrm>
            <a:off x="3601191" y="4434840"/>
            <a:ext cx="7538945"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SHIELDED — exploit attempts blocked while you patch on your own timeline</a:t>
            </a:r>
            <a:endParaRPr lang="en-US" sz="1250" dirty="0"/>
          </a:p>
        </p:txBody>
      </p:sp>
      <p:sp>
        <p:nvSpPr>
          <p:cNvPr id="30" name="Text 25"/>
          <p:cNvSpPr txBox="1"/>
          <p:nvPr/>
        </p:nvSpPr>
        <p:spPr>
          <a:xfrm>
            <a:off x="2331720" y="5056632"/>
            <a:ext cx="4572000" cy="237744"/>
          </a:xfrm>
          <a:prstGeom prst="rect">
            <a:avLst/>
          </a:prstGeom>
          <a:noFill/>
          <a:ln/>
        </p:spPr>
        <p:txBody>
          <a:bodyPr wrap="square" lIns="0" tIns="0" rIns="0" bIns="0" rtlCol="0" anchor="t"/>
          <a:lstStyle/>
          <a:p>
            <a:pPr indent="0" marL="0">
              <a:buNone/>
            </a:pPr>
            <a:r>
              <a:rPr lang="en-US" sz="1000" i="1" dirty="0">
                <a:solidFill>
                  <a:srgbClr val="0F8B99"/>
                </a:solidFill>
                <a:latin typeface="Calibri" pitchFamily="34" charset="0"/>
                <a:ea typeface="Calibri" pitchFamily="34" charset="-122"/>
                <a:cs typeface="Calibri" pitchFamily="34" charset="-120"/>
              </a:rPr>
              <a:t>Virtual patch applied — often before a vendor patch exists</a:t>
            </a:r>
            <a:endParaRPr lang="en-US" sz="1000" dirty="0"/>
          </a:p>
        </p:txBody>
      </p:sp>
      <p:sp>
        <p:nvSpPr>
          <p:cNvPr id="31" name="Shape 26"/>
          <p:cNvSpPr/>
          <p:nvPr/>
        </p:nvSpPr>
        <p:spPr>
          <a:xfrm>
            <a:off x="548640" y="5468112"/>
            <a:ext cx="11094415" cy="566928"/>
          </a:xfrm>
          <a:prstGeom prst="roundRect">
            <a:avLst>
              <a:gd name="adj" fmla="val 16129"/>
            </a:avLst>
          </a:prstGeom>
          <a:solidFill>
            <a:srgbClr val="10243A"/>
          </a:solidFill>
          <a:ln w="12700">
            <a:solidFill>
              <a:srgbClr val="10243A"/>
            </a:solidFill>
            <a:prstDash val="solid"/>
          </a:ln>
        </p:spPr>
      </p:sp>
      <p:sp>
        <p:nvSpPr>
          <p:cNvPr id="32" name="Text 27"/>
          <p:cNvSpPr txBox="1"/>
          <p:nvPr/>
        </p:nvSpPr>
        <p:spPr>
          <a:xfrm>
            <a:off x="868680" y="5468112"/>
            <a:ext cx="10454335" cy="566928"/>
          </a:xfrm>
          <a:prstGeom prst="rect">
            <a:avLst/>
          </a:prstGeom>
          <a:noFill/>
          <a:ln/>
        </p:spPr>
        <p:txBody>
          <a:bodyPr wrap="square" lIns="0" tIns="0" rIns="0" bIns="0" rtlCol="0" anchor="ctr"/>
          <a:lstStyle/>
          <a:p>
            <a:pPr indent="0" marL="0">
              <a:buNone/>
            </a:pPr>
            <a:r>
              <a:rPr lang="en-US" sz="1350" dirty="0">
                <a:solidFill>
                  <a:srgbClr val="C8CCD2"/>
                </a:solidFill>
                <a:latin typeface="Calibri" pitchFamily="34" charset="0"/>
                <a:ea typeface="Calibri" pitchFamily="34" charset="-122"/>
                <a:cs typeface="Calibri" pitchFamily="34" charset="-120"/>
              </a:rPr>
              <a:t>Nessus tells you a door is unlocked. </a:t>
            </a:r>
            <a:pPr indent="0" marL="0">
              <a:buNone/>
            </a:pPr>
            <a:r>
              <a:rPr lang="en-US" sz="1350" b="1" dirty="0">
                <a:solidFill>
                  <a:srgbClr val="FFFFFF"/>
                </a:solidFill>
                <a:latin typeface="Calibri" pitchFamily="34" charset="0"/>
                <a:ea typeface="Calibri" pitchFamily="34" charset="-122"/>
                <a:cs typeface="Calibri" pitchFamily="34" charset="-120"/>
              </a:rPr>
              <a:t>Apex One locks it right away — while you schedule the permanent fix.</a:t>
            </a:r>
            <a:endParaRPr lang="en-US" sz="1350" dirty="0"/>
          </a:p>
        </p:txBody>
      </p:sp>
      <p:sp>
        <p:nvSpPr>
          <p:cNvPr id="33" name="Text 2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06   |   Nessus vs. Trend Micro Apex One™  ·  Proposal for The Westin Resort Guam</a:t>
            </a:r>
            <a:endParaRPr lang="en-US" sz="900" dirty="0"/>
          </a:p>
        </p:txBody>
      </p:sp>
      <p:pic>
        <p:nvPicPr>
          <p:cNvPr id="34" name="Image 3" descr="/private/tmp/claude-501/-Users-jihanvin-Desktop-NIVNAH-AI/16a96446-d9b3-40e2-af9e-a3011ae3db84/scratchpad/assets/secukorea_dark.png">    </p:cNvPr>
          <p:cNvPicPr>
            <a:picLocks noChangeAspect="1"/>
          </p:cNvPicPr>
          <p:nvPr/>
        </p:nvPicPr>
        <p:blipFill>
          <a:blip r:embed="rId4"/>
          <a:stretch>
            <a:fillRect/>
          </a:stretch>
        </p:blipFill>
        <p:spPr>
          <a:xfrm>
            <a:off x="10661904" y="6400800"/>
            <a:ext cx="978408" cy="2331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05   THE SOLUTION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Trend Micro Apex One: All-in-One Endpoint Security</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566928" cy="566928"/>
          </a:xfrm>
          <a:prstGeom prst="ellipse">
            <a:avLst/>
          </a:prstGeom>
          <a:solidFill>
            <a:srgbClr val="E7F5F7"/>
          </a:solidFill>
          <a:ln w="12700">
            <a:solidFill>
              <a:srgbClr val="E7F5F7"/>
            </a:solidFill>
            <a:prstDash val="solid"/>
          </a:ln>
        </p:spPr>
      </p:sp>
      <p:pic>
        <p:nvPicPr>
          <p:cNvPr id="6" name="Image 1" descr="preencoded.png">    </p:cNvPr>
          <p:cNvPicPr>
            <a:picLocks noChangeAspect="1"/>
          </p:cNvPicPr>
          <p:nvPr/>
        </p:nvPicPr>
        <p:blipFill>
          <a:blip r:embed="rId2"/>
          <a:stretch>
            <a:fillRect/>
          </a:stretch>
        </p:blipFill>
        <p:spPr>
          <a:xfrm>
            <a:off x="701711" y="1725839"/>
            <a:ext cx="260787" cy="260787"/>
          </a:xfrm>
          <a:prstGeom prst="rect">
            <a:avLst/>
          </a:prstGeom>
        </p:spPr>
      </p:pic>
      <p:sp>
        <p:nvSpPr>
          <p:cNvPr id="7" name="Text 3"/>
          <p:cNvSpPr txBox="1"/>
          <p:nvPr/>
        </p:nvSpPr>
        <p:spPr>
          <a:xfrm>
            <a:off x="1325880" y="1554480"/>
            <a:ext cx="475488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Automated</a:t>
            </a:r>
            <a:endParaRPr lang="en-US" sz="1500" dirty="0"/>
          </a:p>
        </p:txBody>
      </p:sp>
      <p:sp>
        <p:nvSpPr>
          <p:cNvPr id="8" name="Text 4"/>
          <p:cNvSpPr txBox="1"/>
          <p:nvPr/>
        </p:nvSpPr>
        <p:spPr>
          <a:xfrm>
            <a:off x="1325880" y="1892808"/>
            <a:ext cx="4754880" cy="566928"/>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Stops attackers sooner with next-gen anti-malware and the industry's most timely virtual patching.</a:t>
            </a:r>
            <a:endParaRPr lang="en-US" sz="1200" dirty="0"/>
          </a:p>
        </p:txBody>
      </p:sp>
      <p:sp>
        <p:nvSpPr>
          <p:cNvPr id="9" name="Shape 5"/>
          <p:cNvSpPr/>
          <p:nvPr/>
        </p:nvSpPr>
        <p:spPr>
          <a:xfrm>
            <a:off x="548640" y="2651760"/>
            <a:ext cx="566928" cy="566928"/>
          </a:xfrm>
          <a:prstGeom prst="ellipse">
            <a:avLst/>
          </a:prstGeom>
          <a:solidFill>
            <a:srgbClr val="E7F5F7"/>
          </a:solidFill>
          <a:ln w="12700">
            <a:solidFill>
              <a:srgbClr val="E7F5F7"/>
            </a:solidFill>
            <a:prstDash val="solid"/>
          </a:ln>
        </p:spPr>
      </p:sp>
      <p:pic>
        <p:nvPicPr>
          <p:cNvPr id="10" name="Image 2" descr="preencoded.png">    </p:cNvPr>
          <p:cNvPicPr>
            <a:picLocks noChangeAspect="1"/>
          </p:cNvPicPr>
          <p:nvPr/>
        </p:nvPicPr>
        <p:blipFill>
          <a:blip r:embed="rId3"/>
          <a:stretch>
            <a:fillRect/>
          </a:stretch>
        </p:blipFill>
        <p:spPr>
          <a:xfrm>
            <a:off x="701711" y="2804831"/>
            <a:ext cx="260787" cy="260787"/>
          </a:xfrm>
          <a:prstGeom prst="rect">
            <a:avLst/>
          </a:prstGeom>
        </p:spPr>
      </p:pic>
      <p:sp>
        <p:nvSpPr>
          <p:cNvPr id="11" name="Text 6"/>
          <p:cNvSpPr txBox="1"/>
          <p:nvPr/>
        </p:nvSpPr>
        <p:spPr>
          <a:xfrm>
            <a:off x="1325880" y="2633472"/>
            <a:ext cx="475488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Insightful</a:t>
            </a:r>
            <a:endParaRPr lang="en-US" sz="1500" dirty="0"/>
          </a:p>
        </p:txBody>
      </p:sp>
      <p:sp>
        <p:nvSpPr>
          <p:cNvPr id="12" name="Text 7"/>
          <p:cNvSpPr txBox="1"/>
          <p:nvPr/>
        </p:nvSpPr>
        <p:spPr>
          <a:xfrm>
            <a:off x="1325880" y="2971800"/>
            <a:ext cx="4754880" cy="566928"/>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Visibility and control across the environment, with behavior monitoring and central investigation in Apex Central.</a:t>
            </a:r>
            <a:endParaRPr lang="en-US" sz="1200" dirty="0"/>
          </a:p>
        </p:txBody>
      </p:sp>
      <p:sp>
        <p:nvSpPr>
          <p:cNvPr id="13" name="Shape 8"/>
          <p:cNvSpPr/>
          <p:nvPr/>
        </p:nvSpPr>
        <p:spPr>
          <a:xfrm>
            <a:off x="548640" y="3730752"/>
            <a:ext cx="566928" cy="566928"/>
          </a:xfrm>
          <a:prstGeom prst="ellipse">
            <a:avLst/>
          </a:prstGeom>
          <a:solidFill>
            <a:srgbClr val="E7F5F7"/>
          </a:solidFill>
          <a:ln w="12700">
            <a:solidFill>
              <a:srgbClr val="E7F5F7"/>
            </a:solidFill>
            <a:prstDash val="solid"/>
          </a:ln>
        </p:spPr>
      </p:sp>
      <p:pic>
        <p:nvPicPr>
          <p:cNvPr id="14" name="Image 3" descr="preencoded.png">    </p:cNvPr>
          <p:cNvPicPr>
            <a:picLocks noChangeAspect="1"/>
          </p:cNvPicPr>
          <p:nvPr/>
        </p:nvPicPr>
        <p:blipFill>
          <a:blip r:embed="rId4"/>
          <a:stretch>
            <a:fillRect/>
          </a:stretch>
        </p:blipFill>
        <p:spPr>
          <a:xfrm>
            <a:off x="701711" y="3883823"/>
            <a:ext cx="260787" cy="260787"/>
          </a:xfrm>
          <a:prstGeom prst="rect">
            <a:avLst/>
          </a:prstGeom>
        </p:spPr>
      </p:pic>
      <p:sp>
        <p:nvSpPr>
          <p:cNvPr id="15" name="Text 9"/>
          <p:cNvSpPr txBox="1"/>
          <p:nvPr/>
        </p:nvSpPr>
        <p:spPr>
          <a:xfrm>
            <a:off x="1325880" y="3712464"/>
            <a:ext cx="475488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Connected</a:t>
            </a:r>
            <a:endParaRPr lang="en-US" sz="1500" dirty="0"/>
          </a:p>
        </p:txBody>
      </p:sp>
      <p:sp>
        <p:nvSpPr>
          <p:cNvPr id="16" name="Text 10"/>
          <p:cNvSpPr txBox="1"/>
          <p:nvPr/>
        </p:nvSpPr>
        <p:spPr>
          <a:xfrm>
            <a:off x="1325880" y="4050792"/>
            <a:ext cx="4754880" cy="566928"/>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Real-time global and local threat intelligence, plus open APIs for third-party security tools.</a:t>
            </a:r>
            <a:endParaRPr lang="en-US" sz="1200" dirty="0"/>
          </a:p>
        </p:txBody>
      </p:sp>
      <p:sp>
        <p:nvSpPr>
          <p:cNvPr id="17" name="Shape 11"/>
          <p:cNvSpPr/>
          <p:nvPr/>
        </p:nvSpPr>
        <p:spPr>
          <a:xfrm>
            <a:off x="548640" y="4809744"/>
            <a:ext cx="566928" cy="566928"/>
          </a:xfrm>
          <a:prstGeom prst="ellipse">
            <a:avLst/>
          </a:prstGeom>
          <a:solidFill>
            <a:srgbClr val="E7F5F7"/>
          </a:solidFill>
          <a:ln w="12700">
            <a:solidFill>
              <a:srgbClr val="E7F5F7"/>
            </a:solidFill>
            <a:prstDash val="solid"/>
          </a:ln>
        </p:spPr>
      </p:sp>
      <p:pic>
        <p:nvPicPr>
          <p:cNvPr id="18" name="Image 4" descr="preencoded.png">    </p:cNvPr>
          <p:cNvPicPr>
            <a:picLocks noChangeAspect="1"/>
          </p:cNvPicPr>
          <p:nvPr/>
        </p:nvPicPr>
        <p:blipFill>
          <a:blip r:embed="rId5"/>
          <a:stretch>
            <a:fillRect/>
          </a:stretch>
        </p:blipFill>
        <p:spPr>
          <a:xfrm>
            <a:off x="701711" y="4962815"/>
            <a:ext cx="260787" cy="260787"/>
          </a:xfrm>
          <a:prstGeom prst="rect">
            <a:avLst/>
          </a:prstGeom>
        </p:spPr>
      </p:pic>
      <p:sp>
        <p:nvSpPr>
          <p:cNvPr id="19" name="Text 12"/>
          <p:cNvSpPr txBox="1"/>
          <p:nvPr/>
        </p:nvSpPr>
        <p:spPr>
          <a:xfrm>
            <a:off x="1325880" y="4791456"/>
            <a:ext cx="475488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Lightweight single agent</a:t>
            </a:r>
            <a:endParaRPr lang="en-US" sz="1500" dirty="0"/>
          </a:p>
        </p:txBody>
      </p:sp>
      <p:sp>
        <p:nvSpPr>
          <p:cNvPr id="20" name="Text 13"/>
          <p:cNvSpPr txBox="1"/>
          <p:nvPr/>
        </p:nvSpPr>
        <p:spPr>
          <a:xfrm>
            <a:off x="1325880" y="5129784"/>
            <a:ext cx="4754880" cy="566928"/>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Uses the right detection technique at the right time for minimal impact on devices and networks.</a:t>
            </a:r>
            <a:endParaRPr lang="en-US" sz="1200" dirty="0"/>
          </a:p>
        </p:txBody>
      </p:sp>
      <p:sp>
        <p:nvSpPr>
          <p:cNvPr id="21" name="Shape 14"/>
          <p:cNvSpPr/>
          <p:nvPr/>
        </p:nvSpPr>
        <p:spPr>
          <a:xfrm>
            <a:off x="6400800" y="1554480"/>
            <a:ext cx="5242255" cy="2395728"/>
          </a:xfrm>
          <a:prstGeom prst="roundRect">
            <a:avLst>
              <a:gd name="adj" fmla="val 5344"/>
            </a:avLst>
          </a:prstGeom>
          <a:solidFill>
            <a:srgbClr val="F4F5F7"/>
          </a:solidFill>
          <a:ln w="9525">
            <a:solidFill>
              <a:srgbClr val="DEE1E5"/>
            </a:solidFill>
            <a:prstDash val="solid"/>
          </a:ln>
        </p:spPr>
      </p:sp>
      <p:sp>
        <p:nvSpPr>
          <p:cNvPr id="22" name="Text 15"/>
          <p:cNvSpPr txBox="1"/>
          <p:nvPr/>
        </p:nvSpPr>
        <p:spPr>
          <a:xfrm>
            <a:off x="6675120" y="1737360"/>
            <a:ext cx="4693615" cy="237744"/>
          </a:xfrm>
          <a:prstGeom prst="rect">
            <a:avLst/>
          </a:prstGeom>
          <a:noFill/>
          <a:ln/>
        </p:spPr>
        <p:txBody>
          <a:bodyPr wrap="square" lIns="0" tIns="0" rIns="0" bIns="0" rtlCol="0" anchor="t"/>
          <a:lstStyle/>
          <a:p>
            <a:pPr indent="0" marL="0">
              <a:buNone/>
            </a:pPr>
            <a:r>
              <a:rPr lang="en-US" sz="1050" b="1" spc="200" kern="0" dirty="0">
                <a:solidFill>
                  <a:srgbClr val="0F8B99"/>
                </a:solidFill>
                <a:latin typeface="Calibri" pitchFamily="34" charset="0"/>
                <a:ea typeface="Calibri" pitchFamily="34" charset="-122"/>
                <a:cs typeface="Calibri" pitchFamily="34" charset="-120"/>
              </a:rPr>
              <a:t>PROTECTION POINTS</a:t>
            </a:r>
            <a:endParaRPr lang="en-US" sz="1050" dirty="0"/>
          </a:p>
        </p:txBody>
      </p:sp>
      <p:sp>
        <p:nvSpPr>
          <p:cNvPr id="23" name="Shape 16"/>
          <p:cNvSpPr/>
          <p:nvPr/>
        </p:nvSpPr>
        <p:spPr>
          <a:xfrm>
            <a:off x="6675120" y="2103120"/>
            <a:ext cx="2255368" cy="457200"/>
          </a:xfrm>
          <a:prstGeom prst="roundRect">
            <a:avLst>
              <a:gd name="adj" fmla="val 50000"/>
            </a:avLst>
          </a:prstGeom>
          <a:solidFill>
            <a:srgbClr val="FFFFFF"/>
          </a:solidFill>
          <a:ln w="9525">
            <a:solidFill>
              <a:srgbClr val="DEE1E5"/>
            </a:solidFill>
            <a:prstDash val="solid"/>
          </a:ln>
        </p:spPr>
      </p:sp>
      <p:pic>
        <p:nvPicPr>
          <p:cNvPr id="24" name="Image 5" descr="preencoded.png">    </p:cNvPr>
          <p:cNvPicPr>
            <a:picLocks noChangeAspect="1"/>
          </p:cNvPicPr>
          <p:nvPr/>
        </p:nvPicPr>
        <p:blipFill>
          <a:blip r:embed="rId6"/>
          <a:stretch>
            <a:fillRect/>
          </a:stretch>
        </p:blipFill>
        <p:spPr>
          <a:xfrm>
            <a:off x="6839712" y="2221992"/>
            <a:ext cx="219456" cy="219456"/>
          </a:xfrm>
          <a:prstGeom prst="rect">
            <a:avLst/>
          </a:prstGeom>
        </p:spPr>
      </p:pic>
      <p:sp>
        <p:nvSpPr>
          <p:cNvPr id="25" name="Text 17"/>
          <p:cNvSpPr txBox="1"/>
          <p:nvPr/>
        </p:nvSpPr>
        <p:spPr>
          <a:xfrm>
            <a:off x="7178040" y="2103120"/>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Windows PCs</a:t>
            </a:r>
            <a:endParaRPr lang="en-US" sz="1150" dirty="0"/>
          </a:p>
        </p:txBody>
      </p:sp>
      <p:sp>
        <p:nvSpPr>
          <p:cNvPr id="26" name="Shape 18"/>
          <p:cNvSpPr/>
          <p:nvPr/>
        </p:nvSpPr>
        <p:spPr>
          <a:xfrm>
            <a:off x="9113368" y="2103120"/>
            <a:ext cx="2255368" cy="457200"/>
          </a:xfrm>
          <a:prstGeom prst="roundRect">
            <a:avLst>
              <a:gd name="adj" fmla="val 50000"/>
            </a:avLst>
          </a:prstGeom>
          <a:solidFill>
            <a:srgbClr val="FFFFFF"/>
          </a:solidFill>
          <a:ln w="9525">
            <a:solidFill>
              <a:srgbClr val="DEE1E5"/>
            </a:solidFill>
            <a:prstDash val="solid"/>
          </a:ln>
        </p:spPr>
      </p:sp>
      <p:pic>
        <p:nvPicPr>
          <p:cNvPr id="27" name="Image 6" descr="preencoded.png">    </p:cNvPr>
          <p:cNvPicPr>
            <a:picLocks noChangeAspect="1"/>
          </p:cNvPicPr>
          <p:nvPr/>
        </p:nvPicPr>
        <p:blipFill>
          <a:blip r:embed="rId7"/>
          <a:stretch>
            <a:fillRect/>
          </a:stretch>
        </p:blipFill>
        <p:spPr>
          <a:xfrm>
            <a:off x="9277960" y="2221992"/>
            <a:ext cx="219456" cy="219456"/>
          </a:xfrm>
          <a:prstGeom prst="rect">
            <a:avLst/>
          </a:prstGeom>
        </p:spPr>
      </p:pic>
      <p:sp>
        <p:nvSpPr>
          <p:cNvPr id="28" name="Text 19"/>
          <p:cNvSpPr txBox="1"/>
          <p:nvPr/>
        </p:nvSpPr>
        <p:spPr>
          <a:xfrm>
            <a:off x="9616288" y="2103120"/>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Windows servers</a:t>
            </a:r>
            <a:endParaRPr lang="en-US" sz="1150" dirty="0"/>
          </a:p>
        </p:txBody>
      </p:sp>
      <p:sp>
        <p:nvSpPr>
          <p:cNvPr id="29" name="Shape 20"/>
          <p:cNvSpPr/>
          <p:nvPr/>
        </p:nvSpPr>
        <p:spPr>
          <a:xfrm>
            <a:off x="6675120" y="2679192"/>
            <a:ext cx="2255368" cy="457200"/>
          </a:xfrm>
          <a:prstGeom prst="roundRect">
            <a:avLst>
              <a:gd name="adj" fmla="val 50000"/>
            </a:avLst>
          </a:prstGeom>
          <a:solidFill>
            <a:srgbClr val="FFFFFF"/>
          </a:solidFill>
          <a:ln w="9525">
            <a:solidFill>
              <a:srgbClr val="DEE1E5"/>
            </a:solidFill>
            <a:prstDash val="solid"/>
          </a:ln>
        </p:spPr>
      </p:sp>
      <p:pic>
        <p:nvPicPr>
          <p:cNvPr id="30" name="Image 7" descr="preencoded.png">    </p:cNvPr>
          <p:cNvPicPr>
            <a:picLocks noChangeAspect="1"/>
          </p:cNvPicPr>
          <p:nvPr/>
        </p:nvPicPr>
        <p:blipFill>
          <a:blip r:embed="rId8"/>
          <a:stretch>
            <a:fillRect/>
          </a:stretch>
        </p:blipFill>
        <p:spPr>
          <a:xfrm>
            <a:off x="6839712" y="2798064"/>
            <a:ext cx="219456" cy="219456"/>
          </a:xfrm>
          <a:prstGeom prst="rect">
            <a:avLst/>
          </a:prstGeom>
        </p:spPr>
      </p:pic>
      <p:sp>
        <p:nvSpPr>
          <p:cNvPr id="31" name="Text 21"/>
          <p:cNvSpPr txBox="1"/>
          <p:nvPr/>
        </p:nvSpPr>
        <p:spPr>
          <a:xfrm>
            <a:off x="7178040" y="2679192"/>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Mac computers</a:t>
            </a:r>
            <a:endParaRPr lang="en-US" sz="1150" dirty="0"/>
          </a:p>
        </p:txBody>
      </p:sp>
      <p:sp>
        <p:nvSpPr>
          <p:cNvPr id="32" name="Shape 22"/>
          <p:cNvSpPr/>
          <p:nvPr/>
        </p:nvSpPr>
        <p:spPr>
          <a:xfrm>
            <a:off x="9113368" y="2679192"/>
            <a:ext cx="2255368" cy="457200"/>
          </a:xfrm>
          <a:prstGeom prst="roundRect">
            <a:avLst>
              <a:gd name="adj" fmla="val 50000"/>
            </a:avLst>
          </a:prstGeom>
          <a:solidFill>
            <a:srgbClr val="FFFFFF"/>
          </a:solidFill>
          <a:ln w="9525">
            <a:solidFill>
              <a:srgbClr val="DEE1E5"/>
            </a:solidFill>
            <a:prstDash val="solid"/>
          </a:ln>
        </p:spPr>
      </p:sp>
      <p:pic>
        <p:nvPicPr>
          <p:cNvPr id="33" name="Image 8" descr="preencoded.png">    </p:cNvPr>
          <p:cNvPicPr>
            <a:picLocks noChangeAspect="1"/>
          </p:cNvPicPr>
          <p:nvPr/>
        </p:nvPicPr>
        <p:blipFill>
          <a:blip r:embed="rId9"/>
          <a:stretch>
            <a:fillRect/>
          </a:stretch>
        </p:blipFill>
        <p:spPr>
          <a:xfrm>
            <a:off x="9277960" y="2798064"/>
            <a:ext cx="219456" cy="219456"/>
          </a:xfrm>
          <a:prstGeom prst="rect">
            <a:avLst/>
          </a:prstGeom>
        </p:spPr>
      </p:pic>
      <p:sp>
        <p:nvSpPr>
          <p:cNvPr id="34" name="Text 23"/>
          <p:cNvSpPr txBox="1"/>
          <p:nvPr/>
        </p:nvSpPr>
        <p:spPr>
          <a:xfrm>
            <a:off x="9616288" y="2679192"/>
            <a:ext cx="1661008" cy="457200"/>
          </a:xfrm>
          <a:prstGeom prst="rect">
            <a:avLst/>
          </a:prstGeom>
          <a:noFill/>
          <a:ln/>
        </p:spPr>
        <p:txBody>
          <a:bodyPr wrap="square" lIns="0" tIns="0" rIns="0" bIns="0" rtlCol="0" anchor="ctr"/>
          <a:lstStyle/>
          <a:p>
            <a:pPr indent="0" marL="0">
              <a:buNone/>
            </a:pPr>
            <a:r>
              <a:rPr lang="en-US" sz="1150" b="1" dirty="0">
                <a:solidFill>
                  <a:srgbClr val="0F8B99"/>
                </a:solidFill>
                <a:latin typeface="Calibri" pitchFamily="34" charset="0"/>
                <a:ea typeface="Calibri" pitchFamily="34" charset="-122"/>
                <a:cs typeface="Calibri" pitchFamily="34" charset="-120"/>
              </a:rPr>
              <a:t>POS &amp; ATM endpoints</a:t>
            </a:r>
            <a:endParaRPr lang="en-US" sz="1150" dirty="0"/>
          </a:p>
        </p:txBody>
      </p:sp>
      <p:sp>
        <p:nvSpPr>
          <p:cNvPr id="35" name="Shape 24"/>
          <p:cNvSpPr/>
          <p:nvPr/>
        </p:nvSpPr>
        <p:spPr>
          <a:xfrm>
            <a:off x="6675120" y="3255264"/>
            <a:ext cx="2255368" cy="457200"/>
          </a:xfrm>
          <a:prstGeom prst="roundRect">
            <a:avLst>
              <a:gd name="adj" fmla="val 50000"/>
            </a:avLst>
          </a:prstGeom>
          <a:solidFill>
            <a:srgbClr val="FFFFFF"/>
          </a:solidFill>
          <a:ln w="9525">
            <a:solidFill>
              <a:srgbClr val="DEE1E5"/>
            </a:solidFill>
            <a:prstDash val="solid"/>
          </a:ln>
        </p:spPr>
      </p:sp>
      <p:pic>
        <p:nvPicPr>
          <p:cNvPr id="36" name="Image 9" descr="preencoded.png">    </p:cNvPr>
          <p:cNvPicPr>
            <a:picLocks noChangeAspect="1"/>
          </p:cNvPicPr>
          <p:nvPr/>
        </p:nvPicPr>
        <p:blipFill>
          <a:blip r:embed="rId10"/>
          <a:stretch>
            <a:fillRect/>
          </a:stretch>
        </p:blipFill>
        <p:spPr>
          <a:xfrm>
            <a:off x="6839712" y="3374136"/>
            <a:ext cx="219456" cy="219456"/>
          </a:xfrm>
          <a:prstGeom prst="rect">
            <a:avLst/>
          </a:prstGeom>
        </p:spPr>
      </p:pic>
      <p:sp>
        <p:nvSpPr>
          <p:cNvPr id="37" name="Text 25"/>
          <p:cNvSpPr txBox="1"/>
          <p:nvPr/>
        </p:nvSpPr>
        <p:spPr>
          <a:xfrm>
            <a:off x="7178040" y="3255264"/>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Virtual desktops (VDI)</a:t>
            </a:r>
            <a:endParaRPr lang="en-US" sz="1150" dirty="0"/>
          </a:p>
        </p:txBody>
      </p:sp>
      <p:sp>
        <p:nvSpPr>
          <p:cNvPr id="38" name="Shape 26"/>
          <p:cNvSpPr/>
          <p:nvPr/>
        </p:nvSpPr>
        <p:spPr>
          <a:xfrm>
            <a:off x="9113368" y="3255264"/>
            <a:ext cx="2255368" cy="457200"/>
          </a:xfrm>
          <a:prstGeom prst="roundRect">
            <a:avLst>
              <a:gd name="adj" fmla="val 50000"/>
            </a:avLst>
          </a:prstGeom>
          <a:solidFill>
            <a:srgbClr val="FFFFFF"/>
          </a:solidFill>
          <a:ln w="9525">
            <a:solidFill>
              <a:srgbClr val="DEE1E5"/>
            </a:solidFill>
            <a:prstDash val="solid"/>
          </a:ln>
        </p:spPr>
      </p:sp>
      <p:pic>
        <p:nvPicPr>
          <p:cNvPr id="39" name="Image 10" descr="preencoded.png">    </p:cNvPr>
          <p:cNvPicPr>
            <a:picLocks noChangeAspect="1"/>
          </p:cNvPicPr>
          <p:nvPr/>
        </p:nvPicPr>
        <p:blipFill>
          <a:blip r:embed="rId11"/>
          <a:stretch>
            <a:fillRect/>
          </a:stretch>
        </p:blipFill>
        <p:spPr>
          <a:xfrm>
            <a:off x="9277960" y="3374136"/>
            <a:ext cx="219456" cy="219456"/>
          </a:xfrm>
          <a:prstGeom prst="rect">
            <a:avLst/>
          </a:prstGeom>
        </p:spPr>
      </p:pic>
      <p:sp>
        <p:nvSpPr>
          <p:cNvPr id="40" name="Text 27"/>
          <p:cNvSpPr txBox="1"/>
          <p:nvPr/>
        </p:nvSpPr>
        <p:spPr>
          <a:xfrm>
            <a:off x="9616288" y="3255264"/>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Off-network devices*</a:t>
            </a:r>
            <a:endParaRPr lang="en-US" sz="1150" dirty="0"/>
          </a:p>
        </p:txBody>
      </p:sp>
      <p:sp>
        <p:nvSpPr>
          <p:cNvPr id="41" name="Shape 28"/>
          <p:cNvSpPr/>
          <p:nvPr/>
        </p:nvSpPr>
        <p:spPr>
          <a:xfrm>
            <a:off x="6400800" y="4114800"/>
            <a:ext cx="5242255" cy="1874520"/>
          </a:xfrm>
          <a:prstGeom prst="roundRect">
            <a:avLst>
              <a:gd name="adj" fmla="val 6829"/>
            </a:avLst>
          </a:prstGeom>
          <a:solidFill>
            <a:srgbClr val="10243A"/>
          </a:solidFill>
          <a:ln w="12700">
            <a:solidFill>
              <a:srgbClr val="10243A"/>
            </a:solidFill>
            <a:prstDash val="solid"/>
          </a:ln>
        </p:spPr>
      </p:sp>
      <p:sp>
        <p:nvSpPr>
          <p:cNvPr id="42" name="Text 29"/>
          <p:cNvSpPr txBox="1"/>
          <p:nvPr/>
        </p:nvSpPr>
        <p:spPr>
          <a:xfrm>
            <a:off x="6675120" y="4297680"/>
            <a:ext cx="4693615" cy="237744"/>
          </a:xfrm>
          <a:prstGeom prst="rect">
            <a:avLst/>
          </a:prstGeom>
          <a:noFill/>
          <a:ln/>
        </p:spPr>
        <p:txBody>
          <a:bodyPr wrap="square" lIns="0" tIns="0" rIns="0" bIns="0" rtlCol="0" anchor="t"/>
          <a:lstStyle/>
          <a:p>
            <a:pPr indent="0" marL="0">
              <a:buNone/>
            </a:pPr>
            <a:r>
              <a:rPr lang="en-US" sz="1050" b="1" spc="200" kern="0" dirty="0">
                <a:solidFill>
                  <a:srgbClr val="0F8B99"/>
                </a:solidFill>
                <a:latin typeface="Calibri" pitchFamily="34" charset="0"/>
                <a:ea typeface="Calibri" pitchFamily="34" charset="-122"/>
                <a:cs typeface="Calibri" pitchFamily="34" charset="-120"/>
              </a:rPr>
              <a:t>PROPOSED DEPLOYMENT  ·  ON-PREMISES</a:t>
            </a:r>
            <a:endParaRPr lang="en-US" sz="1050" dirty="0"/>
          </a:p>
        </p:txBody>
      </p:sp>
      <p:pic>
        <p:nvPicPr>
          <p:cNvPr id="43" name="Image 11" descr="preencoded.png">    </p:cNvPr>
          <p:cNvPicPr>
            <a:picLocks noChangeAspect="1"/>
          </p:cNvPicPr>
          <p:nvPr/>
        </p:nvPicPr>
        <p:blipFill>
          <a:blip r:embed="rId12"/>
          <a:stretch>
            <a:fillRect/>
          </a:stretch>
        </p:blipFill>
        <p:spPr>
          <a:xfrm>
            <a:off x="6675120" y="4663440"/>
            <a:ext cx="274320" cy="274320"/>
          </a:xfrm>
          <a:prstGeom prst="rect">
            <a:avLst/>
          </a:prstGeom>
        </p:spPr>
      </p:pic>
      <p:sp>
        <p:nvSpPr>
          <p:cNvPr id="44" name="Text 30"/>
          <p:cNvSpPr txBox="1"/>
          <p:nvPr/>
        </p:nvSpPr>
        <p:spPr>
          <a:xfrm>
            <a:off x="6675120" y="5010912"/>
            <a:ext cx="1473098"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Apex Server</a:t>
            </a:r>
            <a:endParaRPr lang="en-US" sz="1300" dirty="0"/>
          </a:p>
        </p:txBody>
      </p:sp>
      <p:sp>
        <p:nvSpPr>
          <p:cNvPr id="45" name="Text 31"/>
          <p:cNvSpPr txBox="1"/>
          <p:nvPr/>
        </p:nvSpPr>
        <p:spPr>
          <a:xfrm>
            <a:off x="6675120" y="5285232"/>
            <a:ext cx="1473098" cy="457200"/>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Policies and virtual patches</a:t>
            </a:r>
            <a:endParaRPr lang="en-US" sz="1050" dirty="0"/>
          </a:p>
        </p:txBody>
      </p:sp>
      <p:pic>
        <p:nvPicPr>
          <p:cNvPr id="46" name="Image 12" descr="preencoded.png">    </p:cNvPr>
          <p:cNvPicPr>
            <a:picLocks noChangeAspect="1"/>
          </p:cNvPicPr>
          <p:nvPr/>
        </p:nvPicPr>
        <p:blipFill>
          <a:blip r:embed="rId13"/>
          <a:stretch>
            <a:fillRect/>
          </a:stretch>
        </p:blipFill>
        <p:spPr>
          <a:xfrm>
            <a:off x="8285378" y="4663440"/>
            <a:ext cx="274320" cy="274320"/>
          </a:xfrm>
          <a:prstGeom prst="rect">
            <a:avLst/>
          </a:prstGeom>
        </p:spPr>
      </p:pic>
      <p:sp>
        <p:nvSpPr>
          <p:cNvPr id="47" name="Text 32"/>
          <p:cNvSpPr txBox="1"/>
          <p:nvPr/>
        </p:nvSpPr>
        <p:spPr>
          <a:xfrm>
            <a:off x="8285378" y="5010912"/>
            <a:ext cx="1473098"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Apex Central</a:t>
            </a:r>
            <a:endParaRPr lang="en-US" sz="1300" dirty="0"/>
          </a:p>
        </p:txBody>
      </p:sp>
      <p:sp>
        <p:nvSpPr>
          <p:cNvPr id="48" name="Text 33"/>
          <p:cNvSpPr txBox="1"/>
          <p:nvPr/>
        </p:nvSpPr>
        <p:spPr>
          <a:xfrm>
            <a:off x="8285378" y="5285232"/>
            <a:ext cx="1473098" cy="457200"/>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One web console for all agents</a:t>
            </a:r>
            <a:endParaRPr lang="en-US" sz="1050" dirty="0"/>
          </a:p>
        </p:txBody>
      </p:sp>
      <p:pic>
        <p:nvPicPr>
          <p:cNvPr id="49" name="Image 13" descr="preencoded.png">    </p:cNvPr>
          <p:cNvPicPr>
            <a:picLocks noChangeAspect="1"/>
          </p:cNvPicPr>
          <p:nvPr/>
        </p:nvPicPr>
        <p:blipFill>
          <a:blip r:embed="rId14"/>
          <a:stretch>
            <a:fillRect/>
          </a:stretch>
        </p:blipFill>
        <p:spPr>
          <a:xfrm>
            <a:off x="9895637" y="4663440"/>
            <a:ext cx="274320" cy="274320"/>
          </a:xfrm>
          <a:prstGeom prst="rect">
            <a:avLst/>
          </a:prstGeom>
        </p:spPr>
      </p:pic>
      <p:sp>
        <p:nvSpPr>
          <p:cNvPr id="50" name="Text 34"/>
          <p:cNvSpPr txBox="1"/>
          <p:nvPr/>
        </p:nvSpPr>
        <p:spPr>
          <a:xfrm>
            <a:off x="9895637" y="5010912"/>
            <a:ext cx="1473098"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Threat Intel</a:t>
            </a:r>
            <a:endParaRPr lang="en-US" sz="1300" dirty="0"/>
          </a:p>
        </p:txBody>
      </p:sp>
      <p:sp>
        <p:nvSpPr>
          <p:cNvPr id="51" name="Text 35"/>
          <p:cNvSpPr txBox="1"/>
          <p:nvPr/>
        </p:nvSpPr>
        <p:spPr>
          <a:xfrm>
            <a:off x="9895637" y="5285232"/>
            <a:ext cx="1473098" cy="457200"/>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Smart Protection Network</a:t>
            </a:r>
            <a:endParaRPr lang="en-US" sz="1050" dirty="0"/>
          </a:p>
        </p:txBody>
      </p:sp>
      <p:sp>
        <p:nvSpPr>
          <p:cNvPr id="52" name="Text 36"/>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A94A1"/>
                </a:solidFill>
                <a:latin typeface="Calibri" pitchFamily="34" charset="0"/>
                <a:ea typeface="Calibri" pitchFamily="34" charset="-122"/>
                <a:cs typeface="Calibri" pitchFamily="34" charset="-120"/>
              </a:rPr>
              <a:t>* Edge Relay lets employees outside the corporate network stay connected to Apex One without a VPN.</a:t>
            </a:r>
            <a:endParaRPr lang="en-US" sz="800" dirty="0"/>
          </a:p>
        </p:txBody>
      </p:sp>
      <p:sp>
        <p:nvSpPr>
          <p:cNvPr id="53" name="Text 37"/>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07   |   Nessus vs. Trend Micro Apex One™  ·  Proposal for The Westin Resort Guam</a:t>
            </a:r>
            <a:endParaRPr lang="en-US" sz="900" dirty="0"/>
          </a:p>
        </p:txBody>
      </p:sp>
      <p:pic>
        <p:nvPicPr>
          <p:cNvPr id="54" name="Image 14" descr="/private/tmp/claude-501/-Users-jihanvin-Desktop-NIVNAH-AI/16a96446-d9b3-40e2-af9e-a3011ae3db84/scratchpad/assets/secukorea_dark.png">    </p:cNvPr>
          <p:cNvPicPr>
            <a:picLocks noChangeAspect="1"/>
          </p:cNvPicPr>
          <p:nvPr/>
        </p:nvPicPr>
        <p:blipFill>
          <a:blip r:embed="rId15"/>
          <a:stretch>
            <a:fillRect/>
          </a:stretch>
        </p:blipFill>
        <p:spPr>
          <a:xfrm>
            <a:off x="10661904" y="6400800"/>
            <a:ext cx="978408" cy="23317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06   HOW IT WORKS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The Right Technique at the Right Time</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350" dirty="0">
                <a:solidFill>
                  <a:srgbClr val="C8CCD2"/>
                </a:solidFill>
                <a:latin typeface="Calibri" pitchFamily="34" charset="0"/>
                <a:ea typeface="Calibri" pitchFamily="34" charset="-122"/>
                <a:cs typeface="Calibri" pitchFamily="34" charset="-120"/>
              </a:rPr>
              <a:t>Trend Micro XGen™ security filters threats step by step, using the most efficient technique at each stage — so detection stays high and false alarms stay low.</a:t>
            </a:r>
            <a:endParaRPr lang="en-US" sz="1350" dirty="0"/>
          </a:p>
        </p:txBody>
      </p:sp>
      <p:sp>
        <p:nvSpPr>
          <p:cNvPr id="6" name="Shape 3"/>
          <p:cNvSpPr/>
          <p:nvPr/>
        </p:nvSpPr>
        <p:spPr>
          <a:xfrm>
            <a:off x="548640" y="1920240"/>
            <a:ext cx="2697480" cy="3401568"/>
          </a:xfrm>
          <a:prstGeom prst="roundRect">
            <a:avLst>
              <a:gd name="adj" fmla="val 4746"/>
            </a:avLst>
          </a:prstGeom>
          <a:solidFill>
            <a:srgbClr val="183247"/>
          </a:solidFill>
          <a:ln w="9525">
            <a:solidFill>
              <a:srgbClr val="284559"/>
            </a:solidFill>
            <a:prstDash val="solid"/>
          </a:ln>
        </p:spPr>
      </p:sp>
      <p:sp>
        <p:nvSpPr>
          <p:cNvPr id="7" name="Shape 4"/>
          <p:cNvSpPr/>
          <p:nvPr/>
        </p:nvSpPr>
        <p:spPr>
          <a:xfrm>
            <a:off x="804672" y="2176272"/>
            <a:ext cx="548640" cy="548640"/>
          </a:xfrm>
          <a:prstGeom prst="ellipse">
            <a:avLst/>
          </a:prstGeom>
          <a:solidFill>
            <a:srgbClr val="0F8B99"/>
          </a:solidFill>
          <a:ln w="12700">
            <a:solidFill>
              <a:srgbClr val="0F8B99"/>
            </a:solidFill>
            <a:prstDash val="solid"/>
          </a:ln>
        </p:spPr>
      </p:sp>
      <p:pic>
        <p:nvPicPr>
          <p:cNvPr id="8" name="Image 1" descr="preencoded.png">    </p:cNvPr>
          <p:cNvPicPr>
            <a:picLocks noChangeAspect="1"/>
          </p:cNvPicPr>
          <p:nvPr/>
        </p:nvPicPr>
        <p:blipFill>
          <a:blip r:embed="rId2"/>
          <a:stretch>
            <a:fillRect/>
          </a:stretch>
        </p:blipFill>
        <p:spPr>
          <a:xfrm>
            <a:off x="952805" y="2324405"/>
            <a:ext cx="252374" cy="252374"/>
          </a:xfrm>
          <a:prstGeom prst="rect">
            <a:avLst/>
          </a:prstGeom>
        </p:spPr>
      </p:pic>
      <p:sp>
        <p:nvSpPr>
          <p:cNvPr id="9" name="Text 5"/>
          <p:cNvSpPr txBox="1"/>
          <p:nvPr/>
        </p:nvSpPr>
        <p:spPr>
          <a:xfrm>
            <a:off x="1481328" y="2194560"/>
            <a:ext cx="1645920" cy="237744"/>
          </a:xfrm>
          <a:prstGeom prst="rect">
            <a:avLst/>
          </a:prstGeom>
          <a:noFill/>
          <a:ln/>
        </p:spPr>
        <p:txBody>
          <a:bodyPr wrap="square" lIns="0" tIns="0" rIns="0" bIns="0" rtlCol="0" anchor="t"/>
          <a:lstStyle/>
          <a:p>
            <a:pPr indent="0" marL="0">
              <a:buNone/>
            </a:pPr>
            <a:r>
              <a:rPr lang="en-US" sz="1000" b="1" spc="150" kern="0" dirty="0">
                <a:solidFill>
                  <a:srgbClr val="0F8B99"/>
                </a:solidFill>
                <a:latin typeface="Calibri" pitchFamily="34" charset="0"/>
                <a:ea typeface="Calibri" pitchFamily="34" charset="-122"/>
                <a:cs typeface="Calibri" pitchFamily="34" charset="-120"/>
              </a:rPr>
              <a:t>BEFORE EXECUTION</a:t>
            </a:r>
            <a:endParaRPr lang="en-US" sz="1000" dirty="0"/>
          </a:p>
        </p:txBody>
      </p:sp>
      <p:sp>
        <p:nvSpPr>
          <p:cNvPr id="10" name="Text 6"/>
          <p:cNvSpPr txBox="1"/>
          <p:nvPr/>
        </p:nvSpPr>
        <p:spPr>
          <a:xfrm>
            <a:off x="1481328" y="2432304"/>
            <a:ext cx="1645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Stop it at the door</a:t>
            </a:r>
            <a:endParaRPr lang="en-US" sz="1400" dirty="0"/>
          </a:p>
        </p:txBody>
      </p:sp>
      <p:pic>
        <p:nvPicPr>
          <p:cNvPr id="11" name="Image 2" descr="preencoded.png">    </p:cNvPr>
          <p:cNvPicPr>
            <a:picLocks noChangeAspect="1"/>
          </p:cNvPicPr>
          <p:nvPr/>
        </p:nvPicPr>
        <p:blipFill>
          <a:blip r:embed="rId3"/>
          <a:stretch>
            <a:fillRect/>
          </a:stretch>
        </p:blipFill>
        <p:spPr>
          <a:xfrm>
            <a:off x="804672" y="2971800"/>
            <a:ext cx="164592" cy="164592"/>
          </a:xfrm>
          <a:prstGeom prst="rect">
            <a:avLst/>
          </a:prstGeom>
        </p:spPr>
      </p:pic>
      <p:sp>
        <p:nvSpPr>
          <p:cNvPr id="12" name="Text 7"/>
          <p:cNvSpPr txBox="1"/>
          <p:nvPr/>
        </p:nvSpPr>
        <p:spPr>
          <a:xfrm>
            <a:off x="1060704" y="29260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Web and file reputation</a:t>
            </a:r>
            <a:endParaRPr lang="en-US" sz="1100" dirty="0"/>
          </a:p>
        </p:txBody>
      </p:sp>
      <p:pic>
        <p:nvPicPr>
          <p:cNvPr id="13" name="Image 3" descr="preencoded.png">    </p:cNvPr>
          <p:cNvPicPr>
            <a:picLocks noChangeAspect="1"/>
          </p:cNvPicPr>
          <p:nvPr/>
        </p:nvPicPr>
        <p:blipFill>
          <a:blip r:embed="rId4"/>
          <a:stretch>
            <a:fillRect/>
          </a:stretch>
        </p:blipFill>
        <p:spPr>
          <a:xfrm>
            <a:off x="804672" y="3429000"/>
            <a:ext cx="164592" cy="164592"/>
          </a:xfrm>
          <a:prstGeom prst="rect">
            <a:avLst/>
          </a:prstGeom>
        </p:spPr>
      </p:pic>
      <p:sp>
        <p:nvSpPr>
          <p:cNvPr id="14" name="Text 8"/>
          <p:cNvSpPr txBox="1"/>
          <p:nvPr/>
        </p:nvSpPr>
        <p:spPr>
          <a:xfrm>
            <a:off x="1060704" y="33832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Exploit prevention (IPS, host firewall)</a:t>
            </a:r>
            <a:endParaRPr lang="en-US" sz="1100" dirty="0"/>
          </a:p>
        </p:txBody>
      </p:sp>
      <p:pic>
        <p:nvPicPr>
          <p:cNvPr id="15" name="Image 4" descr="preencoded.png">    </p:cNvPr>
          <p:cNvPicPr>
            <a:picLocks noChangeAspect="1"/>
          </p:cNvPicPr>
          <p:nvPr/>
        </p:nvPicPr>
        <p:blipFill>
          <a:blip r:embed="rId5"/>
          <a:stretch>
            <a:fillRect/>
          </a:stretch>
        </p:blipFill>
        <p:spPr>
          <a:xfrm>
            <a:off x="804672" y="3886200"/>
            <a:ext cx="164592" cy="164592"/>
          </a:xfrm>
          <a:prstGeom prst="rect">
            <a:avLst/>
          </a:prstGeom>
        </p:spPr>
      </p:pic>
      <p:sp>
        <p:nvSpPr>
          <p:cNvPr id="16" name="Text 9"/>
          <p:cNvSpPr txBox="1"/>
          <p:nvPr/>
        </p:nvSpPr>
        <p:spPr>
          <a:xfrm>
            <a:off x="1060704" y="38404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Variant protection</a:t>
            </a:r>
            <a:endParaRPr lang="en-US" sz="1100" dirty="0"/>
          </a:p>
        </p:txBody>
      </p:sp>
      <p:pic>
        <p:nvPicPr>
          <p:cNvPr id="17" name="Image 5" descr="preencoded.png">    </p:cNvPr>
          <p:cNvPicPr>
            <a:picLocks noChangeAspect="1"/>
          </p:cNvPicPr>
          <p:nvPr/>
        </p:nvPicPr>
        <p:blipFill>
          <a:blip r:embed="rId6"/>
          <a:stretch>
            <a:fillRect/>
          </a:stretch>
        </p:blipFill>
        <p:spPr>
          <a:xfrm>
            <a:off x="804672" y="4343400"/>
            <a:ext cx="164592" cy="164592"/>
          </a:xfrm>
          <a:prstGeom prst="rect">
            <a:avLst/>
          </a:prstGeom>
        </p:spPr>
      </p:pic>
      <p:sp>
        <p:nvSpPr>
          <p:cNvPr id="18" name="Text 10"/>
          <p:cNvSpPr txBox="1"/>
          <p:nvPr/>
        </p:nvSpPr>
        <p:spPr>
          <a:xfrm>
            <a:off x="1060704" y="42976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Application control</a:t>
            </a:r>
            <a:endParaRPr lang="en-US" sz="1100" dirty="0"/>
          </a:p>
        </p:txBody>
      </p:sp>
      <p:pic>
        <p:nvPicPr>
          <p:cNvPr id="19" name="Image 6" descr="preencoded.png">    </p:cNvPr>
          <p:cNvPicPr>
            <a:picLocks noChangeAspect="1"/>
          </p:cNvPicPr>
          <p:nvPr/>
        </p:nvPicPr>
        <p:blipFill>
          <a:blip r:embed="rId7"/>
          <a:stretch>
            <a:fillRect/>
          </a:stretch>
        </p:blipFill>
        <p:spPr>
          <a:xfrm>
            <a:off x="804672" y="4800600"/>
            <a:ext cx="164592" cy="164592"/>
          </a:xfrm>
          <a:prstGeom prst="rect">
            <a:avLst/>
          </a:prstGeom>
        </p:spPr>
      </p:pic>
      <p:sp>
        <p:nvSpPr>
          <p:cNvPr id="20" name="Text 11"/>
          <p:cNvSpPr txBox="1"/>
          <p:nvPr/>
        </p:nvSpPr>
        <p:spPr>
          <a:xfrm>
            <a:off x="1060704" y="47548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Pre-execution machine learning</a:t>
            </a:r>
            <a:endParaRPr lang="en-US" sz="1100" dirty="0"/>
          </a:p>
        </p:txBody>
      </p:sp>
      <p:pic>
        <p:nvPicPr>
          <p:cNvPr id="21" name="Image 7" descr="preencoded.png">    </p:cNvPr>
          <p:cNvPicPr>
            <a:picLocks noChangeAspect="1"/>
          </p:cNvPicPr>
          <p:nvPr/>
        </p:nvPicPr>
        <p:blipFill>
          <a:blip r:embed="rId8"/>
          <a:stretch>
            <a:fillRect/>
          </a:stretch>
        </p:blipFill>
        <p:spPr>
          <a:xfrm>
            <a:off x="3337560" y="3511296"/>
            <a:ext cx="219456" cy="219456"/>
          </a:xfrm>
          <a:prstGeom prst="rect">
            <a:avLst/>
          </a:prstGeom>
        </p:spPr>
      </p:pic>
      <p:sp>
        <p:nvSpPr>
          <p:cNvPr id="22" name="Shape 12"/>
          <p:cNvSpPr/>
          <p:nvPr/>
        </p:nvSpPr>
        <p:spPr>
          <a:xfrm>
            <a:off x="3657600" y="1920240"/>
            <a:ext cx="2697480" cy="3401568"/>
          </a:xfrm>
          <a:prstGeom prst="roundRect">
            <a:avLst>
              <a:gd name="adj" fmla="val 4746"/>
            </a:avLst>
          </a:prstGeom>
          <a:solidFill>
            <a:srgbClr val="183247"/>
          </a:solidFill>
          <a:ln w="9525">
            <a:solidFill>
              <a:srgbClr val="284559"/>
            </a:solidFill>
            <a:prstDash val="solid"/>
          </a:ln>
        </p:spPr>
      </p:sp>
      <p:sp>
        <p:nvSpPr>
          <p:cNvPr id="23" name="Shape 13"/>
          <p:cNvSpPr/>
          <p:nvPr/>
        </p:nvSpPr>
        <p:spPr>
          <a:xfrm>
            <a:off x="3913632" y="2176272"/>
            <a:ext cx="548640" cy="548640"/>
          </a:xfrm>
          <a:prstGeom prst="ellipse">
            <a:avLst/>
          </a:prstGeom>
          <a:solidFill>
            <a:srgbClr val="0F8B99"/>
          </a:solidFill>
          <a:ln w="12700">
            <a:solidFill>
              <a:srgbClr val="0F8B99"/>
            </a:solidFill>
            <a:prstDash val="solid"/>
          </a:ln>
        </p:spPr>
      </p:sp>
      <p:pic>
        <p:nvPicPr>
          <p:cNvPr id="24" name="Image 8" descr="preencoded.png">    </p:cNvPr>
          <p:cNvPicPr>
            <a:picLocks noChangeAspect="1"/>
          </p:cNvPicPr>
          <p:nvPr/>
        </p:nvPicPr>
        <p:blipFill>
          <a:blip r:embed="rId9"/>
          <a:stretch>
            <a:fillRect/>
          </a:stretch>
        </p:blipFill>
        <p:spPr>
          <a:xfrm>
            <a:off x="4061765" y="2324405"/>
            <a:ext cx="252374" cy="252374"/>
          </a:xfrm>
          <a:prstGeom prst="rect">
            <a:avLst/>
          </a:prstGeom>
        </p:spPr>
      </p:pic>
      <p:sp>
        <p:nvSpPr>
          <p:cNvPr id="25" name="Text 14"/>
          <p:cNvSpPr txBox="1"/>
          <p:nvPr/>
        </p:nvSpPr>
        <p:spPr>
          <a:xfrm>
            <a:off x="4590288" y="2194560"/>
            <a:ext cx="1645920" cy="237744"/>
          </a:xfrm>
          <a:prstGeom prst="rect">
            <a:avLst/>
          </a:prstGeom>
          <a:noFill/>
          <a:ln/>
        </p:spPr>
        <p:txBody>
          <a:bodyPr wrap="square" lIns="0" tIns="0" rIns="0" bIns="0" rtlCol="0" anchor="t"/>
          <a:lstStyle/>
          <a:p>
            <a:pPr indent="0" marL="0">
              <a:buNone/>
            </a:pPr>
            <a:r>
              <a:rPr lang="en-US" sz="1000" b="1" spc="150" kern="0" dirty="0">
                <a:solidFill>
                  <a:srgbClr val="0F8B99"/>
                </a:solidFill>
                <a:latin typeface="Calibri" pitchFamily="34" charset="0"/>
                <a:ea typeface="Calibri" pitchFamily="34" charset="-122"/>
                <a:cs typeface="Calibri" pitchFamily="34" charset="-120"/>
              </a:rPr>
              <a:t>DURING EXECUTION</a:t>
            </a:r>
            <a:endParaRPr lang="en-US" sz="1000" dirty="0"/>
          </a:p>
        </p:txBody>
      </p:sp>
      <p:sp>
        <p:nvSpPr>
          <p:cNvPr id="26" name="Text 15"/>
          <p:cNvSpPr txBox="1"/>
          <p:nvPr/>
        </p:nvSpPr>
        <p:spPr>
          <a:xfrm>
            <a:off x="4590288" y="2432304"/>
            <a:ext cx="1645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Catch it in the act</a:t>
            </a:r>
            <a:endParaRPr lang="en-US" sz="1400" dirty="0"/>
          </a:p>
        </p:txBody>
      </p:sp>
      <p:pic>
        <p:nvPicPr>
          <p:cNvPr id="27" name="Image 9" descr="preencoded.png">    </p:cNvPr>
          <p:cNvPicPr>
            <a:picLocks noChangeAspect="1"/>
          </p:cNvPicPr>
          <p:nvPr/>
        </p:nvPicPr>
        <p:blipFill>
          <a:blip r:embed="rId10"/>
          <a:stretch>
            <a:fillRect/>
          </a:stretch>
        </p:blipFill>
        <p:spPr>
          <a:xfrm>
            <a:off x="3913632" y="2971800"/>
            <a:ext cx="164592" cy="164592"/>
          </a:xfrm>
          <a:prstGeom prst="rect">
            <a:avLst/>
          </a:prstGeom>
        </p:spPr>
      </p:pic>
      <p:sp>
        <p:nvSpPr>
          <p:cNvPr id="28" name="Text 16"/>
          <p:cNvSpPr txBox="1"/>
          <p:nvPr/>
        </p:nvSpPr>
        <p:spPr>
          <a:xfrm>
            <a:off x="4169664" y="29260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Behavioral analysis (scripts, injection, memory, browser)</a:t>
            </a:r>
            <a:endParaRPr lang="en-US" sz="1100" dirty="0"/>
          </a:p>
        </p:txBody>
      </p:sp>
      <p:pic>
        <p:nvPicPr>
          <p:cNvPr id="29" name="Image 10" descr="preencoded.png">    </p:cNvPr>
          <p:cNvPicPr>
            <a:picLocks noChangeAspect="1"/>
          </p:cNvPicPr>
          <p:nvPr/>
        </p:nvPicPr>
        <p:blipFill>
          <a:blip r:embed="rId11"/>
          <a:stretch>
            <a:fillRect/>
          </a:stretch>
        </p:blipFill>
        <p:spPr>
          <a:xfrm>
            <a:off x="3913632" y="3429000"/>
            <a:ext cx="164592" cy="164592"/>
          </a:xfrm>
          <a:prstGeom prst="rect">
            <a:avLst/>
          </a:prstGeom>
        </p:spPr>
      </p:pic>
      <p:sp>
        <p:nvSpPr>
          <p:cNvPr id="30" name="Text 17"/>
          <p:cNvSpPr txBox="1"/>
          <p:nvPr/>
        </p:nvSpPr>
        <p:spPr>
          <a:xfrm>
            <a:off x="4169664" y="33832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Runtime machine learning</a:t>
            </a:r>
            <a:endParaRPr lang="en-US" sz="1100" dirty="0"/>
          </a:p>
        </p:txBody>
      </p:sp>
      <p:pic>
        <p:nvPicPr>
          <p:cNvPr id="31" name="Image 11" descr="preencoded.png">    </p:cNvPr>
          <p:cNvPicPr>
            <a:picLocks noChangeAspect="1"/>
          </p:cNvPicPr>
          <p:nvPr/>
        </p:nvPicPr>
        <p:blipFill>
          <a:blip r:embed="rId12"/>
          <a:stretch>
            <a:fillRect/>
          </a:stretch>
        </p:blipFill>
        <p:spPr>
          <a:xfrm>
            <a:off x="3913632" y="3886200"/>
            <a:ext cx="164592" cy="164592"/>
          </a:xfrm>
          <a:prstGeom prst="rect">
            <a:avLst/>
          </a:prstGeom>
        </p:spPr>
      </p:pic>
      <p:sp>
        <p:nvSpPr>
          <p:cNvPr id="32" name="Text 18"/>
          <p:cNvSpPr txBox="1"/>
          <p:nvPr/>
        </p:nvSpPr>
        <p:spPr>
          <a:xfrm>
            <a:off x="4169664" y="38404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In-memory analysis for fileless malware</a:t>
            </a:r>
            <a:endParaRPr lang="en-US" sz="1100" dirty="0"/>
          </a:p>
        </p:txBody>
      </p:sp>
      <p:pic>
        <p:nvPicPr>
          <p:cNvPr id="33" name="Image 12" descr="preencoded.png">    </p:cNvPr>
          <p:cNvPicPr>
            <a:picLocks noChangeAspect="1"/>
          </p:cNvPicPr>
          <p:nvPr/>
        </p:nvPicPr>
        <p:blipFill>
          <a:blip r:embed="rId13"/>
          <a:stretch>
            <a:fillRect/>
          </a:stretch>
        </p:blipFill>
        <p:spPr>
          <a:xfrm>
            <a:off x="3913632" y="4343400"/>
            <a:ext cx="164592" cy="164592"/>
          </a:xfrm>
          <a:prstGeom prst="rect">
            <a:avLst/>
          </a:prstGeom>
        </p:spPr>
      </p:pic>
      <p:sp>
        <p:nvSpPr>
          <p:cNvPr id="34" name="Text 19"/>
          <p:cNvSpPr txBox="1"/>
          <p:nvPr/>
        </p:nvSpPr>
        <p:spPr>
          <a:xfrm>
            <a:off x="4169664" y="42976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Ransomware rollback</a:t>
            </a:r>
            <a:endParaRPr lang="en-US" sz="1100" dirty="0"/>
          </a:p>
        </p:txBody>
      </p:sp>
      <p:pic>
        <p:nvPicPr>
          <p:cNvPr id="35" name="Image 13" descr="preencoded.png">    </p:cNvPr>
          <p:cNvPicPr>
            <a:picLocks noChangeAspect="1"/>
          </p:cNvPicPr>
          <p:nvPr/>
        </p:nvPicPr>
        <p:blipFill>
          <a:blip r:embed="rId14"/>
          <a:stretch>
            <a:fillRect/>
          </a:stretch>
        </p:blipFill>
        <p:spPr>
          <a:xfrm>
            <a:off x="6446520" y="3511296"/>
            <a:ext cx="219456" cy="219456"/>
          </a:xfrm>
          <a:prstGeom prst="rect">
            <a:avLst/>
          </a:prstGeom>
        </p:spPr>
      </p:pic>
      <p:sp>
        <p:nvSpPr>
          <p:cNvPr id="36" name="Shape 20"/>
          <p:cNvSpPr/>
          <p:nvPr/>
        </p:nvSpPr>
        <p:spPr>
          <a:xfrm>
            <a:off x="6766560" y="1920240"/>
            <a:ext cx="2697480" cy="3401568"/>
          </a:xfrm>
          <a:prstGeom prst="roundRect">
            <a:avLst>
              <a:gd name="adj" fmla="val 4746"/>
            </a:avLst>
          </a:prstGeom>
          <a:solidFill>
            <a:srgbClr val="183247"/>
          </a:solidFill>
          <a:ln w="9525">
            <a:solidFill>
              <a:srgbClr val="284559"/>
            </a:solidFill>
            <a:prstDash val="solid"/>
          </a:ln>
        </p:spPr>
      </p:sp>
      <p:sp>
        <p:nvSpPr>
          <p:cNvPr id="37" name="Shape 21"/>
          <p:cNvSpPr/>
          <p:nvPr/>
        </p:nvSpPr>
        <p:spPr>
          <a:xfrm>
            <a:off x="7022592" y="2176272"/>
            <a:ext cx="548640" cy="548640"/>
          </a:xfrm>
          <a:prstGeom prst="ellipse">
            <a:avLst/>
          </a:prstGeom>
          <a:solidFill>
            <a:srgbClr val="0F8B99"/>
          </a:solidFill>
          <a:ln w="12700">
            <a:solidFill>
              <a:srgbClr val="0F8B99"/>
            </a:solidFill>
            <a:prstDash val="solid"/>
          </a:ln>
        </p:spPr>
      </p:sp>
      <p:pic>
        <p:nvPicPr>
          <p:cNvPr id="38" name="Image 14" descr="preencoded.png">    </p:cNvPr>
          <p:cNvPicPr>
            <a:picLocks noChangeAspect="1"/>
          </p:cNvPicPr>
          <p:nvPr/>
        </p:nvPicPr>
        <p:blipFill>
          <a:blip r:embed="rId15"/>
          <a:stretch>
            <a:fillRect/>
          </a:stretch>
        </p:blipFill>
        <p:spPr>
          <a:xfrm>
            <a:off x="7170725" y="2324405"/>
            <a:ext cx="252374" cy="252374"/>
          </a:xfrm>
          <a:prstGeom prst="rect">
            <a:avLst/>
          </a:prstGeom>
        </p:spPr>
      </p:pic>
      <p:sp>
        <p:nvSpPr>
          <p:cNvPr id="39" name="Text 22"/>
          <p:cNvSpPr txBox="1"/>
          <p:nvPr/>
        </p:nvSpPr>
        <p:spPr>
          <a:xfrm>
            <a:off x="7699248" y="2194560"/>
            <a:ext cx="1645920" cy="237744"/>
          </a:xfrm>
          <a:prstGeom prst="rect">
            <a:avLst/>
          </a:prstGeom>
          <a:noFill/>
          <a:ln/>
        </p:spPr>
        <p:txBody>
          <a:bodyPr wrap="square" lIns="0" tIns="0" rIns="0" bIns="0" rtlCol="0" anchor="t"/>
          <a:lstStyle/>
          <a:p>
            <a:pPr indent="0" marL="0">
              <a:buNone/>
            </a:pPr>
            <a:r>
              <a:rPr lang="en-US" sz="1000" b="1" spc="150" kern="0" dirty="0">
                <a:solidFill>
                  <a:srgbClr val="0F8B99"/>
                </a:solidFill>
                <a:latin typeface="Calibri" pitchFamily="34" charset="0"/>
                <a:ea typeface="Calibri" pitchFamily="34" charset="-122"/>
                <a:cs typeface="Calibri" pitchFamily="34" charset="-120"/>
              </a:rPr>
              <a:t>AFTER / INVESTIGATE</a:t>
            </a:r>
            <a:endParaRPr lang="en-US" sz="1000" dirty="0"/>
          </a:p>
        </p:txBody>
      </p:sp>
      <p:sp>
        <p:nvSpPr>
          <p:cNvPr id="40" name="Text 23"/>
          <p:cNvSpPr txBox="1"/>
          <p:nvPr/>
        </p:nvSpPr>
        <p:spPr>
          <a:xfrm>
            <a:off x="7699248" y="2432304"/>
            <a:ext cx="1645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Learn and respond</a:t>
            </a:r>
            <a:endParaRPr lang="en-US" sz="1400" dirty="0"/>
          </a:p>
        </p:txBody>
      </p:sp>
      <p:pic>
        <p:nvPicPr>
          <p:cNvPr id="41" name="Image 15" descr="preencoded.png">    </p:cNvPr>
          <p:cNvPicPr>
            <a:picLocks noChangeAspect="1"/>
          </p:cNvPicPr>
          <p:nvPr/>
        </p:nvPicPr>
        <p:blipFill>
          <a:blip r:embed="rId16"/>
          <a:stretch>
            <a:fillRect/>
          </a:stretch>
        </p:blipFill>
        <p:spPr>
          <a:xfrm>
            <a:off x="7022592" y="2971800"/>
            <a:ext cx="164592" cy="164592"/>
          </a:xfrm>
          <a:prstGeom prst="rect">
            <a:avLst/>
          </a:prstGeom>
        </p:spPr>
      </p:pic>
      <p:sp>
        <p:nvSpPr>
          <p:cNvPr id="42" name="Text 24"/>
          <p:cNvSpPr txBox="1"/>
          <p:nvPr/>
        </p:nvSpPr>
        <p:spPr>
          <a:xfrm>
            <a:off x="7278624" y="29260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Command &amp; control (C&amp;C) blocking</a:t>
            </a:r>
            <a:endParaRPr lang="en-US" sz="1100" dirty="0"/>
          </a:p>
        </p:txBody>
      </p:sp>
      <p:pic>
        <p:nvPicPr>
          <p:cNvPr id="43" name="Image 16" descr="preencoded.png">    </p:cNvPr>
          <p:cNvPicPr>
            <a:picLocks noChangeAspect="1"/>
          </p:cNvPicPr>
          <p:nvPr/>
        </p:nvPicPr>
        <p:blipFill>
          <a:blip r:embed="rId17"/>
          <a:stretch>
            <a:fillRect/>
          </a:stretch>
        </p:blipFill>
        <p:spPr>
          <a:xfrm>
            <a:off x="7022592" y="3429000"/>
            <a:ext cx="164592" cy="164592"/>
          </a:xfrm>
          <a:prstGeom prst="rect">
            <a:avLst/>
          </a:prstGeom>
        </p:spPr>
      </p:pic>
      <p:sp>
        <p:nvSpPr>
          <p:cNvPr id="44" name="Text 25"/>
          <p:cNvSpPr txBox="1"/>
          <p:nvPr/>
        </p:nvSpPr>
        <p:spPr>
          <a:xfrm>
            <a:off x="7278624" y="33832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Suspicious-object quarantine and isolation</a:t>
            </a:r>
            <a:endParaRPr lang="en-US" sz="1100" dirty="0"/>
          </a:p>
        </p:txBody>
      </p:sp>
      <p:pic>
        <p:nvPicPr>
          <p:cNvPr id="45" name="Image 17" descr="preencoded.png">    </p:cNvPr>
          <p:cNvPicPr>
            <a:picLocks noChangeAspect="1"/>
          </p:cNvPicPr>
          <p:nvPr/>
        </p:nvPicPr>
        <p:blipFill>
          <a:blip r:embed="rId18"/>
          <a:stretch>
            <a:fillRect/>
          </a:stretch>
        </p:blipFill>
        <p:spPr>
          <a:xfrm>
            <a:off x="7022592" y="3886200"/>
            <a:ext cx="164592" cy="164592"/>
          </a:xfrm>
          <a:prstGeom prst="rect">
            <a:avLst/>
          </a:prstGeom>
        </p:spPr>
      </p:pic>
      <p:sp>
        <p:nvSpPr>
          <p:cNvPr id="46" name="Text 26"/>
          <p:cNvSpPr txBox="1"/>
          <p:nvPr/>
        </p:nvSpPr>
        <p:spPr>
          <a:xfrm>
            <a:off x="7278624" y="38404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Threat intelligence shared across layers</a:t>
            </a:r>
            <a:endParaRPr lang="en-US" sz="1100" dirty="0"/>
          </a:p>
        </p:txBody>
      </p:sp>
      <p:pic>
        <p:nvPicPr>
          <p:cNvPr id="47" name="Image 18" descr="preencoded.png">    </p:cNvPr>
          <p:cNvPicPr>
            <a:picLocks noChangeAspect="1"/>
          </p:cNvPicPr>
          <p:nvPr/>
        </p:nvPicPr>
        <p:blipFill>
          <a:blip r:embed="rId19"/>
          <a:stretch>
            <a:fillRect/>
          </a:stretch>
        </p:blipFill>
        <p:spPr>
          <a:xfrm>
            <a:off x="7022592" y="4343400"/>
            <a:ext cx="164592" cy="164592"/>
          </a:xfrm>
          <a:prstGeom prst="rect">
            <a:avLst/>
          </a:prstGeom>
        </p:spPr>
      </p:pic>
      <p:sp>
        <p:nvSpPr>
          <p:cNvPr id="48" name="Text 27"/>
          <p:cNvSpPr txBox="1"/>
          <p:nvPr/>
        </p:nvSpPr>
        <p:spPr>
          <a:xfrm>
            <a:off x="7278624" y="42976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Central logs and reports in Apex Central</a:t>
            </a:r>
            <a:endParaRPr lang="en-US" sz="1100" dirty="0"/>
          </a:p>
        </p:txBody>
      </p:sp>
      <p:sp>
        <p:nvSpPr>
          <p:cNvPr id="49" name="Shape 28"/>
          <p:cNvSpPr/>
          <p:nvPr/>
        </p:nvSpPr>
        <p:spPr>
          <a:xfrm>
            <a:off x="9875520" y="1920240"/>
            <a:ext cx="1767535" cy="1645920"/>
          </a:xfrm>
          <a:prstGeom prst="roundRect">
            <a:avLst>
              <a:gd name="adj" fmla="val 7778"/>
            </a:avLst>
          </a:prstGeom>
          <a:solidFill>
            <a:srgbClr val="0F8B99"/>
          </a:solidFill>
          <a:ln w="12700">
            <a:solidFill>
              <a:srgbClr val="0F8B99"/>
            </a:solidFill>
            <a:prstDash val="solid"/>
          </a:ln>
        </p:spPr>
      </p:sp>
      <p:pic>
        <p:nvPicPr>
          <p:cNvPr id="50" name="Image 19" descr="preencoded.png">    </p:cNvPr>
          <p:cNvPicPr>
            <a:picLocks noChangeAspect="1"/>
          </p:cNvPicPr>
          <p:nvPr/>
        </p:nvPicPr>
        <p:blipFill>
          <a:blip r:embed="rId20"/>
          <a:stretch>
            <a:fillRect/>
          </a:stretch>
        </p:blipFill>
        <p:spPr>
          <a:xfrm>
            <a:off x="10149840" y="2194560"/>
            <a:ext cx="365760" cy="365760"/>
          </a:xfrm>
          <a:prstGeom prst="rect">
            <a:avLst/>
          </a:prstGeom>
        </p:spPr>
      </p:pic>
      <p:sp>
        <p:nvSpPr>
          <p:cNvPr id="51" name="Text 29"/>
          <p:cNvSpPr txBox="1"/>
          <p:nvPr/>
        </p:nvSpPr>
        <p:spPr>
          <a:xfrm>
            <a:off x="10149840" y="2670048"/>
            <a:ext cx="1310335" cy="329184"/>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Blocked</a:t>
            </a:r>
            <a:endParaRPr lang="en-US" sz="1600" dirty="0"/>
          </a:p>
        </p:txBody>
      </p:sp>
      <p:sp>
        <p:nvSpPr>
          <p:cNvPr id="52" name="Text 30"/>
          <p:cNvSpPr txBox="1"/>
          <p:nvPr/>
        </p:nvSpPr>
        <p:spPr>
          <a:xfrm>
            <a:off x="10149840" y="2999232"/>
            <a:ext cx="1310335" cy="4572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Malicious files and actions stopped</a:t>
            </a:r>
            <a:endParaRPr lang="en-US" sz="1100" dirty="0"/>
          </a:p>
        </p:txBody>
      </p:sp>
      <p:sp>
        <p:nvSpPr>
          <p:cNvPr id="53" name="Shape 31"/>
          <p:cNvSpPr/>
          <p:nvPr/>
        </p:nvSpPr>
        <p:spPr>
          <a:xfrm>
            <a:off x="9875520" y="3675888"/>
            <a:ext cx="1767535" cy="1645920"/>
          </a:xfrm>
          <a:prstGeom prst="roundRect">
            <a:avLst>
              <a:gd name="adj" fmla="val 7778"/>
            </a:avLst>
          </a:prstGeom>
          <a:solidFill>
            <a:srgbClr val="3F4650"/>
          </a:solidFill>
          <a:ln w="12700">
            <a:solidFill>
              <a:srgbClr val="3F4650"/>
            </a:solidFill>
            <a:prstDash val="solid"/>
          </a:ln>
        </p:spPr>
      </p:sp>
      <p:pic>
        <p:nvPicPr>
          <p:cNvPr id="54" name="Image 20" descr="preencoded.png">    </p:cNvPr>
          <p:cNvPicPr>
            <a:picLocks noChangeAspect="1"/>
          </p:cNvPicPr>
          <p:nvPr/>
        </p:nvPicPr>
        <p:blipFill>
          <a:blip r:embed="rId21"/>
          <a:stretch>
            <a:fillRect/>
          </a:stretch>
        </p:blipFill>
        <p:spPr>
          <a:xfrm>
            <a:off x="10149840" y="3950208"/>
            <a:ext cx="365760" cy="365760"/>
          </a:xfrm>
          <a:prstGeom prst="rect">
            <a:avLst/>
          </a:prstGeom>
        </p:spPr>
      </p:pic>
      <p:sp>
        <p:nvSpPr>
          <p:cNvPr id="55" name="Text 32"/>
          <p:cNvSpPr txBox="1"/>
          <p:nvPr/>
        </p:nvSpPr>
        <p:spPr>
          <a:xfrm>
            <a:off x="10149840" y="4425696"/>
            <a:ext cx="1310335" cy="329184"/>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Allowed</a:t>
            </a:r>
            <a:endParaRPr lang="en-US" sz="1600" dirty="0"/>
          </a:p>
        </p:txBody>
      </p:sp>
      <p:sp>
        <p:nvSpPr>
          <p:cNvPr id="56" name="Text 33"/>
          <p:cNvSpPr txBox="1"/>
          <p:nvPr/>
        </p:nvSpPr>
        <p:spPr>
          <a:xfrm>
            <a:off x="10149840" y="4754880"/>
            <a:ext cx="1310335" cy="4572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Safe files and actions run normally</a:t>
            </a:r>
            <a:endParaRPr lang="en-US" sz="1100" dirty="0"/>
          </a:p>
        </p:txBody>
      </p:sp>
      <p:sp>
        <p:nvSpPr>
          <p:cNvPr id="57" name="Text 34"/>
          <p:cNvSpPr txBox="1"/>
          <p:nvPr/>
        </p:nvSpPr>
        <p:spPr>
          <a:xfrm>
            <a:off x="548640" y="5532120"/>
            <a:ext cx="11094415" cy="41148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Noise cancellation: </a:t>
            </a:r>
            <a:pPr indent="0" marL="0">
              <a:buNone/>
            </a:pPr>
            <a:r>
              <a:rPr lang="en-US" sz="1250" dirty="0">
                <a:solidFill>
                  <a:srgbClr val="C8CCD2"/>
                </a:solidFill>
                <a:latin typeface="Calibri" pitchFamily="34" charset="0"/>
                <a:ea typeface="Calibri" pitchFamily="34" charset="-122"/>
                <a:cs typeface="Calibri" pitchFamily="34" charset="-120"/>
              </a:rPr>
              <a:t>census and good-file checks at every layer reduce false positives, so the IT team sees fewer, more meaningful alerts.</a:t>
            </a:r>
            <a:endParaRPr lang="en-US" sz="1250" dirty="0"/>
          </a:p>
        </p:txBody>
      </p:sp>
      <p:sp>
        <p:nvSpPr>
          <p:cNvPr id="58" name="Text 3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08   |   Nessus vs. Trend Micro Apex One™  ·  Proposal for The Westin Resort Guam</a:t>
            </a:r>
            <a:endParaRPr lang="en-US" sz="900" dirty="0"/>
          </a:p>
        </p:txBody>
      </p:sp>
      <p:pic>
        <p:nvPicPr>
          <p:cNvPr id="59" name="Image 21" descr="/private/tmp/claude-501/-Users-jihanvin-Desktop-NIVNAH-AI/16a96446-d9b3-40e2-af9e-a3011ae3db84/scratchpad/assets/secukorea_light.png">    </p:cNvPr>
          <p:cNvPicPr>
            <a:picLocks noChangeAspect="1"/>
          </p:cNvPicPr>
          <p:nvPr/>
        </p:nvPicPr>
        <p:blipFill>
          <a:blip r:embed="rId22"/>
          <a:stretch>
            <a:fillRect/>
          </a:stretch>
        </p:blipFill>
        <p:spPr>
          <a:xfrm>
            <a:off x="10661904" y="6400800"/>
            <a:ext cx="978408" cy="2331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07   KEY DIFFERENTIATOR</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Virtual Patching: Protection Before the Patch</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2487168" cy="1536192"/>
          </a:xfrm>
          <a:prstGeom prst="roundRect">
            <a:avLst>
              <a:gd name="adj" fmla="val 8333"/>
            </a:avLst>
          </a:prstGeom>
          <a:solidFill>
            <a:srgbClr val="F4F5F7"/>
          </a:solidFill>
          <a:ln w="9525">
            <a:solidFill>
              <a:srgbClr val="DEE1E5"/>
            </a:solidFill>
            <a:prstDash val="solid"/>
          </a:ln>
        </p:spPr>
      </p:sp>
      <p:sp>
        <p:nvSpPr>
          <p:cNvPr id="6" name="Shape 3"/>
          <p:cNvSpPr/>
          <p:nvPr/>
        </p:nvSpPr>
        <p:spPr>
          <a:xfrm>
            <a:off x="777240" y="1801368"/>
            <a:ext cx="502920" cy="502920"/>
          </a:xfrm>
          <a:prstGeom prst="ellipse">
            <a:avLst/>
          </a:prstGeom>
          <a:solidFill>
            <a:srgbClr val="EAEEF3"/>
          </a:solidFill>
          <a:ln w="12700">
            <a:solidFill>
              <a:srgbClr val="EAEEF3"/>
            </a:solidFill>
            <a:prstDash val="solid"/>
          </a:ln>
        </p:spPr>
      </p:sp>
      <p:pic>
        <p:nvPicPr>
          <p:cNvPr id="7" name="Image 1" descr="preencoded.png">    </p:cNvPr>
          <p:cNvPicPr>
            <a:picLocks noChangeAspect="1"/>
          </p:cNvPicPr>
          <p:nvPr/>
        </p:nvPicPr>
        <p:blipFill>
          <a:blip r:embed="rId2"/>
          <a:stretch>
            <a:fillRect/>
          </a:stretch>
        </p:blipFill>
        <p:spPr>
          <a:xfrm>
            <a:off x="913028" y="1937156"/>
            <a:ext cx="231343" cy="231343"/>
          </a:xfrm>
          <a:prstGeom prst="rect">
            <a:avLst/>
          </a:prstGeom>
        </p:spPr>
      </p:pic>
      <p:sp>
        <p:nvSpPr>
          <p:cNvPr id="8" name="Text 4"/>
          <p:cNvSpPr txBox="1"/>
          <p:nvPr/>
        </p:nvSpPr>
        <p:spPr>
          <a:xfrm>
            <a:off x="1417320" y="1801368"/>
            <a:ext cx="1481328" cy="502920"/>
          </a:xfrm>
          <a:prstGeom prst="rect">
            <a:avLst/>
          </a:prstGeom>
          <a:noFill/>
          <a:ln/>
        </p:spPr>
        <p:txBody>
          <a:bodyPr wrap="square" lIns="0" tIns="0" rIns="0" bIns="0" rtlCol="0" anchor="ctr"/>
          <a:lstStyle/>
          <a:p>
            <a:pPr indent="0" marL="0">
              <a:buNone/>
            </a:pPr>
            <a:r>
              <a:rPr lang="en-US" sz="1000" b="1" spc="150" kern="0" dirty="0">
                <a:solidFill>
                  <a:srgbClr val="5D6B7E"/>
                </a:solidFill>
                <a:latin typeface="Calibri" pitchFamily="34" charset="0"/>
                <a:ea typeface="Calibri" pitchFamily="34" charset="-122"/>
                <a:cs typeface="Calibri" pitchFamily="34" charset="-120"/>
              </a:rPr>
              <a:t>STEP 1</a:t>
            </a:r>
            <a:endParaRPr lang="en-US" sz="1000" dirty="0"/>
          </a:p>
        </p:txBody>
      </p:sp>
      <p:sp>
        <p:nvSpPr>
          <p:cNvPr id="9" name="Text 5"/>
          <p:cNvSpPr txBox="1"/>
          <p:nvPr/>
        </p:nvSpPr>
        <p:spPr>
          <a:xfrm>
            <a:off x="777240" y="2395728"/>
            <a:ext cx="2121408" cy="274320"/>
          </a:xfrm>
          <a:prstGeom prst="rect">
            <a:avLst/>
          </a:prstGeom>
          <a:noFill/>
          <a:ln/>
        </p:spPr>
        <p:txBody>
          <a:bodyPr wrap="square" lIns="0" tIns="0" rIns="0" bIns="0" rtlCol="0" anchor="t"/>
          <a:lstStyle/>
          <a:p>
            <a:pPr indent="0" marL="0">
              <a:buNone/>
            </a:pPr>
            <a:r>
              <a:rPr lang="en-US" sz="1300" b="1" dirty="0">
                <a:solidFill>
                  <a:srgbClr val="0E2233"/>
                </a:solidFill>
                <a:latin typeface="Arial" pitchFamily="34" charset="0"/>
                <a:ea typeface="Arial" pitchFamily="34" charset="-122"/>
                <a:cs typeface="Arial" pitchFamily="34" charset="-120"/>
              </a:rPr>
              <a:t>Vulnerability found</a:t>
            </a:r>
            <a:endParaRPr lang="en-US" sz="1300" dirty="0"/>
          </a:p>
        </p:txBody>
      </p:sp>
      <p:sp>
        <p:nvSpPr>
          <p:cNvPr id="10" name="Text 6"/>
          <p:cNvSpPr txBox="1"/>
          <p:nvPr/>
        </p:nvSpPr>
        <p:spPr>
          <a:xfrm>
            <a:off x="777240" y="2670048"/>
            <a:ext cx="2075688" cy="384048"/>
          </a:xfrm>
          <a:prstGeom prst="rect">
            <a:avLst/>
          </a:prstGeom>
          <a:noFill/>
          <a:ln/>
        </p:spPr>
        <p:txBody>
          <a:bodyPr wrap="square" lIns="0" tIns="0" rIns="0" bIns="0" rtlCol="0" anchor="t"/>
          <a:lstStyle/>
          <a:p>
            <a:pPr indent="0" marL="0">
              <a:buNone/>
            </a:pPr>
            <a:r>
              <a:rPr lang="en-US" sz="1050" dirty="0">
                <a:solidFill>
                  <a:srgbClr val="5F6670"/>
                </a:solidFill>
                <a:latin typeface="Calibri" pitchFamily="34" charset="0"/>
                <a:ea typeface="Calibri" pitchFamily="34" charset="-122"/>
                <a:cs typeface="Calibri" pitchFamily="34" charset="-120"/>
              </a:rPr>
              <a:t>Apex One flags a CVE on a front-desk PC</a:t>
            </a:r>
            <a:endParaRPr lang="en-US" sz="1050" dirty="0"/>
          </a:p>
        </p:txBody>
      </p:sp>
      <p:pic>
        <p:nvPicPr>
          <p:cNvPr id="11" name="Image 2" descr="preencoded.png">    </p:cNvPr>
          <p:cNvPicPr>
            <a:picLocks noChangeAspect="1"/>
          </p:cNvPicPr>
          <p:nvPr/>
        </p:nvPicPr>
        <p:blipFill>
          <a:blip r:embed="rId3"/>
          <a:stretch>
            <a:fillRect/>
          </a:stretch>
        </p:blipFill>
        <p:spPr>
          <a:xfrm>
            <a:off x="3127248" y="2240280"/>
            <a:ext cx="201168" cy="201168"/>
          </a:xfrm>
          <a:prstGeom prst="rect">
            <a:avLst/>
          </a:prstGeom>
        </p:spPr>
      </p:pic>
      <p:sp>
        <p:nvSpPr>
          <p:cNvPr id="12" name="Shape 7"/>
          <p:cNvSpPr/>
          <p:nvPr/>
        </p:nvSpPr>
        <p:spPr>
          <a:xfrm>
            <a:off x="3419856" y="1572768"/>
            <a:ext cx="2487168" cy="1536192"/>
          </a:xfrm>
          <a:prstGeom prst="roundRect">
            <a:avLst>
              <a:gd name="adj" fmla="val 8333"/>
            </a:avLst>
          </a:prstGeom>
          <a:solidFill>
            <a:srgbClr val="E7F5F7"/>
          </a:solidFill>
          <a:ln w="9525">
            <a:solidFill>
              <a:srgbClr val="BFE4E8"/>
            </a:solidFill>
            <a:prstDash val="solid"/>
          </a:ln>
        </p:spPr>
      </p:sp>
      <p:sp>
        <p:nvSpPr>
          <p:cNvPr id="13" name="Shape 8"/>
          <p:cNvSpPr/>
          <p:nvPr/>
        </p:nvSpPr>
        <p:spPr>
          <a:xfrm>
            <a:off x="3648456" y="1801368"/>
            <a:ext cx="502920" cy="502920"/>
          </a:xfrm>
          <a:prstGeom prst="ellipse">
            <a:avLst/>
          </a:prstGeom>
          <a:solidFill>
            <a:srgbClr val="0F8B99"/>
          </a:solidFill>
          <a:ln w="12700">
            <a:solidFill>
              <a:srgbClr val="0F8B99"/>
            </a:solidFill>
            <a:prstDash val="solid"/>
          </a:ln>
        </p:spPr>
      </p:sp>
      <p:pic>
        <p:nvPicPr>
          <p:cNvPr id="14" name="Image 3" descr="preencoded.png">    </p:cNvPr>
          <p:cNvPicPr>
            <a:picLocks noChangeAspect="1"/>
          </p:cNvPicPr>
          <p:nvPr/>
        </p:nvPicPr>
        <p:blipFill>
          <a:blip r:embed="rId4"/>
          <a:stretch>
            <a:fillRect/>
          </a:stretch>
        </p:blipFill>
        <p:spPr>
          <a:xfrm>
            <a:off x="3784244" y="1937156"/>
            <a:ext cx="231343" cy="231343"/>
          </a:xfrm>
          <a:prstGeom prst="rect">
            <a:avLst/>
          </a:prstGeom>
        </p:spPr>
      </p:pic>
      <p:sp>
        <p:nvSpPr>
          <p:cNvPr id="15" name="Text 9"/>
          <p:cNvSpPr txBox="1"/>
          <p:nvPr/>
        </p:nvSpPr>
        <p:spPr>
          <a:xfrm>
            <a:off x="4288536" y="1801368"/>
            <a:ext cx="1481328" cy="502920"/>
          </a:xfrm>
          <a:prstGeom prst="rect">
            <a:avLst/>
          </a:prstGeom>
          <a:noFill/>
          <a:ln/>
        </p:spPr>
        <p:txBody>
          <a:bodyPr wrap="square" lIns="0" tIns="0" rIns="0" bIns="0" rtlCol="0" anchor="ctr"/>
          <a:lstStyle/>
          <a:p>
            <a:pPr indent="0" marL="0">
              <a:buNone/>
            </a:pPr>
            <a:r>
              <a:rPr lang="en-US" sz="1000" b="1" spc="150" kern="0" dirty="0">
                <a:solidFill>
                  <a:srgbClr val="0F8B99"/>
                </a:solidFill>
                <a:latin typeface="Calibri" pitchFamily="34" charset="0"/>
                <a:ea typeface="Calibri" pitchFamily="34" charset="-122"/>
                <a:cs typeface="Calibri" pitchFamily="34" charset="-120"/>
              </a:rPr>
              <a:t>STEP 2</a:t>
            </a:r>
            <a:endParaRPr lang="en-US" sz="1000" dirty="0"/>
          </a:p>
        </p:txBody>
      </p:sp>
      <p:sp>
        <p:nvSpPr>
          <p:cNvPr id="16" name="Text 10"/>
          <p:cNvSpPr txBox="1"/>
          <p:nvPr/>
        </p:nvSpPr>
        <p:spPr>
          <a:xfrm>
            <a:off x="3648456" y="2395728"/>
            <a:ext cx="2121408" cy="274320"/>
          </a:xfrm>
          <a:prstGeom prst="rect">
            <a:avLst/>
          </a:prstGeom>
          <a:noFill/>
          <a:ln/>
        </p:spPr>
        <p:txBody>
          <a:bodyPr wrap="square" lIns="0" tIns="0" rIns="0" bIns="0" rtlCol="0" anchor="t"/>
          <a:lstStyle/>
          <a:p>
            <a:pPr indent="0" marL="0">
              <a:buNone/>
            </a:pPr>
            <a:r>
              <a:rPr lang="en-US" sz="1300" b="1" dirty="0">
                <a:solidFill>
                  <a:srgbClr val="0E2233"/>
                </a:solidFill>
                <a:latin typeface="Arial" pitchFamily="34" charset="0"/>
                <a:ea typeface="Arial" pitchFamily="34" charset="-122"/>
                <a:cs typeface="Arial" pitchFamily="34" charset="-120"/>
              </a:rPr>
              <a:t>Virtual patch applied</a:t>
            </a:r>
            <a:endParaRPr lang="en-US" sz="1300" dirty="0"/>
          </a:p>
        </p:txBody>
      </p:sp>
      <p:sp>
        <p:nvSpPr>
          <p:cNvPr id="17" name="Text 11"/>
          <p:cNvSpPr txBox="1"/>
          <p:nvPr/>
        </p:nvSpPr>
        <p:spPr>
          <a:xfrm>
            <a:off x="3648456" y="2670048"/>
            <a:ext cx="2075688" cy="384048"/>
          </a:xfrm>
          <a:prstGeom prst="rect">
            <a:avLst/>
          </a:prstGeom>
          <a:noFill/>
          <a:ln/>
        </p:spPr>
        <p:txBody>
          <a:bodyPr wrap="square" lIns="0" tIns="0" rIns="0" bIns="0" rtlCol="0" anchor="t"/>
          <a:lstStyle/>
          <a:p>
            <a:pPr indent="0" marL="0">
              <a:buNone/>
            </a:pPr>
            <a:r>
              <a:rPr lang="en-US" sz="1050" dirty="0">
                <a:solidFill>
                  <a:srgbClr val="5F6670"/>
                </a:solidFill>
                <a:latin typeface="Calibri" pitchFamily="34" charset="0"/>
                <a:ea typeface="Calibri" pitchFamily="34" charset="-122"/>
                <a:cs typeface="Calibri" pitchFamily="34" charset="-120"/>
              </a:rPr>
              <a:t>Apex One Vulnerability Protection shields the flaw</a:t>
            </a:r>
            <a:endParaRPr lang="en-US" sz="1050" dirty="0"/>
          </a:p>
        </p:txBody>
      </p:sp>
      <p:pic>
        <p:nvPicPr>
          <p:cNvPr id="18" name="Image 4" descr="preencoded.png">    </p:cNvPr>
          <p:cNvPicPr>
            <a:picLocks noChangeAspect="1"/>
          </p:cNvPicPr>
          <p:nvPr/>
        </p:nvPicPr>
        <p:blipFill>
          <a:blip r:embed="rId5"/>
          <a:stretch>
            <a:fillRect/>
          </a:stretch>
        </p:blipFill>
        <p:spPr>
          <a:xfrm>
            <a:off x="5998464" y="2240280"/>
            <a:ext cx="201168" cy="201168"/>
          </a:xfrm>
          <a:prstGeom prst="rect">
            <a:avLst/>
          </a:prstGeom>
        </p:spPr>
      </p:pic>
      <p:sp>
        <p:nvSpPr>
          <p:cNvPr id="19" name="Shape 12"/>
          <p:cNvSpPr/>
          <p:nvPr/>
        </p:nvSpPr>
        <p:spPr>
          <a:xfrm>
            <a:off x="6291072" y="1572768"/>
            <a:ext cx="2487168" cy="1536192"/>
          </a:xfrm>
          <a:prstGeom prst="roundRect">
            <a:avLst>
              <a:gd name="adj" fmla="val 8333"/>
            </a:avLst>
          </a:prstGeom>
          <a:solidFill>
            <a:srgbClr val="E7F5F7"/>
          </a:solidFill>
          <a:ln w="9525">
            <a:solidFill>
              <a:srgbClr val="BFE4E8"/>
            </a:solidFill>
            <a:prstDash val="solid"/>
          </a:ln>
        </p:spPr>
      </p:sp>
      <p:sp>
        <p:nvSpPr>
          <p:cNvPr id="20" name="Shape 13"/>
          <p:cNvSpPr/>
          <p:nvPr/>
        </p:nvSpPr>
        <p:spPr>
          <a:xfrm>
            <a:off x="6519672" y="1801368"/>
            <a:ext cx="502920" cy="502920"/>
          </a:xfrm>
          <a:prstGeom prst="ellipse">
            <a:avLst/>
          </a:prstGeom>
          <a:solidFill>
            <a:srgbClr val="0F8B99"/>
          </a:solidFill>
          <a:ln w="12700">
            <a:solidFill>
              <a:srgbClr val="0F8B99"/>
            </a:solidFill>
            <a:prstDash val="solid"/>
          </a:ln>
        </p:spPr>
      </p:sp>
      <p:pic>
        <p:nvPicPr>
          <p:cNvPr id="21" name="Image 5" descr="preencoded.png">    </p:cNvPr>
          <p:cNvPicPr>
            <a:picLocks noChangeAspect="1"/>
          </p:cNvPicPr>
          <p:nvPr/>
        </p:nvPicPr>
        <p:blipFill>
          <a:blip r:embed="rId6"/>
          <a:stretch>
            <a:fillRect/>
          </a:stretch>
        </p:blipFill>
        <p:spPr>
          <a:xfrm>
            <a:off x="6655460" y="1937156"/>
            <a:ext cx="231343" cy="231343"/>
          </a:xfrm>
          <a:prstGeom prst="rect">
            <a:avLst/>
          </a:prstGeom>
        </p:spPr>
      </p:pic>
      <p:sp>
        <p:nvSpPr>
          <p:cNvPr id="22" name="Text 14"/>
          <p:cNvSpPr txBox="1"/>
          <p:nvPr/>
        </p:nvSpPr>
        <p:spPr>
          <a:xfrm>
            <a:off x="7159752" y="1801368"/>
            <a:ext cx="1481328" cy="502920"/>
          </a:xfrm>
          <a:prstGeom prst="rect">
            <a:avLst/>
          </a:prstGeom>
          <a:noFill/>
          <a:ln/>
        </p:spPr>
        <p:txBody>
          <a:bodyPr wrap="square" lIns="0" tIns="0" rIns="0" bIns="0" rtlCol="0" anchor="ctr"/>
          <a:lstStyle/>
          <a:p>
            <a:pPr indent="0" marL="0">
              <a:buNone/>
            </a:pPr>
            <a:r>
              <a:rPr lang="en-US" sz="1000" b="1" spc="150" kern="0" dirty="0">
                <a:solidFill>
                  <a:srgbClr val="0F8B99"/>
                </a:solidFill>
                <a:latin typeface="Calibri" pitchFamily="34" charset="0"/>
                <a:ea typeface="Calibri" pitchFamily="34" charset="-122"/>
                <a:cs typeface="Calibri" pitchFamily="34" charset="-120"/>
              </a:rPr>
              <a:t>STEP 3</a:t>
            </a:r>
            <a:endParaRPr lang="en-US" sz="1000" dirty="0"/>
          </a:p>
        </p:txBody>
      </p:sp>
      <p:sp>
        <p:nvSpPr>
          <p:cNvPr id="23" name="Text 15"/>
          <p:cNvSpPr txBox="1"/>
          <p:nvPr/>
        </p:nvSpPr>
        <p:spPr>
          <a:xfrm>
            <a:off x="6519672" y="2395728"/>
            <a:ext cx="2121408" cy="274320"/>
          </a:xfrm>
          <a:prstGeom prst="rect">
            <a:avLst/>
          </a:prstGeom>
          <a:noFill/>
          <a:ln/>
        </p:spPr>
        <p:txBody>
          <a:bodyPr wrap="square" lIns="0" tIns="0" rIns="0" bIns="0" rtlCol="0" anchor="t"/>
          <a:lstStyle/>
          <a:p>
            <a:pPr indent="0" marL="0">
              <a:buNone/>
            </a:pPr>
            <a:r>
              <a:rPr lang="en-US" sz="1300" b="1" dirty="0">
                <a:solidFill>
                  <a:srgbClr val="0E2233"/>
                </a:solidFill>
                <a:latin typeface="Arial" pitchFamily="34" charset="0"/>
                <a:ea typeface="Arial" pitchFamily="34" charset="-122"/>
                <a:cs typeface="Arial" pitchFamily="34" charset="-120"/>
              </a:rPr>
              <a:t>Exploits blocked</a:t>
            </a:r>
            <a:endParaRPr lang="en-US" sz="1300" dirty="0"/>
          </a:p>
        </p:txBody>
      </p:sp>
      <p:sp>
        <p:nvSpPr>
          <p:cNvPr id="24" name="Text 16"/>
          <p:cNvSpPr txBox="1"/>
          <p:nvPr/>
        </p:nvSpPr>
        <p:spPr>
          <a:xfrm>
            <a:off x="6519672" y="2670048"/>
            <a:ext cx="2075688" cy="384048"/>
          </a:xfrm>
          <a:prstGeom prst="rect">
            <a:avLst/>
          </a:prstGeom>
          <a:noFill/>
          <a:ln/>
        </p:spPr>
        <p:txBody>
          <a:bodyPr wrap="square" lIns="0" tIns="0" rIns="0" bIns="0" rtlCol="0" anchor="t"/>
          <a:lstStyle/>
          <a:p>
            <a:pPr indent="0" marL="0">
              <a:buNone/>
            </a:pPr>
            <a:r>
              <a:rPr lang="en-US" sz="1050" dirty="0">
                <a:solidFill>
                  <a:srgbClr val="5F6670"/>
                </a:solidFill>
                <a:latin typeface="Calibri" pitchFamily="34" charset="0"/>
                <a:ea typeface="Calibri" pitchFamily="34" charset="-122"/>
                <a:cs typeface="Calibri" pitchFamily="34" charset="-120"/>
              </a:rPr>
              <a:t>Attacks on the flaw stopped at the endpoint</a:t>
            </a:r>
            <a:endParaRPr lang="en-US" sz="1050" dirty="0"/>
          </a:p>
        </p:txBody>
      </p:sp>
      <p:pic>
        <p:nvPicPr>
          <p:cNvPr id="25" name="Image 6" descr="preencoded.png">    </p:cNvPr>
          <p:cNvPicPr>
            <a:picLocks noChangeAspect="1"/>
          </p:cNvPicPr>
          <p:nvPr/>
        </p:nvPicPr>
        <p:blipFill>
          <a:blip r:embed="rId7"/>
          <a:stretch>
            <a:fillRect/>
          </a:stretch>
        </p:blipFill>
        <p:spPr>
          <a:xfrm>
            <a:off x="8869680" y="2240280"/>
            <a:ext cx="201168" cy="201168"/>
          </a:xfrm>
          <a:prstGeom prst="rect">
            <a:avLst/>
          </a:prstGeom>
        </p:spPr>
      </p:pic>
      <p:sp>
        <p:nvSpPr>
          <p:cNvPr id="26" name="Shape 17"/>
          <p:cNvSpPr/>
          <p:nvPr/>
        </p:nvSpPr>
        <p:spPr>
          <a:xfrm>
            <a:off x="9162288" y="1572768"/>
            <a:ext cx="2487168" cy="1536192"/>
          </a:xfrm>
          <a:prstGeom prst="roundRect">
            <a:avLst>
              <a:gd name="adj" fmla="val 8333"/>
            </a:avLst>
          </a:prstGeom>
          <a:solidFill>
            <a:srgbClr val="F4F5F7"/>
          </a:solidFill>
          <a:ln w="9525">
            <a:solidFill>
              <a:srgbClr val="DEE1E5"/>
            </a:solidFill>
            <a:prstDash val="solid"/>
          </a:ln>
        </p:spPr>
      </p:sp>
      <p:sp>
        <p:nvSpPr>
          <p:cNvPr id="27" name="Shape 18"/>
          <p:cNvSpPr/>
          <p:nvPr/>
        </p:nvSpPr>
        <p:spPr>
          <a:xfrm>
            <a:off x="9390888" y="1801368"/>
            <a:ext cx="502920" cy="502920"/>
          </a:xfrm>
          <a:prstGeom prst="ellipse">
            <a:avLst/>
          </a:prstGeom>
          <a:solidFill>
            <a:srgbClr val="EAEEF3"/>
          </a:solidFill>
          <a:ln w="12700">
            <a:solidFill>
              <a:srgbClr val="EAEEF3"/>
            </a:solidFill>
            <a:prstDash val="solid"/>
          </a:ln>
        </p:spPr>
      </p:sp>
      <p:pic>
        <p:nvPicPr>
          <p:cNvPr id="28" name="Image 7" descr="preencoded.png">    </p:cNvPr>
          <p:cNvPicPr>
            <a:picLocks noChangeAspect="1"/>
          </p:cNvPicPr>
          <p:nvPr/>
        </p:nvPicPr>
        <p:blipFill>
          <a:blip r:embed="rId8"/>
          <a:stretch>
            <a:fillRect/>
          </a:stretch>
        </p:blipFill>
        <p:spPr>
          <a:xfrm>
            <a:off x="9526676" y="1937156"/>
            <a:ext cx="231343" cy="231343"/>
          </a:xfrm>
          <a:prstGeom prst="rect">
            <a:avLst/>
          </a:prstGeom>
        </p:spPr>
      </p:pic>
      <p:sp>
        <p:nvSpPr>
          <p:cNvPr id="29" name="Text 19"/>
          <p:cNvSpPr txBox="1"/>
          <p:nvPr/>
        </p:nvSpPr>
        <p:spPr>
          <a:xfrm>
            <a:off x="10030968" y="1801368"/>
            <a:ext cx="1481328" cy="502920"/>
          </a:xfrm>
          <a:prstGeom prst="rect">
            <a:avLst/>
          </a:prstGeom>
          <a:noFill/>
          <a:ln/>
        </p:spPr>
        <p:txBody>
          <a:bodyPr wrap="square" lIns="0" tIns="0" rIns="0" bIns="0" rtlCol="0" anchor="ctr"/>
          <a:lstStyle/>
          <a:p>
            <a:pPr indent="0" marL="0">
              <a:buNone/>
            </a:pPr>
            <a:r>
              <a:rPr lang="en-US" sz="1000" b="1" spc="150" kern="0" dirty="0">
                <a:solidFill>
                  <a:srgbClr val="5D6B7E"/>
                </a:solidFill>
                <a:latin typeface="Calibri" pitchFamily="34" charset="0"/>
                <a:ea typeface="Calibri" pitchFamily="34" charset="-122"/>
                <a:cs typeface="Calibri" pitchFamily="34" charset="-120"/>
              </a:rPr>
              <a:t>STEP 4</a:t>
            </a:r>
            <a:endParaRPr lang="en-US" sz="1000" dirty="0"/>
          </a:p>
        </p:txBody>
      </p:sp>
      <p:sp>
        <p:nvSpPr>
          <p:cNvPr id="30" name="Text 20"/>
          <p:cNvSpPr txBox="1"/>
          <p:nvPr/>
        </p:nvSpPr>
        <p:spPr>
          <a:xfrm>
            <a:off x="9390888" y="2395728"/>
            <a:ext cx="2121408" cy="274320"/>
          </a:xfrm>
          <a:prstGeom prst="rect">
            <a:avLst/>
          </a:prstGeom>
          <a:noFill/>
          <a:ln/>
        </p:spPr>
        <p:txBody>
          <a:bodyPr wrap="square" lIns="0" tIns="0" rIns="0" bIns="0" rtlCol="0" anchor="t"/>
          <a:lstStyle/>
          <a:p>
            <a:pPr indent="0" marL="0">
              <a:buNone/>
            </a:pPr>
            <a:r>
              <a:rPr lang="en-US" sz="1300" b="1" dirty="0">
                <a:solidFill>
                  <a:srgbClr val="0E2233"/>
                </a:solidFill>
                <a:latin typeface="Arial" pitchFamily="34" charset="0"/>
                <a:ea typeface="Arial" pitchFamily="34" charset="-122"/>
                <a:cs typeface="Arial" pitchFamily="34" charset="-120"/>
              </a:rPr>
              <a:t>Patch on your schedule</a:t>
            </a:r>
            <a:endParaRPr lang="en-US" sz="1300" dirty="0"/>
          </a:p>
        </p:txBody>
      </p:sp>
      <p:sp>
        <p:nvSpPr>
          <p:cNvPr id="31" name="Text 21"/>
          <p:cNvSpPr txBox="1"/>
          <p:nvPr/>
        </p:nvSpPr>
        <p:spPr>
          <a:xfrm>
            <a:off x="9390888" y="2670048"/>
            <a:ext cx="2075688" cy="384048"/>
          </a:xfrm>
          <a:prstGeom prst="rect">
            <a:avLst/>
          </a:prstGeom>
          <a:noFill/>
          <a:ln/>
        </p:spPr>
        <p:txBody>
          <a:bodyPr wrap="square" lIns="0" tIns="0" rIns="0" bIns="0" rtlCol="0" anchor="t"/>
          <a:lstStyle/>
          <a:p>
            <a:pPr indent="0" marL="0">
              <a:buNone/>
            </a:pPr>
            <a:r>
              <a:rPr lang="en-US" sz="1050" dirty="0">
                <a:solidFill>
                  <a:srgbClr val="5F6670"/>
                </a:solidFill>
                <a:latin typeface="Calibri" pitchFamily="34" charset="0"/>
                <a:ea typeface="Calibri" pitchFamily="34" charset="-122"/>
                <a:cs typeface="Calibri" pitchFamily="34" charset="-120"/>
              </a:rPr>
              <a:t>Permanent fix installed in a planned window</a:t>
            </a:r>
            <a:endParaRPr lang="en-US" sz="1050" dirty="0"/>
          </a:p>
        </p:txBody>
      </p:sp>
      <p:sp>
        <p:nvSpPr>
          <p:cNvPr id="32" name="Shape 22"/>
          <p:cNvSpPr/>
          <p:nvPr/>
        </p:nvSpPr>
        <p:spPr>
          <a:xfrm>
            <a:off x="548640" y="3310128"/>
            <a:ext cx="5410048" cy="2679192"/>
          </a:xfrm>
          <a:prstGeom prst="roundRect">
            <a:avLst>
              <a:gd name="adj" fmla="val 4778"/>
            </a:avLst>
          </a:prstGeom>
          <a:solidFill>
            <a:srgbClr val="F4F5F7"/>
          </a:solidFill>
          <a:ln w="9525">
            <a:solidFill>
              <a:srgbClr val="DEE1E5"/>
            </a:solidFill>
            <a:prstDash val="solid"/>
          </a:ln>
        </p:spPr>
      </p:sp>
      <p:sp>
        <p:nvSpPr>
          <p:cNvPr id="33" name="Text 23"/>
          <p:cNvSpPr txBox="1"/>
          <p:nvPr/>
        </p:nvSpPr>
        <p:spPr>
          <a:xfrm>
            <a:off x="822960" y="3538728"/>
            <a:ext cx="4861408"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What it protects</a:t>
            </a:r>
            <a:endParaRPr lang="en-US" sz="1500" dirty="0"/>
          </a:p>
        </p:txBody>
      </p:sp>
      <p:pic>
        <p:nvPicPr>
          <p:cNvPr id="34" name="Image 8" descr="preencoded.png">    </p:cNvPr>
          <p:cNvPicPr>
            <a:picLocks noChangeAspect="1"/>
          </p:cNvPicPr>
          <p:nvPr/>
        </p:nvPicPr>
        <p:blipFill>
          <a:blip r:embed="rId9"/>
          <a:stretch>
            <a:fillRect/>
          </a:stretch>
        </p:blipFill>
        <p:spPr>
          <a:xfrm>
            <a:off x="822960" y="4005072"/>
            <a:ext cx="201168" cy="201168"/>
          </a:xfrm>
          <a:prstGeom prst="rect">
            <a:avLst/>
          </a:prstGeom>
        </p:spPr>
      </p:pic>
      <p:sp>
        <p:nvSpPr>
          <p:cNvPr id="35" name="Text 24"/>
          <p:cNvSpPr txBox="1"/>
          <p:nvPr/>
        </p:nvSpPr>
        <p:spPr>
          <a:xfrm>
            <a:off x="1152144" y="3968496"/>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Blocks known and unknown vulnerability exploits before patches are deployed</a:t>
            </a:r>
            <a:endParaRPr lang="en-US" sz="1200" dirty="0"/>
          </a:p>
        </p:txBody>
      </p:sp>
      <p:pic>
        <p:nvPicPr>
          <p:cNvPr id="36" name="Image 9" descr="preencoded.png">    </p:cNvPr>
          <p:cNvPicPr>
            <a:picLocks noChangeAspect="1"/>
          </p:cNvPicPr>
          <p:nvPr/>
        </p:nvPicPr>
        <p:blipFill>
          <a:blip r:embed="rId10"/>
          <a:stretch>
            <a:fillRect/>
          </a:stretch>
        </p:blipFill>
        <p:spPr>
          <a:xfrm>
            <a:off x="822960" y="4480560"/>
            <a:ext cx="201168" cy="201168"/>
          </a:xfrm>
          <a:prstGeom prst="rect">
            <a:avLst/>
          </a:prstGeom>
        </p:spPr>
      </p:pic>
      <p:sp>
        <p:nvSpPr>
          <p:cNvPr id="37" name="Text 25"/>
          <p:cNvSpPr txBox="1"/>
          <p:nvPr/>
        </p:nvSpPr>
        <p:spPr>
          <a:xfrm>
            <a:off x="1152144" y="4443984"/>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Protects end-of-support and legacy operating systems</a:t>
            </a:r>
            <a:endParaRPr lang="en-US" sz="1200" dirty="0"/>
          </a:p>
        </p:txBody>
      </p:sp>
      <p:pic>
        <p:nvPicPr>
          <p:cNvPr id="38" name="Image 10" descr="preencoded.png">    </p:cNvPr>
          <p:cNvPicPr>
            <a:picLocks noChangeAspect="1"/>
          </p:cNvPicPr>
          <p:nvPr/>
        </p:nvPicPr>
        <p:blipFill>
          <a:blip r:embed="rId11"/>
          <a:stretch>
            <a:fillRect/>
          </a:stretch>
        </p:blipFill>
        <p:spPr>
          <a:xfrm>
            <a:off x="822960" y="4956048"/>
            <a:ext cx="201168" cy="201168"/>
          </a:xfrm>
          <a:prstGeom prst="rect">
            <a:avLst/>
          </a:prstGeom>
        </p:spPr>
      </p:pic>
      <p:sp>
        <p:nvSpPr>
          <p:cNvPr id="39" name="Text 26"/>
          <p:cNvSpPr txBox="1"/>
          <p:nvPr/>
        </p:nvSpPr>
        <p:spPr>
          <a:xfrm>
            <a:off x="1152144" y="4919472"/>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Deep packet inspection stops malicious traffic and network backdoors</a:t>
            </a:r>
            <a:endParaRPr lang="en-US" sz="1200" dirty="0"/>
          </a:p>
        </p:txBody>
      </p:sp>
      <p:pic>
        <p:nvPicPr>
          <p:cNvPr id="40" name="Image 11" descr="preencoded.png">    </p:cNvPr>
          <p:cNvPicPr>
            <a:picLocks noChangeAspect="1"/>
          </p:cNvPicPr>
          <p:nvPr/>
        </p:nvPicPr>
        <p:blipFill>
          <a:blip r:embed="rId12"/>
          <a:stretch>
            <a:fillRect/>
          </a:stretch>
        </p:blipFill>
        <p:spPr>
          <a:xfrm>
            <a:off x="822960" y="5431536"/>
            <a:ext cx="201168" cy="201168"/>
          </a:xfrm>
          <a:prstGeom prst="rect">
            <a:avLst/>
          </a:prstGeom>
        </p:spPr>
      </p:pic>
      <p:sp>
        <p:nvSpPr>
          <p:cNvPr id="41" name="Text 27"/>
          <p:cNvSpPr txBox="1"/>
          <p:nvPr/>
        </p:nvSpPr>
        <p:spPr>
          <a:xfrm>
            <a:off x="1152144" y="5394960"/>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Shields the OS and common applications — on or off the network</a:t>
            </a:r>
            <a:endParaRPr lang="en-US" sz="1200" dirty="0"/>
          </a:p>
        </p:txBody>
      </p:sp>
      <p:sp>
        <p:nvSpPr>
          <p:cNvPr id="42" name="Shape 28"/>
          <p:cNvSpPr/>
          <p:nvPr/>
        </p:nvSpPr>
        <p:spPr>
          <a:xfrm>
            <a:off x="6233008" y="3310128"/>
            <a:ext cx="5410048" cy="2679192"/>
          </a:xfrm>
          <a:prstGeom prst="roundRect">
            <a:avLst>
              <a:gd name="adj" fmla="val 4778"/>
            </a:avLst>
          </a:prstGeom>
          <a:solidFill>
            <a:srgbClr val="E7F5F7"/>
          </a:solidFill>
          <a:ln w="9525">
            <a:solidFill>
              <a:srgbClr val="BFE4E8"/>
            </a:solidFill>
            <a:prstDash val="solid"/>
          </a:ln>
        </p:spPr>
      </p:sp>
      <p:sp>
        <p:nvSpPr>
          <p:cNvPr id="43" name="Text 29"/>
          <p:cNvSpPr txBox="1"/>
          <p:nvPr/>
        </p:nvSpPr>
        <p:spPr>
          <a:xfrm>
            <a:off x="6507328" y="3538728"/>
            <a:ext cx="4861408" cy="310896"/>
          </a:xfrm>
          <a:prstGeom prst="rect">
            <a:avLst/>
          </a:prstGeom>
          <a:noFill/>
          <a:ln/>
        </p:spPr>
        <p:txBody>
          <a:bodyPr wrap="square" lIns="0" tIns="0" rIns="0" bIns="0" rtlCol="0" anchor="t"/>
          <a:lstStyle/>
          <a:p>
            <a:pPr indent="0" marL="0">
              <a:buNone/>
            </a:pPr>
            <a:r>
              <a:rPr lang="en-US" sz="1500" b="1" dirty="0">
                <a:solidFill>
                  <a:srgbClr val="0A6470"/>
                </a:solidFill>
                <a:latin typeface="Arial" pitchFamily="34" charset="0"/>
                <a:ea typeface="Arial" pitchFamily="34" charset="-122"/>
                <a:cs typeface="Arial" pitchFamily="34" charset="-120"/>
              </a:rPr>
              <a:t>Why it matters for the resort</a:t>
            </a:r>
            <a:endParaRPr lang="en-US" sz="1500" dirty="0"/>
          </a:p>
        </p:txBody>
      </p:sp>
      <p:pic>
        <p:nvPicPr>
          <p:cNvPr id="44" name="Image 12" descr="preencoded.png">    </p:cNvPr>
          <p:cNvPicPr>
            <a:picLocks noChangeAspect="1"/>
          </p:cNvPicPr>
          <p:nvPr/>
        </p:nvPicPr>
        <p:blipFill>
          <a:blip r:embed="rId13"/>
          <a:stretch>
            <a:fillRect/>
          </a:stretch>
        </p:blipFill>
        <p:spPr>
          <a:xfrm>
            <a:off x="6507328" y="4005072"/>
            <a:ext cx="201168" cy="201168"/>
          </a:xfrm>
          <a:prstGeom prst="rect">
            <a:avLst/>
          </a:prstGeom>
        </p:spPr>
      </p:pic>
      <p:sp>
        <p:nvSpPr>
          <p:cNvPr id="45" name="Text 30"/>
          <p:cNvSpPr txBox="1"/>
          <p:nvPr/>
        </p:nvSpPr>
        <p:spPr>
          <a:xfrm>
            <a:off x="6836512" y="3968496"/>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Vulnerability assessment by CVE and Microsoft bulletin — no separate scanner needed</a:t>
            </a:r>
            <a:endParaRPr lang="en-US" sz="1200" dirty="0"/>
          </a:p>
        </p:txBody>
      </p:sp>
      <p:pic>
        <p:nvPicPr>
          <p:cNvPr id="46" name="Image 13" descr="preencoded.png">    </p:cNvPr>
          <p:cNvPicPr>
            <a:picLocks noChangeAspect="1"/>
          </p:cNvPicPr>
          <p:nvPr/>
        </p:nvPicPr>
        <p:blipFill>
          <a:blip r:embed="rId14"/>
          <a:stretch>
            <a:fillRect/>
          </a:stretch>
        </p:blipFill>
        <p:spPr>
          <a:xfrm>
            <a:off x="6507328" y="4480560"/>
            <a:ext cx="201168" cy="201168"/>
          </a:xfrm>
          <a:prstGeom prst="rect">
            <a:avLst/>
          </a:prstGeom>
        </p:spPr>
      </p:pic>
      <p:sp>
        <p:nvSpPr>
          <p:cNvPr id="47" name="Text 31"/>
          <p:cNvSpPr txBox="1"/>
          <p:nvPr/>
        </p:nvSpPr>
        <p:spPr>
          <a:xfrm>
            <a:off x="6836512" y="4443984"/>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No emergency patching during peak season — patch on your own timeline</a:t>
            </a:r>
            <a:endParaRPr lang="en-US" sz="1200" dirty="0"/>
          </a:p>
        </p:txBody>
      </p:sp>
      <p:pic>
        <p:nvPicPr>
          <p:cNvPr id="48" name="Image 14" descr="preencoded.png">    </p:cNvPr>
          <p:cNvPicPr>
            <a:picLocks noChangeAspect="1"/>
          </p:cNvPicPr>
          <p:nvPr/>
        </p:nvPicPr>
        <p:blipFill>
          <a:blip r:embed="rId15"/>
          <a:stretch>
            <a:fillRect/>
          </a:stretch>
        </p:blipFill>
        <p:spPr>
          <a:xfrm>
            <a:off x="6507328" y="4956048"/>
            <a:ext cx="201168" cy="201168"/>
          </a:xfrm>
          <a:prstGeom prst="rect">
            <a:avLst/>
          </a:prstGeom>
        </p:spPr>
      </p:pic>
      <p:sp>
        <p:nvSpPr>
          <p:cNvPr id="49" name="Text 32"/>
          <p:cNvSpPr txBox="1"/>
          <p:nvPr/>
        </p:nvSpPr>
        <p:spPr>
          <a:xfrm>
            <a:off x="6836512" y="4919472"/>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Extends the safe life of older PMS, POS and back-office systems</a:t>
            </a:r>
            <a:endParaRPr lang="en-US" sz="1200" dirty="0"/>
          </a:p>
        </p:txBody>
      </p:sp>
      <p:pic>
        <p:nvPicPr>
          <p:cNvPr id="50" name="Image 15" descr="preencoded.png">    </p:cNvPr>
          <p:cNvPicPr>
            <a:picLocks noChangeAspect="1"/>
          </p:cNvPicPr>
          <p:nvPr/>
        </p:nvPicPr>
        <p:blipFill>
          <a:blip r:embed="rId16"/>
          <a:stretch>
            <a:fillRect/>
          </a:stretch>
        </p:blipFill>
        <p:spPr>
          <a:xfrm>
            <a:off x="6507328" y="5431536"/>
            <a:ext cx="201168" cy="201168"/>
          </a:xfrm>
          <a:prstGeom prst="rect">
            <a:avLst/>
          </a:prstGeom>
        </p:spPr>
      </p:pic>
      <p:sp>
        <p:nvSpPr>
          <p:cNvPr id="51" name="Text 33"/>
          <p:cNvSpPr txBox="1"/>
          <p:nvPr/>
        </p:nvSpPr>
        <p:spPr>
          <a:xfrm>
            <a:off x="6836512" y="5394960"/>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Backed by Trend Micro Research and ZDI: 61% of disclosed zero-days in 2020</a:t>
            </a:r>
            <a:endParaRPr lang="en-US" sz="1200" dirty="0"/>
          </a:p>
        </p:txBody>
      </p:sp>
      <p:sp>
        <p:nvSpPr>
          <p:cNvPr id="52" name="Text 34"/>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09   |   Nessus vs. Trend Micro Apex One™  ·  Proposal for The Westin Resort Guam</a:t>
            </a:r>
            <a:endParaRPr lang="en-US" sz="900" dirty="0"/>
          </a:p>
        </p:txBody>
      </p:sp>
      <p:pic>
        <p:nvPicPr>
          <p:cNvPr id="53"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08   CORE PROTECTION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Stopping Ransomware and Locking Down POS Systems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394960" cy="4434840"/>
          </a:xfrm>
          <a:prstGeom prst="roundRect">
            <a:avLst>
              <a:gd name="adj" fmla="val 2887"/>
            </a:avLst>
          </a:prstGeom>
          <a:solidFill>
            <a:srgbClr val="10243A"/>
          </a:solidFill>
          <a:ln w="12700">
            <a:solidFill>
              <a:srgbClr val="10243A"/>
            </a:solidFill>
            <a:prstDash val="solid"/>
          </a:ln>
        </p:spPr>
      </p:sp>
      <p:sp>
        <p:nvSpPr>
          <p:cNvPr id="6" name="Text 3"/>
          <p:cNvSpPr txBox="1"/>
          <p:nvPr/>
        </p:nvSpPr>
        <p:spPr>
          <a:xfrm>
            <a:off x="868680" y="1828800"/>
            <a:ext cx="4754880" cy="237744"/>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RANSOMWARE PROTECTION &amp; ROLLBACK</a:t>
            </a:r>
            <a:endParaRPr lang="en-US" sz="1050" dirty="0"/>
          </a:p>
        </p:txBody>
      </p:sp>
      <p:sp>
        <p:nvSpPr>
          <p:cNvPr id="7" name="Text 4"/>
          <p:cNvSpPr txBox="1"/>
          <p:nvPr/>
        </p:nvSpPr>
        <p:spPr>
          <a:xfrm>
            <a:off x="868680" y="2103120"/>
            <a:ext cx="475488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Encryption blocked in milliseconds</a:t>
            </a:r>
            <a:endParaRPr lang="en-US" sz="2000" dirty="0"/>
          </a:p>
        </p:txBody>
      </p:sp>
      <p:sp>
        <p:nvSpPr>
          <p:cNvPr id="8" name="Shape 5"/>
          <p:cNvSpPr/>
          <p:nvPr/>
        </p:nvSpPr>
        <p:spPr>
          <a:xfrm>
            <a:off x="868680" y="2788920"/>
            <a:ext cx="640080" cy="640080"/>
          </a:xfrm>
          <a:prstGeom prst="ellipse">
            <a:avLst/>
          </a:prstGeom>
          <a:solidFill>
            <a:srgbClr val="0F8B99"/>
          </a:solidFill>
          <a:ln w="12700">
            <a:solidFill>
              <a:srgbClr val="0F8B99"/>
            </a:solidFill>
            <a:prstDash val="solid"/>
          </a:ln>
        </p:spPr>
      </p:sp>
      <p:pic>
        <p:nvPicPr>
          <p:cNvPr id="9" name="Image 1" descr="preencoded.png">    </p:cNvPr>
          <p:cNvPicPr>
            <a:picLocks noChangeAspect="1"/>
          </p:cNvPicPr>
          <p:nvPr/>
        </p:nvPicPr>
        <p:blipFill>
          <a:blip r:embed="rId2"/>
          <a:stretch>
            <a:fillRect/>
          </a:stretch>
        </p:blipFill>
        <p:spPr>
          <a:xfrm>
            <a:off x="1041502" y="2961742"/>
            <a:ext cx="294437" cy="294437"/>
          </a:xfrm>
          <a:prstGeom prst="rect">
            <a:avLst/>
          </a:prstGeom>
        </p:spPr>
      </p:pic>
      <p:sp>
        <p:nvSpPr>
          <p:cNvPr id="10" name="Text 6"/>
          <p:cNvSpPr txBox="1"/>
          <p:nvPr/>
        </p:nvSpPr>
        <p:spPr>
          <a:xfrm>
            <a:off x="1691640" y="280720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1. Detect</a:t>
            </a:r>
            <a:endParaRPr lang="en-US" sz="1400" dirty="0"/>
          </a:p>
        </p:txBody>
      </p:sp>
      <p:sp>
        <p:nvSpPr>
          <p:cNvPr id="11" name="Text 7"/>
          <p:cNvSpPr txBox="1"/>
          <p:nvPr/>
        </p:nvSpPr>
        <p:spPr>
          <a:xfrm>
            <a:off x="1691640" y="310896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Runtime machine learning and expert rules spot suspicious file encryption</a:t>
            </a:r>
            <a:endParaRPr lang="en-US" sz="1150" dirty="0"/>
          </a:p>
        </p:txBody>
      </p:sp>
      <p:sp>
        <p:nvSpPr>
          <p:cNvPr id="12" name="Shape 8"/>
          <p:cNvSpPr/>
          <p:nvPr/>
        </p:nvSpPr>
        <p:spPr>
          <a:xfrm>
            <a:off x="1188720" y="3447288"/>
            <a:ext cx="0" cy="329184"/>
          </a:xfrm>
          <a:prstGeom prst="line">
            <a:avLst/>
          </a:prstGeom>
          <a:noFill/>
          <a:ln w="19050">
            <a:solidFill>
              <a:srgbClr val="5A6069"/>
            </a:solidFill>
            <a:prstDash val="solid"/>
          </a:ln>
        </p:spPr>
      </p:sp>
      <p:sp>
        <p:nvSpPr>
          <p:cNvPr id="13" name="Shape 9"/>
          <p:cNvSpPr/>
          <p:nvPr/>
        </p:nvSpPr>
        <p:spPr>
          <a:xfrm>
            <a:off x="868680" y="3794760"/>
            <a:ext cx="640080" cy="640080"/>
          </a:xfrm>
          <a:prstGeom prst="ellipse">
            <a:avLst/>
          </a:prstGeom>
          <a:solidFill>
            <a:srgbClr val="0F8B99"/>
          </a:solidFill>
          <a:ln w="12700">
            <a:solidFill>
              <a:srgbClr val="0F8B99"/>
            </a:solidFill>
            <a:prstDash val="solid"/>
          </a:ln>
        </p:spPr>
      </p:sp>
      <p:pic>
        <p:nvPicPr>
          <p:cNvPr id="14" name="Image 2" descr="preencoded.png">    </p:cNvPr>
          <p:cNvPicPr>
            <a:picLocks noChangeAspect="1"/>
          </p:cNvPicPr>
          <p:nvPr/>
        </p:nvPicPr>
        <p:blipFill>
          <a:blip r:embed="rId3"/>
          <a:stretch>
            <a:fillRect/>
          </a:stretch>
        </p:blipFill>
        <p:spPr>
          <a:xfrm>
            <a:off x="1041502" y="3967582"/>
            <a:ext cx="294437" cy="294437"/>
          </a:xfrm>
          <a:prstGeom prst="rect">
            <a:avLst/>
          </a:prstGeom>
        </p:spPr>
      </p:pic>
      <p:sp>
        <p:nvSpPr>
          <p:cNvPr id="15" name="Text 10"/>
          <p:cNvSpPr txBox="1"/>
          <p:nvPr/>
        </p:nvSpPr>
        <p:spPr>
          <a:xfrm>
            <a:off x="1691640" y="381304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2. Block</a:t>
            </a:r>
            <a:endParaRPr lang="en-US" sz="1400" dirty="0"/>
          </a:p>
        </p:txBody>
      </p:sp>
      <p:sp>
        <p:nvSpPr>
          <p:cNvPr id="16" name="Text 11"/>
          <p:cNvSpPr txBox="1"/>
          <p:nvPr/>
        </p:nvSpPr>
        <p:spPr>
          <a:xfrm>
            <a:off x="1691640" y="411480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Malicious encryption processes are terminated immediately</a:t>
            </a:r>
            <a:endParaRPr lang="en-US" sz="1150" dirty="0"/>
          </a:p>
        </p:txBody>
      </p:sp>
      <p:sp>
        <p:nvSpPr>
          <p:cNvPr id="17" name="Shape 12"/>
          <p:cNvSpPr/>
          <p:nvPr/>
        </p:nvSpPr>
        <p:spPr>
          <a:xfrm>
            <a:off x="1188720" y="4453128"/>
            <a:ext cx="0" cy="329184"/>
          </a:xfrm>
          <a:prstGeom prst="line">
            <a:avLst/>
          </a:prstGeom>
          <a:noFill/>
          <a:ln w="19050">
            <a:solidFill>
              <a:srgbClr val="5A6069"/>
            </a:solidFill>
            <a:prstDash val="solid"/>
          </a:ln>
        </p:spPr>
      </p:sp>
      <p:sp>
        <p:nvSpPr>
          <p:cNvPr id="18" name="Shape 13"/>
          <p:cNvSpPr/>
          <p:nvPr/>
        </p:nvSpPr>
        <p:spPr>
          <a:xfrm>
            <a:off x="868680" y="4800600"/>
            <a:ext cx="640080" cy="640080"/>
          </a:xfrm>
          <a:prstGeom prst="ellipse">
            <a:avLst/>
          </a:prstGeom>
          <a:solidFill>
            <a:srgbClr val="0F8B99"/>
          </a:solidFill>
          <a:ln w="12700">
            <a:solidFill>
              <a:srgbClr val="0F8B99"/>
            </a:solidFill>
            <a:prstDash val="solid"/>
          </a:ln>
        </p:spPr>
      </p:sp>
      <p:pic>
        <p:nvPicPr>
          <p:cNvPr id="19" name="Image 3" descr="preencoded.png">    </p:cNvPr>
          <p:cNvPicPr>
            <a:picLocks noChangeAspect="1"/>
          </p:cNvPicPr>
          <p:nvPr/>
        </p:nvPicPr>
        <p:blipFill>
          <a:blip r:embed="rId4"/>
          <a:stretch>
            <a:fillRect/>
          </a:stretch>
        </p:blipFill>
        <p:spPr>
          <a:xfrm>
            <a:off x="1041502" y="4973422"/>
            <a:ext cx="294437" cy="294437"/>
          </a:xfrm>
          <a:prstGeom prst="rect">
            <a:avLst/>
          </a:prstGeom>
        </p:spPr>
      </p:pic>
      <p:sp>
        <p:nvSpPr>
          <p:cNvPr id="20" name="Text 14"/>
          <p:cNvSpPr txBox="1"/>
          <p:nvPr/>
        </p:nvSpPr>
        <p:spPr>
          <a:xfrm>
            <a:off x="1691640" y="481888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3. Roll back</a:t>
            </a:r>
            <a:endParaRPr lang="en-US" sz="1400" dirty="0"/>
          </a:p>
        </p:txBody>
      </p:sp>
      <p:sp>
        <p:nvSpPr>
          <p:cNvPr id="21" name="Text 15"/>
          <p:cNvSpPr txBox="1"/>
          <p:nvPr/>
        </p:nvSpPr>
        <p:spPr>
          <a:xfrm>
            <a:off x="1691640" y="512064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Files encrypted before detection are restored automatically</a:t>
            </a:r>
            <a:endParaRPr lang="en-US" sz="1150" dirty="0"/>
          </a:p>
        </p:txBody>
      </p:sp>
      <p:sp>
        <p:nvSpPr>
          <p:cNvPr id="22" name="Shape 16"/>
          <p:cNvSpPr/>
          <p:nvPr/>
        </p:nvSpPr>
        <p:spPr>
          <a:xfrm>
            <a:off x="6217920" y="1554480"/>
            <a:ext cx="5425135" cy="4434840"/>
          </a:xfrm>
          <a:prstGeom prst="roundRect">
            <a:avLst>
              <a:gd name="adj" fmla="val 2887"/>
            </a:avLst>
          </a:prstGeom>
          <a:solidFill>
            <a:srgbClr val="F4F5F7"/>
          </a:solidFill>
          <a:ln w="9525">
            <a:solidFill>
              <a:srgbClr val="DEE1E5"/>
            </a:solidFill>
            <a:prstDash val="solid"/>
          </a:ln>
        </p:spPr>
      </p:sp>
      <p:sp>
        <p:nvSpPr>
          <p:cNvPr id="23" name="Text 17"/>
          <p:cNvSpPr txBox="1"/>
          <p:nvPr/>
        </p:nvSpPr>
        <p:spPr>
          <a:xfrm>
            <a:off x="6537960" y="1828800"/>
            <a:ext cx="4785055" cy="237744"/>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APPLICATION CONTROL &amp; SYSTEM LOCKDOWN</a:t>
            </a:r>
            <a:endParaRPr lang="en-US" sz="1050" dirty="0"/>
          </a:p>
        </p:txBody>
      </p:sp>
      <p:sp>
        <p:nvSpPr>
          <p:cNvPr id="24" name="Text 18"/>
          <p:cNvSpPr txBox="1"/>
          <p:nvPr/>
        </p:nvSpPr>
        <p:spPr>
          <a:xfrm>
            <a:off x="6537960" y="2103120"/>
            <a:ext cx="4785055" cy="411480"/>
          </a:xfrm>
          <a:prstGeom prst="rect">
            <a:avLst/>
          </a:prstGeom>
          <a:noFill/>
          <a:ln/>
        </p:spPr>
        <p:txBody>
          <a:bodyPr wrap="square" lIns="0" tIns="0" rIns="0" bIns="0" rtlCol="0" anchor="t"/>
          <a:lstStyle/>
          <a:p>
            <a:pPr indent="0" marL="0">
              <a:buNone/>
            </a:pPr>
            <a:r>
              <a:rPr lang="en-US" sz="2000" b="1" dirty="0">
                <a:solidFill>
                  <a:srgbClr val="0E2233"/>
                </a:solidFill>
                <a:latin typeface="Arial" pitchFamily="34" charset="0"/>
                <a:ea typeface="Arial" pitchFamily="34" charset="-122"/>
                <a:cs typeface="Arial" pitchFamily="34" charset="-120"/>
              </a:rPr>
              <a:t>Only approved applications run</a:t>
            </a:r>
            <a:endParaRPr lang="en-US" sz="2000" dirty="0"/>
          </a:p>
        </p:txBody>
      </p:sp>
      <p:sp>
        <p:nvSpPr>
          <p:cNvPr id="25" name="Text 19"/>
          <p:cNvSpPr txBox="1"/>
          <p:nvPr/>
        </p:nvSpPr>
        <p:spPr>
          <a:xfrm>
            <a:off x="6537960" y="2542032"/>
            <a:ext cx="4785055" cy="274320"/>
          </a:xfrm>
          <a:prstGeom prst="rect">
            <a:avLst/>
          </a:prstGeom>
          <a:noFill/>
          <a:ln/>
        </p:spPr>
        <p:txBody>
          <a:bodyPr wrap="square" lIns="0" tIns="0" rIns="0" bIns="0" rtlCol="0" anchor="t"/>
          <a:lstStyle/>
          <a:p>
            <a:pPr indent="0" marL="0">
              <a:buNone/>
            </a:pPr>
            <a:r>
              <a:rPr lang="en-US" sz="1200" i="1" dirty="0">
                <a:solidFill>
                  <a:srgbClr val="5F6670"/>
                </a:solidFill>
                <a:latin typeface="Calibri" pitchFamily="34" charset="0"/>
                <a:ea typeface="Calibri" pitchFamily="34" charset="-122"/>
                <a:cs typeface="Calibri" pitchFamily="34" charset="-120"/>
              </a:rPr>
              <a:t>Ideal for POS terminals, kiosks and front-desk systems that should never change.</a:t>
            </a:r>
            <a:endParaRPr lang="en-US" sz="1200" dirty="0"/>
          </a:p>
        </p:txBody>
      </p:sp>
      <p:sp>
        <p:nvSpPr>
          <p:cNvPr id="26" name="Shape 20"/>
          <p:cNvSpPr/>
          <p:nvPr/>
        </p:nvSpPr>
        <p:spPr>
          <a:xfrm>
            <a:off x="6537960" y="3017520"/>
            <a:ext cx="329184" cy="329184"/>
          </a:xfrm>
          <a:prstGeom prst="ellipse">
            <a:avLst/>
          </a:prstGeom>
          <a:solidFill>
            <a:srgbClr val="0F8B99"/>
          </a:solidFill>
          <a:ln w="12700">
            <a:solidFill>
              <a:srgbClr val="0F8B99"/>
            </a:solidFill>
            <a:prstDash val="solid"/>
          </a:ln>
        </p:spPr>
      </p:sp>
      <p:pic>
        <p:nvPicPr>
          <p:cNvPr id="27" name="Image 4" descr="preencoded.png">    </p:cNvPr>
          <p:cNvPicPr>
            <a:picLocks noChangeAspect="1"/>
          </p:cNvPicPr>
          <p:nvPr/>
        </p:nvPicPr>
        <p:blipFill>
          <a:blip r:embed="rId5"/>
          <a:stretch>
            <a:fillRect/>
          </a:stretch>
        </p:blipFill>
        <p:spPr>
          <a:xfrm>
            <a:off x="6626840" y="3106400"/>
            <a:ext cx="151425" cy="151425"/>
          </a:xfrm>
          <a:prstGeom prst="rect">
            <a:avLst/>
          </a:prstGeom>
        </p:spPr>
      </p:pic>
      <p:sp>
        <p:nvSpPr>
          <p:cNvPr id="28" name="Text 21"/>
          <p:cNvSpPr txBox="1"/>
          <p:nvPr/>
        </p:nvSpPr>
        <p:spPr>
          <a:xfrm>
            <a:off x="7040880" y="298094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Blocks unknown and unwanted executables, DLLs and drivers</a:t>
            </a:r>
            <a:endParaRPr lang="en-US" sz="1250" dirty="0"/>
          </a:p>
        </p:txBody>
      </p:sp>
      <p:sp>
        <p:nvSpPr>
          <p:cNvPr id="29" name="Shape 22"/>
          <p:cNvSpPr/>
          <p:nvPr/>
        </p:nvSpPr>
        <p:spPr>
          <a:xfrm>
            <a:off x="6537960" y="3566160"/>
            <a:ext cx="329184" cy="329184"/>
          </a:xfrm>
          <a:prstGeom prst="ellipse">
            <a:avLst/>
          </a:prstGeom>
          <a:solidFill>
            <a:srgbClr val="0F8B99"/>
          </a:solidFill>
          <a:ln w="12700">
            <a:solidFill>
              <a:srgbClr val="0F8B99"/>
            </a:solidFill>
            <a:prstDash val="solid"/>
          </a:ln>
        </p:spPr>
      </p:sp>
      <p:pic>
        <p:nvPicPr>
          <p:cNvPr id="30" name="Image 5" descr="preencoded.png">    </p:cNvPr>
          <p:cNvPicPr>
            <a:picLocks noChangeAspect="1"/>
          </p:cNvPicPr>
          <p:nvPr/>
        </p:nvPicPr>
        <p:blipFill>
          <a:blip r:embed="rId6"/>
          <a:stretch>
            <a:fillRect/>
          </a:stretch>
        </p:blipFill>
        <p:spPr>
          <a:xfrm>
            <a:off x="6626840" y="3655040"/>
            <a:ext cx="151425" cy="151425"/>
          </a:xfrm>
          <a:prstGeom prst="rect">
            <a:avLst/>
          </a:prstGeom>
        </p:spPr>
      </p:pic>
      <p:sp>
        <p:nvSpPr>
          <p:cNvPr id="31" name="Text 23"/>
          <p:cNvSpPr txBox="1"/>
          <p:nvPr/>
        </p:nvSpPr>
        <p:spPr>
          <a:xfrm>
            <a:off x="7040880" y="352958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System lockdown stops new applications from running</a:t>
            </a:r>
            <a:endParaRPr lang="en-US" sz="1250" dirty="0"/>
          </a:p>
        </p:txBody>
      </p:sp>
      <p:sp>
        <p:nvSpPr>
          <p:cNvPr id="32" name="Shape 24"/>
          <p:cNvSpPr/>
          <p:nvPr/>
        </p:nvSpPr>
        <p:spPr>
          <a:xfrm>
            <a:off x="6537960" y="4114800"/>
            <a:ext cx="329184" cy="329184"/>
          </a:xfrm>
          <a:prstGeom prst="ellipse">
            <a:avLst/>
          </a:prstGeom>
          <a:solidFill>
            <a:srgbClr val="0F8B99"/>
          </a:solidFill>
          <a:ln w="12700">
            <a:solidFill>
              <a:srgbClr val="0F8B99"/>
            </a:solidFill>
            <a:prstDash val="solid"/>
          </a:ln>
        </p:spPr>
      </p:sp>
      <p:pic>
        <p:nvPicPr>
          <p:cNvPr id="33" name="Image 6" descr="preencoded.png">    </p:cNvPr>
          <p:cNvPicPr>
            <a:picLocks noChangeAspect="1"/>
          </p:cNvPicPr>
          <p:nvPr/>
        </p:nvPicPr>
        <p:blipFill>
          <a:blip r:embed="rId7"/>
          <a:stretch>
            <a:fillRect/>
          </a:stretch>
        </p:blipFill>
        <p:spPr>
          <a:xfrm>
            <a:off x="6626840" y="4203680"/>
            <a:ext cx="151425" cy="151425"/>
          </a:xfrm>
          <a:prstGeom prst="rect">
            <a:avLst/>
          </a:prstGeom>
        </p:spPr>
      </p:pic>
      <p:sp>
        <p:nvSpPr>
          <p:cNvPr id="34" name="Text 25"/>
          <p:cNvSpPr txBox="1"/>
          <p:nvPr/>
        </p:nvSpPr>
        <p:spPr>
          <a:xfrm>
            <a:off x="7040880" y="407822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Allow and block lists by name, path or certificate</a:t>
            </a:r>
            <a:endParaRPr lang="en-US" sz="1250" dirty="0"/>
          </a:p>
        </p:txBody>
      </p:sp>
      <p:sp>
        <p:nvSpPr>
          <p:cNvPr id="35" name="Shape 26"/>
          <p:cNvSpPr/>
          <p:nvPr/>
        </p:nvSpPr>
        <p:spPr>
          <a:xfrm>
            <a:off x="6537960" y="4663440"/>
            <a:ext cx="329184" cy="329184"/>
          </a:xfrm>
          <a:prstGeom prst="ellipse">
            <a:avLst/>
          </a:prstGeom>
          <a:solidFill>
            <a:srgbClr val="0F8B99"/>
          </a:solidFill>
          <a:ln w="12700">
            <a:solidFill>
              <a:srgbClr val="0F8B99"/>
            </a:solidFill>
            <a:prstDash val="solid"/>
          </a:ln>
        </p:spPr>
      </p:sp>
      <p:pic>
        <p:nvPicPr>
          <p:cNvPr id="36" name="Image 7" descr="preencoded.png">    </p:cNvPr>
          <p:cNvPicPr>
            <a:picLocks noChangeAspect="1"/>
          </p:cNvPicPr>
          <p:nvPr/>
        </p:nvPicPr>
        <p:blipFill>
          <a:blip r:embed="rId8"/>
          <a:stretch>
            <a:fillRect/>
          </a:stretch>
        </p:blipFill>
        <p:spPr>
          <a:xfrm>
            <a:off x="6626840" y="4752320"/>
            <a:ext cx="151425" cy="151425"/>
          </a:xfrm>
          <a:prstGeom prst="rect">
            <a:avLst/>
          </a:prstGeom>
        </p:spPr>
      </p:pic>
      <p:sp>
        <p:nvSpPr>
          <p:cNvPr id="37" name="Text 27"/>
          <p:cNvSpPr txBox="1"/>
          <p:nvPr/>
        </p:nvSpPr>
        <p:spPr>
          <a:xfrm>
            <a:off x="7040880" y="462686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Reputation data from over 1 billion known-good files</a:t>
            </a:r>
            <a:endParaRPr lang="en-US" sz="1250" dirty="0"/>
          </a:p>
        </p:txBody>
      </p:sp>
      <p:sp>
        <p:nvSpPr>
          <p:cNvPr id="38" name="Shape 28"/>
          <p:cNvSpPr/>
          <p:nvPr/>
        </p:nvSpPr>
        <p:spPr>
          <a:xfrm>
            <a:off x="6537960" y="5212080"/>
            <a:ext cx="329184" cy="329184"/>
          </a:xfrm>
          <a:prstGeom prst="ellipse">
            <a:avLst/>
          </a:prstGeom>
          <a:solidFill>
            <a:srgbClr val="0F8B99"/>
          </a:solidFill>
          <a:ln w="12700">
            <a:solidFill>
              <a:srgbClr val="0F8B99"/>
            </a:solidFill>
            <a:prstDash val="solid"/>
          </a:ln>
        </p:spPr>
      </p:sp>
      <p:pic>
        <p:nvPicPr>
          <p:cNvPr id="39" name="Image 8" descr="preencoded.png">    </p:cNvPr>
          <p:cNvPicPr>
            <a:picLocks noChangeAspect="1"/>
          </p:cNvPicPr>
          <p:nvPr/>
        </p:nvPicPr>
        <p:blipFill>
          <a:blip r:embed="rId9"/>
          <a:stretch>
            <a:fillRect/>
          </a:stretch>
        </p:blipFill>
        <p:spPr>
          <a:xfrm>
            <a:off x="6626840" y="5300960"/>
            <a:ext cx="151425" cy="151425"/>
          </a:xfrm>
          <a:prstGeom prst="rect">
            <a:avLst/>
          </a:prstGeom>
        </p:spPr>
      </p:pic>
      <p:sp>
        <p:nvSpPr>
          <p:cNvPr id="40" name="Text 29"/>
          <p:cNvSpPr txBox="1"/>
          <p:nvPr/>
        </p:nvSpPr>
        <p:spPr>
          <a:xfrm>
            <a:off x="7040880" y="517550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Approved updates still install from trusted sources</a:t>
            </a:r>
            <a:endParaRPr lang="en-US" sz="1250" dirty="0"/>
          </a:p>
        </p:txBody>
      </p:sp>
      <p:sp>
        <p:nvSpPr>
          <p:cNvPr id="41" name="Text 3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10   |   Nessus vs. Trend Micro Apex One™  ·  Proposal for The Westin Resort Guam</a:t>
            </a:r>
            <a:endParaRPr lang="en-US" sz="900" dirty="0"/>
          </a:p>
        </p:txBody>
      </p:sp>
      <p:pic>
        <p:nvPicPr>
          <p:cNvPr id="42"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09   DATA PROTECTION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Protecting Guest and Payment Data</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3515258" cy="3246120"/>
          </a:xfrm>
          <a:prstGeom prst="roundRect">
            <a:avLst>
              <a:gd name="adj" fmla="val 3944"/>
            </a:avLst>
          </a:prstGeom>
          <a:solidFill>
            <a:srgbClr val="FFFFFF"/>
          </a:solidFill>
          <a:ln w="9525">
            <a:solidFill>
              <a:srgbClr val="BFE4E8"/>
            </a:solidFill>
            <a:prstDash val="solid"/>
          </a:ln>
          <a:effectLst>
            <a:outerShdw sx="100000" sy="100000" kx="0" ky="0" algn="bl" rotWithShape="0" blurRad="101600" dist="25400" dir="5400000">
              <a:srgbClr val="000000">
                <a:alpha val="10000"/>
              </a:srgbClr>
            </a:outerShdw>
          </a:effectLst>
        </p:spPr>
      </p:sp>
      <p:sp>
        <p:nvSpPr>
          <p:cNvPr id="6" name="Shape 3"/>
          <p:cNvSpPr/>
          <p:nvPr/>
        </p:nvSpPr>
        <p:spPr>
          <a:xfrm>
            <a:off x="822960" y="1828800"/>
            <a:ext cx="566928" cy="566928"/>
          </a:xfrm>
          <a:prstGeom prst="ellipse">
            <a:avLst/>
          </a:prstGeom>
          <a:solidFill>
            <a:srgbClr val="0F8B99"/>
          </a:solidFill>
          <a:ln w="12700">
            <a:solidFill>
              <a:srgbClr val="0F8B99"/>
            </a:solidFill>
            <a:prstDash val="solid"/>
          </a:ln>
        </p:spPr>
      </p:sp>
      <p:pic>
        <p:nvPicPr>
          <p:cNvPr id="7" name="Image 1" descr="preencoded.png">    </p:cNvPr>
          <p:cNvPicPr>
            <a:picLocks noChangeAspect="1"/>
          </p:cNvPicPr>
          <p:nvPr/>
        </p:nvPicPr>
        <p:blipFill>
          <a:blip r:embed="rId2"/>
          <a:stretch>
            <a:fillRect/>
          </a:stretch>
        </p:blipFill>
        <p:spPr>
          <a:xfrm>
            <a:off x="976031" y="1981871"/>
            <a:ext cx="260787" cy="260787"/>
          </a:xfrm>
          <a:prstGeom prst="rect">
            <a:avLst/>
          </a:prstGeom>
        </p:spPr>
      </p:pic>
      <p:sp>
        <p:nvSpPr>
          <p:cNvPr id="8" name="Text 4"/>
          <p:cNvSpPr txBox="1"/>
          <p:nvPr/>
        </p:nvSpPr>
        <p:spPr>
          <a:xfrm>
            <a:off x="1536192" y="1865376"/>
            <a:ext cx="2417978" cy="219456"/>
          </a:xfrm>
          <a:prstGeom prst="rect">
            <a:avLst/>
          </a:prstGeom>
          <a:noFill/>
          <a:ln/>
        </p:spPr>
        <p:txBody>
          <a:bodyPr wrap="square" lIns="0" tIns="0" rIns="0" bIns="0" rtlCol="0" anchor="t"/>
          <a:lstStyle/>
          <a:p>
            <a:pPr indent="0" marL="0">
              <a:buNone/>
            </a:pPr>
            <a:r>
              <a:rPr lang="en-US" sz="950" b="1" spc="120" kern="0" dirty="0">
                <a:solidFill>
                  <a:srgbClr val="0F8B99"/>
                </a:solidFill>
                <a:latin typeface="Calibri" pitchFamily="34" charset="0"/>
                <a:ea typeface="Calibri" pitchFamily="34" charset="-122"/>
                <a:cs typeface="Calibri" pitchFamily="34" charset="-120"/>
              </a:rPr>
              <a:t>INTEGRATED IN THE AGENT</a:t>
            </a:r>
            <a:endParaRPr lang="en-US" sz="950" dirty="0"/>
          </a:p>
        </p:txBody>
      </p:sp>
      <p:sp>
        <p:nvSpPr>
          <p:cNvPr id="9" name="Text 5"/>
          <p:cNvSpPr txBox="1"/>
          <p:nvPr/>
        </p:nvSpPr>
        <p:spPr>
          <a:xfrm>
            <a:off x="1536192" y="2084832"/>
            <a:ext cx="2417978"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Data Loss Prevention</a:t>
            </a:r>
            <a:endParaRPr lang="en-US" sz="1500" dirty="0"/>
          </a:p>
        </p:txBody>
      </p:sp>
      <p:pic>
        <p:nvPicPr>
          <p:cNvPr id="10" name="Image 2" descr="preencoded.png">    </p:cNvPr>
          <p:cNvPicPr>
            <a:picLocks noChangeAspect="1"/>
          </p:cNvPicPr>
          <p:nvPr/>
        </p:nvPicPr>
        <p:blipFill>
          <a:blip r:embed="rId3"/>
          <a:stretch>
            <a:fillRect/>
          </a:stretch>
        </p:blipFill>
        <p:spPr>
          <a:xfrm>
            <a:off x="841248" y="2697480"/>
            <a:ext cx="164592" cy="164592"/>
          </a:xfrm>
          <a:prstGeom prst="rect">
            <a:avLst/>
          </a:prstGeom>
        </p:spPr>
      </p:pic>
      <p:sp>
        <p:nvSpPr>
          <p:cNvPr id="11" name="Text 6"/>
          <p:cNvSpPr txBox="1"/>
          <p:nvPr/>
        </p:nvSpPr>
        <p:spPr>
          <a:xfrm>
            <a:off x="1115568" y="2651760"/>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Ready-made templates for PCI DSS, GDPR, HIPAA and US PII</a:t>
            </a:r>
            <a:endParaRPr lang="en-US" sz="1200" dirty="0"/>
          </a:p>
        </p:txBody>
      </p:sp>
      <p:pic>
        <p:nvPicPr>
          <p:cNvPr id="12" name="Image 3" descr="preencoded.png">    </p:cNvPr>
          <p:cNvPicPr>
            <a:picLocks noChangeAspect="1"/>
          </p:cNvPicPr>
          <p:nvPr/>
        </p:nvPicPr>
        <p:blipFill>
          <a:blip r:embed="rId4"/>
          <a:stretch>
            <a:fillRect/>
          </a:stretch>
        </p:blipFill>
        <p:spPr>
          <a:xfrm>
            <a:off x="841248" y="3209544"/>
            <a:ext cx="164592" cy="164592"/>
          </a:xfrm>
          <a:prstGeom prst="rect">
            <a:avLst/>
          </a:prstGeom>
        </p:spPr>
      </p:pic>
      <p:sp>
        <p:nvSpPr>
          <p:cNvPr id="13" name="Text 7"/>
          <p:cNvSpPr txBox="1"/>
          <p:nvPr/>
        </p:nvSpPr>
        <p:spPr>
          <a:xfrm>
            <a:off x="1115568" y="3163824"/>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Watches USB, email, webmail and cloud storage</a:t>
            </a:r>
            <a:endParaRPr lang="en-US" sz="1200" dirty="0"/>
          </a:p>
        </p:txBody>
      </p:sp>
      <p:pic>
        <p:nvPicPr>
          <p:cNvPr id="14" name="Image 4" descr="preencoded.png">    </p:cNvPr>
          <p:cNvPicPr>
            <a:picLocks noChangeAspect="1"/>
          </p:cNvPicPr>
          <p:nvPr/>
        </p:nvPicPr>
        <p:blipFill>
          <a:blip r:embed="rId5"/>
          <a:stretch>
            <a:fillRect/>
          </a:stretch>
        </p:blipFill>
        <p:spPr>
          <a:xfrm>
            <a:off x="841248" y="3721608"/>
            <a:ext cx="164592" cy="164592"/>
          </a:xfrm>
          <a:prstGeom prst="rect">
            <a:avLst/>
          </a:prstGeom>
        </p:spPr>
      </p:pic>
      <p:sp>
        <p:nvSpPr>
          <p:cNvPr id="15" name="Text 8"/>
          <p:cNvSpPr txBox="1"/>
          <p:nvPr/>
        </p:nvSpPr>
        <p:spPr>
          <a:xfrm>
            <a:off x="1115568" y="3675888"/>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Recognizes over 300 file types</a:t>
            </a:r>
            <a:endParaRPr lang="en-US" sz="1200" dirty="0"/>
          </a:p>
        </p:txBody>
      </p:sp>
      <p:pic>
        <p:nvPicPr>
          <p:cNvPr id="16" name="Image 5" descr="preencoded.png">    </p:cNvPr>
          <p:cNvPicPr>
            <a:picLocks noChangeAspect="1"/>
          </p:cNvPicPr>
          <p:nvPr/>
        </p:nvPicPr>
        <p:blipFill>
          <a:blip r:embed="rId6"/>
          <a:stretch>
            <a:fillRect/>
          </a:stretch>
        </p:blipFill>
        <p:spPr>
          <a:xfrm>
            <a:off x="841248" y="4233672"/>
            <a:ext cx="164592" cy="164592"/>
          </a:xfrm>
          <a:prstGeom prst="rect">
            <a:avLst/>
          </a:prstGeom>
        </p:spPr>
      </p:pic>
      <p:sp>
        <p:nvSpPr>
          <p:cNvPr id="17" name="Text 9"/>
          <p:cNvSpPr txBox="1"/>
          <p:nvPr/>
        </p:nvSpPr>
        <p:spPr>
          <a:xfrm>
            <a:off x="1115568" y="4187952"/>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Alerts, blocks or coaches staff on data policy</a:t>
            </a:r>
            <a:endParaRPr lang="en-US" sz="1200" dirty="0"/>
          </a:p>
        </p:txBody>
      </p:sp>
      <p:sp>
        <p:nvSpPr>
          <p:cNvPr id="18" name="Shape 10"/>
          <p:cNvSpPr/>
          <p:nvPr/>
        </p:nvSpPr>
        <p:spPr>
          <a:xfrm>
            <a:off x="4338218" y="1554480"/>
            <a:ext cx="3515258" cy="3246120"/>
          </a:xfrm>
          <a:prstGeom prst="roundRect">
            <a:avLst>
              <a:gd name="adj" fmla="val 3944"/>
            </a:avLst>
          </a:prstGeom>
          <a:solidFill>
            <a:srgbClr val="FFFFFF"/>
          </a:solidFill>
          <a:ln w="9525">
            <a:solidFill>
              <a:srgbClr val="BFE4E8"/>
            </a:solidFill>
            <a:prstDash val="solid"/>
          </a:ln>
          <a:effectLst>
            <a:outerShdw sx="100000" sy="100000" kx="0" ky="0" algn="bl" rotWithShape="0" blurRad="101600" dist="25400" dir="5400000">
              <a:srgbClr val="000000">
                <a:alpha val="10000"/>
              </a:srgbClr>
            </a:outerShdw>
          </a:effectLst>
        </p:spPr>
      </p:sp>
      <p:sp>
        <p:nvSpPr>
          <p:cNvPr id="19" name="Shape 11"/>
          <p:cNvSpPr/>
          <p:nvPr/>
        </p:nvSpPr>
        <p:spPr>
          <a:xfrm>
            <a:off x="4612538" y="1828800"/>
            <a:ext cx="566928" cy="566928"/>
          </a:xfrm>
          <a:prstGeom prst="ellipse">
            <a:avLst/>
          </a:prstGeom>
          <a:solidFill>
            <a:srgbClr val="0F8B99"/>
          </a:solidFill>
          <a:ln w="12700">
            <a:solidFill>
              <a:srgbClr val="0F8B99"/>
            </a:solidFill>
            <a:prstDash val="solid"/>
          </a:ln>
        </p:spPr>
      </p:sp>
      <p:pic>
        <p:nvPicPr>
          <p:cNvPr id="20" name="Image 6" descr="preencoded.png">    </p:cNvPr>
          <p:cNvPicPr>
            <a:picLocks noChangeAspect="1"/>
          </p:cNvPicPr>
          <p:nvPr/>
        </p:nvPicPr>
        <p:blipFill>
          <a:blip r:embed="rId7"/>
          <a:stretch>
            <a:fillRect/>
          </a:stretch>
        </p:blipFill>
        <p:spPr>
          <a:xfrm>
            <a:off x="4765609" y="1981871"/>
            <a:ext cx="260787" cy="260787"/>
          </a:xfrm>
          <a:prstGeom prst="rect">
            <a:avLst/>
          </a:prstGeom>
        </p:spPr>
      </p:pic>
      <p:sp>
        <p:nvSpPr>
          <p:cNvPr id="21" name="Text 12"/>
          <p:cNvSpPr txBox="1"/>
          <p:nvPr/>
        </p:nvSpPr>
        <p:spPr>
          <a:xfrm>
            <a:off x="5325770" y="1865376"/>
            <a:ext cx="2417978" cy="219456"/>
          </a:xfrm>
          <a:prstGeom prst="rect">
            <a:avLst/>
          </a:prstGeom>
          <a:noFill/>
          <a:ln/>
        </p:spPr>
        <p:txBody>
          <a:bodyPr wrap="square" lIns="0" tIns="0" rIns="0" bIns="0" rtlCol="0" anchor="t"/>
          <a:lstStyle/>
          <a:p>
            <a:pPr indent="0" marL="0">
              <a:buNone/>
            </a:pPr>
            <a:r>
              <a:rPr lang="en-US" sz="950" b="1" spc="120" kern="0" dirty="0">
                <a:solidFill>
                  <a:srgbClr val="0F8B99"/>
                </a:solidFill>
                <a:latin typeface="Calibri" pitchFamily="34" charset="0"/>
                <a:ea typeface="Calibri" pitchFamily="34" charset="-122"/>
                <a:cs typeface="Calibri" pitchFamily="34" charset="-120"/>
              </a:rPr>
              <a:t>REMOVABLE MEDIA</a:t>
            </a:r>
            <a:endParaRPr lang="en-US" sz="950" dirty="0"/>
          </a:p>
        </p:txBody>
      </p:sp>
      <p:sp>
        <p:nvSpPr>
          <p:cNvPr id="22" name="Text 13"/>
          <p:cNvSpPr txBox="1"/>
          <p:nvPr/>
        </p:nvSpPr>
        <p:spPr>
          <a:xfrm>
            <a:off x="5325770" y="2084832"/>
            <a:ext cx="2417978"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Device Control</a:t>
            </a:r>
            <a:endParaRPr lang="en-US" sz="1500" dirty="0"/>
          </a:p>
        </p:txBody>
      </p:sp>
      <p:pic>
        <p:nvPicPr>
          <p:cNvPr id="23" name="Image 7" descr="preencoded.png">    </p:cNvPr>
          <p:cNvPicPr>
            <a:picLocks noChangeAspect="1"/>
          </p:cNvPicPr>
          <p:nvPr/>
        </p:nvPicPr>
        <p:blipFill>
          <a:blip r:embed="rId8"/>
          <a:stretch>
            <a:fillRect/>
          </a:stretch>
        </p:blipFill>
        <p:spPr>
          <a:xfrm>
            <a:off x="4630826" y="2697480"/>
            <a:ext cx="164592" cy="164592"/>
          </a:xfrm>
          <a:prstGeom prst="rect">
            <a:avLst/>
          </a:prstGeom>
        </p:spPr>
      </p:pic>
      <p:sp>
        <p:nvSpPr>
          <p:cNvPr id="24" name="Text 14"/>
          <p:cNvSpPr txBox="1"/>
          <p:nvPr/>
        </p:nvSpPr>
        <p:spPr>
          <a:xfrm>
            <a:off x="4905146" y="2651760"/>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Restrict USB drives and USB-attached phones</a:t>
            </a:r>
            <a:endParaRPr lang="en-US" sz="1200" dirty="0"/>
          </a:p>
        </p:txBody>
      </p:sp>
      <p:pic>
        <p:nvPicPr>
          <p:cNvPr id="25" name="Image 8" descr="preencoded.png">    </p:cNvPr>
          <p:cNvPicPr>
            <a:picLocks noChangeAspect="1"/>
          </p:cNvPicPr>
          <p:nvPr/>
        </p:nvPicPr>
        <p:blipFill>
          <a:blip r:embed="rId9"/>
          <a:stretch>
            <a:fillRect/>
          </a:stretch>
        </p:blipFill>
        <p:spPr>
          <a:xfrm>
            <a:off x="4630826" y="3209544"/>
            <a:ext cx="164592" cy="164592"/>
          </a:xfrm>
          <a:prstGeom prst="rect">
            <a:avLst/>
          </a:prstGeom>
        </p:spPr>
      </p:pic>
      <p:sp>
        <p:nvSpPr>
          <p:cNvPr id="26" name="Text 15"/>
          <p:cNvSpPr txBox="1"/>
          <p:nvPr/>
        </p:nvSpPr>
        <p:spPr>
          <a:xfrm>
            <a:off x="4905146" y="3163824"/>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Control CD/DVD writers and other media</a:t>
            </a:r>
            <a:endParaRPr lang="en-US" sz="1200" dirty="0"/>
          </a:p>
        </p:txBody>
      </p:sp>
      <p:pic>
        <p:nvPicPr>
          <p:cNvPr id="27" name="Image 9" descr="preencoded.png">    </p:cNvPr>
          <p:cNvPicPr>
            <a:picLocks noChangeAspect="1"/>
          </p:cNvPicPr>
          <p:nvPr/>
        </p:nvPicPr>
        <p:blipFill>
          <a:blip r:embed="rId10"/>
          <a:stretch>
            <a:fillRect/>
          </a:stretch>
        </p:blipFill>
        <p:spPr>
          <a:xfrm>
            <a:off x="4630826" y="3721608"/>
            <a:ext cx="164592" cy="164592"/>
          </a:xfrm>
          <a:prstGeom prst="rect">
            <a:avLst/>
          </a:prstGeom>
        </p:spPr>
      </p:pic>
      <p:sp>
        <p:nvSpPr>
          <p:cNvPr id="28" name="Text 16"/>
          <p:cNvSpPr txBox="1"/>
          <p:nvPr/>
        </p:nvSpPr>
        <p:spPr>
          <a:xfrm>
            <a:off x="4905146" y="3675888"/>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Granular policies by user or endpoint</a:t>
            </a:r>
            <a:endParaRPr lang="en-US" sz="1200" dirty="0"/>
          </a:p>
        </p:txBody>
      </p:sp>
      <p:pic>
        <p:nvPicPr>
          <p:cNvPr id="29" name="Image 10" descr="preencoded.png">    </p:cNvPr>
          <p:cNvPicPr>
            <a:picLocks noChangeAspect="1"/>
          </p:cNvPicPr>
          <p:nvPr/>
        </p:nvPicPr>
        <p:blipFill>
          <a:blip r:embed="rId11"/>
          <a:stretch>
            <a:fillRect/>
          </a:stretch>
        </p:blipFill>
        <p:spPr>
          <a:xfrm>
            <a:off x="4630826" y="4233672"/>
            <a:ext cx="164592" cy="164592"/>
          </a:xfrm>
          <a:prstGeom prst="rect">
            <a:avLst/>
          </a:prstGeom>
        </p:spPr>
      </p:pic>
      <p:sp>
        <p:nvSpPr>
          <p:cNvPr id="30" name="Text 17"/>
          <p:cNvSpPr txBox="1"/>
          <p:nvPr/>
        </p:nvSpPr>
        <p:spPr>
          <a:xfrm>
            <a:off x="4905146" y="4187952"/>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Same agent — no extra software</a:t>
            </a:r>
            <a:endParaRPr lang="en-US" sz="1200" dirty="0"/>
          </a:p>
        </p:txBody>
      </p:sp>
      <p:sp>
        <p:nvSpPr>
          <p:cNvPr id="31" name="Shape 18"/>
          <p:cNvSpPr/>
          <p:nvPr/>
        </p:nvSpPr>
        <p:spPr>
          <a:xfrm>
            <a:off x="8127797" y="1554480"/>
            <a:ext cx="3515258" cy="3246120"/>
          </a:xfrm>
          <a:prstGeom prst="roundRect">
            <a:avLst>
              <a:gd name="adj" fmla="val 3944"/>
            </a:avLst>
          </a:prstGeom>
          <a:solidFill>
            <a:srgbClr val="F4F5F7"/>
          </a:solidFill>
          <a:ln w="9525">
            <a:solidFill>
              <a:srgbClr val="DEE1E5"/>
            </a:solidFill>
            <a:prstDash val="solid"/>
          </a:ln>
        </p:spPr>
      </p:sp>
      <p:sp>
        <p:nvSpPr>
          <p:cNvPr id="32" name="Shape 19"/>
          <p:cNvSpPr/>
          <p:nvPr/>
        </p:nvSpPr>
        <p:spPr>
          <a:xfrm>
            <a:off x="8402117" y="1828800"/>
            <a:ext cx="566928" cy="566928"/>
          </a:xfrm>
          <a:prstGeom prst="ellipse">
            <a:avLst/>
          </a:prstGeom>
          <a:solidFill>
            <a:srgbClr val="EAEEF3"/>
          </a:solidFill>
          <a:ln w="12700">
            <a:solidFill>
              <a:srgbClr val="EAEEF3"/>
            </a:solidFill>
            <a:prstDash val="solid"/>
          </a:ln>
        </p:spPr>
      </p:sp>
      <p:pic>
        <p:nvPicPr>
          <p:cNvPr id="33" name="Image 11" descr="preencoded.png">    </p:cNvPr>
          <p:cNvPicPr>
            <a:picLocks noChangeAspect="1"/>
          </p:cNvPicPr>
          <p:nvPr/>
        </p:nvPicPr>
        <p:blipFill>
          <a:blip r:embed="rId12"/>
          <a:stretch>
            <a:fillRect/>
          </a:stretch>
        </p:blipFill>
        <p:spPr>
          <a:xfrm>
            <a:off x="8555187" y="1981871"/>
            <a:ext cx="260787" cy="260787"/>
          </a:xfrm>
          <a:prstGeom prst="rect">
            <a:avLst/>
          </a:prstGeom>
        </p:spPr>
      </p:pic>
      <p:sp>
        <p:nvSpPr>
          <p:cNvPr id="34" name="Text 20"/>
          <p:cNvSpPr txBox="1"/>
          <p:nvPr/>
        </p:nvSpPr>
        <p:spPr>
          <a:xfrm>
            <a:off x="9115349" y="1865376"/>
            <a:ext cx="2417978" cy="219456"/>
          </a:xfrm>
          <a:prstGeom prst="rect">
            <a:avLst/>
          </a:prstGeom>
          <a:noFill/>
          <a:ln/>
        </p:spPr>
        <p:txBody>
          <a:bodyPr wrap="square" lIns="0" tIns="0" rIns="0" bIns="0" rtlCol="0" anchor="t"/>
          <a:lstStyle/>
          <a:p>
            <a:pPr indent="0" marL="0">
              <a:buNone/>
            </a:pPr>
            <a:r>
              <a:rPr lang="en-US" sz="950" b="1" spc="120" kern="0" dirty="0">
                <a:solidFill>
                  <a:srgbClr val="5D6B7E"/>
                </a:solidFill>
                <a:latin typeface="Calibri" pitchFamily="34" charset="0"/>
                <a:ea typeface="Calibri" pitchFamily="34" charset="-122"/>
                <a:cs typeface="Calibri" pitchFamily="34" charset="-120"/>
              </a:rPr>
              <a:t>INTEGRATED IN THE AGENT</a:t>
            </a:r>
            <a:endParaRPr lang="en-US" sz="950" dirty="0"/>
          </a:p>
        </p:txBody>
      </p:sp>
      <p:sp>
        <p:nvSpPr>
          <p:cNvPr id="35" name="Text 21"/>
          <p:cNvSpPr txBox="1"/>
          <p:nvPr/>
        </p:nvSpPr>
        <p:spPr>
          <a:xfrm>
            <a:off x="9115349" y="2084832"/>
            <a:ext cx="2417978"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Web &amp; C&amp;C Protection</a:t>
            </a:r>
            <a:endParaRPr lang="en-US" sz="1500" dirty="0"/>
          </a:p>
        </p:txBody>
      </p:sp>
      <p:pic>
        <p:nvPicPr>
          <p:cNvPr id="36" name="Image 12" descr="preencoded.png">    </p:cNvPr>
          <p:cNvPicPr>
            <a:picLocks noChangeAspect="1"/>
          </p:cNvPicPr>
          <p:nvPr/>
        </p:nvPicPr>
        <p:blipFill>
          <a:blip r:embed="rId13"/>
          <a:stretch>
            <a:fillRect/>
          </a:stretch>
        </p:blipFill>
        <p:spPr>
          <a:xfrm>
            <a:off x="8420405" y="2697480"/>
            <a:ext cx="164592" cy="164592"/>
          </a:xfrm>
          <a:prstGeom prst="rect">
            <a:avLst/>
          </a:prstGeom>
        </p:spPr>
      </p:pic>
      <p:sp>
        <p:nvSpPr>
          <p:cNvPr id="37" name="Text 22"/>
          <p:cNvSpPr txBox="1"/>
          <p:nvPr/>
        </p:nvSpPr>
        <p:spPr>
          <a:xfrm>
            <a:off x="8694725" y="2651760"/>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Blocks malicious and phishing websites</a:t>
            </a:r>
            <a:endParaRPr lang="en-US" sz="1200" dirty="0"/>
          </a:p>
        </p:txBody>
      </p:sp>
      <p:pic>
        <p:nvPicPr>
          <p:cNvPr id="38" name="Image 13" descr="preencoded.png">    </p:cNvPr>
          <p:cNvPicPr>
            <a:picLocks noChangeAspect="1"/>
          </p:cNvPicPr>
          <p:nvPr/>
        </p:nvPicPr>
        <p:blipFill>
          <a:blip r:embed="rId14"/>
          <a:stretch>
            <a:fillRect/>
          </a:stretch>
        </p:blipFill>
        <p:spPr>
          <a:xfrm>
            <a:off x="8420405" y="3209544"/>
            <a:ext cx="164592" cy="164592"/>
          </a:xfrm>
          <a:prstGeom prst="rect">
            <a:avLst/>
          </a:prstGeom>
        </p:spPr>
      </p:pic>
      <p:sp>
        <p:nvSpPr>
          <p:cNvPr id="39" name="Text 23"/>
          <p:cNvSpPr txBox="1"/>
          <p:nvPr/>
        </p:nvSpPr>
        <p:spPr>
          <a:xfrm>
            <a:off x="8694725" y="3163824"/>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Stops ransomware C&amp;C callbacks</a:t>
            </a:r>
            <a:endParaRPr lang="en-US" sz="1200" dirty="0"/>
          </a:p>
        </p:txBody>
      </p:sp>
      <p:pic>
        <p:nvPicPr>
          <p:cNvPr id="40" name="Image 14" descr="preencoded.png">    </p:cNvPr>
          <p:cNvPicPr>
            <a:picLocks noChangeAspect="1"/>
          </p:cNvPicPr>
          <p:nvPr/>
        </p:nvPicPr>
        <p:blipFill>
          <a:blip r:embed="rId15"/>
          <a:stretch>
            <a:fillRect/>
          </a:stretch>
        </p:blipFill>
        <p:spPr>
          <a:xfrm>
            <a:off x="8420405" y="3721608"/>
            <a:ext cx="164592" cy="164592"/>
          </a:xfrm>
          <a:prstGeom prst="rect">
            <a:avLst/>
          </a:prstGeom>
        </p:spPr>
      </p:pic>
      <p:sp>
        <p:nvSpPr>
          <p:cNvPr id="41" name="Text 24"/>
          <p:cNvSpPr txBox="1"/>
          <p:nvPr/>
        </p:nvSpPr>
        <p:spPr>
          <a:xfrm>
            <a:off x="8694725" y="3675888"/>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Browser exploit protection</a:t>
            </a:r>
            <a:endParaRPr lang="en-US" sz="1200" dirty="0"/>
          </a:p>
        </p:txBody>
      </p:sp>
      <p:pic>
        <p:nvPicPr>
          <p:cNvPr id="42" name="Image 15" descr="preencoded.png">    </p:cNvPr>
          <p:cNvPicPr>
            <a:picLocks noChangeAspect="1"/>
          </p:cNvPicPr>
          <p:nvPr/>
        </p:nvPicPr>
        <p:blipFill>
          <a:blip r:embed="rId16"/>
          <a:stretch>
            <a:fillRect/>
          </a:stretch>
        </p:blipFill>
        <p:spPr>
          <a:xfrm>
            <a:off x="8420405" y="4233672"/>
            <a:ext cx="164592" cy="164592"/>
          </a:xfrm>
          <a:prstGeom prst="rect">
            <a:avLst/>
          </a:prstGeom>
        </p:spPr>
      </p:pic>
      <p:sp>
        <p:nvSpPr>
          <p:cNvPr id="43" name="Text 25"/>
          <p:cNvSpPr txBox="1"/>
          <p:nvPr/>
        </p:nvSpPr>
        <p:spPr>
          <a:xfrm>
            <a:off x="8694725" y="4187952"/>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Same agent — no extra software</a:t>
            </a:r>
            <a:endParaRPr lang="en-US" sz="1200" dirty="0"/>
          </a:p>
        </p:txBody>
      </p:sp>
      <p:sp>
        <p:nvSpPr>
          <p:cNvPr id="44" name="Shape 26"/>
          <p:cNvSpPr/>
          <p:nvPr/>
        </p:nvSpPr>
        <p:spPr>
          <a:xfrm>
            <a:off x="548640" y="4983480"/>
            <a:ext cx="11094415" cy="1005840"/>
          </a:xfrm>
          <a:prstGeom prst="roundRect">
            <a:avLst>
              <a:gd name="adj" fmla="val 12727"/>
            </a:avLst>
          </a:prstGeom>
          <a:solidFill>
            <a:srgbClr val="10243A"/>
          </a:solidFill>
          <a:ln w="12700">
            <a:solidFill>
              <a:srgbClr val="10243A"/>
            </a:solidFill>
            <a:prstDash val="solid"/>
          </a:ln>
        </p:spPr>
      </p:sp>
      <p:sp>
        <p:nvSpPr>
          <p:cNvPr id="45" name="Text 27"/>
          <p:cNvSpPr txBox="1"/>
          <p:nvPr/>
        </p:nvSpPr>
        <p:spPr>
          <a:xfrm>
            <a:off x="868680" y="5148072"/>
            <a:ext cx="2103120" cy="274320"/>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GUEST DATA COVERED</a:t>
            </a:r>
            <a:endParaRPr lang="en-US" sz="1050" dirty="0"/>
          </a:p>
        </p:txBody>
      </p:sp>
      <p:sp>
        <p:nvSpPr>
          <p:cNvPr id="46" name="Text 28"/>
          <p:cNvSpPr txBox="1"/>
          <p:nvPr/>
        </p:nvSpPr>
        <p:spPr>
          <a:xfrm>
            <a:off x="868680" y="5440680"/>
            <a:ext cx="3108960" cy="457200"/>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Audit-ready reporting and forensic data capture support PCI DSS reviews.</a:t>
            </a:r>
            <a:endParaRPr lang="en-US" sz="1100" dirty="0"/>
          </a:p>
        </p:txBody>
      </p:sp>
      <p:sp>
        <p:nvSpPr>
          <p:cNvPr id="47" name="Shape 29"/>
          <p:cNvSpPr/>
          <p:nvPr/>
        </p:nvSpPr>
        <p:spPr>
          <a:xfrm>
            <a:off x="4297680" y="5212080"/>
            <a:ext cx="548640" cy="548640"/>
          </a:xfrm>
          <a:prstGeom prst="ellipse">
            <a:avLst/>
          </a:prstGeom>
          <a:solidFill>
            <a:srgbClr val="0F8B99"/>
          </a:solidFill>
          <a:ln w="12700">
            <a:solidFill>
              <a:srgbClr val="0F8B99"/>
            </a:solidFill>
            <a:prstDash val="solid"/>
          </a:ln>
        </p:spPr>
      </p:sp>
      <p:pic>
        <p:nvPicPr>
          <p:cNvPr id="48" name="Image 16" descr="preencoded.png">    </p:cNvPr>
          <p:cNvPicPr>
            <a:picLocks noChangeAspect="1"/>
          </p:cNvPicPr>
          <p:nvPr/>
        </p:nvPicPr>
        <p:blipFill>
          <a:blip r:embed="rId17"/>
          <a:stretch>
            <a:fillRect/>
          </a:stretch>
        </p:blipFill>
        <p:spPr>
          <a:xfrm>
            <a:off x="4445813" y="5360213"/>
            <a:ext cx="252374" cy="252374"/>
          </a:xfrm>
          <a:prstGeom prst="rect">
            <a:avLst/>
          </a:prstGeom>
        </p:spPr>
      </p:pic>
      <p:sp>
        <p:nvSpPr>
          <p:cNvPr id="49" name="Text 30"/>
          <p:cNvSpPr txBox="1"/>
          <p:nvPr/>
        </p:nvSpPr>
        <p:spPr>
          <a:xfrm>
            <a:off x="4983480" y="5166360"/>
            <a:ext cx="1595018"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rest</a:t>
            </a:r>
            <a:endParaRPr lang="en-US" sz="1200" dirty="0"/>
          </a:p>
          <a:p>
            <a:pPr indent="0" marL="0">
              <a:buNone/>
            </a:pPr>
            <a:r>
              <a:rPr lang="en-US" sz="1050" dirty="0">
                <a:solidFill>
                  <a:srgbClr val="C8CCD2"/>
                </a:solidFill>
                <a:latin typeface="Calibri" pitchFamily="34" charset="0"/>
                <a:ea typeface="Calibri" pitchFamily="34" charset="-122"/>
                <a:cs typeface="Calibri" pitchFamily="34" charset="-120"/>
              </a:rPr>
              <a:t>Files on PCs and servers</a:t>
            </a:r>
            <a:endParaRPr lang="en-US" sz="1200" dirty="0"/>
          </a:p>
        </p:txBody>
      </p:sp>
      <p:sp>
        <p:nvSpPr>
          <p:cNvPr id="50" name="Shape 31"/>
          <p:cNvSpPr/>
          <p:nvPr/>
        </p:nvSpPr>
        <p:spPr>
          <a:xfrm>
            <a:off x="6807098" y="5212080"/>
            <a:ext cx="548640" cy="548640"/>
          </a:xfrm>
          <a:prstGeom prst="ellipse">
            <a:avLst/>
          </a:prstGeom>
          <a:solidFill>
            <a:srgbClr val="0F8B99"/>
          </a:solidFill>
          <a:ln w="12700">
            <a:solidFill>
              <a:srgbClr val="0F8B99"/>
            </a:solidFill>
            <a:prstDash val="solid"/>
          </a:ln>
        </p:spPr>
      </p:sp>
      <p:pic>
        <p:nvPicPr>
          <p:cNvPr id="51" name="Image 17" descr="preencoded.png">    </p:cNvPr>
          <p:cNvPicPr>
            <a:picLocks noChangeAspect="1"/>
          </p:cNvPicPr>
          <p:nvPr/>
        </p:nvPicPr>
        <p:blipFill>
          <a:blip r:embed="rId18"/>
          <a:stretch>
            <a:fillRect/>
          </a:stretch>
        </p:blipFill>
        <p:spPr>
          <a:xfrm>
            <a:off x="6955231" y="5360213"/>
            <a:ext cx="252374" cy="252374"/>
          </a:xfrm>
          <a:prstGeom prst="rect">
            <a:avLst/>
          </a:prstGeom>
        </p:spPr>
      </p:pic>
      <p:sp>
        <p:nvSpPr>
          <p:cNvPr id="52" name="Text 32"/>
          <p:cNvSpPr txBox="1"/>
          <p:nvPr/>
        </p:nvSpPr>
        <p:spPr>
          <a:xfrm>
            <a:off x="7492898" y="5166360"/>
            <a:ext cx="1595018"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 use</a:t>
            </a:r>
            <a:endParaRPr lang="en-US" sz="1200" dirty="0"/>
          </a:p>
          <a:p>
            <a:pPr indent="0" marL="0">
              <a:buNone/>
            </a:pPr>
            <a:r>
              <a:rPr lang="en-US" sz="1050" dirty="0">
                <a:solidFill>
                  <a:srgbClr val="C8CCD2"/>
                </a:solidFill>
                <a:latin typeface="Calibri" pitchFamily="34" charset="0"/>
                <a:ea typeface="Calibri" pitchFamily="34" charset="-122"/>
                <a:cs typeface="Calibri" pitchFamily="34" charset="-120"/>
              </a:rPr>
              <a:t>Copy, print, USB</a:t>
            </a:r>
            <a:endParaRPr lang="en-US" sz="1200" dirty="0"/>
          </a:p>
        </p:txBody>
      </p:sp>
      <p:sp>
        <p:nvSpPr>
          <p:cNvPr id="53" name="Shape 33"/>
          <p:cNvSpPr/>
          <p:nvPr/>
        </p:nvSpPr>
        <p:spPr>
          <a:xfrm>
            <a:off x="9316517" y="5212080"/>
            <a:ext cx="548640" cy="548640"/>
          </a:xfrm>
          <a:prstGeom prst="ellipse">
            <a:avLst/>
          </a:prstGeom>
          <a:solidFill>
            <a:srgbClr val="0F8B99"/>
          </a:solidFill>
          <a:ln w="12700">
            <a:solidFill>
              <a:srgbClr val="0F8B99"/>
            </a:solidFill>
            <a:prstDash val="solid"/>
          </a:ln>
        </p:spPr>
      </p:sp>
      <p:pic>
        <p:nvPicPr>
          <p:cNvPr id="54" name="Image 18" descr="preencoded.png">    </p:cNvPr>
          <p:cNvPicPr>
            <a:picLocks noChangeAspect="1"/>
          </p:cNvPicPr>
          <p:nvPr/>
        </p:nvPicPr>
        <p:blipFill>
          <a:blip r:embed="rId19"/>
          <a:stretch>
            <a:fillRect/>
          </a:stretch>
        </p:blipFill>
        <p:spPr>
          <a:xfrm>
            <a:off x="9464650" y="5360213"/>
            <a:ext cx="252374" cy="252374"/>
          </a:xfrm>
          <a:prstGeom prst="rect">
            <a:avLst/>
          </a:prstGeom>
        </p:spPr>
      </p:pic>
      <p:sp>
        <p:nvSpPr>
          <p:cNvPr id="55" name="Text 34"/>
          <p:cNvSpPr txBox="1"/>
          <p:nvPr/>
        </p:nvSpPr>
        <p:spPr>
          <a:xfrm>
            <a:off x="10002317" y="5166360"/>
            <a:ext cx="1595018"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 motion</a:t>
            </a:r>
            <a:endParaRPr lang="en-US" sz="1200" dirty="0"/>
          </a:p>
          <a:p>
            <a:pPr indent="0" marL="0">
              <a:buNone/>
            </a:pPr>
            <a:r>
              <a:rPr lang="en-US" sz="1050" dirty="0">
                <a:solidFill>
                  <a:srgbClr val="C8CCD2"/>
                </a:solidFill>
                <a:latin typeface="Calibri" pitchFamily="34" charset="0"/>
                <a:ea typeface="Calibri" pitchFamily="34" charset="-122"/>
                <a:cs typeface="Calibri" pitchFamily="34" charset="-120"/>
              </a:rPr>
              <a:t>Email, web, cloud, FTP</a:t>
            </a:r>
            <a:endParaRPr lang="en-US" sz="1200" dirty="0"/>
          </a:p>
        </p:txBody>
      </p:sp>
      <p:sp>
        <p:nvSpPr>
          <p:cNvPr id="56" name="Text 3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11   |   Nessus vs. Trend Micro Apex One™  ·  Proposal for The Westin Resort Guam</a:t>
            </a:r>
            <a:endParaRPr lang="en-US" sz="900" dirty="0"/>
          </a:p>
        </p:txBody>
      </p:sp>
      <p:pic>
        <p:nvPicPr>
          <p:cNvPr id="57" name="Image 19" descr="/private/tmp/claude-501/-Users-jihanvin-Desktop-NIVNAH-AI/16a96446-d9b3-40e2-af9e-a3011ae3db84/scratchpad/assets/secukorea_dark.png">    </p:cNvPr>
          <p:cNvPicPr>
            <a:picLocks noChangeAspect="1"/>
          </p:cNvPicPr>
          <p:nvPr/>
        </p:nvPicPr>
        <p:blipFill>
          <a:blip r:embed="rId20"/>
          <a:stretch>
            <a:fillRect/>
          </a:stretch>
        </p:blipFill>
        <p:spPr>
          <a:xfrm>
            <a:off x="10661904" y="6400800"/>
            <a:ext cx="978408" cy="2331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10   DETECTION &amp; RESPONSE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Detection and Response — With Expert Help</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2567864" cy="3520440"/>
          </a:xfrm>
          <a:prstGeom prst="roundRect">
            <a:avLst>
              <a:gd name="adj" fmla="val 4985"/>
            </a:avLst>
          </a:prstGeom>
          <a:solidFill>
            <a:srgbClr val="183247"/>
          </a:solidFill>
          <a:ln w="9525">
            <a:solidFill>
              <a:srgbClr val="284559"/>
            </a:solidFill>
            <a:prstDash val="solid"/>
          </a:ln>
        </p:spPr>
      </p:sp>
      <p:sp>
        <p:nvSpPr>
          <p:cNvPr id="6" name="Shape 3"/>
          <p:cNvSpPr/>
          <p:nvPr/>
        </p:nvSpPr>
        <p:spPr>
          <a:xfrm>
            <a:off x="822960" y="1874520"/>
            <a:ext cx="960120" cy="274320"/>
          </a:xfrm>
          <a:prstGeom prst="roundRect">
            <a:avLst>
              <a:gd name="adj" fmla="val 50000"/>
            </a:avLst>
          </a:prstGeom>
          <a:solidFill>
            <a:srgbClr val="284559"/>
          </a:solidFill>
          <a:ln w="12700">
            <a:solidFill>
              <a:srgbClr val="284559"/>
            </a:solidFill>
            <a:prstDash val="solid"/>
          </a:ln>
        </p:spPr>
      </p:sp>
      <p:sp>
        <p:nvSpPr>
          <p:cNvPr id="7" name="Text 4"/>
          <p:cNvSpPr txBox="1"/>
          <p:nvPr/>
        </p:nvSpPr>
        <p:spPr>
          <a:xfrm>
            <a:off x="822960" y="1874520"/>
            <a:ext cx="9601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INCLUDED</a:t>
            </a:r>
            <a:endParaRPr lang="en-US" sz="900" dirty="0"/>
          </a:p>
        </p:txBody>
      </p:sp>
      <p:sp>
        <p:nvSpPr>
          <p:cNvPr id="8" name="Shape 5"/>
          <p:cNvSpPr/>
          <p:nvPr/>
        </p:nvSpPr>
        <p:spPr>
          <a:xfrm>
            <a:off x="2293544" y="1801368"/>
            <a:ext cx="548640" cy="548640"/>
          </a:xfrm>
          <a:prstGeom prst="ellipse">
            <a:avLst/>
          </a:prstGeom>
          <a:solidFill>
            <a:srgbClr val="0F8B99"/>
          </a:solidFill>
          <a:ln w="12700">
            <a:solidFill>
              <a:srgbClr val="0F8B99"/>
            </a:solidFill>
            <a:prstDash val="solid"/>
          </a:ln>
        </p:spPr>
      </p:sp>
      <p:pic>
        <p:nvPicPr>
          <p:cNvPr id="9" name="Image 1" descr="preencoded.png">    </p:cNvPr>
          <p:cNvPicPr>
            <a:picLocks noChangeAspect="1"/>
          </p:cNvPicPr>
          <p:nvPr/>
        </p:nvPicPr>
        <p:blipFill>
          <a:blip r:embed="rId2"/>
          <a:stretch>
            <a:fillRect/>
          </a:stretch>
        </p:blipFill>
        <p:spPr>
          <a:xfrm>
            <a:off x="2441677" y="1949501"/>
            <a:ext cx="252374" cy="252374"/>
          </a:xfrm>
          <a:prstGeom prst="rect">
            <a:avLst/>
          </a:prstGeom>
        </p:spPr>
      </p:pic>
      <p:sp>
        <p:nvSpPr>
          <p:cNvPr id="10" name="Text 6"/>
          <p:cNvSpPr txBox="1"/>
          <p:nvPr/>
        </p:nvSpPr>
        <p:spPr>
          <a:xfrm>
            <a:off x="822960" y="2468880"/>
            <a:ext cx="2019224"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Behavior Monitoring</a:t>
            </a:r>
            <a:endParaRPr lang="en-US" sz="1500" dirty="0"/>
          </a:p>
        </p:txBody>
      </p:sp>
      <p:pic>
        <p:nvPicPr>
          <p:cNvPr id="11" name="Image 2" descr="preencoded.png">    </p:cNvPr>
          <p:cNvPicPr>
            <a:picLocks noChangeAspect="1"/>
          </p:cNvPicPr>
          <p:nvPr/>
        </p:nvPicPr>
        <p:blipFill>
          <a:blip r:embed="rId3"/>
          <a:stretch>
            <a:fillRect/>
          </a:stretch>
        </p:blipFill>
        <p:spPr>
          <a:xfrm>
            <a:off x="822960" y="3008376"/>
            <a:ext cx="182880" cy="182880"/>
          </a:xfrm>
          <a:prstGeom prst="rect">
            <a:avLst/>
          </a:prstGeom>
        </p:spPr>
      </p:pic>
      <p:sp>
        <p:nvSpPr>
          <p:cNvPr id="12" name="Text 7"/>
          <p:cNvSpPr txBox="1"/>
          <p:nvPr/>
        </p:nvSpPr>
        <p:spPr>
          <a:xfrm>
            <a:off x="1097280" y="2971800"/>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Detects fileless and unknown attacks by behavior</a:t>
            </a:r>
            <a:endParaRPr lang="en-US" sz="1150" dirty="0"/>
          </a:p>
        </p:txBody>
      </p:sp>
      <p:pic>
        <p:nvPicPr>
          <p:cNvPr id="13" name="Image 3" descr="preencoded.png">    </p:cNvPr>
          <p:cNvPicPr>
            <a:picLocks noChangeAspect="1"/>
          </p:cNvPicPr>
          <p:nvPr/>
        </p:nvPicPr>
        <p:blipFill>
          <a:blip r:embed="rId4"/>
          <a:stretch>
            <a:fillRect/>
          </a:stretch>
        </p:blipFill>
        <p:spPr>
          <a:xfrm>
            <a:off x="822960" y="3666744"/>
            <a:ext cx="182880" cy="182880"/>
          </a:xfrm>
          <a:prstGeom prst="rect">
            <a:avLst/>
          </a:prstGeom>
        </p:spPr>
      </p:pic>
      <p:sp>
        <p:nvSpPr>
          <p:cNvPr id="14" name="Text 8"/>
          <p:cNvSpPr txBox="1"/>
          <p:nvPr/>
        </p:nvSpPr>
        <p:spPr>
          <a:xfrm>
            <a:off x="1097280" y="3630168"/>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Indicators-of-attack (IOA) analysis</a:t>
            </a:r>
            <a:endParaRPr lang="en-US" sz="1150" dirty="0"/>
          </a:p>
        </p:txBody>
      </p:sp>
      <p:pic>
        <p:nvPicPr>
          <p:cNvPr id="15" name="Image 4" descr="preencoded.png">    </p:cNvPr>
          <p:cNvPicPr>
            <a:picLocks noChangeAspect="1"/>
          </p:cNvPicPr>
          <p:nvPr/>
        </p:nvPicPr>
        <p:blipFill>
          <a:blip r:embed="rId5"/>
          <a:stretch>
            <a:fillRect/>
          </a:stretch>
        </p:blipFill>
        <p:spPr>
          <a:xfrm>
            <a:off x="822960" y="4325112"/>
            <a:ext cx="182880" cy="182880"/>
          </a:xfrm>
          <a:prstGeom prst="rect">
            <a:avLst/>
          </a:prstGeom>
        </p:spPr>
      </p:pic>
      <p:sp>
        <p:nvSpPr>
          <p:cNvPr id="16" name="Text 9"/>
          <p:cNvSpPr txBox="1"/>
          <p:nvPr/>
        </p:nvSpPr>
        <p:spPr>
          <a:xfrm>
            <a:off x="1097280" y="4288536"/>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Suspicious processes stopped automatically</a:t>
            </a:r>
            <a:endParaRPr lang="en-US" sz="1150" dirty="0"/>
          </a:p>
        </p:txBody>
      </p:sp>
      <p:sp>
        <p:nvSpPr>
          <p:cNvPr id="17" name="Shape 10"/>
          <p:cNvSpPr/>
          <p:nvPr/>
        </p:nvSpPr>
        <p:spPr>
          <a:xfrm>
            <a:off x="3390824" y="1600200"/>
            <a:ext cx="2567864" cy="3520440"/>
          </a:xfrm>
          <a:prstGeom prst="roundRect">
            <a:avLst>
              <a:gd name="adj" fmla="val 4985"/>
            </a:avLst>
          </a:prstGeom>
          <a:solidFill>
            <a:srgbClr val="183247"/>
          </a:solidFill>
          <a:ln w="9525">
            <a:solidFill>
              <a:srgbClr val="284559"/>
            </a:solidFill>
            <a:prstDash val="solid"/>
          </a:ln>
        </p:spPr>
      </p:sp>
      <p:sp>
        <p:nvSpPr>
          <p:cNvPr id="18" name="Shape 11"/>
          <p:cNvSpPr/>
          <p:nvPr/>
        </p:nvSpPr>
        <p:spPr>
          <a:xfrm>
            <a:off x="3665144" y="1874520"/>
            <a:ext cx="960120" cy="274320"/>
          </a:xfrm>
          <a:prstGeom prst="roundRect">
            <a:avLst>
              <a:gd name="adj" fmla="val 50000"/>
            </a:avLst>
          </a:prstGeom>
          <a:solidFill>
            <a:srgbClr val="284559"/>
          </a:solidFill>
          <a:ln w="12700">
            <a:solidFill>
              <a:srgbClr val="284559"/>
            </a:solidFill>
            <a:prstDash val="solid"/>
          </a:ln>
        </p:spPr>
      </p:sp>
      <p:sp>
        <p:nvSpPr>
          <p:cNvPr id="19" name="Text 12"/>
          <p:cNvSpPr txBox="1"/>
          <p:nvPr/>
        </p:nvSpPr>
        <p:spPr>
          <a:xfrm>
            <a:off x="3665144" y="1874520"/>
            <a:ext cx="9601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INCLUDED</a:t>
            </a:r>
            <a:endParaRPr lang="en-US" sz="900" dirty="0"/>
          </a:p>
        </p:txBody>
      </p:sp>
      <p:sp>
        <p:nvSpPr>
          <p:cNvPr id="20" name="Shape 13"/>
          <p:cNvSpPr/>
          <p:nvPr/>
        </p:nvSpPr>
        <p:spPr>
          <a:xfrm>
            <a:off x="5135728" y="1801368"/>
            <a:ext cx="548640" cy="548640"/>
          </a:xfrm>
          <a:prstGeom prst="ellipse">
            <a:avLst/>
          </a:prstGeom>
          <a:solidFill>
            <a:srgbClr val="0F8B99"/>
          </a:solidFill>
          <a:ln w="12700">
            <a:solidFill>
              <a:srgbClr val="0F8B99"/>
            </a:solidFill>
            <a:prstDash val="solid"/>
          </a:ln>
        </p:spPr>
      </p:sp>
      <p:pic>
        <p:nvPicPr>
          <p:cNvPr id="21" name="Image 5" descr="preencoded.png">    </p:cNvPr>
          <p:cNvPicPr>
            <a:picLocks noChangeAspect="1"/>
          </p:cNvPicPr>
          <p:nvPr/>
        </p:nvPicPr>
        <p:blipFill>
          <a:blip r:embed="rId6"/>
          <a:stretch>
            <a:fillRect/>
          </a:stretch>
        </p:blipFill>
        <p:spPr>
          <a:xfrm>
            <a:off x="5283860" y="1949501"/>
            <a:ext cx="252374" cy="252374"/>
          </a:xfrm>
          <a:prstGeom prst="rect">
            <a:avLst/>
          </a:prstGeom>
        </p:spPr>
      </p:pic>
      <p:sp>
        <p:nvSpPr>
          <p:cNvPr id="22" name="Text 14"/>
          <p:cNvSpPr txBox="1"/>
          <p:nvPr/>
        </p:nvSpPr>
        <p:spPr>
          <a:xfrm>
            <a:off x="3665144" y="2468880"/>
            <a:ext cx="2019224"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Containment</a:t>
            </a:r>
            <a:endParaRPr lang="en-US" sz="1500" dirty="0"/>
          </a:p>
        </p:txBody>
      </p:sp>
      <p:pic>
        <p:nvPicPr>
          <p:cNvPr id="23" name="Image 6" descr="preencoded.png">    </p:cNvPr>
          <p:cNvPicPr>
            <a:picLocks noChangeAspect="1"/>
          </p:cNvPicPr>
          <p:nvPr/>
        </p:nvPicPr>
        <p:blipFill>
          <a:blip r:embed="rId7"/>
          <a:stretch>
            <a:fillRect/>
          </a:stretch>
        </p:blipFill>
        <p:spPr>
          <a:xfrm>
            <a:off x="3665144" y="3008376"/>
            <a:ext cx="182880" cy="182880"/>
          </a:xfrm>
          <a:prstGeom prst="rect">
            <a:avLst/>
          </a:prstGeom>
        </p:spPr>
      </p:pic>
      <p:sp>
        <p:nvSpPr>
          <p:cNvPr id="24" name="Text 15"/>
          <p:cNvSpPr txBox="1"/>
          <p:nvPr/>
        </p:nvSpPr>
        <p:spPr>
          <a:xfrm>
            <a:off x="3939464" y="2971800"/>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Isolate an infected endpoint from the network</a:t>
            </a:r>
            <a:endParaRPr lang="en-US" sz="1150" dirty="0"/>
          </a:p>
        </p:txBody>
      </p:sp>
      <p:pic>
        <p:nvPicPr>
          <p:cNvPr id="25" name="Image 7" descr="preencoded.png">    </p:cNvPr>
          <p:cNvPicPr>
            <a:picLocks noChangeAspect="1"/>
          </p:cNvPicPr>
          <p:nvPr/>
        </p:nvPicPr>
        <p:blipFill>
          <a:blip r:embed="rId8"/>
          <a:stretch>
            <a:fillRect/>
          </a:stretch>
        </p:blipFill>
        <p:spPr>
          <a:xfrm>
            <a:off x="3665144" y="3666744"/>
            <a:ext cx="182880" cy="182880"/>
          </a:xfrm>
          <a:prstGeom prst="rect">
            <a:avLst/>
          </a:prstGeom>
        </p:spPr>
      </p:pic>
      <p:sp>
        <p:nvSpPr>
          <p:cNvPr id="26" name="Text 16"/>
          <p:cNvSpPr txBox="1"/>
          <p:nvPr/>
        </p:nvSpPr>
        <p:spPr>
          <a:xfrm>
            <a:off x="3939464" y="3630168"/>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Quarantine malicious files</a:t>
            </a:r>
            <a:endParaRPr lang="en-US" sz="1150" dirty="0"/>
          </a:p>
        </p:txBody>
      </p:sp>
      <p:pic>
        <p:nvPicPr>
          <p:cNvPr id="27" name="Image 8" descr="preencoded.png">    </p:cNvPr>
          <p:cNvPicPr>
            <a:picLocks noChangeAspect="1"/>
          </p:cNvPicPr>
          <p:nvPr/>
        </p:nvPicPr>
        <p:blipFill>
          <a:blip r:embed="rId9"/>
          <a:stretch>
            <a:fillRect/>
          </a:stretch>
        </p:blipFill>
        <p:spPr>
          <a:xfrm>
            <a:off x="3665144" y="4325112"/>
            <a:ext cx="182880" cy="182880"/>
          </a:xfrm>
          <a:prstGeom prst="rect">
            <a:avLst/>
          </a:prstGeom>
        </p:spPr>
      </p:pic>
      <p:sp>
        <p:nvSpPr>
          <p:cNvPr id="28" name="Text 17"/>
          <p:cNvSpPr txBox="1"/>
          <p:nvPr/>
        </p:nvSpPr>
        <p:spPr>
          <a:xfrm>
            <a:off x="3939464" y="4288536"/>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Block C&amp;C communication</a:t>
            </a:r>
            <a:endParaRPr lang="en-US" sz="1150" dirty="0"/>
          </a:p>
        </p:txBody>
      </p:sp>
      <p:sp>
        <p:nvSpPr>
          <p:cNvPr id="29" name="Shape 18"/>
          <p:cNvSpPr/>
          <p:nvPr/>
        </p:nvSpPr>
        <p:spPr>
          <a:xfrm>
            <a:off x="6233008" y="1600200"/>
            <a:ext cx="2567864" cy="3520440"/>
          </a:xfrm>
          <a:prstGeom prst="roundRect">
            <a:avLst>
              <a:gd name="adj" fmla="val 4985"/>
            </a:avLst>
          </a:prstGeom>
          <a:solidFill>
            <a:srgbClr val="183247"/>
          </a:solidFill>
          <a:ln w="9525">
            <a:solidFill>
              <a:srgbClr val="284559"/>
            </a:solidFill>
            <a:prstDash val="solid"/>
          </a:ln>
        </p:spPr>
      </p:sp>
      <p:sp>
        <p:nvSpPr>
          <p:cNvPr id="30" name="Shape 19"/>
          <p:cNvSpPr/>
          <p:nvPr/>
        </p:nvSpPr>
        <p:spPr>
          <a:xfrm>
            <a:off x="6507328" y="1874520"/>
            <a:ext cx="960120" cy="274320"/>
          </a:xfrm>
          <a:prstGeom prst="roundRect">
            <a:avLst>
              <a:gd name="adj" fmla="val 50000"/>
            </a:avLst>
          </a:prstGeom>
          <a:solidFill>
            <a:srgbClr val="284559"/>
          </a:solidFill>
          <a:ln w="12700">
            <a:solidFill>
              <a:srgbClr val="284559"/>
            </a:solidFill>
            <a:prstDash val="solid"/>
          </a:ln>
        </p:spPr>
      </p:sp>
      <p:sp>
        <p:nvSpPr>
          <p:cNvPr id="31" name="Text 20"/>
          <p:cNvSpPr txBox="1"/>
          <p:nvPr/>
        </p:nvSpPr>
        <p:spPr>
          <a:xfrm>
            <a:off x="6507328" y="1874520"/>
            <a:ext cx="9601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INCLUDED</a:t>
            </a:r>
            <a:endParaRPr lang="en-US" sz="900" dirty="0"/>
          </a:p>
        </p:txBody>
      </p:sp>
      <p:sp>
        <p:nvSpPr>
          <p:cNvPr id="32" name="Shape 21"/>
          <p:cNvSpPr/>
          <p:nvPr/>
        </p:nvSpPr>
        <p:spPr>
          <a:xfrm>
            <a:off x="7977911" y="1801368"/>
            <a:ext cx="548640" cy="548640"/>
          </a:xfrm>
          <a:prstGeom prst="ellipse">
            <a:avLst/>
          </a:prstGeom>
          <a:solidFill>
            <a:srgbClr val="0F8B99"/>
          </a:solidFill>
          <a:ln w="12700">
            <a:solidFill>
              <a:srgbClr val="0F8B99"/>
            </a:solidFill>
            <a:prstDash val="solid"/>
          </a:ln>
        </p:spPr>
      </p:sp>
      <p:pic>
        <p:nvPicPr>
          <p:cNvPr id="33" name="Image 9" descr="preencoded.png">    </p:cNvPr>
          <p:cNvPicPr>
            <a:picLocks noChangeAspect="1"/>
          </p:cNvPicPr>
          <p:nvPr/>
        </p:nvPicPr>
        <p:blipFill>
          <a:blip r:embed="rId10"/>
          <a:stretch>
            <a:fillRect/>
          </a:stretch>
        </p:blipFill>
        <p:spPr>
          <a:xfrm>
            <a:off x="8126044" y="1949501"/>
            <a:ext cx="252374" cy="252374"/>
          </a:xfrm>
          <a:prstGeom prst="rect">
            <a:avLst/>
          </a:prstGeom>
        </p:spPr>
      </p:pic>
      <p:sp>
        <p:nvSpPr>
          <p:cNvPr id="34" name="Text 22"/>
          <p:cNvSpPr txBox="1"/>
          <p:nvPr/>
        </p:nvSpPr>
        <p:spPr>
          <a:xfrm>
            <a:off x="6507328" y="2468880"/>
            <a:ext cx="2019224"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Apex Central Console</a:t>
            </a:r>
            <a:endParaRPr lang="en-US" sz="1500" dirty="0"/>
          </a:p>
        </p:txBody>
      </p:sp>
      <p:pic>
        <p:nvPicPr>
          <p:cNvPr id="35" name="Image 10" descr="preencoded.png">    </p:cNvPr>
          <p:cNvPicPr>
            <a:picLocks noChangeAspect="1"/>
          </p:cNvPicPr>
          <p:nvPr/>
        </p:nvPicPr>
        <p:blipFill>
          <a:blip r:embed="rId11"/>
          <a:stretch>
            <a:fillRect/>
          </a:stretch>
        </p:blipFill>
        <p:spPr>
          <a:xfrm>
            <a:off x="6507328" y="3008376"/>
            <a:ext cx="182880" cy="182880"/>
          </a:xfrm>
          <a:prstGeom prst="rect">
            <a:avLst/>
          </a:prstGeom>
        </p:spPr>
      </p:pic>
      <p:sp>
        <p:nvSpPr>
          <p:cNvPr id="36" name="Text 23"/>
          <p:cNvSpPr txBox="1"/>
          <p:nvPr/>
        </p:nvSpPr>
        <p:spPr>
          <a:xfrm>
            <a:off x="6781648" y="2971800"/>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Central visibility across all endpoints</a:t>
            </a:r>
            <a:endParaRPr lang="en-US" sz="1150" dirty="0"/>
          </a:p>
        </p:txBody>
      </p:sp>
      <p:pic>
        <p:nvPicPr>
          <p:cNvPr id="37" name="Image 11" descr="preencoded.png">    </p:cNvPr>
          <p:cNvPicPr>
            <a:picLocks noChangeAspect="1"/>
          </p:cNvPicPr>
          <p:nvPr/>
        </p:nvPicPr>
        <p:blipFill>
          <a:blip r:embed="rId12"/>
          <a:stretch>
            <a:fillRect/>
          </a:stretch>
        </p:blipFill>
        <p:spPr>
          <a:xfrm>
            <a:off x="6507328" y="3666744"/>
            <a:ext cx="182880" cy="182880"/>
          </a:xfrm>
          <a:prstGeom prst="rect">
            <a:avLst/>
          </a:prstGeom>
        </p:spPr>
      </p:pic>
      <p:sp>
        <p:nvSpPr>
          <p:cNvPr id="38" name="Text 24"/>
          <p:cNvSpPr txBox="1"/>
          <p:nvPr/>
        </p:nvSpPr>
        <p:spPr>
          <a:xfrm>
            <a:off x="6781648" y="3630168"/>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Customizable dashboards per role</a:t>
            </a:r>
            <a:endParaRPr lang="en-US" sz="1150" dirty="0"/>
          </a:p>
        </p:txBody>
      </p:sp>
      <p:pic>
        <p:nvPicPr>
          <p:cNvPr id="39" name="Image 12" descr="preencoded.png">    </p:cNvPr>
          <p:cNvPicPr>
            <a:picLocks noChangeAspect="1"/>
          </p:cNvPicPr>
          <p:nvPr/>
        </p:nvPicPr>
        <p:blipFill>
          <a:blip r:embed="rId13"/>
          <a:stretch>
            <a:fillRect/>
          </a:stretch>
        </p:blipFill>
        <p:spPr>
          <a:xfrm>
            <a:off x="6507328" y="4325112"/>
            <a:ext cx="182880" cy="182880"/>
          </a:xfrm>
          <a:prstGeom prst="rect">
            <a:avLst/>
          </a:prstGeom>
        </p:spPr>
      </p:pic>
      <p:sp>
        <p:nvSpPr>
          <p:cNvPr id="40" name="Text 25"/>
          <p:cNvSpPr txBox="1"/>
          <p:nvPr/>
        </p:nvSpPr>
        <p:spPr>
          <a:xfrm>
            <a:off x="6781648" y="4288536"/>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Logs and reports for audits</a:t>
            </a:r>
            <a:endParaRPr lang="en-US" sz="1150" dirty="0"/>
          </a:p>
        </p:txBody>
      </p:sp>
      <p:sp>
        <p:nvSpPr>
          <p:cNvPr id="41" name="Shape 26"/>
          <p:cNvSpPr/>
          <p:nvPr/>
        </p:nvSpPr>
        <p:spPr>
          <a:xfrm>
            <a:off x="9075191" y="1600200"/>
            <a:ext cx="2567864" cy="3520440"/>
          </a:xfrm>
          <a:prstGeom prst="roundRect">
            <a:avLst>
              <a:gd name="adj" fmla="val 4985"/>
            </a:avLst>
          </a:prstGeom>
          <a:solidFill>
            <a:srgbClr val="0F8B99"/>
          </a:solidFill>
          <a:ln w="9525">
            <a:solidFill>
              <a:srgbClr val="0F8B99"/>
            </a:solidFill>
            <a:prstDash val="solid"/>
          </a:ln>
        </p:spPr>
      </p:sp>
      <p:sp>
        <p:nvSpPr>
          <p:cNvPr id="42" name="Shape 27"/>
          <p:cNvSpPr/>
          <p:nvPr/>
        </p:nvSpPr>
        <p:spPr>
          <a:xfrm>
            <a:off x="9349511" y="1874520"/>
            <a:ext cx="960120" cy="274320"/>
          </a:xfrm>
          <a:prstGeom prst="roundRect">
            <a:avLst>
              <a:gd name="adj" fmla="val 50000"/>
            </a:avLst>
          </a:prstGeom>
          <a:solidFill>
            <a:srgbClr val="FFFFFF"/>
          </a:solidFill>
          <a:ln w="12700">
            <a:solidFill>
              <a:srgbClr val="FFFFFF"/>
            </a:solidFill>
            <a:prstDash val="solid"/>
          </a:ln>
        </p:spPr>
      </p:sp>
      <p:sp>
        <p:nvSpPr>
          <p:cNvPr id="43" name="Text 28"/>
          <p:cNvSpPr txBox="1"/>
          <p:nvPr/>
        </p:nvSpPr>
        <p:spPr>
          <a:xfrm>
            <a:off x="9349511" y="1874520"/>
            <a:ext cx="960120" cy="274320"/>
          </a:xfrm>
          <a:prstGeom prst="rect">
            <a:avLst/>
          </a:prstGeom>
          <a:noFill/>
          <a:ln/>
        </p:spPr>
        <p:txBody>
          <a:bodyPr wrap="square" lIns="0" tIns="0" rIns="0" bIns="0" rtlCol="0" anchor="ctr"/>
          <a:lstStyle/>
          <a:p>
            <a:pPr algn="ctr" indent="0" marL="0">
              <a:buNone/>
            </a:pPr>
            <a:r>
              <a:rPr lang="en-US" sz="900" b="1" spc="100" kern="0" dirty="0">
                <a:solidFill>
                  <a:srgbClr val="0F8B99"/>
                </a:solidFill>
                <a:latin typeface="Calibri" pitchFamily="34" charset="0"/>
                <a:ea typeface="Calibri" pitchFamily="34" charset="-122"/>
                <a:cs typeface="Calibri" pitchFamily="34" charset="-120"/>
              </a:rPr>
              <a:t>SECUKOREA</a:t>
            </a:r>
            <a:endParaRPr lang="en-US" sz="900" dirty="0"/>
          </a:p>
        </p:txBody>
      </p:sp>
      <p:sp>
        <p:nvSpPr>
          <p:cNvPr id="44" name="Shape 29"/>
          <p:cNvSpPr/>
          <p:nvPr/>
        </p:nvSpPr>
        <p:spPr>
          <a:xfrm>
            <a:off x="10820095" y="1801368"/>
            <a:ext cx="548640" cy="548640"/>
          </a:xfrm>
          <a:prstGeom prst="ellipse">
            <a:avLst/>
          </a:prstGeom>
          <a:solidFill>
            <a:srgbClr val="FFFFFF"/>
          </a:solidFill>
          <a:ln w="12700">
            <a:solidFill>
              <a:srgbClr val="FFFFFF"/>
            </a:solidFill>
            <a:prstDash val="solid"/>
          </a:ln>
        </p:spPr>
      </p:sp>
      <p:pic>
        <p:nvPicPr>
          <p:cNvPr id="45" name="Image 13" descr="preencoded.png">    </p:cNvPr>
          <p:cNvPicPr>
            <a:picLocks noChangeAspect="1"/>
          </p:cNvPicPr>
          <p:nvPr/>
        </p:nvPicPr>
        <p:blipFill>
          <a:blip r:embed="rId14"/>
          <a:stretch>
            <a:fillRect/>
          </a:stretch>
        </p:blipFill>
        <p:spPr>
          <a:xfrm>
            <a:off x="10968228" y="1949501"/>
            <a:ext cx="252374" cy="252374"/>
          </a:xfrm>
          <a:prstGeom prst="rect">
            <a:avLst/>
          </a:prstGeom>
        </p:spPr>
      </p:pic>
      <p:sp>
        <p:nvSpPr>
          <p:cNvPr id="46" name="Text 30"/>
          <p:cNvSpPr txBox="1"/>
          <p:nvPr/>
        </p:nvSpPr>
        <p:spPr>
          <a:xfrm>
            <a:off x="9349511" y="2468880"/>
            <a:ext cx="2019224"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Expert Support</a:t>
            </a:r>
            <a:endParaRPr lang="en-US" sz="1500" dirty="0"/>
          </a:p>
        </p:txBody>
      </p:sp>
      <p:pic>
        <p:nvPicPr>
          <p:cNvPr id="47" name="Image 14" descr="preencoded.png">    </p:cNvPr>
          <p:cNvPicPr>
            <a:picLocks noChangeAspect="1"/>
          </p:cNvPicPr>
          <p:nvPr/>
        </p:nvPicPr>
        <p:blipFill>
          <a:blip r:embed="rId15"/>
          <a:stretch>
            <a:fillRect/>
          </a:stretch>
        </p:blipFill>
        <p:spPr>
          <a:xfrm>
            <a:off x="9349511" y="3008376"/>
            <a:ext cx="182880" cy="182880"/>
          </a:xfrm>
          <a:prstGeom prst="rect">
            <a:avLst/>
          </a:prstGeom>
        </p:spPr>
      </p:pic>
      <p:sp>
        <p:nvSpPr>
          <p:cNvPr id="48" name="Text 31"/>
          <p:cNvSpPr txBox="1"/>
          <p:nvPr/>
        </p:nvSpPr>
        <p:spPr>
          <a:xfrm>
            <a:off x="9623831" y="2971800"/>
            <a:ext cx="1790624" cy="585216"/>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24/7 remote technical support</a:t>
            </a:r>
            <a:endParaRPr lang="en-US" sz="1150" dirty="0"/>
          </a:p>
        </p:txBody>
      </p:sp>
      <p:pic>
        <p:nvPicPr>
          <p:cNvPr id="49" name="Image 15" descr="preencoded.png">    </p:cNvPr>
          <p:cNvPicPr>
            <a:picLocks noChangeAspect="1"/>
          </p:cNvPicPr>
          <p:nvPr/>
        </p:nvPicPr>
        <p:blipFill>
          <a:blip r:embed="rId16"/>
          <a:stretch>
            <a:fillRect/>
          </a:stretch>
        </p:blipFill>
        <p:spPr>
          <a:xfrm>
            <a:off x="9349511" y="3666744"/>
            <a:ext cx="182880" cy="182880"/>
          </a:xfrm>
          <a:prstGeom prst="rect">
            <a:avLst/>
          </a:prstGeom>
        </p:spPr>
      </p:pic>
      <p:sp>
        <p:nvSpPr>
          <p:cNvPr id="50" name="Text 32"/>
          <p:cNvSpPr txBox="1"/>
          <p:nvPr/>
        </p:nvSpPr>
        <p:spPr>
          <a:xfrm>
            <a:off x="9623831" y="3630168"/>
            <a:ext cx="1790624" cy="585216"/>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Dedicated engineer for the resort</a:t>
            </a:r>
            <a:endParaRPr lang="en-US" sz="1150" dirty="0"/>
          </a:p>
        </p:txBody>
      </p:sp>
      <p:pic>
        <p:nvPicPr>
          <p:cNvPr id="51" name="Image 16" descr="preencoded.png">    </p:cNvPr>
          <p:cNvPicPr>
            <a:picLocks noChangeAspect="1"/>
          </p:cNvPicPr>
          <p:nvPr/>
        </p:nvPicPr>
        <p:blipFill>
          <a:blip r:embed="rId17"/>
          <a:stretch>
            <a:fillRect/>
          </a:stretch>
        </p:blipFill>
        <p:spPr>
          <a:xfrm>
            <a:off x="9349511" y="4325112"/>
            <a:ext cx="182880" cy="182880"/>
          </a:xfrm>
          <a:prstGeom prst="rect">
            <a:avLst/>
          </a:prstGeom>
        </p:spPr>
      </p:pic>
      <p:sp>
        <p:nvSpPr>
          <p:cNvPr id="52" name="Text 33"/>
          <p:cNvSpPr txBox="1"/>
          <p:nvPr/>
        </p:nvSpPr>
        <p:spPr>
          <a:xfrm>
            <a:off x="9623831" y="4288536"/>
            <a:ext cx="1790624" cy="585216"/>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Help reviewing and responding to alerts</a:t>
            </a:r>
            <a:endParaRPr lang="en-US" sz="1150" dirty="0"/>
          </a:p>
        </p:txBody>
      </p:sp>
      <p:sp>
        <p:nvSpPr>
          <p:cNvPr id="53" name="Shape 34"/>
          <p:cNvSpPr/>
          <p:nvPr/>
        </p:nvSpPr>
        <p:spPr>
          <a:xfrm>
            <a:off x="548640" y="5349240"/>
            <a:ext cx="11094415" cy="0"/>
          </a:xfrm>
          <a:prstGeom prst="line">
            <a:avLst/>
          </a:prstGeom>
          <a:noFill/>
          <a:ln w="12700">
            <a:solidFill>
              <a:srgbClr val="284559"/>
            </a:solidFill>
            <a:prstDash val="solid"/>
          </a:ln>
        </p:spPr>
      </p:sp>
      <p:sp>
        <p:nvSpPr>
          <p:cNvPr id="54" name="Text 35"/>
          <p:cNvSpPr txBox="1"/>
          <p:nvPr/>
        </p:nvSpPr>
        <p:spPr>
          <a:xfrm>
            <a:off x="548640" y="5468112"/>
            <a:ext cx="11094415"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For a small IT team: </a:t>
            </a:r>
            <a:pPr indent="0" marL="0">
              <a:buNone/>
            </a:pPr>
            <a:r>
              <a:rPr lang="en-US" sz="1300" dirty="0">
                <a:solidFill>
                  <a:srgbClr val="C8CCD2"/>
                </a:solidFill>
                <a:latin typeface="Calibri" pitchFamily="34" charset="0"/>
                <a:ea typeface="Calibri" pitchFamily="34" charset="-122"/>
                <a:cs typeface="Calibri" pitchFamily="34" charset="-120"/>
              </a:rPr>
              <a:t>automatic response on every endpoint, one console for visibility, and SECUKOREA engineers on call 24/7.</a:t>
            </a:r>
            <a:endParaRPr lang="en-US" sz="1300" dirty="0"/>
          </a:p>
        </p:txBody>
      </p:sp>
      <p:sp>
        <p:nvSpPr>
          <p:cNvPr id="55" name="Text 36"/>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12   |   Nessus vs. Trend Micro Apex One™  ·  Proposal for The Westin Resort Guam</a:t>
            </a:r>
            <a:endParaRPr lang="en-US" sz="900" dirty="0"/>
          </a:p>
        </p:txBody>
      </p:sp>
      <p:pic>
        <p:nvPicPr>
          <p:cNvPr id="56" name="Image 17" descr="/private/tmp/claude-501/-Users-jihanvin-Desktop-NIVNAH-AI/16a96446-d9b3-40e2-af9e-a3011ae3db84/scratchpad/assets/secukorea_light.png">    </p:cNvPr>
          <p:cNvPicPr>
            <a:picLocks noChangeAspect="1"/>
          </p:cNvPicPr>
          <p:nvPr/>
        </p:nvPicPr>
        <p:blipFill>
          <a:blip r:embed="rId18"/>
          <a:stretch>
            <a:fillRect/>
          </a:stretch>
        </p:blipFill>
        <p:spPr>
          <a:xfrm>
            <a:off x="10661904" y="6400800"/>
            <a:ext cx="978408" cy="23317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11   PROPOSED SCOPE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Proposed Scope for The Westin Resort Guam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81328"/>
            <a:ext cx="11094415"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Calibri" pitchFamily="34" charset="0"/>
                <a:ea typeface="Calibri" pitchFamily="34" charset="-122"/>
                <a:cs typeface="Calibri" pitchFamily="34" charset="-120"/>
              </a:rPr>
              <a:t>APEX ONE ON-PREMISES — CAPABILITIES IN ONE AGENT</a:t>
            </a:r>
            <a:endParaRPr lang="en-US" sz="1100" dirty="0"/>
          </a:p>
        </p:txBody>
      </p:sp>
      <p:sp>
        <p:nvSpPr>
          <p:cNvPr id="6" name="Shape 3"/>
          <p:cNvSpPr/>
          <p:nvPr/>
        </p:nvSpPr>
        <p:spPr>
          <a:xfrm>
            <a:off x="548640" y="1828800"/>
            <a:ext cx="2567864" cy="1993392"/>
          </a:xfrm>
          <a:prstGeom prst="roundRect">
            <a:avLst>
              <a:gd name="adj" fmla="val 6422"/>
            </a:avLst>
          </a:prstGeom>
          <a:solidFill>
            <a:srgbClr val="FFFFFF"/>
          </a:solidFill>
          <a:ln w="12700">
            <a:solidFill>
              <a:srgbClr val="BFE4E8"/>
            </a:solidFill>
            <a:prstDash val="solid"/>
          </a:ln>
          <a:effectLst>
            <a:outerShdw sx="100000" sy="100000" kx="0" ky="0" algn="bl" rotWithShape="0" blurRad="101600" dist="25400" dir="5400000">
              <a:srgbClr val="000000">
                <a:alpha val="10000"/>
              </a:srgbClr>
            </a:outerShdw>
          </a:effectLst>
        </p:spPr>
      </p:sp>
      <p:sp>
        <p:nvSpPr>
          <p:cNvPr id="7" name="Shape 4"/>
          <p:cNvSpPr/>
          <p:nvPr/>
        </p:nvSpPr>
        <p:spPr>
          <a:xfrm>
            <a:off x="777240" y="2057400"/>
            <a:ext cx="475488" cy="475488"/>
          </a:xfrm>
          <a:prstGeom prst="ellipse">
            <a:avLst/>
          </a:prstGeom>
          <a:solidFill>
            <a:srgbClr val="0F8B99"/>
          </a:solidFill>
          <a:ln w="12700">
            <a:solidFill>
              <a:srgbClr val="0F8B99"/>
            </a:solidFill>
            <a:prstDash val="solid"/>
          </a:ln>
        </p:spPr>
      </p:sp>
      <p:pic>
        <p:nvPicPr>
          <p:cNvPr id="8" name="Image 1" descr="preencoded.png">    </p:cNvPr>
          <p:cNvPicPr>
            <a:picLocks noChangeAspect="1"/>
          </p:cNvPicPr>
          <p:nvPr/>
        </p:nvPicPr>
        <p:blipFill>
          <a:blip r:embed="rId2"/>
          <a:stretch>
            <a:fillRect/>
          </a:stretch>
        </p:blipFill>
        <p:spPr>
          <a:xfrm>
            <a:off x="905622" y="2185782"/>
            <a:ext cx="218724" cy="218724"/>
          </a:xfrm>
          <a:prstGeom prst="rect">
            <a:avLst/>
          </a:prstGeom>
        </p:spPr>
      </p:pic>
      <p:sp>
        <p:nvSpPr>
          <p:cNvPr id="9" name="Text 5"/>
          <p:cNvSpPr txBox="1"/>
          <p:nvPr/>
        </p:nvSpPr>
        <p:spPr>
          <a:xfrm>
            <a:off x="1371600" y="2011680"/>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Anti-Malware</a:t>
            </a:r>
            <a:endParaRPr lang="en-US" sz="1300" dirty="0"/>
          </a:p>
        </p:txBody>
      </p:sp>
      <p:sp>
        <p:nvSpPr>
          <p:cNvPr id="10" name="Text 6"/>
          <p:cNvSpPr txBox="1"/>
          <p:nvPr/>
        </p:nvSpPr>
        <p:spPr>
          <a:xfrm>
            <a:off x="777240" y="2670048"/>
            <a:ext cx="2110664" cy="219456"/>
          </a:xfrm>
          <a:prstGeom prst="rect">
            <a:avLst/>
          </a:prstGeom>
          <a:noFill/>
          <a:ln/>
        </p:spPr>
        <p:txBody>
          <a:bodyPr wrap="square" lIns="0" tIns="0" rIns="0" bIns="0" rtlCol="0" anchor="t"/>
          <a:lstStyle/>
          <a:p>
            <a:pPr indent="0" marL="0">
              <a:buNone/>
            </a:pPr>
            <a:r>
              <a:rPr lang="en-US" sz="950" b="1" spc="100" kern="0" dirty="0">
                <a:solidFill>
                  <a:srgbClr val="0F8B99"/>
                </a:solidFill>
                <a:latin typeface="Calibri" pitchFamily="34" charset="0"/>
                <a:ea typeface="Calibri" pitchFamily="34" charset="-122"/>
                <a:cs typeface="Calibri" pitchFamily="34" charset="-120"/>
              </a:rPr>
              <a:t>EPP · RANSOMWARE</a:t>
            </a:r>
            <a:endParaRPr lang="en-US" sz="950" dirty="0"/>
          </a:p>
        </p:txBody>
      </p:sp>
      <p:sp>
        <p:nvSpPr>
          <p:cNvPr id="11" name="Text 7"/>
          <p:cNvSpPr txBox="1"/>
          <p:nvPr/>
        </p:nvSpPr>
        <p:spPr>
          <a:xfrm>
            <a:off x="777240" y="2916936"/>
            <a:ext cx="2110664" cy="83210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XGen blend of machine learning, behavioral analysis and web reputation, with ransomware rollback.</a:t>
            </a:r>
            <a:endParaRPr lang="en-US" sz="1100" dirty="0"/>
          </a:p>
        </p:txBody>
      </p:sp>
      <p:sp>
        <p:nvSpPr>
          <p:cNvPr id="12" name="Shape 8"/>
          <p:cNvSpPr/>
          <p:nvPr/>
        </p:nvSpPr>
        <p:spPr>
          <a:xfrm>
            <a:off x="3390824" y="1828800"/>
            <a:ext cx="2567864" cy="1993392"/>
          </a:xfrm>
          <a:prstGeom prst="roundRect">
            <a:avLst>
              <a:gd name="adj" fmla="val 6422"/>
            </a:avLst>
          </a:prstGeom>
          <a:solidFill>
            <a:srgbClr val="FFFFFF"/>
          </a:solidFill>
          <a:ln w="12700">
            <a:solidFill>
              <a:srgbClr val="BFE4E8"/>
            </a:solidFill>
            <a:prstDash val="solid"/>
          </a:ln>
          <a:effectLst>
            <a:outerShdw sx="100000" sy="100000" kx="0" ky="0" algn="bl" rotWithShape="0" blurRad="101600" dist="25400" dir="5400000">
              <a:srgbClr val="000000">
                <a:alpha val="10000"/>
              </a:srgbClr>
            </a:outerShdw>
          </a:effectLst>
        </p:spPr>
      </p:sp>
      <p:sp>
        <p:nvSpPr>
          <p:cNvPr id="13" name="Shape 9"/>
          <p:cNvSpPr/>
          <p:nvPr/>
        </p:nvSpPr>
        <p:spPr>
          <a:xfrm>
            <a:off x="3619424" y="2057400"/>
            <a:ext cx="475488" cy="475488"/>
          </a:xfrm>
          <a:prstGeom prst="ellipse">
            <a:avLst/>
          </a:prstGeom>
          <a:solidFill>
            <a:srgbClr val="0F8B99"/>
          </a:solidFill>
          <a:ln w="12700">
            <a:solidFill>
              <a:srgbClr val="0F8B99"/>
            </a:solidFill>
            <a:prstDash val="solid"/>
          </a:ln>
        </p:spPr>
      </p:sp>
      <p:pic>
        <p:nvPicPr>
          <p:cNvPr id="14" name="Image 2" descr="preencoded.png">    </p:cNvPr>
          <p:cNvPicPr>
            <a:picLocks noChangeAspect="1"/>
          </p:cNvPicPr>
          <p:nvPr/>
        </p:nvPicPr>
        <p:blipFill>
          <a:blip r:embed="rId3"/>
          <a:stretch>
            <a:fillRect/>
          </a:stretch>
        </p:blipFill>
        <p:spPr>
          <a:xfrm>
            <a:off x="3747806" y="2185782"/>
            <a:ext cx="218724" cy="218724"/>
          </a:xfrm>
          <a:prstGeom prst="rect">
            <a:avLst/>
          </a:prstGeom>
        </p:spPr>
      </p:pic>
      <p:sp>
        <p:nvSpPr>
          <p:cNvPr id="15" name="Text 10"/>
          <p:cNvSpPr txBox="1"/>
          <p:nvPr/>
        </p:nvSpPr>
        <p:spPr>
          <a:xfrm>
            <a:off x="4213784" y="2011680"/>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Vulnerability Protection</a:t>
            </a:r>
            <a:endParaRPr lang="en-US" sz="1300" dirty="0"/>
          </a:p>
        </p:txBody>
      </p:sp>
      <p:sp>
        <p:nvSpPr>
          <p:cNvPr id="16" name="Text 11"/>
          <p:cNvSpPr txBox="1"/>
          <p:nvPr/>
        </p:nvSpPr>
        <p:spPr>
          <a:xfrm>
            <a:off x="3619424" y="2670048"/>
            <a:ext cx="2110664" cy="219456"/>
          </a:xfrm>
          <a:prstGeom prst="rect">
            <a:avLst/>
          </a:prstGeom>
          <a:noFill/>
          <a:ln/>
        </p:spPr>
        <p:txBody>
          <a:bodyPr wrap="square" lIns="0" tIns="0" rIns="0" bIns="0" rtlCol="0" anchor="t"/>
          <a:lstStyle/>
          <a:p>
            <a:pPr indent="0" marL="0">
              <a:buNone/>
            </a:pPr>
            <a:r>
              <a:rPr lang="en-US" sz="950" b="1" spc="100" kern="0" dirty="0">
                <a:solidFill>
                  <a:srgbClr val="0F8B99"/>
                </a:solidFill>
                <a:latin typeface="Calibri" pitchFamily="34" charset="0"/>
                <a:ea typeface="Calibri" pitchFamily="34" charset="-122"/>
                <a:cs typeface="Calibri" pitchFamily="34" charset="-120"/>
              </a:rPr>
              <a:t>VIRTUAL PATCHING</a:t>
            </a:r>
            <a:endParaRPr lang="en-US" sz="950" dirty="0"/>
          </a:p>
        </p:txBody>
      </p:sp>
      <p:sp>
        <p:nvSpPr>
          <p:cNvPr id="17" name="Text 12"/>
          <p:cNvSpPr txBox="1"/>
          <p:nvPr/>
        </p:nvSpPr>
        <p:spPr>
          <a:xfrm>
            <a:off x="3619424" y="2916936"/>
            <a:ext cx="2110664" cy="83210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Shields known and unknown vulnerabilities — including on legacy systems — before patches are deployed.</a:t>
            </a:r>
            <a:endParaRPr lang="en-US" sz="1100" dirty="0"/>
          </a:p>
        </p:txBody>
      </p:sp>
      <p:sp>
        <p:nvSpPr>
          <p:cNvPr id="18" name="Shape 13"/>
          <p:cNvSpPr/>
          <p:nvPr/>
        </p:nvSpPr>
        <p:spPr>
          <a:xfrm>
            <a:off x="6233008" y="1828800"/>
            <a:ext cx="2567864" cy="1993392"/>
          </a:xfrm>
          <a:prstGeom prst="roundRect">
            <a:avLst>
              <a:gd name="adj" fmla="val 6422"/>
            </a:avLst>
          </a:prstGeom>
          <a:solidFill>
            <a:srgbClr val="FFFFFF"/>
          </a:solidFill>
          <a:ln w="12700">
            <a:solidFill>
              <a:srgbClr val="BFE4E8"/>
            </a:solidFill>
            <a:prstDash val="solid"/>
          </a:ln>
          <a:effectLst>
            <a:outerShdw sx="100000" sy="100000" kx="0" ky="0" algn="bl" rotWithShape="0" blurRad="101600" dist="25400" dir="5400000">
              <a:srgbClr val="000000">
                <a:alpha val="10000"/>
              </a:srgbClr>
            </a:outerShdw>
          </a:effectLst>
        </p:spPr>
      </p:sp>
      <p:sp>
        <p:nvSpPr>
          <p:cNvPr id="19" name="Shape 14"/>
          <p:cNvSpPr/>
          <p:nvPr/>
        </p:nvSpPr>
        <p:spPr>
          <a:xfrm>
            <a:off x="6461608" y="2057400"/>
            <a:ext cx="475488" cy="475488"/>
          </a:xfrm>
          <a:prstGeom prst="ellipse">
            <a:avLst/>
          </a:prstGeom>
          <a:solidFill>
            <a:srgbClr val="0F8B99"/>
          </a:solidFill>
          <a:ln w="12700">
            <a:solidFill>
              <a:srgbClr val="0F8B99"/>
            </a:solidFill>
            <a:prstDash val="solid"/>
          </a:ln>
        </p:spPr>
      </p:sp>
      <p:pic>
        <p:nvPicPr>
          <p:cNvPr id="20" name="Image 3" descr="preencoded.png">    </p:cNvPr>
          <p:cNvPicPr>
            <a:picLocks noChangeAspect="1"/>
          </p:cNvPicPr>
          <p:nvPr/>
        </p:nvPicPr>
        <p:blipFill>
          <a:blip r:embed="rId4"/>
          <a:stretch>
            <a:fillRect/>
          </a:stretch>
        </p:blipFill>
        <p:spPr>
          <a:xfrm>
            <a:off x="6589989" y="2185782"/>
            <a:ext cx="218724" cy="218724"/>
          </a:xfrm>
          <a:prstGeom prst="rect">
            <a:avLst/>
          </a:prstGeom>
        </p:spPr>
      </p:pic>
      <p:sp>
        <p:nvSpPr>
          <p:cNvPr id="21" name="Text 15"/>
          <p:cNvSpPr txBox="1"/>
          <p:nvPr/>
        </p:nvSpPr>
        <p:spPr>
          <a:xfrm>
            <a:off x="7055968" y="2011680"/>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Application Control</a:t>
            </a:r>
            <a:endParaRPr lang="en-US" sz="1300" dirty="0"/>
          </a:p>
        </p:txBody>
      </p:sp>
      <p:sp>
        <p:nvSpPr>
          <p:cNvPr id="22" name="Text 16"/>
          <p:cNvSpPr txBox="1"/>
          <p:nvPr/>
        </p:nvSpPr>
        <p:spPr>
          <a:xfrm>
            <a:off x="6461608" y="2670048"/>
            <a:ext cx="2110664" cy="219456"/>
          </a:xfrm>
          <a:prstGeom prst="rect">
            <a:avLst/>
          </a:prstGeom>
          <a:noFill/>
          <a:ln/>
        </p:spPr>
        <p:txBody>
          <a:bodyPr wrap="square" lIns="0" tIns="0" rIns="0" bIns="0" rtlCol="0" anchor="t"/>
          <a:lstStyle/>
          <a:p>
            <a:pPr indent="0" marL="0">
              <a:buNone/>
            </a:pPr>
            <a:r>
              <a:rPr lang="en-US" sz="950" b="1" spc="100" kern="0" dirty="0">
                <a:solidFill>
                  <a:srgbClr val="0F8B99"/>
                </a:solidFill>
                <a:latin typeface="Calibri" pitchFamily="34" charset="0"/>
                <a:ea typeface="Calibri" pitchFamily="34" charset="-122"/>
                <a:cs typeface="Calibri" pitchFamily="34" charset="-120"/>
              </a:rPr>
              <a:t>POS &amp; SYSTEM LOCKDOWN</a:t>
            </a:r>
            <a:endParaRPr lang="en-US" sz="950" dirty="0"/>
          </a:p>
        </p:txBody>
      </p:sp>
      <p:sp>
        <p:nvSpPr>
          <p:cNvPr id="23" name="Text 17"/>
          <p:cNvSpPr txBox="1"/>
          <p:nvPr/>
        </p:nvSpPr>
        <p:spPr>
          <a:xfrm>
            <a:off x="6461608" y="2916936"/>
            <a:ext cx="2110664" cy="83210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Allows only approved applications on POS terminals and front-desk systems.</a:t>
            </a:r>
            <a:endParaRPr lang="en-US" sz="1100" dirty="0"/>
          </a:p>
        </p:txBody>
      </p:sp>
      <p:sp>
        <p:nvSpPr>
          <p:cNvPr id="24" name="Shape 18"/>
          <p:cNvSpPr/>
          <p:nvPr/>
        </p:nvSpPr>
        <p:spPr>
          <a:xfrm>
            <a:off x="9075191" y="1828800"/>
            <a:ext cx="2567864" cy="1993392"/>
          </a:xfrm>
          <a:prstGeom prst="roundRect">
            <a:avLst>
              <a:gd name="adj" fmla="val 6422"/>
            </a:avLst>
          </a:prstGeom>
          <a:solidFill>
            <a:srgbClr val="FFFFFF"/>
          </a:solidFill>
          <a:ln w="12700">
            <a:solidFill>
              <a:srgbClr val="BFE4E8"/>
            </a:solidFill>
            <a:prstDash val="solid"/>
          </a:ln>
          <a:effectLst>
            <a:outerShdw sx="100000" sy="100000" kx="0" ky="0" algn="bl" rotWithShape="0" blurRad="101600" dist="25400" dir="5400000">
              <a:srgbClr val="000000">
                <a:alpha val="10000"/>
              </a:srgbClr>
            </a:outerShdw>
          </a:effectLst>
        </p:spPr>
      </p:sp>
      <p:sp>
        <p:nvSpPr>
          <p:cNvPr id="25" name="Shape 19"/>
          <p:cNvSpPr/>
          <p:nvPr/>
        </p:nvSpPr>
        <p:spPr>
          <a:xfrm>
            <a:off x="9303791" y="2057400"/>
            <a:ext cx="475488" cy="475488"/>
          </a:xfrm>
          <a:prstGeom prst="ellipse">
            <a:avLst/>
          </a:prstGeom>
          <a:solidFill>
            <a:srgbClr val="0F8B99"/>
          </a:solidFill>
          <a:ln w="12700">
            <a:solidFill>
              <a:srgbClr val="0F8B99"/>
            </a:solidFill>
            <a:prstDash val="solid"/>
          </a:ln>
        </p:spPr>
      </p:sp>
      <p:pic>
        <p:nvPicPr>
          <p:cNvPr id="26" name="Image 4" descr="preencoded.png">    </p:cNvPr>
          <p:cNvPicPr>
            <a:picLocks noChangeAspect="1"/>
          </p:cNvPicPr>
          <p:nvPr/>
        </p:nvPicPr>
        <p:blipFill>
          <a:blip r:embed="rId5"/>
          <a:stretch>
            <a:fillRect/>
          </a:stretch>
        </p:blipFill>
        <p:spPr>
          <a:xfrm>
            <a:off x="9432173" y="2185782"/>
            <a:ext cx="218724" cy="218724"/>
          </a:xfrm>
          <a:prstGeom prst="rect">
            <a:avLst/>
          </a:prstGeom>
        </p:spPr>
      </p:pic>
      <p:sp>
        <p:nvSpPr>
          <p:cNvPr id="27" name="Text 20"/>
          <p:cNvSpPr txBox="1"/>
          <p:nvPr/>
        </p:nvSpPr>
        <p:spPr>
          <a:xfrm>
            <a:off x="9898151" y="2011680"/>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Device Control</a:t>
            </a:r>
            <a:endParaRPr lang="en-US" sz="1300" dirty="0"/>
          </a:p>
        </p:txBody>
      </p:sp>
      <p:sp>
        <p:nvSpPr>
          <p:cNvPr id="28" name="Text 21"/>
          <p:cNvSpPr txBox="1"/>
          <p:nvPr/>
        </p:nvSpPr>
        <p:spPr>
          <a:xfrm>
            <a:off x="9303791" y="2670048"/>
            <a:ext cx="2110664" cy="219456"/>
          </a:xfrm>
          <a:prstGeom prst="rect">
            <a:avLst/>
          </a:prstGeom>
          <a:noFill/>
          <a:ln/>
        </p:spPr>
        <p:txBody>
          <a:bodyPr wrap="square" lIns="0" tIns="0" rIns="0" bIns="0" rtlCol="0" anchor="t"/>
          <a:lstStyle/>
          <a:p>
            <a:pPr indent="0" marL="0">
              <a:buNone/>
            </a:pPr>
            <a:r>
              <a:rPr lang="en-US" sz="950" b="1" spc="100" kern="0" dirty="0">
                <a:solidFill>
                  <a:srgbClr val="0F8B99"/>
                </a:solidFill>
                <a:latin typeface="Calibri" pitchFamily="34" charset="0"/>
                <a:ea typeface="Calibri" pitchFamily="34" charset="-122"/>
                <a:cs typeface="Calibri" pitchFamily="34" charset="-120"/>
              </a:rPr>
              <a:t>USB &amp; REMOVABLE MEDIA</a:t>
            </a:r>
            <a:endParaRPr lang="en-US" sz="950" dirty="0"/>
          </a:p>
        </p:txBody>
      </p:sp>
      <p:sp>
        <p:nvSpPr>
          <p:cNvPr id="29" name="Text 22"/>
          <p:cNvSpPr txBox="1"/>
          <p:nvPr/>
        </p:nvSpPr>
        <p:spPr>
          <a:xfrm>
            <a:off x="9303791" y="2916936"/>
            <a:ext cx="2110664" cy="83210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Restricts USB drives, phones and other media by user or endpoint.</a:t>
            </a:r>
            <a:endParaRPr lang="en-US" sz="1100" dirty="0"/>
          </a:p>
        </p:txBody>
      </p:sp>
      <p:sp>
        <p:nvSpPr>
          <p:cNvPr id="30" name="Text 23"/>
          <p:cNvSpPr txBox="1"/>
          <p:nvPr/>
        </p:nvSpPr>
        <p:spPr>
          <a:xfrm>
            <a:off x="548640" y="3931920"/>
            <a:ext cx="11094415" cy="256032"/>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LICENSES &amp; SERVICES IN THIS PROPOSAL</a:t>
            </a:r>
            <a:endParaRPr lang="en-US" sz="1100" dirty="0"/>
          </a:p>
        </p:txBody>
      </p:sp>
      <p:sp>
        <p:nvSpPr>
          <p:cNvPr id="31" name="Shape 24"/>
          <p:cNvSpPr/>
          <p:nvPr/>
        </p:nvSpPr>
        <p:spPr>
          <a:xfrm>
            <a:off x="548640" y="4279392"/>
            <a:ext cx="2567864" cy="1719072"/>
          </a:xfrm>
          <a:prstGeom prst="roundRect">
            <a:avLst>
              <a:gd name="adj" fmla="val 7447"/>
            </a:avLst>
          </a:prstGeom>
          <a:solidFill>
            <a:srgbClr val="F4F5F7"/>
          </a:solidFill>
          <a:ln w="9525">
            <a:solidFill>
              <a:srgbClr val="DEE1E5"/>
            </a:solidFill>
            <a:prstDash val="solid"/>
          </a:ln>
        </p:spPr>
      </p:sp>
      <p:sp>
        <p:nvSpPr>
          <p:cNvPr id="32" name="Shape 25"/>
          <p:cNvSpPr/>
          <p:nvPr/>
        </p:nvSpPr>
        <p:spPr>
          <a:xfrm>
            <a:off x="777240" y="4507992"/>
            <a:ext cx="475488" cy="475488"/>
          </a:xfrm>
          <a:prstGeom prst="ellipse">
            <a:avLst/>
          </a:prstGeom>
          <a:solidFill>
            <a:srgbClr val="EAEEF3"/>
          </a:solidFill>
          <a:ln w="12700">
            <a:solidFill>
              <a:srgbClr val="EAEEF3"/>
            </a:solidFill>
            <a:prstDash val="solid"/>
          </a:ln>
        </p:spPr>
      </p:sp>
      <p:pic>
        <p:nvPicPr>
          <p:cNvPr id="33" name="Image 5" descr="preencoded.png">    </p:cNvPr>
          <p:cNvPicPr>
            <a:picLocks noChangeAspect="1"/>
          </p:cNvPicPr>
          <p:nvPr/>
        </p:nvPicPr>
        <p:blipFill>
          <a:blip r:embed="rId6"/>
          <a:stretch>
            <a:fillRect/>
          </a:stretch>
        </p:blipFill>
        <p:spPr>
          <a:xfrm>
            <a:off x="905622" y="4636374"/>
            <a:ext cx="218724" cy="218724"/>
          </a:xfrm>
          <a:prstGeom prst="rect">
            <a:avLst/>
          </a:prstGeom>
        </p:spPr>
      </p:pic>
      <p:sp>
        <p:nvSpPr>
          <p:cNvPr id="34" name="Text 26"/>
          <p:cNvSpPr txBox="1"/>
          <p:nvPr/>
        </p:nvSpPr>
        <p:spPr>
          <a:xfrm>
            <a:off x="1371600" y="4462272"/>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Standard Edition</a:t>
            </a:r>
            <a:endParaRPr lang="en-US" sz="1300" dirty="0"/>
          </a:p>
        </p:txBody>
      </p:sp>
      <p:sp>
        <p:nvSpPr>
          <p:cNvPr id="35" name="Text 27"/>
          <p:cNvSpPr txBox="1"/>
          <p:nvPr/>
        </p:nvSpPr>
        <p:spPr>
          <a:xfrm>
            <a:off x="777240" y="512064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115 ENDPOINTS</a:t>
            </a:r>
            <a:endParaRPr lang="en-US" sz="950" dirty="0"/>
          </a:p>
        </p:txBody>
      </p:sp>
      <p:sp>
        <p:nvSpPr>
          <p:cNvPr id="36" name="Text 28"/>
          <p:cNvSpPr txBox="1"/>
          <p:nvPr/>
        </p:nvSpPr>
        <p:spPr>
          <a:xfrm>
            <a:off x="777240" y="5367528"/>
            <a:ext cx="2110664" cy="55778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Apex One On-premises Standard, 1-year subscription.</a:t>
            </a:r>
            <a:endParaRPr lang="en-US" sz="1100" dirty="0"/>
          </a:p>
        </p:txBody>
      </p:sp>
      <p:sp>
        <p:nvSpPr>
          <p:cNvPr id="37" name="Shape 29"/>
          <p:cNvSpPr/>
          <p:nvPr/>
        </p:nvSpPr>
        <p:spPr>
          <a:xfrm>
            <a:off x="3390824" y="4279392"/>
            <a:ext cx="2567864" cy="1719072"/>
          </a:xfrm>
          <a:prstGeom prst="roundRect">
            <a:avLst>
              <a:gd name="adj" fmla="val 7447"/>
            </a:avLst>
          </a:prstGeom>
          <a:solidFill>
            <a:srgbClr val="F4F5F7"/>
          </a:solidFill>
          <a:ln w="9525">
            <a:solidFill>
              <a:srgbClr val="DEE1E5"/>
            </a:solidFill>
            <a:prstDash val="solid"/>
          </a:ln>
        </p:spPr>
      </p:sp>
      <p:sp>
        <p:nvSpPr>
          <p:cNvPr id="38" name="Shape 30"/>
          <p:cNvSpPr/>
          <p:nvPr/>
        </p:nvSpPr>
        <p:spPr>
          <a:xfrm>
            <a:off x="3619424" y="4507992"/>
            <a:ext cx="475488" cy="475488"/>
          </a:xfrm>
          <a:prstGeom prst="ellipse">
            <a:avLst/>
          </a:prstGeom>
          <a:solidFill>
            <a:srgbClr val="EAEEF3"/>
          </a:solidFill>
          <a:ln w="12700">
            <a:solidFill>
              <a:srgbClr val="EAEEF3"/>
            </a:solidFill>
            <a:prstDash val="solid"/>
          </a:ln>
        </p:spPr>
      </p:sp>
      <p:pic>
        <p:nvPicPr>
          <p:cNvPr id="39" name="Image 6" descr="preencoded.png">    </p:cNvPr>
          <p:cNvPicPr>
            <a:picLocks noChangeAspect="1"/>
          </p:cNvPicPr>
          <p:nvPr/>
        </p:nvPicPr>
        <p:blipFill>
          <a:blip r:embed="rId7"/>
          <a:stretch>
            <a:fillRect/>
          </a:stretch>
        </p:blipFill>
        <p:spPr>
          <a:xfrm>
            <a:off x="3747806" y="4636374"/>
            <a:ext cx="218724" cy="218724"/>
          </a:xfrm>
          <a:prstGeom prst="rect">
            <a:avLst/>
          </a:prstGeom>
        </p:spPr>
      </p:pic>
      <p:sp>
        <p:nvSpPr>
          <p:cNvPr id="40" name="Text 31"/>
          <p:cNvSpPr txBox="1"/>
          <p:nvPr/>
        </p:nvSpPr>
        <p:spPr>
          <a:xfrm>
            <a:off x="4213784" y="4462272"/>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Advanced Edition</a:t>
            </a:r>
            <a:endParaRPr lang="en-US" sz="1300" dirty="0"/>
          </a:p>
        </p:txBody>
      </p:sp>
      <p:sp>
        <p:nvSpPr>
          <p:cNvPr id="41" name="Text 32"/>
          <p:cNvSpPr txBox="1"/>
          <p:nvPr/>
        </p:nvSpPr>
        <p:spPr>
          <a:xfrm>
            <a:off x="3619424" y="512064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10 ENDPOINTS</a:t>
            </a:r>
            <a:endParaRPr lang="en-US" sz="950" dirty="0"/>
          </a:p>
        </p:txBody>
      </p:sp>
      <p:sp>
        <p:nvSpPr>
          <p:cNvPr id="42" name="Text 33"/>
          <p:cNvSpPr txBox="1"/>
          <p:nvPr/>
        </p:nvSpPr>
        <p:spPr>
          <a:xfrm>
            <a:off x="3619424" y="5367528"/>
            <a:ext cx="2110664" cy="55778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Apex One On-premises Advanced, 1-year subscription.</a:t>
            </a:r>
            <a:endParaRPr lang="en-US" sz="1100" dirty="0"/>
          </a:p>
        </p:txBody>
      </p:sp>
      <p:sp>
        <p:nvSpPr>
          <p:cNvPr id="43" name="Shape 34"/>
          <p:cNvSpPr/>
          <p:nvPr/>
        </p:nvSpPr>
        <p:spPr>
          <a:xfrm>
            <a:off x="6233008" y="4279392"/>
            <a:ext cx="2567864" cy="1719072"/>
          </a:xfrm>
          <a:prstGeom prst="roundRect">
            <a:avLst>
              <a:gd name="adj" fmla="val 7447"/>
            </a:avLst>
          </a:prstGeom>
          <a:solidFill>
            <a:srgbClr val="F4F5F7"/>
          </a:solidFill>
          <a:ln w="9525">
            <a:solidFill>
              <a:srgbClr val="DEE1E5"/>
            </a:solidFill>
            <a:prstDash val="solid"/>
          </a:ln>
        </p:spPr>
      </p:sp>
      <p:sp>
        <p:nvSpPr>
          <p:cNvPr id="44" name="Shape 35"/>
          <p:cNvSpPr/>
          <p:nvPr/>
        </p:nvSpPr>
        <p:spPr>
          <a:xfrm>
            <a:off x="6461608" y="4507992"/>
            <a:ext cx="475488" cy="475488"/>
          </a:xfrm>
          <a:prstGeom prst="ellipse">
            <a:avLst/>
          </a:prstGeom>
          <a:solidFill>
            <a:srgbClr val="EAEEF3"/>
          </a:solidFill>
          <a:ln w="12700">
            <a:solidFill>
              <a:srgbClr val="EAEEF3"/>
            </a:solidFill>
            <a:prstDash val="solid"/>
          </a:ln>
        </p:spPr>
      </p:sp>
      <p:pic>
        <p:nvPicPr>
          <p:cNvPr id="45" name="Image 7" descr="preencoded.png">    </p:cNvPr>
          <p:cNvPicPr>
            <a:picLocks noChangeAspect="1"/>
          </p:cNvPicPr>
          <p:nvPr/>
        </p:nvPicPr>
        <p:blipFill>
          <a:blip r:embed="rId8"/>
          <a:stretch>
            <a:fillRect/>
          </a:stretch>
        </p:blipFill>
        <p:spPr>
          <a:xfrm>
            <a:off x="6589989" y="4636374"/>
            <a:ext cx="218724" cy="218724"/>
          </a:xfrm>
          <a:prstGeom prst="rect">
            <a:avLst/>
          </a:prstGeom>
        </p:spPr>
      </p:pic>
      <p:sp>
        <p:nvSpPr>
          <p:cNvPr id="46" name="Text 36"/>
          <p:cNvSpPr txBox="1"/>
          <p:nvPr/>
        </p:nvSpPr>
        <p:spPr>
          <a:xfrm>
            <a:off x="7055968" y="4462272"/>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24/7 Tech Support</a:t>
            </a:r>
            <a:endParaRPr lang="en-US" sz="1300" dirty="0"/>
          </a:p>
        </p:txBody>
      </p:sp>
      <p:sp>
        <p:nvSpPr>
          <p:cNvPr id="47" name="Text 37"/>
          <p:cNvSpPr txBox="1"/>
          <p:nvPr/>
        </p:nvSpPr>
        <p:spPr>
          <a:xfrm>
            <a:off x="6461608" y="512064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SECUKOREA</a:t>
            </a:r>
            <a:endParaRPr lang="en-US" sz="950" dirty="0"/>
          </a:p>
        </p:txBody>
      </p:sp>
      <p:sp>
        <p:nvSpPr>
          <p:cNvPr id="48" name="Text 38"/>
          <p:cNvSpPr txBox="1"/>
          <p:nvPr/>
        </p:nvSpPr>
        <p:spPr>
          <a:xfrm>
            <a:off x="6461608" y="5367528"/>
            <a:ext cx="2110664" cy="55778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Round-the-clock remote support for the resort, regardless of time zone.</a:t>
            </a:r>
            <a:endParaRPr lang="en-US" sz="1100" dirty="0"/>
          </a:p>
        </p:txBody>
      </p:sp>
      <p:sp>
        <p:nvSpPr>
          <p:cNvPr id="49" name="Shape 39"/>
          <p:cNvSpPr/>
          <p:nvPr/>
        </p:nvSpPr>
        <p:spPr>
          <a:xfrm>
            <a:off x="9075191" y="4279392"/>
            <a:ext cx="2567864" cy="1719072"/>
          </a:xfrm>
          <a:prstGeom prst="roundRect">
            <a:avLst>
              <a:gd name="adj" fmla="val 7447"/>
            </a:avLst>
          </a:prstGeom>
          <a:solidFill>
            <a:srgbClr val="F4F5F7"/>
          </a:solidFill>
          <a:ln w="9525">
            <a:solidFill>
              <a:srgbClr val="DEE1E5"/>
            </a:solidFill>
            <a:prstDash val="solid"/>
          </a:ln>
        </p:spPr>
      </p:sp>
      <p:sp>
        <p:nvSpPr>
          <p:cNvPr id="50" name="Shape 40"/>
          <p:cNvSpPr/>
          <p:nvPr/>
        </p:nvSpPr>
        <p:spPr>
          <a:xfrm>
            <a:off x="9303791" y="4507992"/>
            <a:ext cx="475488" cy="475488"/>
          </a:xfrm>
          <a:prstGeom prst="ellipse">
            <a:avLst/>
          </a:prstGeom>
          <a:solidFill>
            <a:srgbClr val="EAEEF3"/>
          </a:solidFill>
          <a:ln w="12700">
            <a:solidFill>
              <a:srgbClr val="EAEEF3"/>
            </a:solidFill>
            <a:prstDash val="solid"/>
          </a:ln>
        </p:spPr>
      </p:sp>
      <p:pic>
        <p:nvPicPr>
          <p:cNvPr id="51" name="Image 8" descr="preencoded.png">    </p:cNvPr>
          <p:cNvPicPr>
            <a:picLocks noChangeAspect="1"/>
          </p:cNvPicPr>
          <p:nvPr/>
        </p:nvPicPr>
        <p:blipFill>
          <a:blip r:embed="rId9"/>
          <a:stretch>
            <a:fillRect/>
          </a:stretch>
        </p:blipFill>
        <p:spPr>
          <a:xfrm>
            <a:off x="9432173" y="4636374"/>
            <a:ext cx="218724" cy="218724"/>
          </a:xfrm>
          <a:prstGeom prst="rect">
            <a:avLst/>
          </a:prstGeom>
        </p:spPr>
      </p:pic>
      <p:sp>
        <p:nvSpPr>
          <p:cNvPr id="52" name="Text 41"/>
          <p:cNvSpPr txBox="1"/>
          <p:nvPr/>
        </p:nvSpPr>
        <p:spPr>
          <a:xfrm>
            <a:off x="9898151" y="4462272"/>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Dedicated Engineer</a:t>
            </a:r>
            <a:endParaRPr lang="en-US" sz="1300" dirty="0"/>
          </a:p>
        </p:txBody>
      </p:sp>
      <p:sp>
        <p:nvSpPr>
          <p:cNvPr id="53" name="Text 42"/>
          <p:cNvSpPr txBox="1"/>
          <p:nvPr/>
        </p:nvSpPr>
        <p:spPr>
          <a:xfrm>
            <a:off x="9303791" y="512064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SECUKOREA</a:t>
            </a:r>
            <a:endParaRPr lang="en-US" sz="950" dirty="0"/>
          </a:p>
        </p:txBody>
      </p:sp>
      <p:sp>
        <p:nvSpPr>
          <p:cNvPr id="54" name="Text 43"/>
          <p:cNvSpPr txBox="1"/>
          <p:nvPr/>
        </p:nvSpPr>
        <p:spPr>
          <a:xfrm>
            <a:off x="9303791" y="5367528"/>
            <a:ext cx="2110664" cy="55778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 named engineer who handles day-to-day requests.</a:t>
            </a:r>
            <a:endParaRPr lang="en-US" sz="1100" dirty="0"/>
          </a:p>
        </p:txBody>
      </p:sp>
      <p:sp>
        <p:nvSpPr>
          <p:cNvPr id="55" name="Text 44"/>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A94A1"/>
                </a:solidFill>
                <a:latin typeface="Calibri" pitchFamily="34" charset="0"/>
                <a:ea typeface="Calibri" pitchFamily="34" charset="-122"/>
                <a:cs typeface="Calibri" pitchFamily="34" charset="-120"/>
              </a:rPr>
              <a:t>Licensing based on the Trend Micro quotation dated 11 September 2026 · 1-year subscription (renewable).</a:t>
            </a:r>
            <a:endParaRPr lang="en-US" sz="800" dirty="0"/>
          </a:p>
        </p:txBody>
      </p:sp>
      <p:sp>
        <p:nvSpPr>
          <p:cNvPr id="56" name="Text 4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13   |   Nessus vs. Trend Micro Apex One™  ·  Proposal for The Westin Resort Guam</a:t>
            </a:r>
            <a:endParaRPr lang="en-US" sz="900" dirty="0"/>
          </a:p>
        </p:txBody>
      </p:sp>
      <p:pic>
        <p:nvPicPr>
          <p:cNvPr id="57"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12   COMPARISON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Head-to-Head: Nessus vs. Trend Micro Apex One</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43200"/>
                <a:gridCol w="3611880"/>
                <a:gridCol w="4739335"/>
              </a:tblGrid>
              <a:tr h="41148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Criteria</a:t>
                      </a:r>
                      <a:endParaRPr lang="en-US" sz="1200" dirty="0">
                        <a:latin typeface="Arial" charset="0"/>
                        <a:ea typeface="Arial" charset="0"/>
                        <a:cs typeface="Arial"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10243A"/>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Nessus (current)</a:t>
                      </a:r>
                      <a:endParaRPr lang="en-US" sz="1200" dirty="0">
                        <a:latin typeface="Arial" charset="0"/>
                        <a:ea typeface="Arial" charset="0"/>
                        <a:cs typeface="Arial"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5D6B7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Trend Micro Apex One (proposed)</a:t>
                      </a:r>
                      <a:endParaRPr lang="en-US" sz="1200" dirty="0">
                        <a:latin typeface="Arial" charset="0"/>
                        <a:ea typeface="Arial" charset="0"/>
                        <a:cs typeface="Arial"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0F8B99"/>
                    </a:solidFill>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Primary purpose</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Vulnerability scanning and reporting</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Prevent, shield, detect and respond</a:t>
                      </a:r>
                      <a:pPr indent="0" marL="0">
                        <a:buNone/>
                      </a:pPr>
                      <a:r>
                        <a:rPr lang="en-US" sz="1150" dirty="0">
                          <a:solidFill>
                            <a:srgbClr val="0E2233"/>
                          </a:solidFill>
                          <a:latin typeface="Calibri" pitchFamily="34" charset="0"/>
                          <a:ea typeface="Calibri" pitchFamily="34" charset="-122"/>
                          <a:cs typeface="Calibri" pitchFamily="34" charset="-120"/>
                        </a:rPr>
                        <a:t>  on every endpoint</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Protection model</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Periodic, point-in-time scans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Continuous, real-time</a:t>
                      </a:r>
                      <a:pPr indent="0" marL="0">
                        <a:buNone/>
                      </a:pPr>
                      <a:r>
                        <a:rPr lang="en-US" sz="1150" dirty="0">
                          <a:solidFill>
                            <a:srgbClr val="0E2233"/>
                          </a:solidFill>
                          <a:latin typeface="Calibri" pitchFamily="34" charset="0"/>
                          <a:ea typeface="Calibri" pitchFamily="34" charset="-122"/>
                          <a:cs typeface="Calibri" pitchFamily="34" charset="-120"/>
                        </a:rPr>
                        <a:t>  — on or off the network</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Malware &amp; ransomware (EPP)</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XGen anti-malware</a:t>
                      </a:r>
                      <a:pPr indent="0" marL="0">
                        <a:buNone/>
                      </a:pPr>
                      <a:r>
                        <a:rPr lang="en-US" sz="1150" dirty="0">
                          <a:solidFill>
                            <a:srgbClr val="0E2233"/>
                          </a:solidFill>
                          <a:latin typeface="Calibri" pitchFamily="34" charset="0"/>
                          <a:ea typeface="Calibri" pitchFamily="34" charset="-122"/>
                          <a:cs typeface="Calibri" pitchFamily="34" charset="-120"/>
                        </a:rPr>
                        <a:t>  — encryption blocked, files rolled back</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Known vulnerabilities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Finds them; fixing is manual</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Assessed and shielded</a:t>
                      </a:r>
                      <a:pPr indent="0" marL="0">
                        <a:buNone/>
                      </a:pPr>
                      <a:r>
                        <a:rPr lang="en-US" sz="1150" dirty="0">
                          <a:solidFill>
                            <a:srgbClr val="0E2233"/>
                          </a:solidFill>
                          <a:latin typeface="Calibri" pitchFamily="34" charset="0"/>
                          <a:ea typeface="Calibri" pitchFamily="34" charset="-122"/>
                          <a:cs typeface="Calibri" pitchFamily="34" charset="-120"/>
                        </a:rPr>
                        <a:t>  — virtual patches before the fix is installed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Legacy &amp; end-of-support systems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Reports risks it cannot reduce</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Protected</a:t>
                      </a:r>
                      <a:pPr indent="0" marL="0">
                        <a:buNone/>
                      </a:pPr>
                      <a:r>
                        <a:rPr lang="en-US" sz="1150" dirty="0">
                          <a:solidFill>
                            <a:srgbClr val="0E2233"/>
                          </a:solidFill>
                          <a:latin typeface="Calibri" pitchFamily="34" charset="0"/>
                          <a:ea typeface="Calibri" pitchFamily="34" charset="-122"/>
                          <a:cs typeface="Calibri" pitchFamily="34" charset="-120"/>
                        </a:rPr>
                        <a:t>  with virtual patches and application lockdown</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POS terminals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Scanned only</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Supported protection point</a:t>
                      </a:r>
                      <a:pPr indent="0" marL="0">
                        <a:buNone/>
                      </a:pPr>
                      <a:r>
                        <a:rPr lang="en-US" sz="1150" dirty="0">
                          <a:solidFill>
                            <a:srgbClr val="0E2233"/>
                          </a:solidFill>
                          <a:latin typeface="Calibri" pitchFamily="34" charset="0"/>
                          <a:ea typeface="Calibri" pitchFamily="34" charset="-122"/>
                          <a:cs typeface="Calibri" pitchFamily="34" charset="-120"/>
                        </a:rPr>
                        <a:t>  — lockdown to approved apps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Detection &amp; response</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Behavior-based</a:t>
                      </a:r>
                      <a:pPr indent="0" marL="0">
                        <a:buNone/>
                      </a:pPr>
                      <a:r>
                        <a:rPr lang="en-US" sz="1150" dirty="0">
                          <a:solidFill>
                            <a:srgbClr val="0E2233"/>
                          </a:solidFill>
                          <a:latin typeface="Calibri" pitchFamily="34" charset="0"/>
                          <a:ea typeface="Calibri" pitchFamily="34" charset="-122"/>
                          <a:cs typeface="Calibri" pitchFamily="34" charset="-120"/>
                        </a:rPr>
                        <a:t>  — isolation and central investigation</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Data protection</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Integrated DLP</a:t>
                      </a:r>
                      <a:pPr indent="0" marL="0">
                        <a:buNone/>
                      </a:pPr>
                      <a:r>
                        <a:rPr lang="en-US" sz="1150" dirty="0">
                          <a:solidFill>
                            <a:srgbClr val="0E2233"/>
                          </a:solidFill>
                          <a:latin typeface="Calibri" pitchFamily="34" charset="0"/>
                          <a:ea typeface="Calibri" pitchFamily="34" charset="-122"/>
                          <a:cs typeface="Calibri" pitchFamily="34" charset="-120"/>
                        </a:rPr>
                        <a:t>  with PCI DSS templates and device control</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Deployment</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Scanner host and scan schedules to maintain</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On-premises</a:t>
                      </a:r>
                      <a:pPr indent="0" marL="0">
                        <a:buNone/>
                      </a:pPr>
                      <a:r>
                        <a:rPr lang="en-US" sz="1150" dirty="0">
                          <a:solidFill>
                            <a:srgbClr val="0E2233"/>
                          </a:solidFill>
                          <a:latin typeface="Calibri" pitchFamily="34" charset="0"/>
                          <a:ea typeface="Calibri" pitchFamily="34" charset="-122"/>
                          <a:cs typeface="Calibri" pitchFamily="34" charset="-120"/>
                        </a:rPr>
                        <a:t>  — Apex One server and Apex Central, single agent</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IT team workload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High — analyze reports, patch and verify by hand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Low</a:t>
                      </a:r>
                      <a:pPr indent="0" marL="0">
                        <a:buNone/>
                      </a:pPr>
                      <a:r>
                        <a:rPr lang="en-US" sz="1150" dirty="0">
                          <a:solidFill>
                            <a:srgbClr val="0E2233"/>
                          </a:solidFill>
                          <a:latin typeface="Calibri" pitchFamily="34" charset="0"/>
                          <a:ea typeface="Calibri" pitchFamily="34" charset="-122"/>
                          <a:cs typeface="Calibri" pitchFamily="34" charset="-120"/>
                        </a:rPr>
                        <a:t>  — automatic protection; patch on your own timeline</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bl>
          </a:graphicData>
        </a:graphic>
      </p:graphicFrame>
      <p:sp>
        <p:nvSpPr>
          <p:cNvPr id="6" name="Text 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14   |   Nessus vs. Trend Micro Apex One™  ·  Proposal for The Westin Resort Guam</a:t>
            </a:r>
            <a:endParaRPr lang="en-US" sz="900" dirty="0"/>
          </a:p>
        </p:txBody>
      </p:sp>
      <p:pic>
        <p:nvPicPr>
          <p:cNvPr id="7" name="Image 1" descr="/private/tmp/claude-501/-Users-jihanvin-Desktop-NIVNAH-AI/16a96446-d9b3-40e2-af9e-a3011ae3db84/scratchpad/assets/secukorea_dark.png">    </p:cNvPr>
          <p:cNvPicPr>
            <a:picLocks noChangeAspect="1"/>
          </p:cNvPicPr>
          <p:nvPr/>
        </p:nvPicPr>
        <p:blipFill>
          <a:blip r:embed="rId2"/>
          <a:stretch>
            <a:fillRect/>
          </a:stretch>
        </p:blipFill>
        <p:spPr>
          <a:xfrm>
            <a:off x="10661904" y="6400800"/>
            <a:ext cx="978408" cy="2331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13   PROVEN PARTNER</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 Trusted Security Partner</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2567864" cy="1783080"/>
          </a:xfrm>
          <a:prstGeom prst="roundRect">
            <a:avLst>
              <a:gd name="adj" fmla="val 7179"/>
            </a:avLst>
          </a:prstGeom>
          <a:solidFill>
            <a:srgbClr val="183247"/>
          </a:solidFill>
          <a:ln w="9525">
            <a:solidFill>
              <a:srgbClr val="284559"/>
            </a:solidFill>
            <a:prstDash val="solid"/>
          </a:ln>
        </p:spPr>
      </p:sp>
      <p:sp>
        <p:nvSpPr>
          <p:cNvPr id="6" name="Text 3"/>
          <p:cNvSpPr txBox="1"/>
          <p:nvPr/>
        </p:nvSpPr>
        <p:spPr>
          <a:xfrm>
            <a:off x="822960" y="1801368"/>
            <a:ext cx="2019224" cy="685800"/>
          </a:xfrm>
          <a:prstGeom prst="rect">
            <a:avLst/>
          </a:prstGeom>
          <a:noFill/>
          <a:ln/>
        </p:spPr>
        <p:txBody>
          <a:bodyPr wrap="square" lIns="0" tIns="0" rIns="0" bIns="0" rtlCol="0" anchor="ctr"/>
          <a:lstStyle/>
          <a:p>
            <a:pPr indent="0" marL="0">
              <a:buNone/>
            </a:pPr>
            <a:r>
              <a:rPr lang="en-US" sz="3400" b="1" dirty="0">
                <a:solidFill>
                  <a:srgbClr val="0F8B99"/>
                </a:solidFill>
                <a:latin typeface="Arial" pitchFamily="34" charset="0"/>
                <a:ea typeface="Arial" pitchFamily="34" charset="-122"/>
                <a:cs typeface="Arial" pitchFamily="34" charset="-120"/>
              </a:rPr>
              <a:t>30+ yrs</a:t>
            </a:r>
            <a:endParaRPr lang="en-US" sz="3400" dirty="0"/>
          </a:p>
        </p:txBody>
      </p:sp>
      <p:sp>
        <p:nvSpPr>
          <p:cNvPr id="7" name="Text 4"/>
          <p:cNvSpPr txBox="1"/>
          <p:nvPr/>
        </p:nvSpPr>
        <p:spPr>
          <a:xfrm>
            <a:off x="822960" y="2532888"/>
            <a:ext cx="2019224" cy="658368"/>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Of continuous security innovation</a:t>
            </a:r>
            <a:endParaRPr lang="en-US" sz="1200" dirty="0"/>
          </a:p>
        </p:txBody>
      </p:sp>
      <p:sp>
        <p:nvSpPr>
          <p:cNvPr id="8" name="Shape 5"/>
          <p:cNvSpPr/>
          <p:nvPr/>
        </p:nvSpPr>
        <p:spPr>
          <a:xfrm>
            <a:off x="3390824" y="1572768"/>
            <a:ext cx="2567864" cy="1783080"/>
          </a:xfrm>
          <a:prstGeom prst="roundRect">
            <a:avLst>
              <a:gd name="adj" fmla="val 7179"/>
            </a:avLst>
          </a:prstGeom>
          <a:solidFill>
            <a:srgbClr val="183247"/>
          </a:solidFill>
          <a:ln w="9525">
            <a:solidFill>
              <a:srgbClr val="284559"/>
            </a:solidFill>
            <a:prstDash val="solid"/>
          </a:ln>
        </p:spPr>
      </p:sp>
      <p:sp>
        <p:nvSpPr>
          <p:cNvPr id="9" name="Text 6"/>
          <p:cNvSpPr txBox="1"/>
          <p:nvPr/>
        </p:nvSpPr>
        <p:spPr>
          <a:xfrm>
            <a:off x="3665144" y="1801368"/>
            <a:ext cx="2019224" cy="685800"/>
          </a:xfrm>
          <a:prstGeom prst="rect">
            <a:avLst/>
          </a:prstGeom>
          <a:noFill/>
          <a:ln/>
        </p:spPr>
        <p:txBody>
          <a:bodyPr wrap="square" lIns="0" tIns="0" rIns="0" bIns="0" rtlCol="0" anchor="ctr"/>
          <a:lstStyle/>
          <a:p>
            <a:pPr indent="0" marL="0">
              <a:buNone/>
            </a:pPr>
            <a:r>
              <a:rPr lang="en-US" sz="3400" b="1" dirty="0">
                <a:solidFill>
                  <a:srgbClr val="0F8B99"/>
                </a:solidFill>
                <a:latin typeface="Arial" pitchFamily="34" charset="0"/>
                <a:ea typeface="Arial" pitchFamily="34" charset="-122"/>
                <a:cs typeface="Arial" pitchFamily="34" charset="-120"/>
              </a:rPr>
              <a:t>250M+</a:t>
            </a:r>
            <a:endParaRPr lang="en-US" sz="3400" dirty="0"/>
          </a:p>
        </p:txBody>
      </p:sp>
      <p:sp>
        <p:nvSpPr>
          <p:cNvPr id="10" name="Text 7"/>
          <p:cNvSpPr txBox="1"/>
          <p:nvPr/>
        </p:nvSpPr>
        <p:spPr>
          <a:xfrm>
            <a:off x="3665144" y="2532888"/>
            <a:ext cx="2019224" cy="658368"/>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Endpoints protected worldwide</a:t>
            </a:r>
            <a:endParaRPr lang="en-US" sz="1200" dirty="0"/>
          </a:p>
        </p:txBody>
      </p:sp>
      <p:sp>
        <p:nvSpPr>
          <p:cNvPr id="11" name="Shape 8"/>
          <p:cNvSpPr/>
          <p:nvPr/>
        </p:nvSpPr>
        <p:spPr>
          <a:xfrm>
            <a:off x="6233008" y="1572768"/>
            <a:ext cx="2567864" cy="1783080"/>
          </a:xfrm>
          <a:prstGeom prst="roundRect">
            <a:avLst>
              <a:gd name="adj" fmla="val 7179"/>
            </a:avLst>
          </a:prstGeom>
          <a:solidFill>
            <a:srgbClr val="183247"/>
          </a:solidFill>
          <a:ln w="9525">
            <a:solidFill>
              <a:srgbClr val="284559"/>
            </a:solidFill>
            <a:prstDash val="solid"/>
          </a:ln>
        </p:spPr>
      </p:sp>
      <p:sp>
        <p:nvSpPr>
          <p:cNvPr id="12" name="Text 9"/>
          <p:cNvSpPr txBox="1"/>
          <p:nvPr/>
        </p:nvSpPr>
        <p:spPr>
          <a:xfrm>
            <a:off x="6507328" y="1801368"/>
            <a:ext cx="2019224" cy="685800"/>
          </a:xfrm>
          <a:prstGeom prst="rect">
            <a:avLst/>
          </a:prstGeom>
          <a:noFill/>
          <a:ln/>
        </p:spPr>
        <p:txBody>
          <a:bodyPr wrap="square" lIns="0" tIns="0" rIns="0" bIns="0" rtlCol="0" anchor="ctr"/>
          <a:lstStyle/>
          <a:p>
            <a:pPr indent="0" marL="0">
              <a:buNone/>
            </a:pPr>
            <a:r>
              <a:rPr lang="en-US" sz="3400" b="1" dirty="0">
                <a:solidFill>
                  <a:srgbClr val="0F8B99"/>
                </a:solidFill>
                <a:latin typeface="Arial" pitchFamily="34" charset="0"/>
                <a:ea typeface="Arial" pitchFamily="34" charset="-122"/>
                <a:cs typeface="Arial" pitchFamily="34" charset="-120"/>
              </a:rPr>
              <a:t>48 of 50</a:t>
            </a:r>
            <a:endParaRPr lang="en-US" sz="3400" dirty="0"/>
          </a:p>
        </p:txBody>
      </p:sp>
      <p:sp>
        <p:nvSpPr>
          <p:cNvPr id="13" name="Text 10"/>
          <p:cNvSpPr txBox="1"/>
          <p:nvPr/>
        </p:nvSpPr>
        <p:spPr>
          <a:xfrm>
            <a:off x="6507328" y="2532888"/>
            <a:ext cx="2019224" cy="658368"/>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Top global corporations trust Trend Micro</a:t>
            </a:r>
            <a:endParaRPr lang="en-US" sz="1200" dirty="0"/>
          </a:p>
        </p:txBody>
      </p:sp>
      <p:sp>
        <p:nvSpPr>
          <p:cNvPr id="14" name="Shape 11"/>
          <p:cNvSpPr/>
          <p:nvPr/>
        </p:nvSpPr>
        <p:spPr>
          <a:xfrm>
            <a:off x="9075191" y="1572768"/>
            <a:ext cx="2567864" cy="1783080"/>
          </a:xfrm>
          <a:prstGeom prst="roundRect">
            <a:avLst>
              <a:gd name="adj" fmla="val 7179"/>
            </a:avLst>
          </a:prstGeom>
          <a:solidFill>
            <a:srgbClr val="183247"/>
          </a:solidFill>
          <a:ln w="9525">
            <a:solidFill>
              <a:srgbClr val="284559"/>
            </a:solidFill>
            <a:prstDash val="solid"/>
          </a:ln>
        </p:spPr>
      </p:sp>
      <p:sp>
        <p:nvSpPr>
          <p:cNvPr id="15" name="Text 12"/>
          <p:cNvSpPr txBox="1"/>
          <p:nvPr/>
        </p:nvSpPr>
        <p:spPr>
          <a:xfrm>
            <a:off x="9349511" y="1801368"/>
            <a:ext cx="2019224" cy="685800"/>
          </a:xfrm>
          <a:prstGeom prst="rect">
            <a:avLst/>
          </a:prstGeom>
          <a:noFill/>
          <a:ln/>
        </p:spPr>
        <p:txBody>
          <a:bodyPr wrap="square" lIns="0" tIns="0" rIns="0" bIns="0" rtlCol="0" anchor="ctr"/>
          <a:lstStyle/>
          <a:p>
            <a:pPr indent="0" marL="0">
              <a:buNone/>
            </a:pPr>
            <a:r>
              <a:rPr lang="en-US" sz="3400" b="1" dirty="0">
                <a:solidFill>
                  <a:srgbClr val="0F8B99"/>
                </a:solidFill>
                <a:latin typeface="Arial" pitchFamily="34" charset="0"/>
                <a:ea typeface="Arial" pitchFamily="34" charset="-122"/>
                <a:cs typeface="Arial" pitchFamily="34" charset="-120"/>
              </a:rPr>
              <a:t>61%</a:t>
            </a:r>
            <a:endParaRPr lang="en-US" sz="3400" dirty="0"/>
          </a:p>
        </p:txBody>
      </p:sp>
      <p:sp>
        <p:nvSpPr>
          <p:cNvPr id="16" name="Text 13"/>
          <p:cNvSpPr txBox="1"/>
          <p:nvPr/>
        </p:nvSpPr>
        <p:spPr>
          <a:xfrm>
            <a:off x="9349511" y="2532888"/>
            <a:ext cx="2019224" cy="658368"/>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Of disclosed zero-days in 2020 found by Trend Micro Research &amp; ZDI</a:t>
            </a:r>
            <a:endParaRPr lang="en-US" sz="1200" dirty="0"/>
          </a:p>
        </p:txBody>
      </p:sp>
      <p:sp>
        <p:nvSpPr>
          <p:cNvPr id="17" name="Shape 14"/>
          <p:cNvSpPr/>
          <p:nvPr/>
        </p:nvSpPr>
        <p:spPr>
          <a:xfrm>
            <a:off x="548640" y="3611880"/>
            <a:ext cx="4160520" cy="2377440"/>
          </a:xfrm>
          <a:prstGeom prst="roundRect">
            <a:avLst>
              <a:gd name="adj" fmla="val 5385"/>
            </a:avLst>
          </a:prstGeom>
          <a:solidFill>
            <a:srgbClr val="183247"/>
          </a:solidFill>
          <a:ln w="9525">
            <a:solidFill>
              <a:srgbClr val="284559"/>
            </a:solidFill>
            <a:prstDash val="solid"/>
          </a:ln>
        </p:spPr>
      </p:sp>
      <p:sp>
        <p:nvSpPr>
          <p:cNvPr id="18" name="Shape 15"/>
          <p:cNvSpPr/>
          <p:nvPr/>
        </p:nvSpPr>
        <p:spPr>
          <a:xfrm>
            <a:off x="822960" y="3886200"/>
            <a:ext cx="548640" cy="548640"/>
          </a:xfrm>
          <a:prstGeom prst="ellipse">
            <a:avLst/>
          </a:prstGeom>
          <a:solidFill>
            <a:srgbClr val="0F8B99"/>
          </a:solidFill>
          <a:ln w="12700">
            <a:solidFill>
              <a:srgbClr val="0F8B99"/>
            </a:solidFill>
            <a:prstDash val="solid"/>
          </a:ln>
        </p:spPr>
      </p:sp>
      <p:pic>
        <p:nvPicPr>
          <p:cNvPr id="19" name="Image 1" descr="preencoded.png">    </p:cNvPr>
          <p:cNvPicPr>
            <a:picLocks noChangeAspect="1"/>
          </p:cNvPicPr>
          <p:nvPr/>
        </p:nvPicPr>
        <p:blipFill>
          <a:blip r:embed="rId2"/>
          <a:stretch>
            <a:fillRect/>
          </a:stretch>
        </p:blipFill>
        <p:spPr>
          <a:xfrm>
            <a:off x="971093" y="4034333"/>
            <a:ext cx="252374" cy="252374"/>
          </a:xfrm>
          <a:prstGeom prst="rect">
            <a:avLst/>
          </a:prstGeom>
        </p:spPr>
      </p:pic>
      <p:sp>
        <p:nvSpPr>
          <p:cNvPr id="20" name="Text 16"/>
          <p:cNvSpPr txBox="1"/>
          <p:nvPr/>
        </p:nvSpPr>
        <p:spPr>
          <a:xfrm>
            <a:off x="1536192" y="3913632"/>
            <a:ext cx="2971800" cy="219456"/>
          </a:xfrm>
          <a:prstGeom prst="rect">
            <a:avLst/>
          </a:prstGeom>
          <a:noFill/>
          <a:ln/>
        </p:spPr>
        <p:txBody>
          <a:bodyPr wrap="square" lIns="0" tIns="0" rIns="0" bIns="0" rtlCol="0" anchor="t"/>
          <a:lstStyle/>
          <a:p>
            <a:pPr indent="0" marL="0">
              <a:buNone/>
            </a:pPr>
            <a:r>
              <a:rPr lang="en-US" sz="950" b="1" spc="120" kern="0" dirty="0">
                <a:solidFill>
                  <a:srgbClr val="0F8B99"/>
                </a:solidFill>
                <a:latin typeface="Calibri" pitchFamily="34" charset="0"/>
                <a:ea typeface="Calibri" pitchFamily="34" charset="-122"/>
                <a:cs typeface="Calibri" pitchFamily="34" charset="-120"/>
              </a:rPr>
              <a:t>QUICK-SERVICE RESTAURANTS</a:t>
            </a:r>
            <a:endParaRPr lang="en-US" sz="950" dirty="0"/>
          </a:p>
        </p:txBody>
      </p:sp>
      <p:sp>
        <p:nvSpPr>
          <p:cNvPr id="21" name="Text 17"/>
          <p:cNvSpPr txBox="1"/>
          <p:nvPr/>
        </p:nvSpPr>
        <p:spPr>
          <a:xfrm>
            <a:off x="1536192" y="4133088"/>
            <a:ext cx="2971800" cy="310896"/>
          </a:xfrm>
          <a:prstGeom prst="rect">
            <a:avLst/>
          </a:prstGeom>
          <a:noFill/>
          <a:ln/>
        </p:spPr>
        <p:txBody>
          <a:bodyPr wrap="square" lIns="0" tIns="0" rIns="0" bIns="0" rtlCol="0" anchor="t"/>
          <a:lstStyle/>
          <a:p>
            <a:pPr indent="0" marL="0">
              <a:buNone/>
            </a:pPr>
            <a:r>
              <a:rPr lang="en-US" sz="1450" b="1" dirty="0">
                <a:solidFill>
                  <a:srgbClr val="FFFFFF"/>
                </a:solidFill>
                <a:latin typeface="Arial" pitchFamily="34" charset="0"/>
                <a:ea typeface="Arial" pitchFamily="34" charset="-122"/>
                <a:cs typeface="Arial" pitchFamily="34" charset="-120"/>
              </a:rPr>
              <a:t>A&amp;W Food Services of Canada</a:t>
            </a:r>
            <a:endParaRPr lang="en-US" sz="1450" dirty="0"/>
          </a:p>
        </p:txBody>
      </p:sp>
      <p:sp>
        <p:nvSpPr>
          <p:cNvPr id="22" name="Text 18"/>
          <p:cNvSpPr txBox="1"/>
          <p:nvPr/>
        </p:nvSpPr>
        <p:spPr>
          <a:xfrm>
            <a:off x="822960" y="4636008"/>
            <a:ext cx="3611880" cy="685800"/>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Replaced a heavy legacy endpoint product to cut system overhead and bring in security that works.</a:t>
            </a:r>
            <a:endParaRPr lang="en-US" sz="1200" dirty="0"/>
          </a:p>
        </p:txBody>
      </p:sp>
      <p:sp>
        <p:nvSpPr>
          <p:cNvPr id="23" name="Text 19"/>
          <p:cNvSpPr txBox="1"/>
          <p:nvPr/>
        </p:nvSpPr>
        <p:spPr>
          <a:xfrm>
            <a:off x="822960" y="5303520"/>
            <a:ext cx="3611880" cy="548640"/>
          </a:xfrm>
          <a:prstGeom prst="rect">
            <a:avLst/>
          </a:prstGeom>
          <a:noFill/>
          <a:ln/>
        </p:spPr>
        <p:txBody>
          <a:bodyPr wrap="square" lIns="0" tIns="0" rIns="0" bIns="0" rtlCol="0" anchor="b"/>
          <a:lstStyle/>
          <a:p>
            <a:pPr indent="0" marL="0">
              <a:buNone/>
            </a:pPr>
            <a:r>
              <a:rPr lang="en-US" sz="1150" b="1" i="1" dirty="0">
                <a:solidFill>
                  <a:srgbClr val="FFFFFF"/>
                </a:solidFill>
                <a:latin typeface="Calibri" pitchFamily="34" charset="0"/>
                <a:ea typeface="Calibri" pitchFamily="34" charset="-122"/>
                <a:cs typeface="Calibri" pitchFamily="34" charset="-120"/>
              </a:rPr>
              <a:t>“Trend Micro has stopped the infections.”</a:t>
            </a:r>
            <a:endParaRPr lang="en-US" sz="1150" dirty="0"/>
          </a:p>
          <a:p>
            <a:pPr indent="0" marL="0">
              <a:buNone/>
            </a:pPr>
            <a:r>
              <a:rPr lang="en-US" sz="1050" dirty="0">
                <a:solidFill>
                  <a:srgbClr val="9AA1AB"/>
                </a:solidFill>
                <a:latin typeface="Calibri" pitchFamily="34" charset="0"/>
                <a:ea typeface="Calibri" pitchFamily="34" charset="-122"/>
                <a:cs typeface="Calibri" pitchFamily="34" charset="-120"/>
              </a:rPr>
              <a:t>— Network Systems Manager</a:t>
            </a:r>
            <a:endParaRPr lang="en-US" sz="1150" dirty="0"/>
          </a:p>
        </p:txBody>
      </p:sp>
      <p:sp>
        <p:nvSpPr>
          <p:cNvPr id="24" name="Shape 20"/>
          <p:cNvSpPr/>
          <p:nvPr/>
        </p:nvSpPr>
        <p:spPr>
          <a:xfrm>
            <a:off x="4983480" y="3611880"/>
            <a:ext cx="4160520" cy="2377440"/>
          </a:xfrm>
          <a:prstGeom prst="roundRect">
            <a:avLst>
              <a:gd name="adj" fmla="val 5385"/>
            </a:avLst>
          </a:prstGeom>
          <a:solidFill>
            <a:srgbClr val="183247"/>
          </a:solidFill>
          <a:ln w="9525">
            <a:solidFill>
              <a:srgbClr val="284559"/>
            </a:solidFill>
            <a:prstDash val="solid"/>
          </a:ln>
        </p:spPr>
      </p:sp>
      <p:sp>
        <p:nvSpPr>
          <p:cNvPr id="25" name="Shape 21"/>
          <p:cNvSpPr/>
          <p:nvPr/>
        </p:nvSpPr>
        <p:spPr>
          <a:xfrm>
            <a:off x="5257800" y="3886200"/>
            <a:ext cx="548640" cy="548640"/>
          </a:xfrm>
          <a:prstGeom prst="ellipse">
            <a:avLst/>
          </a:prstGeom>
          <a:solidFill>
            <a:srgbClr val="0F8B99"/>
          </a:solidFill>
          <a:ln w="12700">
            <a:solidFill>
              <a:srgbClr val="0F8B99"/>
            </a:solidFill>
            <a:prstDash val="solid"/>
          </a:ln>
        </p:spPr>
      </p:sp>
      <p:pic>
        <p:nvPicPr>
          <p:cNvPr id="26" name="Image 2" descr="preencoded.png">    </p:cNvPr>
          <p:cNvPicPr>
            <a:picLocks noChangeAspect="1"/>
          </p:cNvPicPr>
          <p:nvPr/>
        </p:nvPicPr>
        <p:blipFill>
          <a:blip r:embed="rId3"/>
          <a:stretch>
            <a:fillRect/>
          </a:stretch>
        </p:blipFill>
        <p:spPr>
          <a:xfrm>
            <a:off x="5405933" y="4034333"/>
            <a:ext cx="252374" cy="252374"/>
          </a:xfrm>
          <a:prstGeom prst="rect">
            <a:avLst/>
          </a:prstGeom>
        </p:spPr>
      </p:pic>
      <p:sp>
        <p:nvSpPr>
          <p:cNvPr id="27" name="Text 22"/>
          <p:cNvSpPr txBox="1"/>
          <p:nvPr/>
        </p:nvSpPr>
        <p:spPr>
          <a:xfrm>
            <a:off x="5971032" y="3913632"/>
            <a:ext cx="2971800" cy="219456"/>
          </a:xfrm>
          <a:prstGeom prst="rect">
            <a:avLst/>
          </a:prstGeom>
          <a:noFill/>
          <a:ln/>
        </p:spPr>
        <p:txBody>
          <a:bodyPr wrap="square" lIns="0" tIns="0" rIns="0" bIns="0" rtlCol="0" anchor="t"/>
          <a:lstStyle/>
          <a:p>
            <a:pPr indent="0" marL="0">
              <a:buNone/>
            </a:pPr>
            <a:r>
              <a:rPr lang="en-US" sz="950" b="1" spc="120" kern="0" dirty="0">
                <a:solidFill>
                  <a:srgbClr val="0F8B99"/>
                </a:solidFill>
                <a:latin typeface="Calibri" pitchFamily="34" charset="0"/>
                <a:ea typeface="Calibri" pitchFamily="34" charset="-122"/>
                <a:cs typeface="Calibri" pitchFamily="34" charset="-120"/>
              </a:rPr>
              <a:t>NATIONWIDE NETWORK</a:t>
            </a:r>
            <a:endParaRPr lang="en-US" sz="950" dirty="0"/>
          </a:p>
        </p:txBody>
      </p:sp>
      <p:sp>
        <p:nvSpPr>
          <p:cNvPr id="28" name="Text 23"/>
          <p:cNvSpPr txBox="1"/>
          <p:nvPr/>
        </p:nvSpPr>
        <p:spPr>
          <a:xfrm>
            <a:off x="5971032" y="4133088"/>
            <a:ext cx="2971800" cy="310896"/>
          </a:xfrm>
          <a:prstGeom prst="rect">
            <a:avLst/>
          </a:prstGeom>
          <a:noFill/>
          <a:ln/>
        </p:spPr>
        <p:txBody>
          <a:bodyPr wrap="square" lIns="0" tIns="0" rIns="0" bIns="0" rtlCol="0" anchor="t"/>
          <a:lstStyle/>
          <a:p>
            <a:pPr indent="0" marL="0">
              <a:buNone/>
            </a:pPr>
            <a:r>
              <a:rPr lang="en-US" sz="1450" b="1" dirty="0">
                <a:solidFill>
                  <a:srgbClr val="FFFFFF"/>
                </a:solidFill>
                <a:latin typeface="Arial" pitchFamily="34" charset="0"/>
                <a:ea typeface="Arial" pitchFamily="34" charset="-122"/>
                <a:cs typeface="Arial" pitchFamily="34" charset="-120"/>
              </a:rPr>
              <a:t>DCI Donor Services</a:t>
            </a:r>
            <a:endParaRPr lang="en-US" sz="1450" dirty="0"/>
          </a:p>
        </p:txBody>
      </p:sp>
      <p:sp>
        <p:nvSpPr>
          <p:cNvPr id="29" name="Text 24"/>
          <p:cNvSpPr txBox="1"/>
          <p:nvPr/>
        </p:nvSpPr>
        <p:spPr>
          <a:xfrm>
            <a:off x="5257800" y="4636008"/>
            <a:ext cx="3611880" cy="685800"/>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Secures mobile and desktop devices across a country-wide network under one platform, improving team productivity.</a:t>
            </a:r>
            <a:endParaRPr lang="en-US" sz="1200" dirty="0"/>
          </a:p>
        </p:txBody>
      </p:sp>
      <p:sp>
        <p:nvSpPr>
          <p:cNvPr id="30" name="Text 25"/>
          <p:cNvSpPr txBox="1"/>
          <p:nvPr/>
        </p:nvSpPr>
        <p:spPr>
          <a:xfrm>
            <a:off x="5257800" y="5303520"/>
            <a:ext cx="3611880" cy="548640"/>
          </a:xfrm>
          <a:prstGeom prst="rect">
            <a:avLst/>
          </a:prstGeom>
          <a:noFill/>
          <a:ln/>
        </p:spPr>
        <p:txBody>
          <a:bodyPr wrap="square" lIns="0" tIns="0" rIns="0" bIns="0" rtlCol="0" anchor="b"/>
          <a:lstStyle/>
          <a:p>
            <a:pPr indent="0" marL="0">
              <a:buNone/>
            </a:pPr>
            <a:r>
              <a:rPr lang="en-US" sz="1050" dirty="0">
                <a:solidFill>
                  <a:srgbClr val="9AA1AB"/>
                </a:solidFill>
                <a:latin typeface="Calibri" pitchFamily="34" charset="0"/>
                <a:ea typeface="Calibri" pitchFamily="34" charset="-122"/>
                <a:cs typeface="Calibri" pitchFamily="34" charset="-120"/>
              </a:rPr>
              <a:t>— IT Director</a:t>
            </a:r>
            <a:endParaRPr lang="en-US" sz="1150" dirty="0"/>
          </a:p>
        </p:txBody>
      </p:sp>
      <p:sp>
        <p:nvSpPr>
          <p:cNvPr id="31" name="Shape 26"/>
          <p:cNvSpPr/>
          <p:nvPr/>
        </p:nvSpPr>
        <p:spPr>
          <a:xfrm>
            <a:off x="9418320" y="3611880"/>
            <a:ext cx="2224735" cy="2377440"/>
          </a:xfrm>
          <a:prstGeom prst="roundRect">
            <a:avLst>
              <a:gd name="adj" fmla="val 5754"/>
            </a:avLst>
          </a:prstGeom>
          <a:solidFill>
            <a:srgbClr val="0F8B99"/>
          </a:solidFill>
          <a:ln w="12700">
            <a:solidFill>
              <a:srgbClr val="0F8B99"/>
            </a:solidFill>
            <a:prstDash val="solid"/>
          </a:ln>
        </p:spPr>
      </p:sp>
      <p:pic>
        <p:nvPicPr>
          <p:cNvPr id="32" name="Image 3" descr="preencoded.png">    </p:cNvPr>
          <p:cNvPicPr>
            <a:picLocks noChangeAspect="1"/>
          </p:cNvPicPr>
          <p:nvPr/>
        </p:nvPicPr>
        <p:blipFill>
          <a:blip r:embed="rId4"/>
          <a:stretch>
            <a:fillRect/>
          </a:stretch>
        </p:blipFill>
        <p:spPr>
          <a:xfrm>
            <a:off x="9692640" y="3886200"/>
            <a:ext cx="457200" cy="457200"/>
          </a:xfrm>
          <a:prstGeom prst="rect">
            <a:avLst/>
          </a:prstGeom>
        </p:spPr>
      </p:pic>
      <p:sp>
        <p:nvSpPr>
          <p:cNvPr id="33" name="Text 27"/>
          <p:cNvSpPr txBox="1"/>
          <p:nvPr/>
        </p:nvSpPr>
        <p:spPr>
          <a:xfrm>
            <a:off x="9692640" y="4480560"/>
            <a:ext cx="1676095" cy="237744"/>
          </a:xfrm>
          <a:prstGeom prst="rect">
            <a:avLst/>
          </a:prstGeom>
          <a:noFill/>
          <a:ln/>
        </p:spPr>
        <p:txBody>
          <a:bodyPr wrap="square" lIns="0" tIns="0" rIns="0" bIns="0" rtlCol="0" anchor="t"/>
          <a:lstStyle/>
          <a:p>
            <a:pPr indent="0" marL="0">
              <a:buNone/>
            </a:pPr>
            <a:r>
              <a:rPr lang="en-US" sz="1000" b="1" spc="200" kern="0" dirty="0">
                <a:solidFill>
                  <a:srgbClr val="FFFFFF"/>
                </a:solidFill>
                <a:latin typeface="Calibri" pitchFamily="34" charset="0"/>
                <a:ea typeface="Calibri" pitchFamily="34" charset="-122"/>
                <a:cs typeface="Calibri" pitchFamily="34" charset="-120"/>
              </a:rPr>
              <a:t>RECOGNITION</a:t>
            </a:r>
            <a:endParaRPr lang="en-US" sz="1000" dirty="0"/>
          </a:p>
        </p:txBody>
      </p:sp>
      <p:sp>
        <p:nvSpPr>
          <p:cNvPr id="34" name="Text 28"/>
          <p:cNvSpPr txBox="1"/>
          <p:nvPr/>
        </p:nvSpPr>
        <p:spPr>
          <a:xfrm>
            <a:off x="9692640" y="4754880"/>
            <a:ext cx="1676095" cy="10058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Named a Leader in The Forrester Wave™: Endpoint Security, Q4 2023</a:t>
            </a:r>
            <a:endParaRPr lang="en-US" sz="1250" dirty="0"/>
          </a:p>
        </p:txBody>
      </p:sp>
      <p:sp>
        <p:nvSpPr>
          <p:cNvPr id="35" name="Text 29"/>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58C96"/>
                </a:solidFill>
                <a:latin typeface="Calibri" pitchFamily="34" charset="0"/>
                <a:ea typeface="Calibri" pitchFamily="34" charset="-122"/>
                <a:cs typeface="Calibri" pitchFamily="34" charset="-120"/>
              </a:rPr>
              <a:t>Sources: Trend Micro Apex One™ Solution Brief and Datasheet; Trend Micro Apex One product overview; customer quotes as published by Trend Micro.</a:t>
            </a:r>
            <a:endParaRPr lang="en-US" sz="800" dirty="0"/>
          </a:p>
        </p:txBody>
      </p:sp>
      <p:sp>
        <p:nvSpPr>
          <p:cNvPr id="36" name="Text 3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15   |   Nessus vs. Trend Micro Apex One™  ·  Proposal for The Westin Resort Guam</a:t>
            </a:r>
            <a:endParaRPr lang="en-US" sz="900" dirty="0"/>
          </a:p>
        </p:txBody>
      </p:sp>
      <p:pic>
        <p:nvPicPr>
          <p:cNvPr id="37" name="Image 4" descr="/private/tmp/claude-501/-Users-jihanvin-Desktop-NIVNAH-AI/16a96446-d9b3-40e2-af9e-a3011ae3db84/scratchpad/assets/secukorea_light.png">    </p:cNvPr>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14   RECOMMENDATION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Recommendation: Replace Nessus with Apex One</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6126480" cy="868680"/>
          </a:xfrm>
          <a:prstGeom prst="roundRect">
            <a:avLst>
              <a:gd name="adj" fmla="val 12632"/>
            </a:avLst>
          </a:prstGeom>
          <a:solidFill>
            <a:srgbClr val="10243A"/>
          </a:solidFill>
          <a:ln w="12700">
            <a:solidFill>
              <a:srgbClr val="10243A"/>
            </a:solidFill>
            <a:prstDash val="solid"/>
          </a:ln>
        </p:spPr>
      </p:sp>
      <p:sp>
        <p:nvSpPr>
          <p:cNvPr id="6" name="Shape 3"/>
          <p:cNvSpPr/>
          <p:nvPr/>
        </p:nvSpPr>
        <p:spPr>
          <a:xfrm>
            <a:off x="777240" y="1709928"/>
            <a:ext cx="548640" cy="548640"/>
          </a:xfrm>
          <a:prstGeom prst="ellipse">
            <a:avLst/>
          </a:prstGeom>
          <a:solidFill>
            <a:srgbClr val="0F8B99"/>
          </a:solidFill>
          <a:ln w="12700">
            <a:solidFill>
              <a:srgbClr val="0F8B99"/>
            </a:solidFill>
            <a:prstDash val="solid"/>
          </a:ln>
        </p:spPr>
      </p:sp>
      <p:pic>
        <p:nvPicPr>
          <p:cNvPr id="7" name="Image 1" descr="preencoded.png">    </p:cNvPr>
          <p:cNvPicPr>
            <a:picLocks noChangeAspect="1"/>
          </p:cNvPicPr>
          <p:nvPr/>
        </p:nvPicPr>
        <p:blipFill>
          <a:blip r:embed="rId2"/>
          <a:stretch>
            <a:fillRect/>
          </a:stretch>
        </p:blipFill>
        <p:spPr>
          <a:xfrm>
            <a:off x="925373" y="1858061"/>
            <a:ext cx="252374" cy="252374"/>
          </a:xfrm>
          <a:prstGeom prst="rect">
            <a:avLst/>
          </a:prstGeom>
        </p:spPr>
      </p:pic>
      <p:sp>
        <p:nvSpPr>
          <p:cNvPr id="8" name="Text 4"/>
          <p:cNvSpPr txBox="1"/>
          <p:nvPr/>
        </p:nvSpPr>
        <p:spPr>
          <a:xfrm>
            <a:off x="1508760" y="1554480"/>
            <a:ext cx="502920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Apex One on-premises server</a:t>
            </a:r>
            <a:endParaRPr lang="en-US" sz="1200" dirty="0"/>
          </a:p>
          <a:p>
            <a:pPr indent="0" marL="0">
              <a:buNone/>
            </a:pPr>
            <a:r>
              <a:rPr lang="en-US" sz="1100" dirty="0">
                <a:solidFill>
                  <a:srgbClr val="C8CCD2"/>
                </a:solidFill>
                <a:latin typeface="Calibri" pitchFamily="34" charset="0"/>
                <a:ea typeface="Calibri" pitchFamily="34" charset="-122"/>
                <a:cs typeface="Calibri" pitchFamily="34" charset="-120"/>
              </a:rPr>
              <a:t>Apex Central console · Policies · Virtual patches · Reporting</a:t>
            </a:r>
            <a:endParaRPr lang="en-US" sz="1200" dirty="0"/>
          </a:p>
        </p:txBody>
      </p:sp>
      <p:sp>
        <p:nvSpPr>
          <p:cNvPr id="9" name="Shape 5"/>
          <p:cNvSpPr/>
          <p:nvPr/>
        </p:nvSpPr>
        <p:spPr>
          <a:xfrm>
            <a:off x="1263015" y="2423160"/>
            <a:ext cx="0" cy="411480"/>
          </a:xfrm>
          <a:prstGeom prst="line">
            <a:avLst/>
          </a:prstGeom>
          <a:noFill/>
          <a:ln w="19050">
            <a:solidFill>
              <a:srgbClr val="0F8B99"/>
            </a:solidFill>
            <a:prstDash val="solid"/>
          </a:ln>
        </p:spPr>
      </p:sp>
      <p:sp>
        <p:nvSpPr>
          <p:cNvPr id="10" name="Shape 6"/>
          <p:cNvSpPr/>
          <p:nvPr/>
        </p:nvSpPr>
        <p:spPr>
          <a:xfrm>
            <a:off x="548640" y="2834640"/>
            <a:ext cx="1428750" cy="1234440"/>
          </a:xfrm>
          <a:prstGeom prst="roundRect">
            <a:avLst>
              <a:gd name="adj" fmla="val 8889"/>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pic>
        <p:nvPicPr>
          <p:cNvPr id="11" name="Image 2" descr="preencoded.png">    </p:cNvPr>
          <p:cNvPicPr>
            <a:picLocks noChangeAspect="1"/>
          </p:cNvPicPr>
          <p:nvPr/>
        </p:nvPicPr>
        <p:blipFill>
          <a:blip r:embed="rId3"/>
          <a:stretch>
            <a:fillRect/>
          </a:stretch>
        </p:blipFill>
        <p:spPr>
          <a:xfrm>
            <a:off x="1080135" y="2971800"/>
            <a:ext cx="365760" cy="365760"/>
          </a:xfrm>
          <a:prstGeom prst="rect">
            <a:avLst/>
          </a:prstGeom>
        </p:spPr>
      </p:pic>
      <p:sp>
        <p:nvSpPr>
          <p:cNvPr id="12" name="Text 7"/>
          <p:cNvSpPr txBox="1"/>
          <p:nvPr/>
        </p:nvSpPr>
        <p:spPr>
          <a:xfrm>
            <a:off x="640080" y="3383280"/>
            <a:ext cx="1245870" cy="420624"/>
          </a:xfrm>
          <a:prstGeom prst="rect">
            <a:avLst/>
          </a:prstGeom>
          <a:noFill/>
          <a:ln/>
        </p:spPr>
        <p:txBody>
          <a:bodyPr wrap="square" lIns="0" tIns="0" rIns="0" bIns="0" rtlCol="0" anchor="ctr"/>
          <a:lstStyle/>
          <a:p>
            <a:pPr algn="ctr" indent="0" marL="0">
              <a:buNone/>
            </a:pPr>
            <a:r>
              <a:rPr lang="en-US" sz="1050" b="1" dirty="0">
                <a:solidFill>
                  <a:srgbClr val="0E2233"/>
                </a:solidFill>
                <a:latin typeface="Calibri" pitchFamily="34" charset="0"/>
                <a:ea typeface="Calibri" pitchFamily="34" charset="-122"/>
                <a:cs typeface="Calibri" pitchFamily="34" charset="-120"/>
              </a:rPr>
              <a:t>Front desk &amp; PMS workstations</a:t>
            </a:r>
            <a:endParaRPr lang="en-US" sz="1050" dirty="0"/>
          </a:p>
        </p:txBody>
      </p:sp>
      <p:sp>
        <p:nvSpPr>
          <p:cNvPr id="13" name="Shape 8"/>
          <p:cNvSpPr/>
          <p:nvPr/>
        </p:nvSpPr>
        <p:spPr>
          <a:xfrm>
            <a:off x="760095" y="3840480"/>
            <a:ext cx="1005840" cy="201168"/>
          </a:xfrm>
          <a:prstGeom prst="roundRect">
            <a:avLst>
              <a:gd name="adj" fmla="val 50000"/>
            </a:avLst>
          </a:prstGeom>
          <a:solidFill>
            <a:srgbClr val="0F8B99"/>
          </a:solidFill>
          <a:ln w="12700">
            <a:solidFill>
              <a:srgbClr val="0F8B99"/>
            </a:solidFill>
            <a:prstDash val="solid"/>
          </a:ln>
        </p:spPr>
      </p:sp>
      <p:sp>
        <p:nvSpPr>
          <p:cNvPr id="14" name="Text 9"/>
          <p:cNvSpPr txBox="1"/>
          <p:nvPr/>
        </p:nvSpPr>
        <p:spPr>
          <a:xfrm>
            <a:off x="760095" y="3840480"/>
            <a:ext cx="100584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Apex One agent</a:t>
            </a:r>
            <a:endParaRPr lang="en-US" sz="800" dirty="0"/>
          </a:p>
        </p:txBody>
      </p:sp>
      <p:sp>
        <p:nvSpPr>
          <p:cNvPr id="15" name="Shape 10"/>
          <p:cNvSpPr/>
          <p:nvPr/>
        </p:nvSpPr>
        <p:spPr>
          <a:xfrm>
            <a:off x="2828925" y="2423160"/>
            <a:ext cx="0" cy="411480"/>
          </a:xfrm>
          <a:prstGeom prst="line">
            <a:avLst/>
          </a:prstGeom>
          <a:noFill/>
          <a:ln w="19050">
            <a:solidFill>
              <a:srgbClr val="0F8B99"/>
            </a:solidFill>
            <a:prstDash val="solid"/>
          </a:ln>
        </p:spPr>
      </p:sp>
      <p:sp>
        <p:nvSpPr>
          <p:cNvPr id="16" name="Shape 11"/>
          <p:cNvSpPr/>
          <p:nvPr/>
        </p:nvSpPr>
        <p:spPr>
          <a:xfrm>
            <a:off x="2114550" y="2834640"/>
            <a:ext cx="1428750" cy="1234440"/>
          </a:xfrm>
          <a:prstGeom prst="roundRect">
            <a:avLst>
              <a:gd name="adj" fmla="val 8889"/>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pic>
        <p:nvPicPr>
          <p:cNvPr id="17" name="Image 3" descr="preencoded.png">    </p:cNvPr>
          <p:cNvPicPr>
            <a:picLocks noChangeAspect="1"/>
          </p:cNvPicPr>
          <p:nvPr/>
        </p:nvPicPr>
        <p:blipFill>
          <a:blip r:embed="rId4"/>
          <a:stretch>
            <a:fillRect/>
          </a:stretch>
        </p:blipFill>
        <p:spPr>
          <a:xfrm>
            <a:off x="2646045" y="2971800"/>
            <a:ext cx="365760" cy="365760"/>
          </a:xfrm>
          <a:prstGeom prst="rect">
            <a:avLst/>
          </a:prstGeom>
        </p:spPr>
      </p:pic>
      <p:sp>
        <p:nvSpPr>
          <p:cNvPr id="18" name="Text 12"/>
          <p:cNvSpPr txBox="1"/>
          <p:nvPr/>
        </p:nvSpPr>
        <p:spPr>
          <a:xfrm>
            <a:off x="2205990" y="3383280"/>
            <a:ext cx="1245870" cy="420624"/>
          </a:xfrm>
          <a:prstGeom prst="rect">
            <a:avLst/>
          </a:prstGeom>
          <a:noFill/>
          <a:ln/>
        </p:spPr>
        <p:txBody>
          <a:bodyPr wrap="square" lIns="0" tIns="0" rIns="0" bIns="0" rtlCol="0" anchor="ctr"/>
          <a:lstStyle/>
          <a:p>
            <a:pPr algn="ctr" indent="0" marL="0">
              <a:buNone/>
            </a:pPr>
            <a:r>
              <a:rPr lang="en-US" sz="1050" b="1" dirty="0">
                <a:solidFill>
                  <a:srgbClr val="0E2233"/>
                </a:solidFill>
                <a:latin typeface="Calibri" pitchFamily="34" charset="0"/>
                <a:ea typeface="Calibri" pitchFamily="34" charset="-122"/>
                <a:cs typeface="Calibri" pitchFamily="34" charset="-120"/>
              </a:rPr>
              <a:t>Back-office &amp; admin PCs</a:t>
            </a:r>
            <a:endParaRPr lang="en-US" sz="1050" dirty="0"/>
          </a:p>
        </p:txBody>
      </p:sp>
      <p:sp>
        <p:nvSpPr>
          <p:cNvPr id="19" name="Shape 13"/>
          <p:cNvSpPr/>
          <p:nvPr/>
        </p:nvSpPr>
        <p:spPr>
          <a:xfrm>
            <a:off x="2326005" y="3840480"/>
            <a:ext cx="1005840" cy="201168"/>
          </a:xfrm>
          <a:prstGeom prst="roundRect">
            <a:avLst>
              <a:gd name="adj" fmla="val 50000"/>
            </a:avLst>
          </a:prstGeom>
          <a:solidFill>
            <a:srgbClr val="0F8B99"/>
          </a:solidFill>
          <a:ln w="12700">
            <a:solidFill>
              <a:srgbClr val="0F8B99"/>
            </a:solidFill>
            <a:prstDash val="solid"/>
          </a:ln>
        </p:spPr>
      </p:sp>
      <p:sp>
        <p:nvSpPr>
          <p:cNvPr id="20" name="Text 14"/>
          <p:cNvSpPr txBox="1"/>
          <p:nvPr/>
        </p:nvSpPr>
        <p:spPr>
          <a:xfrm>
            <a:off x="2326005" y="3840480"/>
            <a:ext cx="100584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Apex One agent</a:t>
            </a:r>
            <a:endParaRPr lang="en-US" sz="800" dirty="0"/>
          </a:p>
        </p:txBody>
      </p:sp>
      <p:sp>
        <p:nvSpPr>
          <p:cNvPr id="21" name="Shape 15"/>
          <p:cNvSpPr/>
          <p:nvPr/>
        </p:nvSpPr>
        <p:spPr>
          <a:xfrm>
            <a:off x="4394835" y="2423160"/>
            <a:ext cx="0" cy="411480"/>
          </a:xfrm>
          <a:prstGeom prst="line">
            <a:avLst/>
          </a:prstGeom>
          <a:noFill/>
          <a:ln w="19050">
            <a:solidFill>
              <a:srgbClr val="0F8B99"/>
            </a:solidFill>
            <a:prstDash val="solid"/>
          </a:ln>
        </p:spPr>
      </p:sp>
      <p:sp>
        <p:nvSpPr>
          <p:cNvPr id="22" name="Shape 16"/>
          <p:cNvSpPr/>
          <p:nvPr/>
        </p:nvSpPr>
        <p:spPr>
          <a:xfrm>
            <a:off x="3680460" y="2834640"/>
            <a:ext cx="1428750" cy="1234440"/>
          </a:xfrm>
          <a:prstGeom prst="roundRect">
            <a:avLst>
              <a:gd name="adj" fmla="val 8889"/>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pic>
        <p:nvPicPr>
          <p:cNvPr id="23" name="Image 4" descr="preencoded.png">    </p:cNvPr>
          <p:cNvPicPr>
            <a:picLocks noChangeAspect="1"/>
          </p:cNvPicPr>
          <p:nvPr/>
        </p:nvPicPr>
        <p:blipFill>
          <a:blip r:embed="rId5"/>
          <a:stretch>
            <a:fillRect/>
          </a:stretch>
        </p:blipFill>
        <p:spPr>
          <a:xfrm>
            <a:off x="4211955" y="2971800"/>
            <a:ext cx="365760" cy="365760"/>
          </a:xfrm>
          <a:prstGeom prst="rect">
            <a:avLst/>
          </a:prstGeom>
        </p:spPr>
      </p:pic>
      <p:sp>
        <p:nvSpPr>
          <p:cNvPr id="24" name="Text 17"/>
          <p:cNvSpPr txBox="1"/>
          <p:nvPr/>
        </p:nvSpPr>
        <p:spPr>
          <a:xfrm>
            <a:off x="3771900" y="3383280"/>
            <a:ext cx="1245870" cy="420624"/>
          </a:xfrm>
          <a:prstGeom prst="rect">
            <a:avLst/>
          </a:prstGeom>
          <a:noFill/>
          <a:ln/>
        </p:spPr>
        <p:txBody>
          <a:bodyPr wrap="square" lIns="0" tIns="0" rIns="0" bIns="0" rtlCol="0" anchor="ctr"/>
          <a:lstStyle/>
          <a:p>
            <a:pPr algn="ctr" indent="0" marL="0">
              <a:buNone/>
            </a:pPr>
            <a:r>
              <a:rPr lang="en-US" sz="1050" b="1" dirty="0">
                <a:solidFill>
                  <a:srgbClr val="0E2233"/>
                </a:solidFill>
                <a:latin typeface="Calibri" pitchFamily="34" charset="0"/>
                <a:ea typeface="Calibri" pitchFamily="34" charset="-122"/>
                <a:cs typeface="Calibri" pitchFamily="34" charset="-120"/>
              </a:rPr>
              <a:t>Servers</a:t>
            </a:r>
            <a:endParaRPr lang="en-US" sz="1050" dirty="0"/>
          </a:p>
        </p:txBody>
      </p:sp>
      <p:sp>
        <p:nvSpPr>
          <p:cNvPr id="25" name="Shape 18"/>
          <p:cNvSpPr/>
          <p:nvPr/>
        </p:nvSpPr>
        <p:spPr>
          <a:xfrm>
            <a:off x="3891915" y="3840480"/>
            <a:ext cx="1005840" cy="201168"/>
          </a:xfrm>
          <a:prstGeom prst="roundRect">
            <a:avLst>
              <a:gd name="adj" fmla="val 50000"/>
            </a:avLst>
          </a:prstGeom>
          <a:solidFill>
            <a:srgbClr val="0F8B99"/>
          </a:solidFill>
          <a:ln w="12700">
            <a:solidFill>
              <a:srgbClr val="0F8B99"/>
            </a:solidFill>
            <a:prstDash val="solid"/>
          </a:ln>
        </p:spPr>
      </p:sp>
      <p:sp>
        <p:nvSpPr>
          <p:cNvPr id="26" name="Text 19"/>
          <p:cNvSpPr txBox="1"/>
          <p:nvPr/>
        </p:nvSpPr>
        <p:spPr>
          <a:xfrm>
            <a:off x="3891915" y="3840480"/>
            <a:ext cx="100584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Apex One agent</a:t>
            </a:r>
            <a:endParaRPr lang="en-US" sz="800" dirty="0"/>
          </a:p>
        </p:txBody>
      </p:sp>
      <p:sp>
        <p:nvSpPr>
          <p:cNvPr id="27" name="Shape 20"/>
          <p:cNvSpPr/>
          <p:nvPr/>
        </p:nvSpPr>
        <p:spPr>
          <a:xfrm>
            <a:off x="5960745" y="2423160"/>
            <a:ext cx="0" cy="411480"/>
          </a:xfrm>
          <a:prstGeom prst="line">
            <a:avLst/>
          </a:prstGeom>
          <a:noFill/>
          <a:ln w="19050">
            <a:solidFill>
              <a:srgbClr val="0F8B99"/>
            </a:solidFill>
            <a:prstDash val="solid"/>
          </a:ln>
        </p:spPr>
      </p:sp>
      <p:sp>
        <p:nvSpPr>
          <p:cNvPr id="28" name="Shape 21"/>
          <p:cNvSpPr/>
          <p:nvPr/>
        </p:nvSpPr>
        <p:spPr>
          <a:xfrm>
            <a:off x="5246370" y="2834640"/>
            <a:ext cx="1428750" cy="1234440"/>
          </a:xfrm>
          <a:prstGeom prst="roundRect">
            <a:avLst>
              <a:gd name="adj" fmla="val 8889"/>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pic>
        <p:nvPicPr>
          <p:cNvPr id="29" name="Image 5" descr="preencoded.png">    </p:cNvPr>
          <p:cNvPicPr>
            <a:picLocks noChangeAspect="1"/>
          </p:cNvPicPr>
          <p:nvPr/>
        </p:nvPicPr>
        <p:blipFill>
          <a:blip r:embed="rId6"/>
          <a:stretch>
            <a:fillRect/>
          </a:stretch>
        </p:blipFill>
        <p:spPr>
          <a:xfrm>
            <a:off x="5777865" y="2971800"/>
            <a:ext cx="365760" cy="365760"/>
          </a:xfrm>
          <a:prstGeom prst="rect">
            <a:avLst/>
          </a:prstGeom>
        </p:spPr>
      </p:pic>
      <p:sp>
        <p:nvSpPr>
          <p:cNvPr id="30" name="Text 22"/>
          <p:cNvSpPr txBox="1"/>
          <p:nvPr/>
        </p:nvSpPr>
        <p:spPr>
          <a:xfrm>
            <a:off x="5337810" y="3383280"/>
            <a:ext cx="1245870" cy="420624"/>
          </a:xfrm>
          <a:prstGeom prst="rect">
            <a:avLst/>
          </a:prstGeom>
          <a:noFill/>
          <a:ln/>
        </p:spPr>
        <p:txBody>
          <a:bodyPr wrap="square" lIns="0" tIns="0" rIns="0" bIns="0" rtlCol="0" anchor="ctr"/>
          <a:lstStyle/>
          <a:p>
            <a:pPr algn="ctr" indent="0" marL="0">
              <a:buNone/>
            </a:pPr>
            <a:r>
              <a:rPr lang="en-US" sz="1050" b="1" dirty="0">
                <a:solidFill>
                  <a:srgbClr val="0E2233"/>
                </a:solidFill>
                <a:latin typeface="Calibri" pitchFamily="34" charset="0"/>
                <a:ea typeface="Calibri" pitchFamily="34" charset="-122"/>
                <a:cs typeface="Calibri" pitchFamily="34" charset="-120"/>
              </a:rPr>
              <a:t>POS terminals</a:t>
            </a:r>
            <a:endParaRPr lang="en-US" sz="1050" dirty="0"/>
          </a:p>
        </p:txBody>
      </p:sp>
      <p:sp>
        <p:nvSpPr>
          <p:cNvPr id="31" name="Shape 23"/>
          <p:cNvSpPr/>
          <p:nvPr/>
        </p:nvSpPr>
        <p:spPr>
          <a:xfrm>
            <a:off x="5457825" y="3840480"/>
            <a:ext cx="1005840" cy="201168"/>
          </a:xfrm>
          <a:prstGeom prst="roundRect">
            <a:avLst>
              <a:gd name="adj" fmla="val 50000"/>
            </a:avLst>
          </a:prstGeom>
          <a:solidFill>
            <a:srgbClr val="0F8B99"/>
          </a:solidFill>
          <a:ln w="12700">
            <a:solidFill>
              <a:srgbClr val="0F8B99"/>
            </a:solidFill>
            <a:prstDash val="solid"/>
          </a:ln>
        </p:spPr>
      </p:sp>
      <p:sp>
        <p:nvSpPr>
          <p:cNvPr id="32" name="Text 24"/>
          <p:cNvSpPr txBox="1"/>
          <p:nvPr/>
        </p:nvSpPr>
        <p:spPr>
          <a:xfrm>
            <a:off x="5457825" y="3840480"/>
            <a:ext cx="100584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Apex One agent</a:t>
            </a:r>
            <a:endParaRPr lang="en-US" sz="800" dirty="0"/>
          </a:p>
        </p:txBody>
      </p:sp>
      <p:sp>
        <p:nvSpPr>
          <p:cNvPr id="33" name="Shape 25"/>
          <p:cNvSpPr/>
          <p:nvPr/>
        </p:nvSpPr>
        <p:spPr>
          <a:xfrm>
            <a:off x="548640" y="4343400"/>
            <a:ext cx="6126480" cy="713232"/>
          </a:xfrm>
          <a:prstGeom prst="roundRect">
            <a:avLst>
              <a:gd name="adj" fmla="val 15385"/>
            </a:avLst>
          </a:prstGeom>
          <a:solidFill>
            <a:srgbClr val="F4F5F7"/>
          </a:solidFill>
          <a:ln w="9525">
            <a:solidFill>
              <a:srgbClr val="DEE1E5"/>
            </a:solidFill>
            <a:prstDash val="solid"/>
          </a:ln>
        </p:spPr>
      </p:sp>
      <p:sp>
        <p:nvSpPr>
          <p:cNvPr id="34" name="Shape 26"/>
          <p:cNvSpPr/>
          <p:nvPr/>
        </p:nvSpPr>
        <p:spPr>
          <a:xfrm>
            <a:off x="713232" y="4471416"/>
            <a:ext cx="457200" cy="457200"/>
          </a:xfrm>
          <a:prstGeom prst="ellipse">
            <a:avLst/>
          </a:prstGeom>
          <a:solidFill>
            <a:srgbClr val="EAEEF3"/>
          </a:solidFill>
          <a:ln w="12700">
            <a:solidFill>
              <a:srgbClr val="EAEEF3"/>
            </a:solidFill>
            <a:prstDash val="solid"/>
          </a:ln>
        </p:spPr>
      </p:sp>
      <p:pic>
        <p:nvPicPr>
          <p:cNvPr id="35" name="Image 6" descr="preencoded.png">    </p:cNvPr>
          <p:cNvPicPr>
            <a:picLocks noChangeAspect="1"/>
          </p:cNvPicPr>
          <p:nvPr/>
        </p:nvPicPr>
        <p:blipFill>
          <a:blip r:embed="rId7"/>
          <a:stretch>
            <a:fillRect/>
          </a:stretch>
        </p:blipFill>
        <p:spPr>
          <a:xfrm>
            <a:off x="836676" y="4594860"/>
            <a:ext cx="210312" cy="210312"/>
          </a:xfrm>
          <a:prstGeom prst="rect">
            <a:avLst/>
          </a:prstGeom>
        </p:spPr>
      </p:pic>
      <p:sp>
        <p:nvSpPr>
          <p:cNvPr id="36" name="Text 27"/>
          <p:cNvSpPr txBox="1"/>
          <p:nvPr/>
        </p:nvSpPr>
        <p:spPr>
          <a:xfrm>
            <a:off x="1325880" y="4343400"/>
            <a:ext cx="5212080" cy="713232"/>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Nessus (to be retired)</a:t>
            </a:r>
            <a:endParaRPr lang="en-US" sz="1250" dirty="0"/>
          </a:p>
          <a:p>
            <a:pPr indent="0" marL="0">
              <a:buNone/>
            </a:pPr>
            <a:r>
              <a:rPr lang="en-US" sz="1100" dirty="0">
                <a:solidFill>
                  <a:srgbClr val="5F6670"/>
                </a:solidFill>
                <a:latin typeface="Calibri" pitchFamily="34" charset="0"/>
                <a:ea typeface="Calibri" pitchFamily="34" charset="-122"/>
                <a:cs typeface="Calibri" pitchFamily="34" charset="-120"/>
              </a:rPr>
              <a:t>Vulnerability assessment moves into the Apex One agent — no separate scanner or scan schedules</a:t>
            </a:r>
            <a:endParaRPr lang="en-US" sz="1250" dirty="0"/>
          </a:p>
        </p:txBody>
      </p:sp>
      <p:sp>
        <p:nvSpPr>
          <p:cNvPr id="37" name="Shape 28"/>
          <p:cNvSpPr/>
          <p:nvPr/>
        </p:nvSpPr>
        <p:spPr>
          <a:xfrm>
            <a:off x="548640" y="5166360"/>
            <a:ext cx="6126480" cy="713232"/>
          </a:xfrm>
          <a:prstGeom prst="roundRect">
            <a:avLst>
              <a:gd name="adj" fmla="val 15385"/>
            </a:avLst>
          </a:prstGeom>
          <a:solidFill>
            <a:srgbClr val="F4F5F7"/>
          </a:solidFill>
          <a:ln w="9525">
            <a:solidFill>
              <a:srgbClr val="DEE1E5"/>
            </a:solidFill>
            <a:prstDash val="solid"/>
          </a:ln>
        </p:spPr>
      </p:sp>
      <p:sp>
        <p:nvSpPr>
          <p:cNvPr id="38" name="Shape 29"/>
          <p:cNvSpPr/>
          <p:nvPr/>
        </p:nvSpPr>
        <p:spPr>
          <a:xfrm>
            <a:off x="713232" y="5294376"/>
            <a:ext cx="457200" cy="457200"/>
          </a:xfrm>
          <a:prstGeom prst="ellipse">
            <a:avLst/>
          </a:prstGeom>
          <a:solidFill>
            <a:srgbClr val="E7F5F7"/>
          </a:solidFill>
          <a:ln w="12700">
            <a:solidFill>
              <a:srgbClr val="E7F5F7"/>
            </a:solidFill>
            <a:prstDash val="solid"/>
          </a:ln>
        </p:spPr>
      </p:sp>
      <p:pic>
        <p:nvPicPr>
          <p:cNvPr id="39" name="Image 7" descr="preencoded.png">    </p:cNvPr>
          <p:cNvPicPr>
            <a:picLocks noChangeAspect="1"/>
          </p:cNvPicPr>
          <p:nvPr/>
        </p:nvPicPr>
        <p:blipFill>
          <a:blip r:embed="rId8"/>
          <a:stretch>
            <a:fillRect/>
          </a:stretch>
        </p:blipFill>
        <p:spPr>
          <a:xfrm>
            <a:off x="836676" y="5417820"/>
            <a:ext cx="210312" cy="210312"/>
          </a:xfrm>
          <a:prstGeom prst="rect">
            <a:avLst/>
          </a:prstGeom>
        </p:spPr>
      </p:pic>
      <p:sp>
        <p:nvSpPr>
          <p:cNvPr id="40" name="Text 30"/>
          <p:cNvSpPr txBox="1"/>
          <p:nvPr/>
        </p:nvSpPr>
        <p:spPr>
          <a:xfrm>
            <a:off x="1325880" y="5166360"/>
            <a:ext cx="5212080" cy="713232"/>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SECUKOREA</a:t>
            </a:r>
            <a:endParaRPr lang="en-US" sz="1250" dirty="0"/>
          </a:p>
          <a:p>
            <a:pPr indent="0" marL="0">
              <a:buNone/>
            </a:pPr>
            <a:r>
              <a:rPr lang="en-US" sz="1100" dirty="0">
                <a:solidFill>
                  <a:srgbClr val="5F6670"/>
                </a:solidFill>
                <a:latin typeface="Calibri" pitchFamily="34" charset="0"/>
                <a:ea typeface="Calibri" pitchFamily="34" charset="-122"/>
                <a:cs typeface="Calibri" pitchFamily="34" charset="-120"/>
              </a:rPr>
              <a:t>24/7 technical support and a dedicated engineer</a:t>
            </a:r>
            <a:endParaRPr lang="en-US" sz="1250" dirty="0"/>
          </a:p>
        </p:txBody>
      </p:sp>
      <p:sp>
        <p:nvSpPr>
          <p:cNvPr id="41" name="Shape 31"/>
          <p:cNvSpPr/>
          <p:nvPr/>
        </p:nvSpPr>
        <p:spPr>
          <a:xfrm>
            <a:off x="6995160" y="1554480"/>
            <a:ext cx="4647895" cy="1874520"/>
          </a:xfrm>
          <a:prstGeom prst="roundRect">
            <a:avLst>
              <a:gd name="adj" fmla="val 6829"/>
            </a:avLst>
          </a:prstGeom>
          <a:solidFill>
            <a:srgbClr val="E7F5F7"/>
          </a:solidFill>
          <a:ln w="15875">
            <a:solidFill>
              <a:srgbClr val="0F8B99"/>
            </a:solidFill>
            <a:prstDash val="solid"/>
          </a:ln>
        </p:spPr>
      </p:sp>
      <p:sp>
        <p:nvSpPr>
          <p:cNvPr id="42" name="Text 32"/>
          <p:cNvSpPr txBox="1"/>
          <p:nvPr/>
        </p:nvSpPr>
        <p:spPr>
          <a:xfrm>
            <a:off x="7269480" y="1737360"/>
            <a:ext cx="4099255" cy="237744"/>
          </a:xfrm>
          <a:prstGeom prst="rect">
            <a:avLst/>
          </a:prstGeom>
          <a:noFill/>
          <a:ln/>
        </p:spPr>
        <p:txBody>
          <a:bodyPr wrap="square" lIns="0" tIns="0" rIns="0" bIns="0" rtlCol="0" anchor="t"/>
          <a:lstStyle/>
          <a:p>
            <a:pPr indent="0" marL="0">
              <a:buNone/>
            </a:pPr>
            <a:r>
              <a:rPr lang="en-US" sz="1000" b="1" spc="150" kern="0" dirty="0">
                <a:solidFill>
                  <a:srgbClr val="0F8B99"/>
                </a:solidFill>
                <a:latin typeface="Calibri" pitchFamily="34" charset="0"/>
                <a:ea typeface="Calibri" pitchFamily="34" charset="-122"/>
                <a:cs typeface="Calibri" pitchFamily="34" charset="-120"/>
              </a:rPr>
              <a:t>OUR RECOMMENDATION</a:t>
            </a:r>
            <a:endParaRPr lang="en-US" sz="1000" dirty="0"/>
          </a:p>
        </p:txBody>
      </p:sp>
      <p:sp>
        <p:nvSpPr>
          <p:cNvPr id="43" name="Text 33"/>
          <p:cNvSpPr txBox="1"/>
          <p:nvPr/>
        </p:nvSpPr>
        <p:spPr>
          <a:xfrm>
            <a:off x="7269480" y="1993392"/>
            <a:ext cx="4099255" cy="329184"/>
          </a:xfrm>
          <a:prstGeom prst="rect">
            <a:avLst/>
          </a:prstGeom>
          <a:noFill/>
          <a:ln/>
        </p:spPr>
        <p:txBody>
          <a:bodyPr wrap="square" lIns="0" tIns="0" rIns="0" bIns="0" rtlCol="0" anchor="t"/>
          <a:lstStyle/>
          <a:p>
            <a:pPr indent="0" marL="0">
              <a:buNone/>
            </a:pPr>
            <a:r>
              <a:rPr lang="en-US" sz="1700" b="1" dirty="0">
                <a:solidFill>
                  <a:srgbClr val="0E2233"/>
                </a:solidFill>
                <a:latin typeface="Arial" pitchFamily="34" charset="0"/>
                <a:ea typeface="Arial" pitchFamily="34" charset="-122"/>
                <a:cs typeface="Arial" pitchFamily="34" charset="-120"/>
              </a:rPr>
              <a:t>One Agent Replaces Nessus</a:t>
            </a:r>
            <a:endParaRPr lang="en-US" sz="1700" dirty="0"/>
          </a:p>
        </p:txBody>
      </p:sp>
      <p:sp>
        <p:nvSpPr>
          <p:cNvPr id="44" name="Text 34"/>
          <p:cNvSpPr txBox="1"/>
          <p:nvPr/>
        </p:nvSpPr>
        <p:spPr>
          <a:xfrm>
            <a:off x="7269480" y="2359152"/>
            <a:ext cx="4099255" cy="658368"/>
          </a:xfrm>
          <a:prstGeom prst="rect">
            <a:avLst/>
          </a:prstGeom>
          <a:noFill/>
          <a:ln/>
        </p:spPr>
        <p:txBody>
          <a:bodyPr wrap="square" lIns="0" tIns="0" rIns="0" bIns="0" rtlCol="0" anchor="t"/>
          <a:lstStyle/>
          <a:p>
            <a:pPr indent="0" marL="0">
              <a:buNone/>
            </a:pPr>
            <a:r>
              <a:rPr lang="en-US" sz="1100" dirty="0">
                <a:solidFill>
                  <a:srgbClr val="0E2233"/>
                </a:solidFill>
                <a:latin typeface="Calibri" pitchFamily="34" charset="0"/>
                <a:ea typeface="Calibri" pitchFamily="34" charset="-122"/>
                <a:cs typeface="Calibri" pitchFamily="34" charset="-120"/>
              </a:rPr>
              <a:t>Deploy Apex One on all endpoints and retire Nessus. Vulnerability assessment, protection and response run from one agent and one console.</a:t>
            </a:r>
            <a:endParaRPr lang="en-US" sz="1100" dirty="0"/>
          </a:p>
        </p:txBody>
      </p:sp>
      <p:sp>
        <p:nvSpPr>
          <p:cNvPr id="45" name="Text 35"/>
          <p:cNvSpPr txBox="1"/>
          <p:nvPr/>
        </p:nvSpPr>
        <p:spPr>
          <a:xfrm>
            <a:off x="7269480" y="3035808"/>
            <a:ext cx="4099255" cy="292608"/>
          </a:xfrm>
          <a:prstGeom prst="rect">
            <a:avLst/>
          </a:prstGeom>
          <a:noFill/>
          <a:ln/>
        </p:spPr>
        <p:txBody>
          <a:bodyPr wrap="square" lIns="0" tIns="0" rIns="0" bIns="0" rtlCol="0" anchor="t"/>
          <a:lstStyle/>
          <a:p>
            <a:pPr indent="0" marL="0">
              <a:buNone/>
            </a:pPr>
            <a:r>
              <a:rPr lang="en-US" sz="1050" b="1" dirty="0">
                <a:solidFill>
                  <a:srgbClr val="0F8B99"/>
                </a:solidFill>
                <a:latin typeface="Calibri" pitchFamily="34" charset="0"/>
                <a:ea typeface="Calibri" pitchFamily="34" charset="-122"/>
                <a:cs typeface="Calibri" pitchFamily="34" charset="-120"/>
              </a:rPr>
              <a:t>Benefit: </a:t>
            </a:r>
            <a:pPr indent="0" marL="0">
              <a:buNone/>
            </a:pPr>
            <a:r>
              <a:rPr lang="en-US" sz="1050" dirty="0">
                <a:solidFill>
                  <a:srgbClr val="5F6670"/>
                </a:solidFill>
                <a:latin typeface="Calibri" pitchFamily="34" charset="0"/>
                <a:ea typeface="Calibri" pitchFamily="34" charset="-122"/>
                <a:cs typeface="Calibri" pitchFamily="34" charset="-120"/>
              </a:rPr>
              <a:t>One tool instead of two; protection from day one.</a:t>
            </a:r>
            <a:endParaRPr lang="en-US" sz="1050" dirty="0"/>
          </a:p>
        </p:txBody>
      </p:sp>
      <p:sp>
        <p:nvSpPr>
          <p:cNvPr id="46" name="Shape 36"/>
          <p:cNvSpPr/>
          <p:nvPr/>
        </p:nvSpPr>
        <p:spPr>
          <a:xfrm>
            <a:off x="6995160" y="3566160"/>
            <a:ext cx="4647895" cy="1874520"/>
          </a:xfrm>
          <a:prstGeom prst="roundRect">
            <a:avLst>
              <a:gd name="adj" fmla="val 6829"/>
            </a:avLst>
          </a:prstGeom>
          <a:solidFill>
            <a:srgbClr val="FFFFFF"/>
          </a:solidFill>
          <a:ln w="9525">
            <a:solidFill>
              <a:srgbClr val="DEE1E5"/>
            </a:solidFill>
            <a:prstDash val="solid"/>
          </a:ln>
        </p:spPr>
      </p:sp>
      <p:sp>
        <p:nvSpPr>
          <p:cNvPr id="47" name="Text 37"/>
          <p:cNvSpPr txBox="1"/>
          <p:nvPr/>
        </p:nvSpPr>
        <p:spPr>
          <a:xfrm>
            <a:off x="7269480" y="3749040"/>
            <a:ext cx="4099255" cy="237744"/>
          </a:xfrm>
          <a:prstGeom prst="rect">
            <a:avLst/>
          </a:prstGeom>
          <a:noFill/>
          <a:ln/>
        </p:spPr>
        <p:txBody>
          <a:bodyPr wrap="square" lIns="0" tIns="0" rIns="0" bIns="0" rtlCol="0" anchor="t"/>
          <a:lstStyle/>
          <a:p>
            <a:pPr indent="0" marL="0">
              <a:buNone/>
            </a:pPr>
            <a:r>
              <a:rPr lang="en-US" sz="1000" b="1" spc="150" kern="0" dirty="0">
                <a:solidFill>
                  <a:srgbClr val="5D6B7E"/>
                </a:solidFill>
                <a:latin typeface="Calibri" pitchFamily="34" charset="0"/>
                <a:ea typeface="Calibri" pitchFamily="34" charset="-122"/>
                <a:cs typeface="Calibri" pitchFamily="34" charset="-120"/>
              </a:rPr>
              <a:t>HOW THE SWITCH WORKS</a:t>
            </a:r>
            <a:endParaRPr lang="en-US" sz="1000" dirty="0"/>
          </a:p>
        </p:txBody>
      </p:sp>
      <p:sp>
        <p:nvSpPr>
          <p:cNvPr id="48" name="Text 38"/>
          <p:cNvSpPr txBox="1"/>
          <p:nvPr/>
        </p:nvSpPr>
        <p:spPr>
          <a:xfrm>
            <a:off x="7269480" y="4005072"/>
            <a:ext cx="4099255" cy="329184"/>
          </a:xfrm>
          <a:prstGeom prst="rect">
            <a:avLst/>
          </a:prstGeom>
          <a:noFill/>
          <a:ln/>
        </p:spPr>
        <p:txBody>
          <a:bodyPr wrap="square" lIns="0" tIns="0" rIns="0" bIns="0" rtlCol="0" anchor="t"/>
          <a:lstStyle/>
          <a:p>
            <a:pPr indent="0" marL="0">
              <a:buNone/>
            </a:pPr>
            <a:r>
              <a:rPr lang="en-US" sz="1700" b="1" dirty="0">
                <a:solidFill>
                  <a:srgbClr val="0E2233"/>
                </a:solidFill>
                <a:latin typeface="Arial" pitchFamily="34" charset="0"/>
                <a:ea typeface="Arial" pitchFamily="34" charset="-122"/>
                <a:cs typeface="Arial" pitchFamily="34" charset="-120"/>
              </a:rPr>
              <a:t>A Smooth Replacement</a:t>
            </a:r>
            <a:endParaRPr lang="en-US" sz="1700" dirty="0"/>
          </a:p>
        </p:txBody>
      </p:sp>
      <p:sp>
        <p:nvSpPr>
          <p:cNvPr id="49" name="Text 39"/>
          <p:cNvSpPr txBox="1"/>
          <p:nvPr/>
        </p:nvSpPr>
        <p:spPr>
          <a:xfrm>
            <a:off x="7269480" y="4370832"/>
            <a:ext cx="4099255" cy="658368"/>
          </a:xfrm>
          <a:prstGeom prst="rect">
            <a:avLst/>
          </a:prstGeom>
          <a:noFill/>
          <a:ln/>
        </p:spPr>
        <p:txBody>
          <a:bodyPr wrap="square" lIns="0" tIns="0" rIns="0" bIns="0" rtlCol="0" anchor="t"/>
          <a:lstStyle/>
          <a:p>
            <a:pPr indent="0" marL="0">
              <a:buNone/>
            </a:pPr>
            <a:r>
              <a:rPr lang="en-US" sz="1100" dirty="0">
                <a:solidFill>
                  <a:srgbClr val="0E2233"/>
                </a:solidFill>
                <a:latin typeface="Calibri" pitchFamily="34" charset="0"/>
                <a:ea typeface="Calibri" pitchFamily="34" charset="-122"/>
                <a:cs typeface="Calibri" pitchFamily="34" charset="-120"/>
              </a:rPr>
              <a:t>Apex One is deployed and verified first. Nessus is retired once Apex One assessments cover every endpoint — no gap in visibility during the switch.</a:t>
            </a:r>
            <a:endParaRPr lang="en-US" sz="1100" dirty="0"/>
          </a:p>
        </p:txBody>
      </p:sp>
      <p:sp>
        <p:nvSpPr>
          <p:cNvPr id="50" name="Text 40"/>
          <p:cNvSpPr txBox="1"/>
          <p:nvPr/>
        </p:nvSpPr>
        <p:spPr>
          <a:xfrm>
            <a:off x="7269480" y="5047488"/>
            <a:ext cx="4099255" cy="292608"/>
          </a:xfrm>
          <a:prstGeom prst="rect">
            <a:avLst/>
          </a:prstGeom>
          <a:noFill/>
          <a:ln/>
        </p:spPr>
        <p:txBody>
          <a:bodyPr wrap="square" lIns="0" tIns="0" rIns="0" bIns="0" rtlCol="0" anchor="t"/>
          <a:lstStyle/>
          <a:p>
            <a:pPr indent="0" marL="0">
              <a:buNone/>
            </a:pPr>
            <a:r>
              <a:rPr lang="en-US" sz="1050" b="1" dirty="0">
                <a:solidFill>
                  <a:srgbClr val="5D6B7E"/>
                </a:solidFill>
                <a:latin typeface="Calibri" pitchFamily="34" charset="0"/>
                <a:ea typeface="Calibri" pitchFamily="34" charset="-122"/>
                <a:cs typeface="Calibri" pitchFamily="34" charset="-120"/>
              </a:rPr>
              <a:t>Benefit: </a:t>
            </a:r>
            <a:pPr indent="0" marL="0">
              <a:buNone/>
            </a:pPr>
            <a:r>
              <a:rPr lang="en-US" sz="1050" dirty="0">
                <a:solidFill>
                  <a:srgbClr val="5F6670"/>
                </a:solidFill>
                <a:latin typeface="Calibri" pitchFamily="34" charset="0"/>
                <a:ea typeface="Calibri" pitchFamily="34" charset="-122"/>
                <a:cs typeface="Calibri" pitchFamily="34" charset="-120"/>
              </a:rPr>
              <a:t>No scanner host, credentials or scan schedules to maintain.</a:t>
            </a:r>
            <a:endParaRPr lang="en-US" sz="1050" dirty="0"/>
          </a:p>
        </p:txBody>
      </p:sp>
      <p:sp>
        <p:nvSpPr>
          <p:cNvPr id="51" name="Text 41"/>
          <p:cNvSpPr txBox="1"/>
          <p:nvPr/>
        </p:nvSpPr>
        <p:spPr>
          <a:xfrm>
            <a:off x="6995160" y="5596128"/>
            <a:ext cx="4647895" cy="384048"/>
          </a:xfrm>
          <a:prstGeom prst="rect">
            <a:avLst/>
          </a:prstGeom>
          <a:noFill/>
          <a:ln/>
        </p:spPr>
        <p:txBody>
          <a:bodyPr wrap="square" lIns="0" tIns="0" rIns="0" bIns="0" rtlCol="0" anchor="ctr"/>
          <a:lstStyle/>
          <a:p>
            <a:pPr indent="0" marL="0">
              <a:buNone/>
            </a:pPr>
            <a:r>
              <a:rPr lang="en-US" sz="1100" b="1" i="1" dirty="0">
                <a:solidFill>
                  <a:srgbClr val="0E2233"/>
                </a:solidFill>
                <a:latin typeface="Calibri" pitchFamily="34" charset="0"/>
                <a:ea typeface="Calibri" pitchFamily="34" charset="-122"/>
                <a:cs typeface="Calibri" pitchFamily="34" charset="-120"/>
              </a:rPr>
              <a:t>Nessus only finds the gaps. Apex One finds them and closes them — in one agent.</a:t>
            </a:r>
            <a:endParaRPr lang="en-US" sz="1100" dirty="0"/>
          </a:p>
        </p:txBody>
      </p:sp>
      <p:sp>
        <p:nvSpPr>
          <p:cNvPr id="52" name="Text 4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16   |   Nessus vs. Trend Micro Apex One™  ·  Proposal for The Westin Resort Guam</a:t>
            </a:r>
            <a:endParaRPr lang="en-US" sz="900" dirty="0"/>
          </a:p>
        </p:txBody>
      </p:sp>
      <p:pic>
        <p:nvPicPr>
          <p:cNvPr id="53" name="Image 8" descr="/private/tmp/claude-501/-Users-jihanvin-Desktop-NIVNAH-AI/16a96446-d9b3-40e2-af9e-a3011ae3db84/scratchpad/assets/secukorea_dark.png">    </p:cNvPr>
          <p:cNvPicPr>
            <a:picLocks noChangeAspect="1"/>
          </p:cNvPicPr>
          <p:nvPr/>
        </p:nvPicPr>
        <p:blipFill>
          <a:blip r:embed="rId9"/>
          <a:stretch>
            <a:fillRect/>
          </a:stretch>
        </p:blipFill>
        <p:spPr>
          <a:xfrm>
            <a:off x="10661904" y="6400800"/>
            <a:ext cx="978408" cy="23317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16   EXPECTED BENEFITS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From Scan-Only to Always-On Protection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4892040" cy="2788920"/>
          </a:xfrm>
          <a:prstGeom prst="roundRect">
            <a:avLst>
              <a:gd name="adj" fmla="val 4590"/>
            </a:avLst>
          </a:prstGeom>
          <a:solidFill>
            <a:srgbClr val="EAEEF3"/>
          </a:solidFill>
          <a:ln w="12700">
            <a:solidFill>
              <a:srgbClr val="EAEEF3"/>
            </a:solidFill>
            <a:prstDash val="solid"/>
          </a:ln>
        </p:spPr>
      </p:sp>
      <p:sp>
        <p:nvSpPr>
          <p:cNvPr id="6" name="Text 3"/>
          <p:cNvSpPr txBox="1"/>
          <p:nvPr/>
        </p:nvSpPr>
        <p:spPr>
          <a:xfrm>
            <a:off x="868680" y="1783080"/>
            <a:ext cx="4251960" cy="256032"/>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TODAY  ·  NESSUS ONLY</a:t>
            </a:r>
            <a:endParaRPr lang="en-US" sz="1100" dirty="0"/>
          </a:p>
        </p:txBody>
      </p:sp>
      <p:pic>
        <p:nvPicPr>
          <p:cNvPr id="7" name="Image 1" descr="preencoded.png">    </p:cNvPr>
          <p:cNvPicPr>
            <a:picLocks noChangeAspect="1"/>
          </p:cNvPicPr>
          <p:nvPr/>
        </p:nvPicPr>
        <p:blipFill>
          <a:blip r:embed="rId2"/>
          <a:stretch>
            <a:fillRect/>
          </a:stretch>
        </p:blipFill>
        <p:spPr>
          <a:xfrm>
            <a:off x="868680" y="2240280"/>
            <a:ext cx="201168" cy="201168"/>
          </a:xfrm>
          <a:prstGeom prst="rect">
            <a:avLst/>
          </a:prstGeom>
        </p:spPr>
      </p:pic>
      <p:sp>
        <p:nvSpPr>
          <p:cNvPr id="8" name="Text 4"/>
          <p:cNvSpPr txBox="1"/>
          <p:nvPr/>
        </p:nvSpPr>
        <p:spPr>
          <a:xfrm>
            <a:off x="1207008" y="2194560"/>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Vulnerability reports, but no protection</a:t>
            </a:r>
            <a:endParaRPr lang="en-US" sz="1250" dirty="0"/>
          </a:p>
        </p:txBody>
      </p:sp>
      <p:pic>
        <p:nvPicPr>
          <p:cNvPr id="9" name="Image 2" descr="preencoded.png">    </p:cNvPr>
          <p:cNvPicPr>
            <a:picLocks noChangeAspect="1"/>
          </p:cNvPicPr>
          <p:nvPr/>
        </p:nvPicPr>
        <p:blipFill>
          <a:blip r:embed="rId3"/>
          <a:stretch>
            <a:fillRect/>
          </a:stretch>
        </p:blipFill>
        <p:spPr>
          <a:xfrm>
            <a:off x="868680" y="2642616"/>
            <a:ext cx="201168" cy="201168"/>
          </a:xfrm>
          <a:prstGeom prst="rect">
            <a:avLst/>
          </a:prstGeom>
        </p:spPr>
      </p:pic>
      <p:sp>
        <p:nvSpPr>
          <p:cNvPr id="10" name="Text 5"/>
          <p:cNvSpPr txBox="1"/>
          <p:nvPr/>
        </p:nvSpPr>
        <p:spPr>
          <a:xfrm>
            <a:off x="1207008" y="2596896"/>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Weaknesses stay open until patched</a:t>
            </a:r>
            <a:endParaRPr lang="en-US" sz="1250" dirty="0"/>
          </a:p>
        </p:txBody>
      </p:sp>
      <p:pic>
        <p:nvPicPr>
          <p:cNvPr id="11" name="Image 3" descr="preencoded.png">    </p:cNvPr>
          <p:cNvPicPr>
            <a:picLocks noChangeAspect="1"/>
          </p:cNvPicPr>
          <p:nvPr/>
        </p:nvPicPr>
        <p:blipFill>
          <a:blip r:embed="rId4"/>
          <a:stretch>
            <a:fillRect/>
          </a:stretch>
        </p:blipFill>
        <p:spPr>
          <a:xfrm>
            <a:off x="868680" y="3044952"/>
            <a:ext cx="201168" cy="201168"/>
          </a:xfrm>
          <a:prstGeom prst="rect">
            <a:avLst/>
          </a:prstGeom>
        </p:spPr>
      </p:pic>
      <p:sp>
        <p:nvSpPr>
          <p:cNvPr id="12" name="Text 6"/>
          <p:cNvSpPr txBox="1"/>
          <p:nvPr/>
        </p:nvSpPr>
        <p:spPr>
          <a:xfrm>
            <a:off x="1207008" y="2999232"/>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Legacy and POS systems hard to protect</a:t>
            </a:r>
            <a:endParaRPr lang="en-US" sz="1250" dirty="0"/>
          </a:p>
        </p:txBody>
      </p:sp>
      <p:pic>
        <p:nvPicPr>
          <p:cNvPr id="13" name="Image 4" descr="preencoded.png">    </p:cNvPr>
          <p:cNvPicPr>
            <a:picLocks noChangeAspect="1"/>
          </p:cNvPicPr>
          <p:nvPr/>
        </p:nvPicPr>
        <p:blipFill>
          <a:blip r:embed="rId5"/>
          <a:stretch>
            <a:fillRect/>
          </a:stretch>
        </p:blipFill>
        <p:spPr>
          <a:xfrm>
            <a:off x="868680" y="3447288"/>
            <a:ext cx="201168" cy="201168"/>
          </a:xfrm>
          <a:prstGeom prst="rect">
            <a:avLst/>
          </a:prstGeom>
        </p:spPr>
      </p:pic>
      <p:sp>
        <p:nvSpPr>
          <p:cNvPr id="14" name="Text 7"/>
          <p:cNvSpPr txBox="1"/>
          <p:nvPr/>
        </p:nvSpPr>
        <p:spPr>
          <a:xfrm>
            <a:off x="1207008" y="3401568"/>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No defense against ransomware in progress</a:t>
            </a:r>
            <a:endParaRPr lang="en-US" sz="1250" dirty="0"/>
          </a:p>
        </p:txBody>
      </p:sp>
      <p:pic>
        <p:nvPicPr>
          <p:cNvPr id="15" name="Image 5" descr="preencoded.png">    </p:cNvPr>
          <p:cNvPicPr>
            <a:picLocks noChangeAspect="1"/>
          </p:cNvPicPr>
          <p:nvPr/>
        </p:nvPicPr>
        <p:blipFill>
          <a:blip r:embed="rId6"/>
          <a:stretch>
            <a:fillRect/>
          </a:stretch>
        </p:blipFill>
        <p:spPr>
          <a:xfrm>
            <a:off x="868680" y="3849624"/>
            <a:ext cx="201168" cy="201168"/>
          </a:xfrm>
          <a:prstGeom prst="rect">
            <a:avLst/>
          </a:prstGeom>
        </p:spPr>
      </p:pic>
      <p:sp>
        <p:nvSpPr>
          <p:cNvPr id="16" name="Text 8"/>
          <p:cNvSpPr txBox="1"/>
          <p:nvPr/>
        </p:nvSpPr>
        <p:spPr>
          <a:xfrm>
            <a:off x="1207008" y="3803904"/>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Manual patching and investigation</a:t>
            </a:r>
            <a:endParaRPr lang="en-US" sz="1250" dirty="0"/>
          </a:p>
        </p:txBody>
      </p:sp>
      <p:sp>
        <p:nvSpPr>
          <p:cNvPr id="17" name="Shape 9"/>
          <p:cNvSpPr/>
          <p:nvPr/>
        </p:nvSpPr>
        <p:spPr>
          <a:xfrm>
            <a:off x="5775808" y="2628900"/>
            <a:ext cx="640080" cy="640080"/>
          </a:xfrm>
          <a:prstGeom prst="ellipse">
            <a:avLst/>
          </a:prstGeom>
          <a:solidFill>
            <a:srgbClr val="0F8B99"/>
          </a:solidFill>
          <a:ln w="12700">
            <a:solidFill>
              <a:srgbClr val="0F8B99"/>
            </a:solidFill>
            <a:prstDash val="solid"/>
          </a:ln>
        </p:spPr>
      </p:sp>
      <p:pic>
        <p:nvPicPr>
          <p:cNvPr id="18" name="Image 6" descr="preencoded.png">    </p:cNvPr>
          <p:cNvPicPr>
            <a:picLocks noChangeAspect="1"/>
          </p:cNvPicPr>
          <p:nvPr/>
        </p:nvPicPr>
        <p:blipFill>
          <a:blip r:embed="rId7"/>
          <a:stretch>
            <a:fillRect/>
          </a:stretch>
        </p:blipFill>
        <p:spPr>
          <a:xfrm>
            <a:off x="5948629" y="2801722"/>
            <a:ext cx="294437" cy="294437"/>
          </a:xfrm>
          <a:prstGeom prst="rect">
            <a:avLst/>
          </a:prstGeom>
        </p:spPr>
      </p:pic>
      <p:sp>
        <p:nvSpPr>
          <p:cNvPr id="19" name="Shape 10"/>
          <p:cNvSpPr/>
          <p:nvPr/>
        </p:nvSpPr>
        <p:spPr>
          <a:xfrm>
            <a:off x="6751015" y="1554480"/>
            <a:ext cx="4892040" cy="2788920"/>
          </a:xfrm>
          <a:prstGeom prst="roundRect">
            <a:avLst>
              <a:gd name="adj" fmla="val 4590"/>
            </a:avLst>
          </a:prstGeom>
          <a:solidFill>
            <a:srgbClr val="10243A"/>
          </a:solidFill>
          <a:ln w="12700">
            <a:solidFill>
              <a:srgbClr val="10243A"/>
            </a:solidFill>
            <a:prstDash val="solid"/>
          </a:ln>
        </p:spPr>
      </p:sp>
      <p:sp>
        <p:nvSpPr>
          <p:cNvPr id="20" name="Text 11"/>
          <p:cNvSpPr txBox="1"/>
          <p:nvPr/>
        </p:nvSpPr>
        <p:spPr>
          <a:xfrm>
            <a:off x="7071055" y="1783080"/>
            <a:ext cx="425196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Calibri" pitchFamily="34" charset="0"/>
                <a:ea typeface="Calibri" pitchFamily="34" charset="-122"/>
                <a:cs typeface="Calibri" pitchFamily="34" charset="-120"/>
              </a:rPr>
              <a:t>WITH TREND MICRO APEX ONE</a:t>
            </a:r>
            <a:endParaRPr lang="en-US" sz="1100" dirty="0"/>
          </a:p>
        </p:txBody>
      </p:sp>
      <p:pic>
        <p:nvPicPr>
          <p:cNvPr id="21" name="Image 7" descr="preencoded.png">    </p:cNvPr>
          <p:cNvPicPr>
            <a:picLocks noChangeAspect="1"/>
          </p:cNvPicPr>
          <p:nvPr/>
        </p:nvPicPr>
        <p:blipFill>
          <a:blip r:embed="rId8"/>
          <a:stretch>
            <a:fillRect/>
          </a:stretch>
        </p:blipFill>
        <p:spPr>
          <a:xfrm>
            <a:off x="7071055" y="2240280"/>
            <a:ext cx="201168" cy="201168"/>
          </a:xfrm>
          <a:prstGeom prst="rect">
            <a:avLst/>
          </a:prstGeom>
        </p:spPr>
      </p:pic>
      <p:sp>
        <p:nvSpPr>
          <p:cNvPr id="22" name="Text 12"/>
          <p:cNvSpPr txBox="1"/>
          <p:nvPr/>
        </p:nvSpPr>
        <p:spPr>
          <a:xfrm>
            <a:off x="7409383" y="2194560"/>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Automatic protection on every endpoint</a:t>
            </a:r>
            <a:endParaRPr lang="en-US" sz="1250" dirty="0"/>
          </a:p>
        </p:txBody>
      </p:sp>
      <p:pic>
        <p:nvPicPr>
          <p:cNvPr id="23" name="Image 8" descr="preencoded.png">    </p:cNvPr>
          <p:cNvPicPr>
            <a:picLocks noChangeAspect="1"/>
          </p:cNvPicPr>
          <p:nvPr/>
        </p:nvPicPr>
        <p:blipFill>
          <a:blip r:embed="rId9"/>
          <a:stretch>
            <a:fillRect/>
          </a:stretch>
        </p:blipFill>
        <p:spPr>
          <a:xfrm>
            <a:off x="7071055" y="2642616"/>
            <a:ext cx="201168" cy="201168"/>
          </a:xfrm>
          <a:prstGeom prst="rect">
            <a:avLst/>
          </a:prstGeom>
        </p:spPr>
      </p:pic>
      <p:sp>
        <p:nvSpPr>
          <p:cNvPr id="24" name="Text 13"/>
          <p:cNvSpPr txBox="1"/>
          <p:nvPr/>
        </p:nvSpPr>
        <p:spPr>
          <a:xfrm>
            <a:off x="7409383" y="2596896"/>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Vulnerabilities shielded right away</a:t>
            </a:r>
            <a:endParaRPr lang="en-US" sz="1250" dirty="0"/>
          </a:p>
        </p:txBody>
      </p:sp>
      <p:pic>
        <p:nvPicPr>
          <p:cNvPr id="25" name="Image 9" descr="preencoded.png">    </p:cNvPr>
          <p:cNvPicPr>
            <a:picLocks noChangeAspect="1"/>
          </p:cNvPicPr>
          <p:nvPr/>
        </p:nvPicPr>
        <p:blipFill>
          <a:blip r:embed="rId10"/>
          <a:stretch>
            <a:fillRect/>
          </a:stretch>
        </p:blipFill>
        <p:spPr>
          <a:xfrm>
            <a:off x="7071055" y="3044952"/>
            <a:ext cx="201168" cy="201168"/>
          </a:xfrm>
          <a:prstGeom prst="rect">
            <a:avLst/>
          </a:prstGeom>
        </p:spPr>
      </p:pic>
      <p:sp>
        <p:nvSpPr>
          <p:cNvPr id="26" name="Text 14"/>
          <p:cNvSpPr txBox="1"/>
          <p:nvPr/>
        </p:nvSpPr>
        <p:spPr>
          <a:xfrm>
            <a:off x="7409383" y="2999232"/>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POS and legacy systems locked down</a:t>
            </a:r>
            <a:endParaRPr lang="en-US" sz="1250" dirty="0"/>
          </a:p>
        </p:txBody>
      </p:sp>
      <p:pic>
        <p:nvPicPr>
          <p:cNvPr id="27" name="Image 10" descr="preencoded.png">    </p:cNvPr>
          <p:cNvPicPr>
            <a:picLocks noChangeAspect="1"/>
          </p:cNvPicPr>
          <p:nvPr/>
        </p:nvPicPr>
        <p:blipFill>
          <a:blip r:embed="rId11"/>
          <a:stretch>
            <a:fillRect/>
          </a:stretch>
        </p:blipFill>
        <p:spPr>
          <a:xfrm>
            <a:off x="7071055" y="3447288"/>
            <a:ext cx="201168" cy="201168"/>
          </a:xfrm>
          <a:prstGeom prst="rect">
            <a:avLst/>
          </a:prstGeom>
        </p:spPr>
      </p:pic>
      <p:sp>
        <p:nvSpPr>
          <p:cNvPr id="28" name="Text 15"/>
          <p:cNvSpPr txBox="1"/>
          <p:nvPr/>
        </p:nvSpPr>
        <p:spPr>
          <a:xfrm>
            <a:off x="7409383" y="3401568"/>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Ransomware blocked and files rolled back</a:t>
            </a:r>
            <a:endParaRPr lang="en-US" sz="1250" dirty="0"/>
          </a:p>
        </p:txBody>
      </p:sp>
      <p:pic>
        <p:nvPicPr>
          <p:cNvPr id="29" name="Image 11" descr="preencoded.png">    </p:cNvPr>
          <p:cNvPicPr>
            <a:picLocks noChangeAspect="1"/>
          </p:cNvPicPr>
          <p:nvPr/>
        </p:nvPicPr>
        <p:blipFill>
          <a:blip r:embed="rId12"/>
          <a:stretch>
            <a:fillRect/>
          </a:stretch>
        </p:blipFill>
        <p:spPr>
          <a:xfrm>
            <a:off x="7071055" y="3849624"/>
            <a:ext cx="201168" cy="201168"/>
          </a:xfrm>
          <a:prstGeom prst="rect">
            <a:avLst/>
          </a:prstGeom>
        </p:spPr>
      </p:pic>
      <p:sp>
        <p:nvSpPr>
          <p:cNvPr id="30" name="Text 16"/>
          <p:cNvSpPr txBox="1"/>
          <p:nvPr/>
        </p:nvSpPr>
        <p:spPr>
          <a:xfrm>
            <a:off x="7409383" y="3803904"/>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Patching on your own timeline</a:t>
            </a:r>
            <a:endParaRPr lang="en-US" sz="1250" dirty="0"/>
          </a:p>
        </p:txBody>
      </p:sp>
      <p:sp>
        <p:nvSpPr>
          <p:cNvPr id="31" name="Shape 17"/>
          <p:cNvSpPr/>
          <p:nvPr/>
        </p:nvSpPr>
        <p:spPr>
          <a:xfrm>
            <a:off x="548640" y="4617720"/>
            <a:ext cx="2567864" cy="1371600"/>
          </a:xfrm>
          <a:prstGeom prst="roundRect">
            <a:avLst>
              <a:gd name="adj" fmla="val 9333"/>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sp>
        <p:nvSpPr>
          <p:cNvPr id="32" name="Shape 18"/>
          <p:cNvSpPr/>
          <p:nvPr/>
        </p:nvSpPr>
        <p:spPr>
          <a:xfrm>
            <a:off x="777240" y="4846320"/>
            <a:ext cx="475488" cy="475488"/>
          </a:xfrm>
          <a:prstGeom prst="ellipse">
            <a:avLst/>
          </a:prstGeom>
          <a:solidFill>
            <a:srgbClr val="E7F5F7"/>
          </a:solidFill>
          <a:ln w="12700">
            <a:solidFill>
              <a:srgbClr val="E7F5F7"/>
            </a:solidFill>
            <a:prstDash val="solid"/>
          </a:ln>
        </p:spPr>
      </p:sp>
      <p:pic>
        <p:nvPicPr>
          <p:cNvPr id="33" name="Image 12" descr="preencoded.png">    </p:cNvPr>
          <p:cNvPicPr>
            <a:picLocks noChangeAspect="1"/>
          </p:cNvPicPr>
          <p:nvPr/>
        </p:nvPicPr>
        <p:blipFill>
          <a:blip r:embed="rId13"/>
          <a:stretch>
            <a:fillRect/>
          </a:stretch>
        </p:blipFill>
        <p:spPr>
          <a:xfrm>
            <a:off x="905622" y="4974702"/>
            <a:ext cx="218724" cy="218724"/>
          </a:xfrm>
          <a:prstGeom prst="rect">
            <a:avLst/>
          </a:prstGeom>
        </p:spPr>
      </p:pic>
      <p:sp>
        <p:nvSpPr>
          <p:cNvPr id="34" name="Text 19"/>
          <p:cNvSpPr txBox="1"/>
          <p:nvPr/>
        </p:nvSpPr>
        <p:spPr>
          <a:xfrm>
            <a:off x="1371600" y="4846320"/>
            <a:ext cx="1607744" cy="47548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Protect guest trust</a:t>
            </a:r>
            <a:endParaRPr lang="en-US" sz="1300" dirty="0"/>
          </a:p>
        </p:txBody>
      </p:sp>
      <p:sp>
        <p:nvSpPr>
          <p:cNvPr id="35" name="Text 20"/>
          <p:cNvSpPr txBox="1"/>
          <p:nvPr/>
        </p:nvSpPr>
        <p:spPr>
          <a:xfrm>
            <a:off x="777240" y="5440680"/>
            <a:ext cx="2110664" cy="45720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Keep guest data and payments safe</a:t>
            </a:r>
            <a:endParaRPr lang="en-US" sz="1100" dirty="0"/>
          </a:p>
        </p:txBody>
      </p:sp>
      <p:sp>
        <p:nvSpPr>
          <p:cNvPr id="36" name="Shape 21"/>
          <p:cNvSpPr/>
          <p:nvPr/>
        </p:nvSpPr>
        <p:spPr>
          <a:xfrm>
            <a:off x="3390824" y="4617720"/>
            <a:ext cx="2567864" cy="1371600"/>
          </a:xfrm>
          <a:prstGeom prst="roundRect">
            <a:avLst>
              <a:gd name="adj" fmla="val 9333"/>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sp>
        <p:nvSpPr>
          <p:cNvPr id="37" name="Shape 22"/>
          <p:cNvSpPr/>
          <p:nvPr/>
        </p:nvSpPr>
        <p:spPr>
          <a:xfrm>
            <a:off x="3619424" y="4846320"/>
            <a:ext cx="475488" cy="475488"/>
          </a:xfrm>
          <a:prstGeom prst="ellipse">
            <a:avLst/>
          </a:prstGeom>
          <a:solidFill>
            <a:srgbClr val="E7F5F7"/>
          </a:solidFill>
          <a:ln w="12700">
            <a:solidFill>
              <a:srgbClr val="E7F5F7"/>
            </a:solidFill>
            <a:prstDash val="solid"/>
          </a:ln>
        </p:spPr>
      </p:sp>
      <p:pic>
        <p:nvPicPr>
          <p:cNvPr id="38" name="Image 13" descr="preencoded.png">    </p:cNvPr>
          <p:cNvPicPr>
            <a:picLocks noChangeAspect="1"/>
          </p:cNvPicPr>
          <p:nvPr/>
        </p:nvPicPr>
        <p:blipFill>
          <a:blip r:embed="rId14"/>
          <a:stretch>
            <a:fillRect/>
          </a:stretch>
        </p:blipFill>
        <p:spPr>
          <a:xfrm>
            <a:off x="3747806" y="4974702"/>
            <a:ext cx="218724" cy="218724"/>
          </a:xfrm>
          <a:prstGeom prst="rect">
            <a:avLst/>
          </a:prstGeom>
        </p:spPr>
      </p:pic>
      <p:sp>
        <p:nvSpPr>
          <p:cNvPr id="39" name="Text 23"/>
          <p:cNvSpPr txBox="1"/>
          <p:nvPr/>
        </p:nvSpPr>
        <p:spPr>
          <a:xfrm>
            <a:off x="4213784" y="4846320"/>
            <a:ext cx="1607744" cy="47548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Business continuity</a:t>
            </a:r>
            <a:endParaRPr lang="en-US" sz="1300" dirty="0"/>
          </a:p>
        </p:txBody>
      </p:sp>
      <p:sp>
        <p:nvSpPr>
          <p:cNvPr id="40" name="Text 24"/>
          <p:cNvSpPr txBox="1"/>
          <p:nvPr/>
        </p:nvSpPr>
        <p:spPr>
          <a:xfrm>
            <a:off x="3619424" y="5440680"/>
            <a:ext cx="2110664" cy="45720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No emergency patching or ransomware downtime</a:t>
            </a:r>
            <a:endParaRPr lang="en-US" sz="1100" dirty="0"/>
          </a:p>
        </p:txBody>
      </p:sp>
      <p:sp>
        <p:nvSpPr>
          <p:cNvPr id="41" name="Shape 25"/>
          <p:cNvSpPr/>
          <p:nvPr/>
        </p:nvSpPr>
        <p:spPr>
          <a:xfrm>
            <a:off x="6233008" y="4617720"/>
            <a:ext cx="2567864" cy="1371600"/>
          </a:xfrm>
          <a:prstGeom prst="roundRect">
            <a:avLst>
              <a:gd name="adj" fmla="val 9333"/>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sp>
        <p:nvSpPr>
          <p:cNvPr id="42" name="Shape 26"/>
          <p:cNvSpPr/>
          <p:nvPr/>
        </p:nvSpPr>
        <p:spPr>
          <a:xfrm>
            <a:off x="6461608" y="4846320"/>
            <a:ext cx="475488" cy="475488"/>
          </a:xfrm>
          <a:prstGeom prst="ellipse">
            <a:avLst/>
          </a:prstGeom>
          <a:solidFill>
            <a:srgbClr val="E7F5F7"/>
          </a:solidFill>
          <a:ln w="12700">
            <a:solidFill>
              <a:srgbClr val="E7F5F7"/>
            </a:solidFill>
            <a:prstDash val="solid"/>
          </a:ln>
        </p:spPr>
      </p:sp>
      <p:pic>
        <p:nvPicPr>
          <p:cNvPr id="43" name="Image 14" descr="preencoded.png">    </p:cNvPr>
          <p:cNvPicPr>
            <a:picLocks noChangeAspect="1"/>
          </p:cNvPicPr>
          <p:nvPr/>
        </p:nvPicPr>
        <p:blipFill>
          <a:blip r:embed="rId15"/>
          <a:stretch>
            <a:fillRect/>
          </a:stretch>
        </p:blipFill>
        <p:spPr>
          <a:xfrm>
            <a:off x="6589989" y="4974702"/>
            <a:ext cx="218724" cy="218724"/>
          </a:xfrm>
          <a:prstGeom prst="rect">
            <a:avLst/>
          </a:prstGeom>
        </p:spPr>
      </p:pic>
      <p:sp>
        <p:nvSpPr>
          <p:cNvPr id="44" name="Text 27"/>
          <p:cNvSpPr txBox="1"/>
          <p:nvPr/>
        </p:nvSpPr>
        <p:spPr>
          <a:xfrm>
            <a:off x="7055968" y="4846320"/>
            <a:ext cx="1607744" cy="47548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Lower IT workload</a:t>
            </a:r>
            <a:endParaRPr lang="en-US" sz="1300" dirty="0"/>
          </a:p>
        </p:txBody>
      </p:sp>
      <p:sp>
        <p:nvSpPr>
          <p:cNvPr id="45" name="Text 28"/>
          <p:cNvSpPr txBox="1"/>
          <p:nvPr/>
        </p:nvSpPr>
        <p:spPr>
          <a:xfrm>
            <a:off x="6461608" y="5440680"/>
            <a:ext cx="2110664" cy="45720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Automation plus SECUKOREA 24/7 support</a:t>
            </a:r>
            <a:endParaRPr lang="en-US" sz="1100" dirty="0"/>
          </a:p>
        </p:txBody>
      </p:sp>
      <p:sp>
        <p:nvSpPr>
          <p:cNvPr id="46" name="Shape 29"/>
          <p:cNvSpPr/>
          <p:nvPr/>
        </p:nvSpPr>
        <p:spPr>
          <a:xfrm>
            <a:off x="9075191" y="4617720"/>
            <a:ext cx="2567864" cy="1371600"/>
          </a:xfrm>
          <a:prstGeom prst="roundRect">
            <a:avLst>
              <a:gd name="adj" fmla="val 9333"/>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sp>
        <p:nvSpPr>
          <p:cNvPr id="47" name="Shape 30"/>
          <p:cNvSpPr/>
          <p:nvPr/>
        </p:nvSpPr>
        <p:spPr>
          <a:xfrm>
            <a:off x="9303791" y="4846320"/>
            <a:ext cx="475488" cy="475488"/>
          </a:xfrm>
          <a:prstGeom prst="ellipse">
            <a:avLst/>
          </a:prstGeom>
          <a:solidFill>
            <a:srgbClr val="E7F5F7"/>
          </a:solidFill>
          <a:ln w="12700">
            <a:solidFill>
              <a:srgbClr val="E7F5F7"/>
            </a:solidFill>
            <a:prstDash val="solid"/>
          </a:ln>
        </p:spPr>
      </p:sp>
      <p:pic>
        <p:nvPicPr>
          <p:cNvPr id="48" name="Image 15" descr="preencoded.png">    </p:cNvPr>
          <p:cNvPicPr>
            <a:picLocks noChangeAspect="1"/>
          </p:cNvPicPr>
          <p:nvPr/>
        </p:nvPicPr>
        <p:blipFill>
          <a:blip r:embed="rId16"/>
          <a:stretch>
            <a:fillRect/>
          </a:stretch>
        </p:blipFill>
        <p:spPr>
          <a:xfrm>
            <a:off x="9432173" y="4974702"/>
            <a:ext cx="218724" cy="218724"/>
          </a:xfrm>
          <a:prstGeom prst="rect">
            <a:avLst/>
          </a:prstGeom>
        </p:spPr>
      </p:pic>
      <p:sp>
        <p:nvSpPr>
          <p:cNvPr id="49" name="Text 31"/>
          <p:cNvSpPr txBox="1"/>
          <p:nvPr/>
        </p:nvSpPr>
        <p:spPr>
          <a:xfrm>
            <a:off x="9898151" y="4846320"/>
            <a:ext cx="1607744" cy="47548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Compliance support</a:t>
            </a:r>
            <a:endParaRPr lang="en-US" sz="1300" dirty="0"/>
          </a:p>
        </p:txBody>
      </p:sp>
      <p:sp>
        <p:nvSpPr>
          <p:cNvPr id="50" name="Text 32"/>
          <p:cNvSpPr txBox="1"/>
          <p:nvPr/>
        </p:nvSpPr>
        <p:spPr>
          <a:xfrm>
            <a:off x="9303791" y="5440680"/>
            <a:ext cx="2110664" cy="45720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PCI DSS templates and audit-ready reporting</a:t>
            </a:r>
            <a:endParaRPr lang="en-US" sz="1100" dirty="0"/>
          </a:p>
        </p:txBody>
      </p:sp>
      <p:sp>
        <p:nvSpPr>
          <p:cNvPr id="51" name="Text 33"/>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18   |   Nessus vs. Trend Micro Apex One™  ·  Proposal for The Westin Resort Guam</a:t>
            </a:r>
            <a:endParaRPr lang="en-US" sz="900" dirty="0"/>
          </a:p>
        </p:txBody>
      </p:sp>
      <p:pic>
        <p:nvPicPr>
          <p:cNvPr id="52"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43A"/>
        </a:solidFill>
      </p:bgPr>
    </p:bg>
    <p:spTree>
      <p:nvGrpSpPr>
        <p:cNvPr id="1" name=""/>
        <p:cNvGrpSpPr/>
        <p:nvPr/>
      </p:nvGrpSpPr>
      <p:grpSpPr>
        <a:xfrm>
          <a:off x="0" y="0"/>
          <a:ext cx="0" cy="0"/>
          <a:chOff x="0" y="0"/>
          <a:chExt cx="0" cy="0"/>
        </a:xfrm>
      </p:grpSpPr>
      <p:sp>
        <p:nvSpPr>
          <p:cNvPr id="2" name="Shape 0"/>
          <p:cNvSpPr/>
          <p:nvPr/>
        </p:nvSpPr>
        <p:spPr>
          <a:xfrm>
            <a:off x="7223760" y="914400"/>
            <a:ext cx="4754880" cy="4754880"/>
          </a:xfrm>
          <a:prstGeom prst="ellipse">
            <a:avLst/>
          </a:prstGeom>
          <a:ln w="15875">
            <a:solidFill>
              <a:srgbClr val="0F8B99">
                <a:alpha val="15000"/>
              </a:srgbClr>
            </a:solidFill>
            <a:prstDash val="solid"/>
          </a:ln>
        </p:spPr>
      </p:sp>
      <p:sp>
        <p:nvSpPr>
          <p:cNvPr id="3" name="Shape 1"/>
          <p:cNvSpPr/>
          <p:nvPr/>
        </p:nvSpPr>
        <p:spPr>
          <a:xfrm>
            <a:off x="7680960" y="1371600"/>
            <a:ext cx="3840480" cy="3840480"/>
          </a:xfrm>
          <a:prstGeom prst="ellipse">
            <a:avLst/>
          </a:prstGeom>
          <a:ln w="15875">
            <a:solidFill>
              <a:srgbClr val="0F8B99">
                <a:alpha val="35000"/>
              </a:srgbClr>
            </a:solidFill>
            <a:prstDash val="solid"/>
          </a:ln>
        </p:spPr>
      </p:sp>
      <p:sp>
        <p:nvSpPr>
          <p:cNvPr id="4" name="Shape 2"/>
          <p:cNvSpPr/>
          <p:nvPr/>
        </p:nvSpPr>
        <p:spPr>
          <a:xfrm>
            <a:off x="8138160" y="1828800"/>
            <a:ext cx="2926080" cy="2926080"/>
          </a:xfrm>
          <a:prstGeom prst="ellipse">
            <a:avLst/>
          </a:prstGeom>
          <a:solidFill>
            <a:srgbClr val="0F8B99"/>
          </a:solidFill>
          <a:ln w="12700">
            <a:solidFill>
              <a:srgbClr val="0F8B99"/>
            </a:solidFill>
            <a:prstDash val="solid"/>
          </a:ln>
        </p:spPr>
      </p:sp>
      <p:pic>
        <p:nvPicPr>
          <p:cNvPr id="5" name="Image 0" descr="preencoded.png">    </p:cNvPr>
          <p:cNvPicPr>
            <a:picLocks noChangeAspect="1"/>
          </p:cNvPicPr>
          <p:nvPr/>
        </p:nvPicPr>
        <p:blipFill>
          <a:blip r:embed="rId1"/>
          <a:stretch>
            <a:fillRect/>
          </a:stretch>
        </p:blipFill>
        <p:spPr>
          <a:xfrm>
            <a:off x="9015984" y="2706624"/>
            <a:ext cx="1170432" cy="1170432"/>
          </a:xfrm>
          <a:prstGeom prst="rect">
            <a:avLst/>
          </a:prstGeom>
        </p:spPr>
      </p:pic>
      <p:pic>
        <p:nvPicPr>
          <p:cNvPr id="6" name="Image 1" descr="/private/tmp/claude-501/-Users-jihanvin-Desktop-NIVNAH-AI/16a96446-d9b3-40e2-af9e-a3011ae3db84/scratchpad/assets/westin_white.png">    </p:cNvPr>
          <p:cNvPicPr>
            <a:picLocks noChangeAspect="1"/>
          </p:cNvPicPr>
          <p:nvPr/>
        </p:nvPicPr>
        <p:blipFill>
          <a:blip r:embed="rId2"/>
          <a:stretch>
            <a:fillRect/>
          </a:stretch>
        </p:blipFill>
        <p:spPr>
          <a:xfrm>
            <a:off x="548640" y="502920"/>
            <a:ext cx="1371600" cy="411480"/>
          </a:xfrm>
          <a:prstGeom prst="rect">
            <a:avLst/>
          </a:prstGeom>
        </p:spPr>
      </p:pic>
      <p:sp>
        <p:nvSpPr>
          <p:cNvPr id="7" name="Text 3"/>
          <p:cNvSpPr txBox="1"/>
          <p:nvPr/>
        </p:nvSpPr>
        <p:spPr>
          <a:xfrm>
            <a:off x="548640" y="2011680"/>
            <a:ext cx="6400800" cy="365760"/>
          </a:xfrm>
          <a:prstGeom prst="rect">
            <a:avLst/>
          </a:prstGeom>
          <a:noFill/>
          <a:ln/>
        </p:spPr>
        <p:txBody>
          <a:bodyPr wrap="square" lIns="0" tIns="0" rIns="0" bIns="0" rtlCol="0" anchor="t"/>
          <a:lstStyle/>
          <a:p>
            <a:pPr indent="0" marL="0">
              <a:buNone/>
            </a:pPr>
            <a:r>
              <a:rPr lang="en-US" sz="1400" b="1" spc="300" kern="0" dirty="0">
                <a:solidFill>
                  <a:srgbClr val="0F8B99"/>
                </a:solidFill>
                <a:latin typeface="Calibri" pitchFamily="34" charset="0"/>
                <a:ea typeface="Calibri" pitchFamily="34" charset="-122"/>
                <a:cs typeface="Calibri" pitchFamily="34" charset="-120"/>
              </a:rPr>
              <a:t>Q &amp; A</a:t>
            </a:r>
            <a:endParaRPr lang="en-US" sz="1400" dirty="0"/>
          </a:p>
        </p:txBody>
      </p:sp>
      <p:sp>
        <p:nvSpPr>
          <p:cNvPr id="8" name="Text 4"/>
          <p:cNvSpPr txBox="1"/>
          <p:nvPr/>
        </p:nvSpPr>
        <p:spPr>
          <a:xfrm>
            <a:off x="548640" y="2423160"/>
            <a:ext cx="640080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9" name="Text 5"/>
          <p:cNvSpPr txBox="1"/>
          <p:nvPr/>
        </p:nvSpPr>
        <p:spPr>
          <a:xfrm>
            <a:off x="548640" y="3611880"/>
            <a:ext cx="6400800" cy="685800"/>
          </a:xfrm>
          <a:prstGeom prst="rect">
            <a:avLst/>
          </a:prstGeom>
          <a:noFill/>
          <a:ln/>
        </p:spPr>
        <p:txBody>
          <a:bodyPr wrap="square" lIns="0" tIns="0" rIns="0" bIns="0" rtlCol="0" anchor="t"/>
          <a:lstStyle/>
          <a:p>
            <a:pPr indent="0" marL="0">
              <a:buNone/>
            </a:pPr>
            <a:r>
              <a:rPr lang="en-US" sz="1600" dirty="0">
                <a:solidFill>
                  <a:srgbClr val="C8CCD2"/>
                </a:solidFill>
                <a:latin typeface="Calibri" pitchFamily="34" charset="0"/>
                <a:ea typeface="Calibri" pitchFamily="34" charset="-122"/>
                <a:cs typeface="Calibri" pitchFamily="34" charset="-120"/>
              </a:rPr>
              <a:t>Automatic, always-on endpoint protection for The Westin Resort Guam — powered by Trend Micro Apex One.</a:t>
            </a:r>
            <a:endParaRPr lang="en-US" sz="1600" dirty="0"/>
          </a:p>
        </p:txBody>
      </p:sp>
      <p:pic>
        <p:nvPicPr>
          <p:cNvPr id="10" name="Image 2" descr="preencoded.png">    </p:cNvPr>
          <p:cNvPicPr>
            <a:picLocks noChangeAspect="1"/>
          </p:cNvPicPr>
          <p:nvPr/>
        </p:nvPicPr>
        <p:blipFill>
          <a:blip r:embed="rId3"/>
          <a:stretch>
            <a:fillRect/>
          </a:stretch>
        </p:blipFill>
        <p:spPr>
          <a:xfrm>
            <a:off x="548640" y="4626864"/>
            <a:ext cx="219456" cy="219456"/>
          </a:xfrm>
          <a:prstGeom prst="rect">
            <a:avLst/>
          </a:prstGeom>
        </p:spPr>
      </p:pic>
      <p:sp>
        <p:nvSpPr>
          <p:cNvPr id="11" name="Text 6"/>
          <p:cNvSpPr txBox="1"/>
          <p:nvPr/>
        </p:nvSpPr>
        <p:spPr>
          <a:xfrm>
            <a:off x="932688" y="457200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secukorea@secukorea.com</a:t>
            </a:r>
            <a:endParaRPr lang="en-US" sz="1400" dirty="0"/>
          </a:p>
        </p:txBody>
      </p:sp>
      <p:pic>
        <p:nvPicPr>
          <p:cNvPr id="12" name="Image 3" descr="preencoded.png">    </p:cNvPr>
          <p:cNvPicPr>
            <a:picLocks noChangeAspect="1"/>
          </p:cNvPicPr>
          <p:nvPr/>
        </p:nvPicPr>
        <p:blipFill>
          <a:blip r:embed="rId4"/>
          <a:stretch>
            <a:fillRect/>
          </a:stretch>
        </p:blipFill>
        <p:spPr>
          <a:xfrm>
            <a:off x="548640" y="5038344"/>
            <a:ext cx="219456" cy="219456"/>
          </a:xfrm>
          <a:prstGeom prst="rect">
            <a:avLst/>
          </a:prstGeom>
        </p:spPr>
      </p:pic>
      <p:sp>
        <p:nvSpPr>
          <p:cNvPr id="13" name="Text 7"/>
          <p:cNvSpPr txBox="1"/>
          <p:nvPr/>
        </p:nvSpPr>
        <p:spPr>
          <a:xfrm>
            <a:off x="932688" y="498348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+82-2-3400-0877</a:t>
            </a:r>
            <a:endParaRPr lang="en-US" sz="1400" dirty="0"/>
          </a:p>
        </p:txBody>
      </p:sp>
      <p:pic>
        <p:nvPicPr>
          <p:cNvPr id="14" name="Image 4" descr="preencoded.png">    </p:cNvPr>
          <p:cNvPicPr>
            <a:picLocks noChangeAspect="1"/>
          </p:cNvPicPr>
          <p:nvPr/>
        </p:nvPicPr>
        <p:blipFill>
          <a:blip r:embed="rId5"/>
          <a:stretch>
            <a:fillRect/>
          </a:stretch>
        </p:blipFill>
        <p:spPr>
          <a:xfrm>
            <a:off x="548640" y="5449824"/>
            <a:ext cx="219456" cy="219456"/>
          </a:xfrm>
          <a:prstGeom prst="rect">
            <a:avLst/>
          </a:prstGeom>
        </p:spPr>
      </p:pic>
      <p:sp>
        <p:nvSpPr>
          <p:cNvPr id="15" name="Text 8"/>
          <p:cNvSpPr txBox="1"/>
          <p:nvPr/>
        </p:nvSpPr>
        <p:spPr>
          <a:xfrm>
            <a:off x="932688" y="539496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www.secukorea.com</a:t>
            </a:r>
            <a:endParaRPr lang="en-US" sz="1400" dirty="0"/>
          </a:p>
        </p:txBody>
      </p:sp>
      <p:sp>
        <p:nvSpPr>
          <p:cNvPr id="16" name="Text 9"/>
          <p:cNvSpPr txBox="1"/>
          <p:nvPr/>
        </p:nvSpPr>
        <p:spPr>
          <a:xfrm>
            <a:off x="7818120" y="6217920"/>
            <a:ext cx="73152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Solution</a:t>
            </a:r>
            <a:endParaRPr lang="en-US" sz="900" dirty="0"/>
          </a:p>
        </p:txBody>
      </p:sp>
      <p:pic>
        <p:nvPicPr>
          <p:cNvPr id="17" name="Image 5" descr="/private/tmp/claude-501/-Users-jihanvin-Desktop-NIVNAH-AI/16a96446-d9b3-40e2-af9e-a3011ae3db84/scratchpad/assets/tm_logo_light.png">    </p:cNvPr>
          <p:cNvPicPr>
            <a:picLocks noChangeAspect="1"/>
          </p:cNvPicPr>
          <p:nvPr/>
        </p:nvPicPr>
        <p:blipFill>
          <a:blip r:embed="rId6"/>
          <a:stretch>
            <a:fillRect/>
          </a:stretch>
        </p:blipFill>
        <p:spPr>
          <a:xfrm>
            <a:off x="8503920" y="6089904"/>
            <a:ext cx="1340012" cy="475488"/>
          </a:xfrm>
          <a:prstGeom prst="rect">
            <a:avLst/>
          </a:prstGeom>
        </p:spPr>
      </p:pic>
      <p:pic>
        <p:nvPicPr>
          <p:cNvPr id="18" name="Image 6" descr="/private/tmp/claude-501/-Users-jihanvin-Desktop-NIVNAH-AI/16a96446-d9b3-40e2-af9e-a3011ae3db84/scratchpad/assets/secukorea_light.png">    </p:cNvPr>
          <p:cNvPicPr>
            <a:picLocks noChangeAspect="1"/>
          </p:cNvPicPr>
          <p:nvPr/>
        </p:nvPicPr>
        <p:blipFill>
          <a:blip r:embed="rId7"/>
          <a:stretch>
            <a:fillRect/>
          </a:stretch>
        </p:blipFill>
        <p:spPr>
          <a:xfrm>
            <a:off x="10314432" y="6163056"/>
            <a:ext cx="1325880" cy="31546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15   TECHNICAL SUPPORT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SECUKOREA Technical Support</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394960" cy="4434840"/>
          </a:xfrm>
          <a:prstGeom prst="roundRect">
            <a:avLst>
              <a:gd name="adj" fmla="val 2887"/>
            </a:avLst>
          </a:prstGeom>
          <a:solidFill>
            <a:srgbClr val="10243A"/>
          </a:solidFill>
          <a:ln w="12700">
            <a:solidFill>
              <a:srgbClr val="10243A"/>
            </a:solidFill>
            <a:prstDash val="solid"/>
          </a:ln>
        </p:spPr>
      </p:sp>
      <p:sp>
        <p:nvSpPr>
          <p:cNvPr id="6" name="Text 3"/>
          <p:cNvSpPr txBox="1"/>
          <p:nvPr/>
        </p:nvSpPr>
        <p:spPr>
          <a:xfrm>
            <a:off x="868680" y="1828800"/>
            <a:ext cx="4754880" cy="237744"/>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24/7 TECHNICAL SUPPORT</a:t>
            </a:r>
            <a:endParaRPr lang="en-US" sz="1050" dirty="0"/>
          </a:p>
        </p:txBody>
      </p:sp>
      <p:sp>
        <p:nvSpPr>
          <p:cNvPr id="7" name="Text 4"/>
          <p:cNvSpPr txBox="1"/>
          <p:nvPr/>
        </p:nvSpPr>
        <p:spPr>
          <a:xfrm>
            <a:off x="868680" y="2103120"/>
            <a:ext cx="475488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Help whenever the resort needs it</a:t>
            </a:r>
            <a:endParaRPr lang="en-US" sz="2000" dirty="0"/>
          </a:p>
        </p:txBody>
      </p:sp>
      <p:sp>
        <p:nvSpPr>
          <p:cNvPr id="8" name="Shape 5"/>
          <p:cNvSpPr/>
          <p:nvPr/>
        </p:nvSpPr>
        <p:spPr>
          <a:xfrm>
            <a:off x="868680" y="2788920"/>
            <a:ext cx="640080" cy="640080"/>
          </a:xfrm>
          <a:prstGeom prst="ellipse">
            <a:avLst/>
          </a:prstGeom>
          <a:solidFill>
            <a:srgbClr val="0F8B99"/>
          </a:solidFill>
          <a:ln w="12700">
            <a:solidFill>
              <a:srgbClr val="0F8B99"/>
            </a:solidFill>
            <a:prstDash val="solid"/>
          </a:ln>
        </p:spPr>
      </p:sp>
      <p:pic>
        <p:nvPicPr>
          <p:cNvPr id="9" name="Image 1" descr="preencoded.png">    </p:cNvPr>
          <p:cNvPicPr>
            <a:picLocks noChangeAspect="1"/>
          </p:cNvPicPr>
          <p:nvPr/>
        </p:nvPicPr>
        <p:blipFill>
          <a:blip r:embed="rId2"/>
          <a:stretch>
            <a:fillRect/>
          </a:stretch>
        </p:blipFill>
        <p:spPr>
          <a:xfrm>
            <a:off x="1041502" y="2961742"/>
            <a:ext cx="294437" cy="294437"/>
          </a:xfrm>
          <a:prstGeom prst="rect">
            <a:avLst/>
          </a:prstGeom>
        </p:spPr>
      </p:pic>
      <p:sp>
        <p:nvSpPr>
          <p:cNvPr id="10" name="Text 6"/>
          <p:cNvSpPr txBox="1"/>
          <p:nvPr/>
        </p:nvSpPr>
        <p:spPr>
          <a:xfrm>
            <a:off x="1691640" y="280720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1. Contact</a:t>
            </a:r>
            <a:endParaRPr lang="en-US" sz="1400" dirty="0"/>
          </a:p>
        </p:txBody>
      </p:sp>
      <p:sp>
        <p:nvSpPr>
          <p:cNvPr id="11" name="Text 7"/>
          <p:cNvSpPr txBox="1"/>
          <p:nvPr/>
        </p:nvSpPr>
        <p:spPr>
          <a:xfrm>
            <a:off x="1691640" y="310896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Reach SECUKOREA by phone or email at any hour — no time-zone gaps</a:t>
            </a:r>
            <a:endParaRPr lang="en-US" sz="1150" dirty="0"/>
          </a:p>
        </p:txBody>
      </p:sp>
      <p:sp>
        <p:nvSpPr>
          <p:cNvPr id="12" name="Shape 8"/>
          <p:cNvSpPr/>
          <p:nvPr/>
        </p:nvSpPr>
        <p:spPr>
          <a:xfrm>
            <a:off x="1188720" y="3447288"/>
            <a:ext cx="0" cy="329184"/>
          </a:xfrm>
          <a:prstGeom prst="line">
            <a:avLst/>
          </a:prstGeom>
          <a:noFill/>
          <a:ln w="19050">
            <a:solidFill>
              <a:srgbClr val="5A6069"/>
            </a:solidFill>
            <a:prstDash val="solid"/>
          </a:ln>
        </p:spPr>
      </p:sp>
      <p:sp>
        <p:nvSpPr>
          <p:cNvPr id="13" name="Shape 9"/>
          <p:cNvSpPr/>
          <p:nvPr/>
        </p:nvSpPr>
        <p:spPr>
          <a:xfrm>
            <a:off x="868680" y="3794760"/>
            <a:ext cx="640080" cy="640080"/>
          </a:xfrm>
          <a:prstGeom prst="ellipse">
            <a:avLst/>
          </a:prstGeom>
          <a:solidFill>
            <a:srgbClr val="0F8B99"/>
          </a:solidFill>
          <a:ln w="12700">
            <a:solidFill>
              <a:srgbClr val="0F8B99"/>
            </a:solidFill>
            <a:prstDash val="solid"/>
          </a:ln>
        </p:spPr>
      </p:sp>
      <p:pic>
        <p:nvPicPr>
          <p:cNvPr id="14" name="Image 2" descr="preencoded.png">    </p:cNvPr>
          <p:cNvPicPr>
            <a:picLocks noChangeAspect="1"/>
          </p:cNvPicPr>
          <p:nvPr/>
        </p:nvPicPr>
        <p:blipFill>
          <a:blip r:embed="rId3"/>
          <a:stretch>
            <a:fillRect/>
          </a:stretch>
        </p:blipFill>
        <p:spPr>
          <a:xfrm>
            <a:off x="1041502" y="3967582"/>
            <a:ext cx="294437" cy="294437"/>
          </a:xfrm>
          <a:prstGeom prst="rect">
            <a:avLst/>
          </a:prstGeom>
        </p:spPr>
      </p:pic>
      <p:sp>
        <p:nvSpPr>
          <p:cNvPr id="15" name="Text 10"/>
          <p:cNvSpPr txBox="1"/>
          <p:nvPr/>
        </p:nvSpPr>
        <p:spPr>
          <a:xfrm>
            <a:off x="1691640" y="381304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2. Diagnose</a:t>
            </a:r>
            <a:endParaRPr lang="en-US" sz="1400" dirty="0"/>
          </a:p>
        </p:txBody>
      </p:sp>
      <p:sp>
        <p:nvSpPr>
          <p:cNvPr id="16" name="Text 11"/>
          <p:cNvSpPr txBox="1"/>
          <p:nvPr/>
        </p:nvSpPr>
        <p:spPr>
          <a:xfrm>
            <a:off x="1691640" y="411480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Engineers connect remotely to review alerts, logs and agent status</a:t>
            </a:r>
            <a:endParaRPr lang="en-US" sz="1150" dirty="0"/>
          </a:p>
        </p:txBody>
      </p:sp>
      <p:sp>
        <p:nvSpPr>
          <p:cNvPr id="17" name="Shape 12"/>
          <p:cNvSpPr/>
          <p:nvPr/>
        </p:nvSpPr>
        <p:spPr>
          <a:xfrm>
            <a:off x="1188720" y="4453128"/>
            <a:ext cx="0" cy="329184"/>
          </a:xfrm>
          <a:prstGeom prst="line">
            <a:avLst/>
          </a:prstGeom>
          <a:noFill/>
          <a:ln w="19050">
            <a:solidFill>
              <a:srgbClr val="5A6069"/>
            </a:solidFill>
            <a:prstDash val="solid"/>
          </a:ln>
        </p:spPr>
      </p:sp>
      <p:sp>
        <p:nvSpPr>
          <p:cNvPr id="18" name="Shape 13"/>
          <p:cNvSpPr/>
          <p:nvPr/>
        </p:nvSpPr>
        <p:spPr>
          <a:xfrm>
            <a:off x="868680" y="4800600"/>
            <a:ext cx="640080" cy="640080"/>
          </a:xfrm>
          <a:prstGeom prst="ellipse">
            <a:avLst/>
          </a:prstGeom>
          <a:solidFill>
            <a:srgbClr val="0F8B99"/>
          </a:solidFill>
          <a:ln w="12700">
            <a:solidFill>
              <a:srgbClr val="0F8B99"/>
            </a:solidFill>
            <a:prstDash val="solid"/>
          </a:ln>
        </p:spPr>
      </p:sp>
      <p:pic>
        <p:nvPicPr>
          <p:cNvPr id="19" name="Image 3" descr="preencoded.png">    </p:cNvPr>
          <p:cNvPicPr>
            <a:picLocks noChangeAspect="1"/>
          </p:cNvPicPr>
          <p:nvPr/>
        </p:nvPicPr>
        <p:blipFill>
          <a:blip r:embed="rId4"/>
          <a:stretch>
            <a:fillRect/>
          </a:stretch>
        </p:blipFill>
        <p:spPr>
          <a:xfrm>
            <a:off x="1041502" y="4973422"/>
            <a:ext cx="294437" cy="294437"/>
          </a:xfrm>
          <a:prstGeom prst="rect">
            <a:avLst/>
          </a:prstGeom>
        </p:spPr>
      </p:pic>
      <p:sp>
        <p:nvSpPr>
          <p:cNvPr id="20" name="Text 14"/>
          <p:cNvSpPr txBox="1"/>
          <p:nvPr/>
        </p:nvSpPr>
        <p:spPr>
          <a:xfrm>
            <a:off x="1691640" y="481888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3. Resolve</a:t>
            </a:r>
            <a:endParaRPr lang="en-US" sz="1400" dirty="0"/>
          </a:p>
        </p:txBody>
      </p:sp>
      <p:sp>
        <p:nvSpPr>
          <p:cNvPr id="21" name="Text 15"/>
          <p:cNvSpPr txBox="1"/>
          <p:nvPr/>
        </p:nvSpPr>
        <p:spPr>
          <a:xfrm>
            <a:off x="1691640" y="512064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Issues are fixed remotely, with follow-up until systems are stable</a:t>
            </a:r>
            <a:endParaRPr lang="en-US" sz="1150" dirty="0"/>
          </a:p>
        </p:txBody>
      </p:sp>
      <p:sp>
        <p:nvSpPr>
          <p:cNvPr id="22" name="Shape 16"/>
          <p:cNvSpPr/>
          <p:nvPr/>
        </p:nvSpPr>
        <p:spPr>
          <a:xfrm>
            <a:off x="6217920" y="1554480"/>
            <a:ext cx="5425135" cy="4434840"/>
          </a:xfrm>
          <a:prstGeom prst="roundRect">
            <a:avLst>
              <a:gd name="adj" fmla="val 2887"/>
            </a:avLst>
          </a:prstGeom>
          <a:solidFill>
            <a:srgbClr val="F4F5F7"/>
          </a:solidFill>
          <a:ln w="9525">
            <a:solidFill>
              <a:srgbClr val="DEE1E5"/>
            </a:solidFill>
            <a:prstDash val="solid"/>
          </a:ln>
        </p:spPr>
      </p:sp>
      <p:sp>
        <p:nvSpPr>
          <p:cNvPr id="23" name="Text 17"/>
          <p:cNvSpPr txBox="1"/>
          <p:nvPr/>
        </p:nvSpPr>
        <p:spPr>
          <a:xfrm>
            <a:off x="6537960" y="1828800"/>
            <a:ext cx="4785055" cy="237744"/>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DEDICATED ENGINEER ASSIGNMENT</a:t>
            </a:r>
            <a:endParaRPr lang="en-US" sz="1050" dirty="0"/>
          </a:p>
        </p:txBody>
      </p:sp>
      <p:sp>
        <p:nvSpPr>
          <p:cNvPr id="24" name="Text 18"/>
          <p:cNvSpPr txBox="1"/>
          <p:nvPr/>
        </p:nvSpPr>
        <p:spPr>
          <a:xfrm>
            <a:off x="6537960" y="2103120"/>
            <a:ext cx="4785055" cy="411480"/>
          </a:xfrm>
          <a:prstGeom prst="rect">
            <a:avLst/>
          </a:prstGeom>
          <a:noFill/>
          <a:ln/>
        </p:spPr>
        <p:txBody>
          <a:bodyPr wrap="square" lIns="0" tIns="0" rIns="0" bIns="0" rtlCol="0" anchor="t"/>
          <a:lstStyle/>
          <a:p>
            <a:pPr indent="0" marL="0">
              <a:buNone/>
            </a:pPr>
            <a:r>
              <a:rPr lang="en-US" sz="2000" b="1" dirty="0">
                <a:solidFill>
                  <a:srgbClr val="0E2233"/>
                </a:solidFill>
                <a:latin typeface="Arial" pitchFamily="34" charset="0"/>
                <a:ea typeface="Arial" pitchFamily="34" charset="-122"/>
                <a:cs typeface="Arial" pitchFamily="34" charset="-120"/>
              </a:rPr>
              <a:t>One engineer who knows your systems</a:t>
            </a:r>
            <a:endParaRPr lang="en-US" sz="2000" dirty="0"/>
          </a:p>
        </p:txBody>
      </p:sp>
      <p:sp>
        <p:nvSpPr>
          <p:cNvPr id="25" name="Text 19"/>
          <p:cNvSpPr txBox="1"/>
          <p:nvPr/>
        </p:nvSpPr>
        <p:spPr>
          <a:xfrm>
            <a:off x="6537960" y="2542032"/>
            <a:ext cx="4785055" cy="274320"/>
          </a:xfrm>
          <a:prstGeom prst="rect">
            <a:avLst/>
          </a:prstGeom>
          <a:noFill/>
          <a:ln/>
        </p:spPr>
        <p:txBody>
          <a:bodyPr wrap="square" lIns="0" tIns="0" rIns="0" bIns="0" rtlCol="0" anchor="t"/>
          <a:lstStyle/>
          <a:p>
            <a:pPr indent="0" marL="0">
              <a:buNone/>
            </a:pPr>
            <a:r>
              <a:rPr lang="en-US" sz="1200" i="1" dirty="0">
                <a:solidFill>
                  <a:srgbClr val="5F6670"/>
                </a:solidFill>
                <a:latin typeface="Calibri" pitchFamily="34" charset="0"/>
                <a:ea typeface="Calibri" pitchFamily="34" charset="-122"/>
                <a:cs typeface="Calibri" pitchFamily="34" charset="-120"/>
              </a:rPr>
              <a:t>A named SECUKOREA engineer is assigned to The Westin Resort Guam.</a:t>
            </a:r>
            <a:endParaRPr lang="en-US" sz="1200" dirty="0"/>
          </a:p>
        </p:txBody>
      </p:sp>
      <p:sp>
        <p:nvSpPr>
          <p:cNvPr id="26" name="Shape 20"/>
          <p:cNvSpPr/>
          <p:nvPr/>
        </p:nvSpPr>
        <p:spPr>
          <a:xfrm>
            <a:off x="6537960" y="3017520"/>
            <a:ext cx="329184" cy="329184"/>
          </a:xfrm>
          <a:prstGeom prst="ellipse">
            <a:avLst/>
          </a:prstGeom>
          <a:solidFill>
            <a:srgbClr val="0F8B99"/>
          </a:solidFill>
          <a:ln w="12700">
            <a:solidFill>
              <a:srgbClr val="0F8B99"/>
            </a:solidFill>
            <a:prstDash val="solid"/>
          </a:ln>
        </p:spPr>
      </p:sp>
      <p:pic>
        <p:nvPicPr>
          <p:cNvPr id="27" name="Image 4" descr="preencoded.png">    </p:cNvPr>
          <p:cNvPicPr>
            <a:picLocks noChangeAspect="1"/>
          </p:cNvPicPr>
          <p:nvPr/>
        </p:nvPicPr>
        <p:blipFill>
          <a:blip r:embed="rId5"/>
          <a:stretch>
            <a:fillRect/>
          </a:stretch>
        </p:blipFill>
        <p:spPr>
          <a:xfrm>
            <a:off x="6626840" y="3106400"/>
            <a:ext cx="151425" cy="151425"/>
          </a:xfrm>
          <a:prstGeom prst="rect">
            <a:avLst/>
          </a:prstGeom>
        </p:spPr>
      </p:pic>
      <p:sp>
        <p:nvSpPr>
          <p:cNvPr id="28" name="Text 21"/>
          <p:cNvSpPr txBox="1"/>
          <p:nvPr/>
        </p:nvSpPr>
        <p:spPr>
          <a:xfrm>
            <a:off x="7040880" y="298094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Installation, policy setup and tuning</a:t>
            </a:r>
            <a:endParaRPr lang="en-US" sz="1250" dirty="0"/>
          </a:p>
        </p:txBody>
      </p:sp>
      <p:sp>
        <p:nvSpPr>
          <p:cNvPr id="29" name="Shape 22"/>
          <p:cNvSpPr/>
          <p:nvPr/>
        </p:nvSpPr>
        <p:spPr>
          <a:xfrm>
            <a:off x="6537960" y="3566160"/>
            <a:ext cx="329184" cy="329184"/>
          </a:xfrm>
          <a:prstGeom prst="ellipse">
            <a:avLst/>
          </a:prstGeom>
          <a:solidFill>
            <a:srgbClr val="0F8B99"/>
          </a:solidFill>
          <a:ln w="12700">
            <a:solidFill>
              <a:srgbClr val="0F8B99"/>
            </a:solidFill>
            <a:prstDash val="solid"/>
          </a:ln>
        </p:spPr>
      </p:sp>
      <p:pic>
        <p:nvPicPr>
          <p:cNvPr id="30" name="Image 5" descr="preencoded.png">    </p:cNvPr>
          <p:cNvPicPr>
            <a:picLocks noChangeAspect="1"/>
          </p:cNvPicPr>
          <p:nvPr/>
        </p:nvPicPr>
        <p:blipFill>
          <a:blip r:embed="rId6"/>
          <a:stretch>
            <a:fillRect/>
          </a:stretch>
        </p:blipFill>
        <p:spPr>
          <a:xfrm>
            <a:off x="6626840" y="3655040"/>
            <a:ext cx="151425" cy="151425"/>
          </a:xfrm>
          <a:prstGeom prst="rect">
            <a:avLst/>
          </a:prstGeom>
        </p:spPr>
      </p:pic>
      <p:sp>
        <p:nvSpPr>
          <p:cNvPr id="31" name="Text 23"/>
          <p:cNvSpPr txBox="1"/>
          <p:nvPr/>
        </p:nvSpPr>
        <p:spPr>
          <a:xfrm>
            <a:off x="7040880" y="352958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Pattern, agent and server updates</a:t>
            </a:r>
            <a:endParaRPr lang="en-US" sz="1250" dirty="0"/>
          </a:p>
        </p:txBody>
      </p:sp>
      <p:sp>
        <p:nvSpPr>
          <p:cNvPr id="32" name="Shape 24"/>
          <p:cNvSpPr/>
          <p:nvPr/>
        </p:nvSpPr>
        <p:spPr>
          <a:xfrm>
            <a:off x="6537960" y="4114800"/>
            <a:ext cx="329184" cy="329184"/>
          </a:xfrm>
          <a:prstGeom prst="ellipse">
            <a:avLst/>
          </a:prstGeom>
          <a:solidFill>
            <a:srgbClr val="0F8B99"/>
          </a:solidFill>
          <a:ln w="12700">
            <a:solidFill>
              <a:srgbClr val="0F8B99"/>
            </a:solidFill>
            <a:prstDash val="solid"/>
          </a:ln>
        </p:spPr>
      </p:sp>
      <p:pic>
        <p:nvPicPr>
          <p:cNvPr id="33" name="Image 6" descr="preencoded.png">    </p:cNvPr>
          <p:cNvPicPr>
            <a:picLocks noChangeAspect="1"/>
          </p:cNvPicPr>
          <p:nvPr/>
        </p:nvPicPr>
        <p:blipFill>
          <a:blip r:embed="rId7"/>
          <a:stretch>
            <a:fillRect/>
          </a:stretch>
        </p:blipFill>
        <p:spPr>
          <a:xfrm>
            <a:off x="6626840" y="4203680"/>
            <a:ext cx="151425" cy="151425"/>
          </a:xfrm>
          <a:prstGeom prst="rect">
            <a:avLst/>
          </a:prstGeom>
        </p:spPr>
      </p:pic>
      <p:sp>
        <p:nvSpPr>
          <p:cNvPr id="34" name="Text 25"/>
          <p:cNvSpPr txBox="1"/>
          <p:nvPr/>
        </p:nvSpPr>
        <p:spPr>
          <a:xfrm>
            <a:off x="7040880" y="407822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Single point of contact for day-to-day requests</a:t>
            </a:r>
            <a:endParaRPr lang="en-US" sz="1250" dirty="0"/>
          </a:p>
        </p:txBody>
      </p:sp>
      <p:sp>
        <p:nvSpPr>
          <p:cNvPr id="35" name="Shape 26"/>
          <p:cNvSpPr/>
          <p:nvPr/>
        </p:nvSpPr>
        <p:spPr>
          <a:xfrm>
            <a:off x="6537960" y="4663440"/>
            <a:ext cx="329184" cy="329184"/>
          </a:xfrm>
          <a:prstGeom prst="ellipse">
            <a:avLst/>
          </a:prstGeom>
          <a:solidFill>
            <a:srgbClr val="0F8B99"/>
          </a:solidFill>
          <a:ln w="12700">
            <a:solidFill>
              <a:srgbClr val="0F8B99"/>
            </a:solidFill>
            <a:prstDash val="solid"/>
          </a:ln>
        </p:spPr>
      </p:sp>
      <p:pic>
        <p:nvPicPr>
          <p:cNvPr id="36" name="Image 7" descr="preencoded.png">    </p:cNvPr>
          <p:cNvPicPr>
            <a:picLocks noChangeAspect="1"/>
          </p:cNvPicPr>
          <p:nvPr/>
        </p:nvPicPr>
        <p:blipFill>
          <a:blip r:embed="rId8"/>
          <a:stretch>
            <a:fillRect/>
          </a:stretch>
        </p:blipFill>
        <p:spPr>
          <a:xfrm>
            <a:off x="6626840" y="4752320"/>
            <a:ext cx="151425" cy="151425"/>
          </a:xfrm>
          <a:prstGeom prst="rect">
            <a:avLst/>
          </a:prstGeom>
        </p:spPr>
      </p:pic>
      <p:sp>
        <p:nvSpPr>
          <p:cNvPr id="37" name="Text 27"/>
          <p:cNvSpPr txBox="1"/>
          <p:nvPr/>
        </p:nvSpPr>
        <p:spPr>
          <a:xfrm>
            <a:off x="7040880" y="462686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Regular health checks and status reports</a:t>
            </a:r>
            <a:endParaRPr lang="en-US" sz="1250" dirty="0"/>
          </a:p>
        </p:txBody>
      </p:sp>
      <p:sp>
        <p:nvSpPr>
          <p:cNvPr id="38" name="Shape 28"/>
          <p:cNvSpPr/>
          <p:nvPr/>
        </p:nvSpPr>
        <p:spPr>
          <a:xfrm>
            <a:off x="6537960" y="5212080"/>
            <a:ext cx="329184" cy="329184"/>
          </a:xfrm>
          <a:prstGeom prst="ellipse">
            <a:avLst/>
          </a:prstGeom>
          <a:solidFill>
            <a:srgbClr val="0F8B99"/>
          </a:solidFill>
          <a:ln w="12700">
            <a:solidFill>
              <a:srgbClr val="0F8B99"/>
            </a:solidFill>
            <a:prstDash val="solid"/>
          </a:ln>
        </p:spPr>
      </p:sp>
      <p:pic>
        <p:nvPicPr>
          <p:cNvPr id="39" name="Image 8" descr="preencoded.png">    </p:cNvPr>
          <p:cNvPicPr>
            <a:picLocks noChangeAspect="1"/>
          </p:cNvPicPr>
          <p:nvPr/>
        </p:nvPicPr>
        <p:blipFill>
          <a:blip r:embed="rId9"/>
          <a:stretch>
            <a:fillRect/>
          </a:stretch>
        </p:blipFill>
        <p:spPr>
          <a:xfrm>
            <a:off x="6626840" y="5300960"/>
            <a:ext cx="151425" cy="151425"/>
          </a:xfrm>
          <a:prstGeom prst="rect">
            <a:avLst/>
          </a:prstGeom>
        </p:spPr>
      </p:pic>
      <p:sp>
        <p:nvSpPr>
          <p:cNvPr id="40" name="Text 29"/>
          <p:cNvSpPr txBox="1"/>
          <p:nvPr/>
        </p:nvSpPr>
        <p:spPr>
          <a:xfrm>
            <a:off x="7040880" y="517550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Coordination with Trend Micro when needed</a:t>
            </a:r>
            <a:endParaRPr lang="en-US" sz="1250" dirty="0"/>
          </a:p>
        </p:txBody>
      </p:sp>
      <p:sp>
        <p:nvSpPr>
          <p:cNvPr id="41" name="Text 3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17   |   Nessus vs. Trend Micro Apex One™  ·  Proposal for The Westin Resort Guam</a:t>
            </a:r>
            <a:endParaRPr lang="en-US" sz="900" dirty="0"/>
          </a:p>
        </p:txBody>
      </p:sp>
      <p:pic>
        <p:nvPicPr>
          <p:cNvPr id="42"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SECUKOREA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Nessus vs. Trend Micro Apex One — Proposal for The Westin Resort Guam</dc:title>
  <dc:subject>PptxGenJS Presentation</dc:subject>
  <dc:creator>SECUKOREA Inc.</dc:creator>
  <cp:lastModifiedBy>SECUKOREA Inc.</cp:lastModifiedBy>
  <cp:revision>1</cp:revision>
  <dcterms:created xsi:type="dcterms:W3CDTF">2026-09-23T08:02:01Z</dcterms:created>
  <dcterms:modified xsi:type="dcterms:W3CDTF">2026-09-23T08:02:01Z</dcterms:modified>
</cp:coreProperties>
</file>