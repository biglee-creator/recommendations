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notesSlides/notesSlide21.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6" r:id="rId27"/>
    <p:sldId id="273" r:id="rId19"/>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proposal compares the resort’s current tool, Nessus, with Trend Micro Apex One and recommends replacing Nessus with Apex One: vulnerability assessment plus automatic protection and virtual patching in one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Nessus only tells us where the gaps are. Apex One replaces it — it assesses vulnerabilities and also closes them automatically, including virtual patches for systems that cannot be patched right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a 24/7 resort with a small IT team and some older systems. Nessus only produces findings; the resort needs a tool that also protects.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Nessus: it is a good vulnerability scanner. But its job ends with a report. Shielding, prevention, response and remediation are all left to the IT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non-technical stakeholders: Nessus is the inspector who lists broken locks. Apex One replaces the inspector — it finds the broken locks too, posts a guard at every door, fits a temporary lock right away, and can undo ransomware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timeline; actual timing varies by vulnerability. The point: without virtual patching, every vulnerability stays exploitable from disclosure until the patch is installed. Apex One shields the endpoint early, often before the vendor patch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One is automated, insightful and connected, delivered as one lightweight agent. It natively covers Windows PCs, laptops, Mac and servers. In this proposal it runs on premises: an Apex One server with the Apex Central console, connected to Trend Micro’s Smart Protection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One does not rely on one technique. Known-good and known-bad are handled quickly; unknown files pass through machine learning and behavioral analysis. This keeps detection high with few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One replaces the scanner and goes further: it finds the CVE, shields it the same day with a virtual patch, and IT installs the permanent patch in a planned window. Especially valuable for legacy systems that may never get a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protections that matter most for a hotel: ransomware is stopped and its damage undone, and front-desk or other critical systems can be locked so only approved software 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Guest data and card data are the resort’s most sensitive assets. Data loss prevention, device control and web protection work in the same Apex One agent, with PCI DSS templates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and response for a small IT team: Apex One detects and stops attacks by behavior, isolates infected endpoints, and gives one console for investigation. SECUKOREA engineers support the resort around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covers Apex One On-premises: 115 Standard and 10 Advanced licenses on a 1-year subscription, backed by SECUKOREA’s 24/7 technical support and a dedicated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Apex One covers what Nessus does on endpoints — vulnerability assessment — and adds protection, virtual patching, application lockdown and data protection, backed by SECUKOREA’s 24/7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Micro is an established vendor with 30+ years in security. Customer examples include a quick-service restaurant chain — a customer-facing business similar to hospitality.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replace Nessus with Apex One. Apex One is deployed first and its vulnerability assessments are verified; Nessus is then retired, so there is never a gap in visibility. SECUKOREA supports the resort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before and after, then the four business outcomes that matter to hotel management: guest trust, continuity, IT workload and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SECUKOREA supports the resort in two ways: 24/7 remote technical support built for overseas sites, and a dedicated engineer assigned to The Westin Resort Guam as a single point of contact, with escalation to Trend Micro when needed. Our commitment is stable, worry-free security for the resort.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slideLayout" Target="../slideLayouts/slideLayout1.xml"/><Relationship Id="rId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slideLayout" Target="../slideLayouts/slideLayout1.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slideLayout" Target="../slideLayouts/slideLayout1.xml"/><Relationship Id="rId2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slideLayout" Target="../slideLayouts/slideLayout1.xml"/><Relationship Id="rId1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1.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slideLayout" Target="../slideLayouts/slideLayout1.xml"/><Relationship Id="rId2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99"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A"/>
        </a:solidFill>
      </p:bgPr>
    </p:bg>
    <p:spTree>
      <p:nvGrpSpPr>
        <p:cNvPr id="1" name=""/>
        <p:cNvGrpSpPr/>
        <p:nvPr/>
      </p:nvGrpSpPr>
      <p:grpSpPr>
        <a:xfrm>
          <a:off x="0" y="0"/>
          <a:ext cx="0" cy="0"/>
          <a:chOff x="0" y="0"/>
          <a:chExt cx="0" cy="0"/>
        </a:xfrm>
      </p:grpSpPr>
      <p:sp>
        <p:nvSpPr>
          <p:cNvPr id="2" name="Shape 0"/>
          <p:cNvSpPr/>
          <p:nvPr/>
        </p:nvSpPr>
        <p:spPr>
          <a:xfrm>
            <a:off x="7132320" y="960120"/>
            <a:ext cx="4937760" cy="4937760"/>
          </a:xfrm>
          <a:prstGeom prst="ellipse">
            <a:avLst/>
          </a:prstGeom>
          <a:ln w="15875">
            <a:solidFill>
              <a:srgbClr val="0F8B99">
                <a:alpha val="15000"/>
              </a:srgbClr>
            </a:solidFill>
            <a:prstDash val="solid"/>
          </a:ln>
        </p:spPr>
      </p:sp>
      <p:sp>
        <p:nvSpPr>
          <p:cNvPr id="3" name="Shape 1"/>
          <p:cNvSpPr/>
          <p:nvPr/>
        </p:nvSpPr>
        <p:spPr>
          <a:xfrm>
            <a:off x="7589520" y="1417320"/>
            <a:ext cx="4023360" cy="4023360"/>
          </a:xfrm>
          <a:prstGeom prst="ellipse">
            <a:avLst/>
          </a:prstGeom>
          <a:ln w="15875">
            <a:solidFill>
              <a:srgbClr val="0F8B99">
                <a:alpha val="35000"/>
              </a:srgbClr>
            </a:solidFill>
            <a:prstDash val="solid"/>
          </a:ln>
        </p:spPr>
      </p:sp>
      <p:sp>
        <p:nvSpPr>
          <p:cNvPr id="4" name="Shape 2"/>
          <p:cNvSpPr/>
          <p:nvPr/>
        </p:nvSpPr>
        <p:spPr>
          <a:xfrm>
            <a:off x="8046720" y="1874520"/>
            <a:ext cx="3108960" cy="3108960"/>
          </a:xfrm>
          <a:prstGeom prst="ellipse">
            <a:avLst/>
          </a:prstGeom>
          <a:solidFill>
            <a:srgbClr val="0F8B99"/>
          </a:solidFill>
          <a:ln w="12700">
            <a:solidFill>
              <a:srgbClr val="0F8B99"/>
            </a:solidFill>
            <a:prstDash val="solid"/>
          </a:ln>
        </p:spPr>
      </p:sp>
      <p:pic>
        <p:nvPicPr>
          <p:cNvPr id="5" name="Image 0" descr="preencoded.png">    </p:cNvPr>
          <p:cNvPicPr>
            <a:picLocks noChangeAspect="1"/>
          </p:cNvPicPr>
          <p:nvPr/>
        </p:nvPicPr>
        <p:blipFill>
          <a:blip r:embed="rId1"/>
          <a:stretch>
            <a:fillRect/>
          </a:stretch>
        </p:blipFill>
        <p:spPr>
          <a:xfrm>
            <a:off x="8979408" y="2807208"/>
            <a:ext cx="1243584" cy="1243584"/>
          </a:xfrm>
          <a:prstGeom prst="rect">
            <a:avLst/>
          </a:prstGeom>
        </p:spPr>
      </p:pic>
      <p:pic>
        <p:nvPicPr>
          <p:cNvPr id="6" name="Image 1" descr="/private/tmp/claude-501/-Users-jihanvin-Desktop-NIVNAH-AI/16a96446-d9b3-40e2-af9e-a3011ae3db84/scratchpad/assets/westin_white.png">    </p:cNvPr>
          <p:cNvPicPr>
            <a:picLocks noChangeAspect="1"/>
          </p:cNvPicPr>
          <p:nvPr/>
        </p:nvPicPr>
        <p:blipFill>
          <a:blip r:embed="rId2"/>
          <a:stretch>
            <a:fillRect/>
          </a:stretch>
        </p:blipFill>
        <p:spPr>
          <a:xfrm>
            <a:off x="548640" y="502920"/>
            <a:ext cx="1371600" cy="411480"/>
          </a:xfrm>
          <a:prstGeom prst="rect">
            <a:avLst/>
          </a:prstGeom>
        </p:spPr>
      </p:pic>
      <p:sp>
        <p:nvSpPr>
          <p:cNvPr id="7" name="Text 3"/>
          <p:cNvSpPr txBox="1"/>
          <p:nvPr/>
        </p:nvSpPr>
        <p:spPr>
          <a:xfrm>
            <a:off x="548640" y="1645920"/>
            <a:ext cx="6400800" cy="292608"/>
          </a:xfrm>
          <a:prstGeom prst="rect">
            <a:avLst/>
          </a:prstGeom>
          <a:noFill/>
          <a:ln/>
        </p:spPr>
        <p:txBody>
          <a:bodyPr wrap="square" lIns="0" tIns="0" rIns="0" bIns="0" rtlCol="0" anchor="t"/>
          <a:lstStyle/>
          <a:p>
            <a:pPr indent="0" marL="0">
              <a:buNone/>
            </a:pPr>
            <a:r>
              <a:rPr lang="en-US" sz="1200" b="1" spc="300" kern="0" dirty="0">
                <a:solidFill>
                  <a:srgbClr val="0F8B99"/>
                </a:solidFill>
                <a:latin typeface="Arial" pitchFamily="34" charset="0"/>
                <a:ea typeface="Arial" pitchFamily="34" charset="-122"/>
                <a:cs typeface="Arial" pitchFamily="34" charset="-120"/>
              </a:rPr>
              <a:t>BUSINESS PROPOSAL   |   ENDPOINT SECURITY</a:t>
            </a:r>
            <a:endParaRPr lang="en-US" sz="1200" dirty="0"/>
          </a:p>
        </p:txBody>
      </p:sp>
      <p:sp>
        <p:nvSpPr>
          <p:cNvPr id="8" name="Text 4"/>
          <p:cNvSpPr txBox="1"/>
          <p:nvPr/>
        </p:nvSpPr>
        <p:spPr>
          <a:xfrm>
            <a:off x="548640" y="1965960"/>
            <a:ext cx="6400800" cy="18288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From Finding</a:t>
            </a:r>
            <a:endParaRPr lang="en-US" sz="3600" dirty="0"/>
          </a:p>
          <a:p>
            <a:pPr indent="0" marL="0">
              <a:buNone/>
            </a:pPr>
            <a:r>
              <a:rPr lang="en-US" sz="3600" b="1" dirty="0">
                <a:solidFill>
                  <a:srgbClr val="FFFFFF"/>
                </a:solidFill>
                <a:latin typeface="Arial" pitchFamily="34" charset="0"/>
                <a:ea typeface="Arial" pitchFamily="34" charset="-122"/>
                <a:cs typeface="Arial" pitchFamily="34" charset="-120"/>
              </a:rPr>
              <a:t>Vulnerabilities to</a:t>
            </a:r>
            <a:endParaRPr lang="en-US" sz="3600" dirty="0"/>
          </a:p>
          <a:p>
            <a:pPr indent="0" marL="0">
              <a:buNone/>
            </a:pPr>
            <a:r>
              <a:rPr lang="en-US" sz="3600" b="1" dirty="0">
                <a:solidFill>
                  <a:srgbClr val="FFFFFF"/>
                </a:solidFill>
                <a:latin typeface="Arial" pitchFamily="34" charset="0"/>
                <a:ea typeface="Arial" pitchFamily="34" charset="-122"/>
                <a:cs typeface="Arial" pitchFamily="34" charset="-120"/>
              </a:rPr>
              <a:t>Stopping Attacks</a:t>
            </a:r>
            <a:endParaRPr lang="en-US" sz="3600" dirty="0"/>
          </a:p>
        </p:txBody>
      </p:sp>
      <p:sp>
        <p:nvSpPr>
          <p:cNvPr id="9" name="Text 5"/>
          <p:cNvSpPr txBox="1"/>
          <p:nvPr/>
        </p:nvSpPr>
        <p:spPr>
          <a:xfrm>
            <a:off x="548640" y="3931920"/>
            <a:ext cx="6400800" cy="73152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Nessus vs. Trend Micro Apex One™ (EPP / EDR)</a:t>
            </a:r>
            <a:endParaRPr lang="en-US" sz="1800" dirty="0"/>
          </a:p>
          <a:p>
            <a:pPr indent="0" marL="0">
              <a:spcAft>
                <a:spcPts val="400"/>
              </a:spcAft>
              <a:buNone/>
            </a:pPr>
            <a:r>
              <a:rPr lang="en-US" sz="1800" dirty="0">
                <a:solidFill>
                  <a:srgbClr val="C8CCD2"/>
                </a:solidFill>
                <a:latin typeface="Calibri" pitchFamily="34" charset="0"/>
                <a:ea typeface="Calibri" pitchFamily="34" charset="-122"/>
                <a:cs typeface="Calibri" pitchFamily="34" charset="-120"/>
              </a:rPr>
              <a:t>A comparative proposal for The Westin Resort Guam</a:t>
            </a:r>
            <a:endParaRPr lang="en-US" sz="1800" dirty="0"/>
          </a:p>
        </p:txBody>
      </p:sp>
      <p:sp>
        <p:nvSpPr>
          <p:cNvPr id="10" name="Text 6"/>
          <p:cNvSpPr txBox="1"/>
          <p:nvPr/>
        </p:nvSpPr>
        <p:spPr>
          <a:xfrm>
            <a:off x="548640" y="5029200"/>
            <a:ext cx="2194560" cy="219456"/>
          </a:xfrm>
          <a:prstGeom prst="rect">
            <a:avLst/>
          </a:prstGeom>
          <a:noFill/>
          <a:ln/>
        </p:spPr>
        <p:txBody>
          <a:bodyPr wrap="square" lIns="0" tIns="0" rIns="0" bIns="0" rtlCol="0" anchor="t"/>
          <a:lstStyle/>
          <a:p>
            <a:pPr indent="0" marL="0">
              <a:buNone/>
            </a:pPr>
            <a:r>
              <a:rPr lang="en-US" sz="1000" b="1" spc="200" kern="0" dirty="0">
                <a:solidFill>
                  <a:srgbClr val="0F8B99"/>
                </a:solidFill>
                <a:latin typeface="Calibri" pitchFamily="34" charset="0"/>
                <a:ea typeface="Calibri" pitchFamily="34" charset="-122"/>
                <a:cs typeface="Calibri" pitchFamily="34" charset="-120"/>
              </a:rPr>
              <a:t>PROPOSER</a:t>
            </a:r>
            <a:endParaRPr lang="en-US" sz="1000" dirty="0"/>
          </a:p>
        </p:txBody>
      </p:sp>
      <p:sp>
        <p:nvSpPr>
          <p:cNvPr id="11" name="Text 7"/>
          <p:cNvSpPr txBox="1"/>
          <p:nvPr/>
        </p:nvSpPr>
        <p:spPr>
          <a:xfrm>
            <a:off x="548640" y="5276088"/>
            <a:ext cx="2194560" cy="310896"/>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SECUKOREA Inc.</a:t>
            </a:r>
            <a:endParaRPr lang="en-US" sz="1500" dirty="0"/>
          </a:p>
        </p:txBody>
      </p:sp>
      <p:sp>
        <p:nvSpPr>
          <p:cNvPr id="12" name="Text 8"/>
          <p:cNvSpPr txBox="1"/>
          <p:nvPr/>
        </p:nvSpPr>
        <p:spPr>
          <a:xfrm>
            <a:off x="2880360" y="5029200"/>
            <a:ext cx="2194560" cy="219456"/>
          </a:xfrm>
          <a:prstGeom prst="rect">
            <a:avLst/>
          </a:prstGeom>
          <a:noFill/>
          <a:ln/>
        </p:spPr>
        <p:txBody>
          <a:bodyPr wrap="square" lIns="0" tIns="0" rIns="0" bIns="0" rtlCol="0" anchor="t"/>
          <a:lstStyle/>
          <a:p>
            <a:pPr indent="0" marL="0">
              <a:buNone/>
            </a:pPr>
            <a:r>
              <a:rPr lang="en-US" sz="1000" b="1" spc="200" kern="0" dirty="0">
                <a:solidFill>
                  <a:srgbClr val="0F8B99"/>
                </a:solidFill>
                <a:latin typeface="Calibri" pitchFamily="34" charset="0"/>
                <a:ea typeface="Calibri" pitchFamily="34" charset="-122"/>
                <a:cs typeface="Calibri" pitchFamily="34" charset="-120"/>
              </a:rPr>
              <a:t>CLIENT</a:t>
            </a:r>
            <a:endParaRPr lang="en-US" sz="1000" dirty="0"/>
          </a:p>
        </p:txBody>
      </p:sp>
      <p:sp>
        <p:nvSpPr>
          <p:cNvPr id="13" name="Text 9"/>
          <p:cNvSpPr txBox="1"/>
          <p:nvPr/>
        </p:nvSpPr>
        <p:spPr>
          <a:xfrm>
            <a:off x="2880360" y="5276088"/>
            <a:ext cx="2194560" cy="310896"/>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Westin Resort Guam</a:t>
            </a:r>
            <a:endParaRPr lang="en-US" sz="1500" dirty="0"/>
          </a:p>
        </p:txBody>
      </p:sp>
      <p:sp>
        <p:nvSpPr>
          <p:cNvPr id="14" name="Text 10"/>
          <p:cNvSpPr txBox="1"/>
          <p:nvPr/>
        </p:nvSpPr>
        <p:spPr>
          <a:xfrm>
            <a:off x="5212080" y="5029200"/>
            <a:ext cx="2194560" cy="219456"/>
          </a:xfrm>
          <a:prstGeom prst="rect">
            <a:avLst/>
          </a:prstGeom>
          <a:noFill/>
          <a:ln/>
        </p:spPr>
        <p:txBody>
          <a:bodyPr wrap="square" lIns="0" tIns="0" rIns="0" bIns="0" rtlCol="0" anchor="t"/>
          <a:lstStyle/>
          <a:p>
            <a:pPr indent="0" marL="0">
              <a:buNone/>
            </a:pPr>
            <a:r>
              <a:rPr lang="en-US" sz="1000" b="1" spc="200" kern="0" dirty="0">
                <a:solidFill>
                  <a:srgbClr val="0F8B99"/>
                </a:solidFill>
                <a:latin typeface="Calibri" pitchFamily="34" charset="0"/>
                <a:ea typeface="Calibri" pitchFamily="34" charset="-122"/>
                <a:cs typeface="Calibri" pitchFamily="34" charset="-120"/>
              </a:rPr>
              <a:t>DATE</a:t>
            </a:r>
            <a:endParaRPr lang="en-US" sz="1000" dirty="0"/>
          </a:p>
        </p:txBody>
      </p:sp>
      <p:sp>
        <p:nvSpPr>
          <p:cNvPr id="15" name="Text 11"/>
          <p:cNvSpPr txBox="1"/>
          <p:nvPr/>
        </p:nvSpPr>
        <p:spPr>
          <a:xfrm>
            <a:off x="5212080" y="5276088"/>
            <a:ext cx="2194560" cy="310896"/>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September 2026</a:t>
            </a:r>
            <a:endParaRPr lang="en-US" sz="1500" dirty="0"/>
          </a:p>
        </p:txBody>
      </p:sp>
      <p:sp>
        <p:nvSpPr>
          <p:cNvPr id="16" name="Text 12"/>
          <p:cNvSpPr txBox="1"/>
          <p:nvPr/>
        </p:nvSpPr>
        <p:spPr>
          <a:xfrm>
            <a:off x="7818120" y="6217920"/>
            <a:ext cx="731520" cy="219456"/>
          </a:xfrm>
          <a:prstGeom prst="rect">
            <a:avLst/>
          </a:prstGeom>
          <a:noFill/>
          <a:ln/>
        </p:spPr>
        <p:txBody>
          <a:bodyPr wrap="square" lIns="0" tIns="0" rIns="0" bIns="0" rtlCol="0" anchor="ctr"/>
          <a:lstStyle/>
          <a:p>
            <a:pPr indent="0" marL="0">
              <a:buNone/>
            </a:pPr>
            <a:r>
              <a:rPr lang="en-US" sz="900" dirty="0">
                <a:solidFill>
                  <a:srgbClr val="9AA1AB"/>
                </a:solidFill>
                <a:latin typeface="Calibri" pitchFamily="34" charset="0"/>
                <a:ea typeface="Calibri" pitchFamily="34" charset="-122"/>
                <a:cs typeface="Calibri" pitchFamily="34" charset="-120"/>
              </a:rPr>
              <a:t>Solution</a:t>
            </a:r>
            <a:endParaRPr lang="en-US" sz="900" dirty="0"/>
          </a:p>
        </p:txBody>
      </p:sp>
      <p:pic>
        <p:nvPicPr>
          <p:cNvPr id="17" name="Image 2" descr="/private/tmp/claude-501/-Users-jihanvin-Desktop-NIVNAH-AI/16a96446-d9b3-40e2-af9e-a3011ae3db84/scratchpad/assets/tm_logo_light.png">    </p:cNvPr>
          <p:cNvPicPr>
            <a:picLocks noChangeAspect="1"/>
          </p:cNvPicPr>
          <p:nvPr/>
        </p:nvPicPr>
        <p:blipFill>
          <a:blip r:embed="rId3"/>
          <a:stretch>
            <a:fillRect/>
          </a:stretch>
        </p:blipFill>
        <p:spPr>
          <a:xfrm>
            <a:off x="8503920" y="6089904"/>
            <a:ext cx="1340012" cy="475488"/>
          </a:xfrm>
          <a:prstGeom prst="rect">
            <a:avLst/>
          </a:prstGeom>
        </p:spPr>
      </p:pic>
      <p:pic>
        <p:nvPicPr>
          <p:cNvPr id="18" name="Image 3" descr="/private/tmp/claude-501/-Users-jihanvin-Desktop-NIVNAH-AI/16a96446-d9b3-40e2-af9e-a3011ae3db84/scratchpad/assets/secukorea_light.png">    </p:cNvPr>
          <p:cNvPicPr>
            <a:picLocks noChangeAspect="1"/>
          </p:cNvPicPr>
          <p:nvPr/>
        </p:nvPicPr>
        <p:blipFill>
          <a:blip r:embed="rId4"/>
          <a:stretch>
            <a:fillRect/>
          </a:stretch>
        </p:blipFill>
        <p:spPr>
          <a:xfrm>
            <a:off x="10314432" y="6163056"/>
            <a:ext cx="1325880" cy="315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EXECUTIVE SUMMARY</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Replace Nessus with One Agent That Also Protects</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Text 2"/>
          <p:cNvSpPr txBox="1"/>
          <p:nvPr/>
        </p:nvSpPr>
        <p:spPr>
          <a:xfrm>
            <a:off x="548640" y="1417320"/>
            <a:ext cx="11094415" cy="566928"/>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The Westin Resort Guam uses Nessus today, but it only reports vulnerabilities. We propose replacing it with Trend Micro Apex One: vulnerability assessment by CVE, plus automatic protection, virtual patching and detection and response — all in one lightweight agent.</a:t>
            </a:r>
            <a:endParaRPr lang="en-US" sz="1400" dirty="0"/>
          </a:p>
        </p:txBody>
      </p:sp>
      <p:sp>
        <p:nvSpPr>
          <p:cNvPr id="6" name="Shape 3"/>
          <p:cNvSpPr/>
          <p:nvPr/>
        </p:nvSpPr>
        <p:spPr>
          <a:xfrm>
            <a:off x="548640" y="2148840"/>
            <a:ext cx="3515258" cy="2487168"/>
          </a:xfrm>
          <a:prstGeom prst="roundRect">
            <a:avLst>
              <a:gd name="adj" fmla="val 4412"/>
            </a:avLst>
          </a:prstGeom>
          <a:solidFill>
            <a:srgbClr val="F4F5F7"/>
          </a:solidFill>
          <a:ln w="9525">
            <a:solidFill>
              <a:srgbClr val="DEE1E5"/>
            </a:solidFill>
            <a:prstDash val="solid"/>
          </a:ln>
        </p:spPr>
      </p:sp>
      <p:sp>
        <p:nvSpPr>
          <p:cNvPr id="7" name="Shape 4"/>
          <p:cNvSpPr/>
          <p:nvPr/>
        </p:nvSpPr>
        <p:spPr>
          <a:xfrm>
            <a:off x="822960" y="2423160"/>
            <a:ext cx="530352" cy="530352"/>
          </a:xfrm>
          <a:prstGeom prst="ellipse">
            <a:avLst/>
          </a:prstGeom>
          <a:solidFill>
            <a:srgbClr val="EAEEF3"/>
          </a:solidFill>
          <a:ln w="12700">
            <a:solidFill>
              <a:srgbClr val="EAEEF3"/>
            </a:solidFill>
            <a:prstDash val="solid"/>
          </a:ln>
        </p:spPr>
      </p:sp>
      <p:pic>
        <p:nvPicPr>
          <p:cNvPr id="8" name="Image 1" descr="preencoded.png">    </p:cNvPr>
          <p:cNvPicPr>
            <a:picLocks noChangeAspect="1"/>
          </p:cNvPicPr>
          <p:nvPr/>
        </p:nvPicPr>
        <p:blipFill>
          <a:blip r:embed="rId2"/>
          <a:stretch>
            <a:fillRect/>
          </a:stretch>
        </p:blipFill>
        <p:spPr>
          <a:xfrm>
            <a:off x="966155" y="2566355"/>
            <a:ext cx="243962" cy="243962"/>
          </a:xfrm>
          <a:prstGeom prst="rect">
            <a:avLst/>
          </a:prstGeom>
        </p:spPr>
      </p:pic>
      <p:sp>
        <p:nvSpPr>
          <p:cNvPr id="9" name="Text 5"/>
          <p:cNvSpPr txBox="1"/>
          <p:nvPr/>
        </p:nvSpPr>
        <p:spPr>
          <a:xfrm>
            <a:off x="1481328" y="2551176"/>
            <a:ext cx="2417978" cy="274320"/>
          </a:xfrm>
          <a:prstGeom prst="rect">
            <a:avLst/>
          </a:prstGeom>
          <a:noFill/>
          <a:ln/>
        </p:spPr>
        <p:txBody>
          <a:bodyPr wrap="square" lIns="0" tIns="0" rIns="0" bIns="0" rtlCol="0" anchor="ctr"/>
          <a:lstStyle/>
          <a:p>
            <a:pPr indent="0" marL="0">
              <a:buNone/>
            </a:pPr>
            <a:r>
              <a:rPr lang="en-US" sz="1050" b="1" spc="150" kern="0" dirty="0">
                <a:solidFill>
                  <a:srgbClr val="5D6B7E"/>
                </a:solidFill>
                <a:latin typeface="Calibri" pitchFamily="34" charset="0"/>
                <a:ea typeface="Calibri" pitchFamily="34" charset="-122"/>
                <a:cs typeface="Calibri" pitchFamily="34" charset="-120"/>
              </a:rPr>
              <a:t>WHERE WE ARE</a:t>
            </a:r>
            <a:endParaRPr lang="en-US" sz="1050" dirty="0"/>
          </a:p>
        </p:txBody>
      </p:sp>
      <p:sp>
        <p:nvSpPr>
          <p:cNvPr id="10" name="Text 6"/>
          <p:cNvSpPr txBox="1"/>
          <p:nvPr/>
        </p:nvSpPr>
        <p:spPr>
          <a:xfrm>
            <a:off x="822960" y="3081528"/>
            <a:ext cx="2966618" cy="566928"/>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24/7 resort, small IT team, scan-only security</a:t>
            </a:r>
            <a:endParaRPr lang="en-US" sz="1500" dirty="0"/>
          </a:p>
        </p:txBody>
      </p:sp>
      <p:sp>
        <p:nvSpPr>
          <p:cNvPr id="11" name="Text 7"/>
          <p:cNvSpPr txBox="1"/>
          <p:nvPr/>
        </p:nvSpPr>
        <p:spPr>
          <a:xfrm>
            <a:off x="822960" y="3675888"/>
            <a:ext cx="2966618" cy="896112"/>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Guest data, payments and front-desk systems must stay protected around the clock. Today Nessus reports vulnerabilities, but every fix and every incident depends on staff effort.</a:t>
            </a:r>
            <a:endParaRPr lang="en-US" sz="1200" dirty="0"/>
          </a:p>
        </p:txBody>
      </p:sp>
      <p:sp>
        <p:nvSpPr>
          <p:cNvPr id="12" name="Shape 8"/>
          <p:cNvSpPr/>
          <p:nvPr/>
        </p:nvSpPr>
        <p:spPr>
          <a:xfrm>
            <a:off x="4338218" y="2148840"/>
            <a:ext cx="3515258" cy="2487168"/>
          </a:xfrm>
          <a:prstGeom prst="roundRect">
            <a:avLst>
              <a:gd name="adj" fmla="val 4412"/>
            </a:avLst>
          </a:prstGeom>
          <a:solidFill>
            <a:srgbClr val="F4F5F7"/>
          </a:solidFill>
          <a:ln w="9525">
            <a:solidFill>
              <a:srgbClr val="DEE1E5"/>
            </a:solidFill>
            <a:prstDash val="solid"/>
          </a:ln>
        </p:spPr>
      </p:sp>
      <p:sp>
        <p:nvSpPr>
          <p:cNvPr id="13" name="Shape 9"/>
          <p:cNvSpPr/>
          <p:nvPr/>
        </p:nvSpPr>
        <p:spPr>
          <a:xfrm>
            <a:off x="4612538" y="2423160"/>
            <a:ext cx="530352" cy="530352"/>
          </a:xfrm>
          <a:prstGeom prst="ellipse">
            <a:avLst/>
          </a:prstGeom>
          <a:solidFill>
            <a:srgbClr val="EAEEF3"/>
          </a:solidFill>
          <a:ln w="12700">
            <a:solidFill>
              <a:srgbClr val="EAEEF3"/>
            </a:solidFill>
            <a:prstDash val="solid"/>
          </a:ln>
        </p:spPr>
      </p:sp>
      <p:pic>
        <p:nvPicPr>
          <p:cNvPr id="14" name="Image 2" descr="preencoded.png">    </p:cNvPr>
          <p:cNvPicPr>
            <a:picLocks noChangeAspect="1"/>
          </p:cNvPicPr>
          <p:nvPr/>
        </p:nvPicPr>
        <p:blipFill>
          <a:blip r:embed="rId3"/>
          <a:stretch>
            <a:fillRect/>
          </a:stretch>
        </p:blipFill>
        <p:spPr>
          <a:xfrm>
            <a:off x="4755733" y="2566355"/>
            <a:ext cx="243962" cy="243962"/>
          </a:xfrm>
          <a:prstGeom prst="rect">
            <a:avLst/>
          </a:prstGeom>
        </p:spPr>
      </p:pic>
      <p:sp>
        <p:nvSpPr>
          <p:cNvPr id="15" name="Text 10"/>
          <p:cNvSpPr txBox="1"/>
          <p:nvPr/>
        </p:nvSpPr>
        <p:spPr>
          <a:xfrm>
            <a:off x="5270906" y="2551176"/>
            <a:ext cx="2417978" cy="274320"/>
          </a:xfrm>
          <a:prstGeom prst="rect">
            <a:avLst/>
          </a:prstGeom>
          <a:noFill/>
          <a:ln/>
        </p:spPr>
        <p:txBody>
          <a:bodyPr wrap="square" lIns="0" tIns="0" rIns="0" bIns="0" rtlCol="0" anchor="ctr"/>
          <a:lstStyle/>
          <a:p>
            <a:pPr indent="0" marL="0">
              <a:buNone/>
            </a:pPr>
            <a:r>
              <a:rPr lang="en-US" sz="1050" b="1" spc="150" kern="0" dirty="0">
                <a:solidFill>
                  <a:srgbClr val="5D6B7E"/>
                </a:solidFill>
                <a:latin typeface="Calibri" pitchFamily="34" charset="0"/>
                <a:ea typeface="Calibri" pitchFamily="34" charset="-122"/>
                <a:cs typeface="Calibri" pitchFamily="34" charset="-120"/>
              </a:rPr>
              <a:t>THE GAP</a:t>
            </a:r>
            <a:endParaRPr lang="en-US" sz="1050" dirty="0"/>
          </a:p>
        </p:txBody>
      </p:sp>
      <p:sp>
        <p:nvSpPr>
          <p:cNvPr id="16" name="Text 11"/>
          <p:cNvSpPr txBox="1"/>
          <p:nvPr/>
        </p:nvSpPr>
        <p:spPr>
          <a:xfrm>
            <a:off x="4612538" y="3081528"/>
            <a:ext cx="2966618" cy="566928"/>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Finding a weakness is not fixing it</a:t>
            </a:r>
            <a:endParaRPr lang="en-US" sz="1500" dirty="0"/>
          </a:p>
        </p:txBody>
      </p:sp>
      <p:sp>
        <p:nvSpPr>
          <p:cNvPr id="17" name="Text 12"/>
          <p:cNvSpPr txBox="1"/>
          <p:nvPr/>
        </p:nvSpPr>
        <p:spPr>
          <a:xfrm>
            <a:off x="4612538" y="3675888"/>
            <a:ext cx="2966618" cy="896112"/>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Each finding still needs a patch, testing and a maintenance window. Until then — or indefinitely on legacy systems — the weakness stays open to attack.</a:t>
            </a:r>
            <a:endParaRPr lang="en-US" sz="1200" dirty="0"/>
          </a:p>
        </p:txBody>
      </p:sp>
      <p:sp>
        <p:nvSpPr>
          <p:cNvPr id="18" name="Shape 13"/>
          <p:cNvSpPr/>
          <p:nvPr/>
        </p:nvSpPr>
        <p:spPr>
          <a:xfrm>
            <a:off x="8127797" y="2148840"/>
            <a:ext cx="3515258" cy="2487168"/>
          </a:xfrm>
          <a:prstGeom prst="roundRect">
            <a:avLst>
              <a:gd name="adj" fmla="val 4412"/>
            </a:avLst>
          </a:prstGeom>
          <a:solidFill>
            <a:srgbClr val="E7F5F7"/>
          </a:solidFill>
          <a:ln w="9525">
            <a:solidFill>
              <a:srgbClr val="BFE4E8"/>
            </a:solidFill>
            <a:prstDash val="solid"/>
          </a:ln>
        </p:spPr>
      </p:sp>
      <p:sp>
        <p:nvSpPr>
          <p:cNvPr id="19" name="Shape 14"/>
          <p:cNvSpPr/>
          <p:nvPr/>
        </p:nvSpPr>
        <p:spPr>
          <a:xfrm>
            <a:off x="8402117" y="2423160"/>
            <a:ext cx="530352" cy="530352"/>
          </a:xfrm>
          <a:prstGeom prst="ellipse">
            <a:avLst/>
          </a:prstGeom>
          <a:solidFill>
            <a:srgbClr val="0F8B99"/>
          </a:solidFill>
          <a:ln w="12700">
            <a:solidFill>
              <a:srgbClr val="0F8B99"/>
            </a:solidFill>
            <a:prstDash val="solid"/>
          </a:ln>
        </p:spPr>
      </p:sp>
      <p:pic>
        <p:nvPicPr>
          <p:cNvPr id="20" name="Image 3" descr="preencoded.png">    </p:cNvPr>
          <p:cNvPicPr>
            <a:picLocks noChangeAspect="1"/>
          </p:cNvPicPr>
          <p:nvPr/>
        </p:nvPicPr>
        <p:blipFill>
          <a:blip r:embed="rId4"/>
          <a:stretch>
            <a:fillRect/>
          </a:stretch>
        </p:blipFill>
        <p:spPr>
          <a:xfrm>
            <a:off x="8545312" y="2566355"/>
            <a:ext cx="243962" cy="243962"/>
          </a:xfrm>
          <a:prstGeom prst="rect">
            <a:avLst/>
          </a:prstGeom>
        </p:spPr>
      </p:pic>
      <p:sp>
        <p:nvSpPr>
          <p:cNvPr id="21" name="Text 15"/>
          <p:cNvSpPr txBox="1"/>
          <p:nvPr/>
        </p:nvSpPr>
        <p:spPr>
          <a:xfrm>
            <a:off x="9060485" y="2551176"/>
            <a:ext cx="2417978" cy="274320"/>
          </a:xfrm>
          <a:prstGeom prst="rect">
            <a:avLst/>
          </a:prstGeom>
          <a:noFill/>
          <a:ln/>
        </p:spPr>
        <p:txBody>
          <a:bodyPr wrap="square" lIns="0" tIns="0" rIns="0" bIns="0" rtlCol="0" anchor="ctr"/>
          <a:lstStyle/>
          <a:p>
            <a:pPr indent="0" marL="0">
              <a:buNone/>
            </a:pPr>
            <a:r>
              <a:rPr lang="en-US" sz="1050" b="1" spc="150" kern="0" dirty="0">
                <a:solidFill>
                  <a:srgbClr val="0F8B99"/>
                </a:solidFill>
                <a:latin typeface="Calibri" pitchFamily="34" charset="0"/>
                <a:ea typeface="Calibri" pitchFamily="34" charset="-122"/>
                <a:cs typeface="Calibri" pitchFamily="34" charset="-120"/>
              </a:rPr>
              <a:t>OUR PROPOSAL</a:t>
            </a:r>
            <a:endParaRPr lang="en-US" sz="1050" dirty="0"/>
          </a:p>
        </p:txBody>
      </p:sp>
      <p:sp>
        <p:nvSpPr>
          <p:cNvPr id="22" name="Text 16"/>
          <p:cNvSpPr txBox="1"/>
          <p:nvPr/>
        </p:nvSpPr>
        <p:spPr>
          <a:xfrm>
            <a:off x="8402117" y="3081528"/>
            <a:ext cx="2966618" cy="566928"/>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Replace Nessus with Apex One</a:t>
            </a:r>
            <a:endParaRPr lang="en-US" sz="1500" dirty="0"/>
          </a:p>
        </p:txBody>
      </p:sp>
      <p:sp>
        <p:nvSpPr>
          <p:cNvPr id="23" name="Text 17"/>
          <p:cNvSpPr txBox="1"/>
          <p:nvPr/>
        </p:nvSpPr>
        <p:spPr>
          <a:xfrm>
            <a:off x="8402117" y="3675888"/>
            <a:ext cx="2966618" cy="896112"/>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One on-premises agent combines anti-malware, ransomware rollback, virtual patching and application control.</a:t>
            </a:r>
            <a:endParaRPr lang="en-US" sz="1200" dirty="0"/>
          </a:p>
        </p:txBody>
      </p:sp>
      <p:sp>
        <p:nvSpPr>
          <p:cNvPr id="24" name="Shape 18"/>
          <p:cNvSpPr/>
          <p:nvPr/>
        </p:nvSpPr>
        <p:spPr>
          <a:xfrm>
            <a:off x="548640" y="4846320"/>
            <a:ext cx="11094415" cy="1115568"/>
          </a:xfrm>
          <a:prstGeom prst="roundRect">
            <a:avLst>
              <a:gd name="adj" fmla="val 9836"/>
            </a:avLst>
          </a:prstGeom>
          <a:solidFill>
            <a:srgbClr val="10243A"/>
          </a:solidFill>
          <a:ln w="12700">
            <a:solidFill>
              <a:srgbClr val="10243A"/>
            </a:solidFill>
            <a:prstDash val="solid"/>
          </a:ln>
        </p:spPr>
      </p:sp>
      <p:sp>
        <p:nvSpPr>
          <p:cNvPr id="25" name="Text 19"/>
          <p:cNvSpPr txBox="1"/>
          <p:nvPr/>
        </p:nvSpPr>
        <p:spPr>
          <a:xfrm>
            <a:off x="868680" y="4974336"/>
            <a:ext cx="2224964" cy="457200"/>
          </a:xfrm>
          <a:prstGeom prst="rect">
            <a:avLst/>
          </a:prstGeom>
          <a:noFill/>
          <a:ln/>
        </p:spPr>
        <p:txBody>
          <a:bodyPr wrap="square" lIns="0" tIns="0" rIns="0" bIns="0" rtlCol="0" anchor="ctr"/>
          <a:lstStyle/>
          <a:p>
            <a:pPr indent="0" marL="0">
              <a:buNone/>
            </a:pPr>
            <a:r>
              <a:rPr lang="en-US" sz="2400" b="1" dirty="0">
                <a:solidFill>
                  <a:srgbClr val="0F8B99"/>
                </a:solidFill>
                <a:latin typeface="Arial" pitchFamily="34" charset="0"/>
                <a:ea typeface="Arial" pitchFamily="34" charset="-122"/>
                <a:cs typeface="Arial" pitchFamily="34" charset="-120"/>
              </a:rPr>
              <a:t>250M+</a:t>
            </a:r>
            <a:endParaRPr lang="en-US" sz="2400" dirty="0"/>
          </a:p>
        </p:txBody>
      </p:sp>
      <p:sp>
        <p:nvSpPr>
          <p:cNvPr id="26" name="Text 20"/>
          <p:cNvSpPr txBox="1"/>
          <p:nvPr/>
        </p:nvSpPr>
        <p:spPr>
          <a:xfrm>
            <a:off x="868680" y="5449824"/>
            <a:ext cx="2224964" cy="402336"/>
          </a:xfrm>
          <a:prstGeom prst="rect">
            <a:avLst/>
          </a:prstGeom>
          <a:noFill/>
          <a:ln/>
        </p:spPr>
        <p:txBody>
          <a:bodyPr wrap="square" lIns="0" tIns="0" rIns="0" bIns="0" rtlCol="0" anchor="t"/>
          <a:lstStyle/>
          <a:p>
            <a:pPr indent="0" marL="0">
              <a:buNone/>
            </a:pPr>
            <a:r>
              <a:rPr lang="en-US" sz="1050" dirty="0">
                <a:solidFill>
                  <a:srgbClr val="C8CCD2"/>
                </a:solidFill>
                <a:latin typeface="Calibri" pitchFamily="34" charset="0"/>
                <a:ea typeface="Calibri" pitchFamily="34" charset="-122"/>
                <a:cs typeface="Calibri" pitchFamily="34" charset="-120"/>
              </a:rPr>
              <a:t>Endpoints protected by Trend Micro worldwide</a:t>
            </a:r>
            <a:endParaRPr lang="en-US" sz="1050" dirty="0"/>
          </a:p>
        </p:txBody>
      </p:sp>
      <p:sp>
        <p:nvSpPr>
          <p:cNvPr id="27" name="Text 21"/>
          <p:cNvSpPr txBox="1"/>
          <p:nvPr/>
        </p:nvSpPr>
        <p:spPr>
          <a:xfrm>
            <a:off x="3642284" y="4974336"/>
            <a:ext cx="2224964" cy="457200"/>
          </a:xfrm>
          <a:prstGeom prst="rect">
            <a:avLst/>
          </a:prstGeom>
          <a:noFill/>
          <a:ln/>
        </p:spPr>
        <p:txBody>
          <a:bodyPr wrap="square" lIns="0" tIns="0" rIns="0" bIns="0" rtlCol="0" anchor="ctr"/>
          <a:lstStyle/>
          <a:p>
            <a:pPr indent="0" marL="0">
              <a:buNone/>
            </a:pPr>
            <a:r>
              <a:rPr lang="en-US" sz="2400" b="1" dirty="0">
                <a:solidFill>
                  <a:srgbClr val="0F8B99"/>
                </a:solidFill>
                <a:latin typeface="Arial" pitchFamily="34" charset="0"/>
                <a:ea typeface="Arial" pitchFamily="34" charset="-122"/>
                <a:cs typeface="Arial" pitchFamily="34" charset="-120"/>
              </a:rPr>
              <a:t>48 of 50</a:t>
            </a:r>
            <a:endParaRPr lang="en-US" sz="2400" dirty="0"/>
          </a:p>
        </p:txBody>
      </p:sp>
      <p:sp>
        <p:nvSpPr>
          <p:cNvPr id="28" name="Text 22"/>
          <p:cNvSpPr txBox="1"/>
          <p:nvPr/>
        </p:nvSpPr>
        <p:spPr>
          <a:xfrm>
            <a:off x="3642284" y="5449824"/>
            <a:ext cx="2224964" cy="402336"/>
          </a:xfrm>
          <a:prstGeom prst="rect">
            <a:avLst/>
          </a:prstGeom>
          <a:noFill/>
          <a:ln/>
        </p:spPr>
        <p:txBody>
          <a:bodyPr wrap="square" lIns="0" tIns="0" rIns="0" bIns="0" rtlCol="0" anchor="t"/>
          <a:lstStyle/>
          <a:p>
            <a:pPr indent="0" marL="0">
              <a:buNone/>
            </a:pPr>
            <a:r>
              <a:rPr lang="en-US" sz="1050" dirty="0">
                <a:solidFill>
                  <a:srgbClr val="C8CCD2"/>
                </a:solidFill>
                <a:latin typeface="Calibri" pitchFamily="34" charset="0"/>
                <a:ea typeface="Calibri" pitchFamily="34" charset="-122"/>
                <a:cs typeface="Calibri" pitchFamily="34" charset="-120"/>
              </a:rPr>
              <a:t>Top global corporations trust Trend Micro</a:t>
            </a:r>
            <a:endParaRPr lang="en-US" sz="1050" dirty="0"/>
          </a:p>
        </p:txBody>
      </p:sp>
      <p:sp>
        <p:nvSpPr>
          <p:cNvPr id="29" name="Text 23"/>
          <p:cNvSpPr txBox="1"/>
          <p:nvPr/>
        </p:nvSpPr>
        <p:spPr>
          <a:xfrm>
            <a:off x="6415888" y="4974336"/>
            <a:ext cx="2224964" cy="457200"/>
          </a:xfrm>
          <a:prstGeom prst="rect">
            <a:avLst/>
          </a:prstGeom>
          <a:noFill/>
          <a:ln/>
        </p:spPr>
        <p:txBody>
          <a:bodyPr wrap="square" lIns="0" tIns="0" rIns="0" bIns="0" rtlCol="0" anchor="ctr"/>
          <a:lstStyle/>
          <a:p>
            <a:pPr indent="0" marL="0">
              <a:buNone/>
            </a:pPr>
            <a:r>
              <a:rPr lang="en-US" sz="2400" b="1" dirty="0">
                <a:solidFill>
                  <a:srgbClr val="0F8B99"/>
                </a:solidFill>
                <a:latin typeface="Arial" pitchFamily="34" charset="0"/>
                <a:ea typeface="Arial" pitchFamily="34" charset="-122"/>
                <a:cs typeface="Arial" pitchFamily="34" charset="-120"/>
              </a:rPr>
              <a:t>30+ yrs</a:t>
            </a:r>
            <a:endParaRPr lang="en-US" sz="2400" dirty="0"/>
          </a:p>
        </p:txBody>
      </p:sp>
      <p:sp>
        <p:nvSpPr>
          <p:cNvPr id="30" name="Text 24"/>
          <p:cNvSpPr txBox="1"/>
          <p:nvPr/>
        </p:nvSpPr>
        <p:spPr>
          <a:xfrm>
            <a:off x="6415888" y="5449824"/>
            <a:ext cx="2224964" cy="402336"/>
          </a:xfrm>
          <a:prstGeom prst="rect">
            <a:avLst/>
          </a:prstGeom>
          <a:noFill/>
          <a:ln/>
        </p:spPr>
        <p:txBody>
          <a:bodyPr wrap="square" lIns="0" tIns="0" rIns="0" bIns="0" rtlCol="0" anchor="t"/>
          <a:lstStyle/>
          <a:p>
            <a:pPr indent="0" marL="0">
              <a:buNone/>
            </a:pPr>
            <a:r>
              <a:rPr lang="en-US" sz="1050" dirty="0">
                <a:solidFill>
                  <a:srgbClr val="C8CCD2"/>
                </a:solidFill>
                <a:latin typeface="Calibri" pitchFamily="34" charset="0"/>
                <a:ea typeface="Calibri" pitchFamily="34" charset="-122"/>
                <a:cs typeface="Calibri" pitchFamily="34" charset="-120"/>
              </a:rPr>
              <a:t>Of continuous security innovation</a:t>
            </a:r>
            <a:endParaRPr lang="en-US" sz="1050" dirty="0"/>
          </a:p>
        </p:txBody>
      </p:sp>
      <p:sp>
        <p:nvSpPr>
          <p:cNvPr id="31" name="Text 25"/>
          <p:cNvSpPr txBox="1"/>
          <p:nvPr/>
        </p:nvSpPr>
        <p:spPr>
          <a:xfrm>
            <a:off x="9189491" y="4974336"/>
            <a:ext cx="2224964" cy="457200"/>
          </a:xfrm>
          <a:prstGeom prst="rect">
            <a:avLst/>
          </a:prstGeom>
          <a:noFill/>
          <a:ln/>
        </p:spPr>
        <p:txBody>
          <a:bodyPr wrap="square" lIns="0" tIns="0" rIns="0" bIns="0" rtlCol="0" anchor="ctr"/>
          <a:lstStyle/>
          <a:p>
            <a:pPr indent="0" marL="0">
              <a:buNone/>
            </a:pPr>
            <a:r>
              <a:rPr lang="en-US" sz="2400" b="1" dirty="0">
                <a:solidFill>
                  <a:srgbClr val="0F8B99"/>
                </a:solidFill>
                <a:latin typeface="Arial" pitchFamily="34" charset="0"/>
                <a:ea typeface="Arial" pitchFamily="34" charset="-122"/>
                <a:cs typeface="Arial" pitchFamily="34" charset="-120"/>
              </a:rPr>
              <a:t>1 agent</a:t>
            </a:r>
            <a:endParaRPr lang="en-US" sz="2400" dirty="0"/>
          </a:p>
        </p:txBody>
      </p:sp>
      <p:sp>
        <p:nvSpPr>
          <p:cNvPr id="32" name="Text 26"/>
          <p:cNvSpPr txBox="1"/>
          <p:nvPr/>
        </p:nvSpPr>
        <p:spPr>
          <a:xfrm>
            <a:off x="9189491" y="5449824"/>
            <a:ext cx="2224964" cy="402336"/>
          </a:xfrm>
          <a:prstGeom prst="rect">
            <a:avLst/>
          </a:prstGeom>
          <a:noFill/>
          <a:ln/>
        </p:spPr>
        <p:txBody>
          <a:bodyPr wrap="square" lIns="0" tIns="0" rIns="0" bIns="0" rtlCol="0" anchor="t"/>
          <a:lstStyle/>
          <a:p>
            <a:pPr indent="0" marL="0">
              <a:buNone/>
            </a:pPr>
            <a:r>
              <a:rPr lang="en-US" sz="1050" dirty="0">
                <a:solidFill>
                  <a:srgbClr val="C8CCD2"/>
                </a:solidFill>
                <a:latin typeface="Calibri" pitchFamily="34" charset="0"/>
                <a:ea typeface="Calibri" pitchFamily="34" charset="-122"/>
                <a:cs typeface="Calibri" pitchFamily="34" charset="-120"/>
              </a:rPr>
              <a:t>Anti-malware, virtual patching, app and device control together</a:t>
            </a:r>
            <a:endParaRPr lang="en-US" sz="1050" dirty="0"/>
          </a:p>
        </p:txBody>
      </p:sp>
      <p:sp>
        <p:nvSpPr>
          <p:cNvPr id="33" name="Text 27"/>
          <p:cNvSpPr txBox="1"/>
          <p:nvPr/>
        </p:nvSpPr>
        <p:spPr>
          <a:xfrm>
            <a:off x="548640" y="6108192"/>
            <a:ext cx="11094415" cy="237744"/>
          </a:xfrm>
          <a:prstGeom prst="rect">
            <a:avLst/>
          </a:prstGeom>
          <a:noFill/>
          <a:ln/>
        </p:spPr>
        <p:txBody>
          <a:bodyPr wrap="square" lIns="0" tIns="0" rIns="0" bIns="0" rtlCol="0" anchor="b"/>
          <a:lstStyle/>
          <a:p>
            <a:pPr indent="0" marL="0">
              <a:buNone/>
            </a:pPr>
            <a:r>
              <a:rPr lang="en-US" sz="800" i="1" dirty="0">
                <a:solidFill>
                  <a:srgbClr val="8A94A1"/>
                </a:solidFill>
                <a:latin typeface="Calibri" pitchFamily="34" charset="0"/>
                <a:ea typeface="Calibri" pitchFamily="34" charset="-122"/>
                <a:cs typeface="Calibri" pitchFamily="34" charset="-120"/>
              </a:rPr>
              <a:t>Sources: Trend Micro Apex One™ Solution Brief; Trend Micro Apex One™ Datasheet.</a:t>
            </a:r>
            <a:endParaRPr lang="en-US" sz="800" dirty="0"/>
          </a:p>
        </p:txBody>
      </p:sp>
      <p:sp>
        <p:nvSpPr>
          <p:cNvPr id="34" name="Text 28"/>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02   |   Nessus vs. Trend Micro Apex One™  ·  Proposal for The Westin Resort Guam</a:t>
            </a:r>
            <a:endParaRPr lang="en-US" sz="900" dirty="0"/>
          </a:p>
        </p:txBody>
      </p:sp>
      <p:pic>
        <p:nvPicPr>
          <p:cNvPr id="35" name="Image 4" descr="/private/tmp/claude-501/-Users-jihanvin-Desktop-NIVNAH-AI/16a96446-d9b3-40e2-af9e-a3011ae3db84/scratchpad/assets/secukorea_dark.png">    </p:cNvPr>
          <p:cNvPicPr>
            <a:picLocks noChangeAspect="1"/>
          </p:cNvPicPr>
          <p:nvPr/>
        </p:nvPicPr>
        <p:blipFill>
          <a:blip r:embed="rId5"/>
          <a:stretch>
            <a:fillRect/>
          </a:stretch>
        </p:blipFill>
        <p:spPr>
          <a:xfrm>
            <a:off x="10661904" y="6400800"/>
            <a:ext cx="978408" cy="2331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01   CURRENT STATE</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Current Environment &amp; Security Challenges</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600200"/>
            <a:ext cx="566928" cy="566928"/>
          </a:xfrm>
          <a:prstGeom prst="ellipse">
            <a:avLst/>
          </a:prstGeom>
          <a:solidFill>
            <a:srgbClr val="EAEEF3"/>
          </a:solidFill>
          <a:ln w="12700">
            <a:solidFill>
              <a:srgbClr val="EAEEF3"/>
            </a:solidFill>
            <a:prstDash val="solid"/>
          </a:ln>
        </p:spPr>
      </p:sp>
      <p:pic>
        <p:nvPicPr>
          <p:cNvPr id="6" name="Image 1" descr="preencoded.png">    </p:cNvPr>
          <p:cNvPicPr>
            <a:picLocks noChangeAspect="1"/>
          </p:cNvPicPr>
          <p:nvPr/>
        </p:nvPicPr>
        <p:blipFill>
          <a:blip r:embed="rId2"/>
          <a:stretch>
            <a:fillRect/>
          </a:stretch>
        </p:blipFill>
        <p:spPr>
          <a:xfrm>
            <a:off x="701711" y="1753271"/>
            <a:ext cx="260787" cy="260787"/>
          </a:xfrm>
          <a:prstGeom prst="rect">
            <a:avLst/>
          </a:prstGeom>
        </p:spPr>
      </p:pic>
      <p:sp>
        <p:nvSpPr>
          <p:cNvPr id="7" name="Text 3"/>
          <p:cNvSpPr txBox="1"/>
          <p:nvPr/>
        </p:nvSpPr>
        <p:spPr>
          <a:xfrm>
            <a:off x="1325880" y="1581912"/>
            <a:ext cx="576072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24/7 Non-Stop Hospitality Operations</a:t>
            </a:r>
            <a:endParaRPr lang="en-US" sz="1500" dirty="0"/>
          </a:p>
        </p:txBody>
      </p:sp>
      <p:sp>
        <p:nvSpPr>
          <p:cNvPr id="8" name="Text 4"/>
          <p:cNvSpPr txBox="1"/>
          <p:nvPr/>
        </p:nvSpPr>
        <p:spPr>
          <a:xfrm>
            <a:off x="1325880" y="1929384"/>
            <a:ext cx="5760720" cy="621792"/>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Guest personal data, payment processing, and front-desk and back-office systems must stay available and protected around the clock.</a:t>
            </a:r>
            <a:endParaRPr lang="en-US" sz="1200" dirty="0"/>
          </a:p>
        </p:txBody>
      </p:sp>
      <p:sp>
        <p:nvSpPr>
          <p:cNvPr id="9" name="Shape 5"/>
          <p:cNvSpPr/>
          <p:nvPr/>
        </p:nvSpPr>
        <p:spPr>
          <a:xfrm>
            <a:off x="548640" y="2697480"/>
            <a:ext cx="566928" cy="566928"/>
          </a:xfrm>
          <a:prstGeom prst="ellipse">
            <a:avLst/>
          </a:prstGeom>
          <a:solidFill>
            <a:srgbClr val="EAEEF3"/>
          </a:solidFill>
          <a:ln w="12700">
            <a:solidFill>
              <a:srgbClr val="EAEEF3"/>
            </a:solidFill>
            <a:prstDash val="solid"/>
          </a:ln>
        </p:spPr>
      </p:sp>
      <p:pic>
        <p:nvPicPr>
          <p:cNvPr id="10" name="Image 2" descr="preencoded.png">    </p:cNvPr>
          <p:cNvPicPr>
            <a:picLocks noChangeAspect="1"/>
          </p:cNvPicPr>
          <p:nvPr/>
        </p:nvPicPr>
        <p:blipFill>
          <a:blip r:embed="rId3"/>
          <a:stretch>
            <a:fillRect/>
          </a:stretch>
        </p:blipFill>
        <p:spPr>
          <a:xfrm>
            <a:off x="701711" y="2850551"/>
            <a:ext cx="260787" cy="260787"/>
          </a:xfrm>
          <a:prstGeom prst="rect">
            <a:avLst/>
          </a:prstGeom>
        </p:spPr>
      </p:pic>
      <p:sp>
        <p:nvSpPr>
          <p:cNvPr id="11" name="Text 6"/>
          <p:cNvSpPr txBox="1"/>
          <p:nvPr/>
        </p:nvSpPr>
        <p:spPr>
          <a:xfrm>
            <a:off x="1325880" y="2679192"/>
            <a:ext cx="576072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Limited On-Site Security Staffing</a:t>
            </a:r>
            <a:endParaRPr lang="en-US" sz="1500" dirty="0"/>
          </a:p>
        </p:txBody>
      </p:sp>
      <p:sp>
        <p:nvSpPr>
          <p:cNvPr id="12" name="Text 7"/>
          <p:cNvSpPr txBox="1"/>
          <p:nvPr/>
        </p:nvSpPr>
        <p:spPr>
          <a:xfrm>
            <a:off x="1325880" y="3026664"/>
            <a:ext cx="5760720" cy="621792"/>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Without a dedicated security operations team, manual patching and case-by-case incident investigation are hard to sustain.</a:t>
            </a:r>
            <a:endParaRPr lang="en-US" sz="1200" dirty="0"/>
          </a:p>
        </p:txBody>
      </p:sp>
      <p:sp>
        <p:nvSpPr>
          <p:cNvPr id="13" name="Shape 8"/>
          <p:cNvSpPr/>
          <p:nvPr/>
        </p:nvSpPr>
        <p:spPr>
          <a:xfrm>
            <a:off x="548640" y="3794760"/>
            <a:ext cx="566928" cy="566928"/>
          </a:xfrm>
          <a:prstGeom prst="ellipse">
            <a:avLst/>
          </a:prstGeom>
          <a:solidFill>
            <a:srgbClr val="EAEEF3"/>
          </a:solidFill>
          <a:ln w="12700">
            <a:solidFill>
              <a:srgbClr val="EAEEF3"/>
            </a:solidFill>
            <a:prstDash val="solid"/>
          </a:ln>
        </p:spPr>
      </p:sp>
      <p:pic>
        <p:nvPicPr>
          <p:cNvPr id="14" name="Image 3" descr="preencoded.png">    </p:cNvPr>
          <p:cNvPicPr>
            <a:picLocks noChangeAspect="1"/>
          </p:cNvPicPr>
          <p:nvPr/>
        </p:nvPicPr>
        <p:blipFill>
          <a:blip r:embed="rId4"/>
          <a:stretch>
            <a:fillRect/>
          </a:stretch>
        </p:blipFill>
        <p:spPr>
          <a:xfrm>
            <a:off x="701711" y="3947831"/>
            <a:ext cx="260787" cy="260787"/>
          </a:xfrm>
          <a:prstGeom prst="rect">
            <a:avLst/>
          </a:prstGeom>
        </p:spPr>
      </p:pic>
      <p:sp>
        <p:nvSpPr>
          <p:cNvPr id="15" name="Text 9"/>
          <p:cNvSpPr txBox="1"/>
          <p:nvPr/>
        </p:nvSpPr>
        <p:spPr>
          <a:xfrm>
            <a:off x="1325880" y="3776472"/>
            <a:ext cx="576072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Scan-Only Protection Today</a:t>
            </a:r>
            <a:endParaRPr lang="en-US" sz="1500" dirty="0"/>
          </a:p>
        </p:txBody>
      </p:sp>
      <p:sp>
        <p:nvSpPr>
          <p:cNvPr id="16" name="Text 10"/>
          <p:cNvSpPr txBox="1"/>
          <p:nvPr/>
        </p:nvSpPr>
        <p:spPr>
          <a:xfrm>
            <a:off x="1325880" y="4123944"/>
            <a:ext cx="5760720" cy="621792"/>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Nessus identifies vulnerabilities, but it does not block malware or stop an attack in progress. Every follow-up action is manual.</a:t>
            </a:r>
            <a:endParaRPr lang="en-US" sz="1200" dirty="0"/>
          </a:p>
        </p:txBody>
      </p:sp>
      <p:sp>
        <p:nvSpPr>
          <p:cNvPr id="17" name="Shape 11"/>
          <p:cNvSpPr/>
          <p:nvPr/>
        </p:nvSpPr>
        <p:spPr>
          <a:xfrm>
            <a:off x="548640" y="4892040"/>
            <a:ext cx="566928" cy="566928"/>
          </a:xfrm>
          <a:prstGeom prst="ellipse">
            <a:avLst/>
          </a:prstGeom>
          <a:solidFill>
            <a:srgbClr val="EAEEF3"/>
          </a:solidFill>
          <a:ln w="12700">
            <a:solidFill>
              <a:srgbClr val="EAEEF3"/>
            </a:solidFill>
            <a:prstDash val="solid"/>
          </a:ln>
        </p:spPr>
      </p:sp>
      <p:pic>
        <p:nvPicPr>
          <p:cNvPr id="18" name="Image 4" descr="preencoded.png">    </p:cNvPr>
          <p:cNvPicPr>
            <a:picLocks noChangeAspect="1"/>
          </p:cNvPicPr>
          <p:nvPr/>
        </p:nvPicPr>
        <p:blipFill>
          <a:blip r:embed="rId5"/>
          <a:stretch>
            <a:fillRect/>
          </a:stretch>
        </p:blipFill>
        <p:spPr>
          <a:xfrm>
            <a:off x="701711" y="5045111"/>
            <a:ext cx="260787" cy="260787"/>
          </a:xfrm>
          <a:prstGeom prst="rect">
            <a:avLst/>
          </a:prstGeom>
        </p:spPr>
      </p:pic>
      <p:sp>
        <p:nvSpPr>
          <p:cNvPr id="19" name="Text 12"/>
          <p:cNvSpPr txBox="1"/>
          <p:nvPr/>
        </p:nvSpPr>
        <p:spPr>
          <a:xfrm>
            <a:off x="1325880" y="4873752"/>
            <a:ext cx="576072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Legacy Systems</a:t>
            </a:r>
            <a:endParaRPr lang="en-US" sz="1500" dirty="0"/>
          </a:p>
        </p:txBody>
      </p:sp>
      <p:sp>
        <p:nvSpPr>
          <p:cNvPr id="20" name="Text 13"/>
          <p:cNvSpPr txBox="1"/>
          <p:nvPr/>
        </p:nvSpPr>
        <p:spPr>
          <a:xfrm>
            <a:off x="1325880" y="5221224"/>
            <a:ext cx="5760720" cy="621792"/>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Older Windows systems and hotel applications are hard to patch quickly — leaving known weaknesses open to attack.</a:t>
            </a:r>
            <a:endParaRPr lang="en-US" sz="1200" dirty="0"/>
          </a:p>
        </p:txBody>
      </p:sp>
      <p:sp>
        <p:nvSpPr>
          <p:cNvPr id="21" name="Shape 14"/>
          <p:cNvSpPr/>
          <p:nvPr/>
        </p:nvSpPr>
        <p:spPr>
          <a:xfrm>
            <a:off x="7452360" y="1554480"/>
            <a:ext cx="4190695" cy="4434840"/>
          </a:xfrm>
          <a:prstGeom prst="roundRect">
            <a:avLst>
              <a:gd name="adj" fmla="val 2618"/>
            </a:avLst>
          </a:prstGeom>
          <a:solidFill>
            <a:srgbClr val="10243A"/>
          </a:solidFill>
          <a:ln w="12700">
            <a:solidFill>
              <a:srgbClr val="10243A"/>
            </a:solidFill>
            <a:prstDash val="solid"/>
          </a:ln>
        </p:spPr>
      </p:sp>
      <p:sp>
        <p:nvSpPr>
          <p:cNvPr id="22" name="Text 15"/>
          <p:cNvSpPr txBox="1"/>
          <p:nvPr/>
        </p:nvSpPr>
        <p:spPr>
          <a:xfrm>
            <a:off x="7818120" y="1828800"/>
            <a:ext cx="3459175" cy="274320"/>
          </a:xfrm>
          <a:prstGeom prst="rect">
            <a:avLst/>
          </a:prstGeom>
          <a:noFill/>
          <a:ln/>
        </p:spPr>
        <p:txBody>
          <a:bodyPr wrap="square" lIns="0" tIns="0" rIns="0" bIns="0" rtlCol="0" anchor="t"/>
          <a:lstStyle/>
          <a:p>
            <a:pPr indent="0" marL="0">
              <a:buNone/>
            </a:pPr>
            <a:r>
              <a:rPr lang="en-US" sz="1100" b="1" spc="200" kern="0" dirty="0">
                <a:solidFill>
                  <a:srgbClr val="0F8B99"/>
                </a:solidFill>
                <a:latin typeface="Calibri" pitchFamily="34" charset="0"/>
                <a:ea typeface="Calibri" pitchFamily="34" charset="-122"/>
                <a:cs typeface="Calibri" pitchFamily="34" charset="-120"/>
              </a:rPr>
              <a:t>WHAT THE RESORT NEEDS</a:t>
            </a:r>
            <a:endParaRPr lang="en-US" sz="1100" dirty="0"/>
          </a:p>
        </p:txBody>
      </p:sp>
      <p:pic>
        <p:nvPicPr>
          <p:cNvPr id="23" name="Image 5" descr="preencoded.png">    </p:cNvPr>
          <p:cNvPicPr>
            <a:picLocks noChangeAspect="1"/>
          </p:cNvPicPr>
          <p:nvPr/>
        </p:nvPicPr>
        <p:blipFill>
          <a:blip r:embed="rId6"/>
          <a:stretch>
            <a:fillRect/>
          </a:stretch>
        </p:blipFill>
        <p:spPr>
          <a:xfrm>
            <a:off x="7818120" y="2322576"/>
            <a:ext cx="237744" cy="237744"/>
          </a:xfrm>
          <a:prstGeom prst="rect">
            <a:avLst/>
          </a:prstGeom>
        </p:spPr>
      </p:pic>
      <p:sp>
        <p:nvSpPr>
          <p:cNvPr id="24" name="Text 16"/>
          <p:cNvSpPr txBox="1"/>
          <p:nvPr/>
        </p:nvSpPr>
        <p:spPr>
          <a:xfrm>
            <a:off x="8183880" y="2286000"/>
            <a:ext cx="3093415"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Automatic protection against malware and ransomware</a:t>
            </a:r>
            <a:endParaRPr lang="en-US" sz="1300" dirty="0"/>
          </a:p>
        </p:txBody>
      </p:sp>
      <p:pic>
        <p:nvPicPr>
          <p:cNvPr id="25" name="Image 6" descr="preencoded.png">    </p:cNvPr>
          <p:cNvPicPr>
            <a:picLocks noChangeAspect="1"/>
          </p:cNvPicPr>
          <p:nvPr/>
        </p:nvPicPr>
        <p:blipFill>
          <a:blip r:embed="rId7"/>
          <a:stretch>
            <a:fillRect/>
          </a:stretch>
        </p:blipFill>
        <p:spPr>
          <a:xfrm>
            <a:off x="7818120" y="2852928"/>
            <a:ext cx="237744" cy="237744"/>
          </a:xfrm>
          <a:prstGeom prst="rect">
            <a:avLst/>
          </a:prstGeom>
        </p:spPr>
      </p:pic>
      <p:sp>
        <p:nvSpPr>
          <p:cNvPr id="26" name="Text 17"/>
          <p:cNvSpPr txBox="1"/>
          <p:nvPr/>
        </p:nvSpPr>
        <p:spPr>
          <a:xfrm>
            <a:off x="8183880" y="2816352"/>
            <a:ext cx="3093415"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Vulnerabilities shielded without waiting for patches</a:t>
            </a:r>
            <a:endParaRPr lang="en-US" sz="1300" dirty="0"/>
          </a:p>
        </p:txBody>
      </p:sp>
      <p:pic>
        <p:nvPicPr>
          <p:cNvPr id="27" name="Image 7" descr="preencoded.png">    </p:cNvPr>
          <p:cNvPicPr>
            <a:picLocks noChangeAspect="1"/>
          </p:cNvPicPr>
          <p:nvPr/>
        </p:nvPicPr>
        <p:blipFill>
          <a:blip r:embed="rId8"/>
          <a:stretch>
            <a:fillRect/>
          </a:stretch>
        </p:blipFill>
        <p:spPr>
          <a:xfrm>
            <a:off x="7818120" y="3383280"/>
            <a:ext cx="237744" cy="237744"/>
          </a:xfrm>
          <a:prstGeom prst="rect">
            <a:avLst/>
          </a:prstGeom>
        </p:spPr>
      </p:pic>
      <p:sp>
        <p:nvSpPr>
          <p:cNvPr id="28" name="Text 18"/>
          <p:cNvSpPr txBox="1"/>
          <p:nvPr/>
        </p:nvSpPr>
        <p:spPr>
          <a:xfrm>
            <a:off x="8183880" y="3346704"/>
            <a:ext cx="3093415"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Legacy and critical systems locked down</a:t>
            </a:r>
            <a:endParaRPr lang="en-US" sz="1300" dirty="0"/>
          </a:p>
        </p:txBody>
      </p:sp>
      <p:pic>
        <p:nvPicPr>
          <p:cNvPr id="29" name="Image 8" descr="preencoded.png">    </p:cNvPr>
          <p:cNvPicPr>
            <a:picLocks noChangeAspect="1"/>
          </p:cNvPicPr>
          <p:nvPr/>
        </p:nvPicPr>
        <p:blipFill>
          <a:blip r:embed="rId9"/>
          <a:stretch>
            <a:fillRect/>
          </a:stretch>
        </p:blipFill>
        <p:spPr>
          <a:xfrm>
            <a:off x="7818120" y="3913632"/>
            <a:ext cx="237744" cy="237744"/>
          </a:xfrm>
          <a:prstGeom prst="rect">
            <a:avLst/>
          </a:prstGeom>
        </p:spPr>
      </p:pic>
      <p:sp>
        <p:nvSpPr>
          <p:cNvPr id="30" name="Text 19"/>
          <p:cNvSpPr txBox="1"/>
          <p:nvPr/>
        </p:nvSpPr>
        <p:spPr>
          <a:xfrm>
            <a:off x="8183880" y="3877056"/>
            <a:ext cx="3093415"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Guest and payment data protected (PCI DSS)</a:t>
            </a:r>
            <a:endParaRPr lang="en-US" sz="1300" dirty="0"/>
          </a:p>
        </p:txBody>
      </p:sp>
      <p:pic>
        <p:nvPicPr>
          <p:cNvPr id="31" name="Image 9" descr="preencoded.png">    </p:cNvPr>
          <p:cNvPicPr>
            <a:picLocks noChangeAspect="1"/>
          </p:cNvPicPr>
          <p:nvPr/>
        </p:nvPicPr>
        <p:blipFill>
          <a:blip r:embed="rId10"/>
          <a:stretch>
            <a:fillRect/>
          </a:stretch>
        </p:blipFill>
        <p:spPr>
          <a:xfrm>
            <a:off x="7818120" y="4443984"/>
            <a:ext cx="237744" cy="237744"/>
          </a:xfrm>
          <a:prstGeom prst="rect">
            <a:avLst/>
          </a:prstGeom>
        </p:spPr>
      </p:pic>
      <p:sp>
        <p:nvSpPr>
          <p:cNvPr id="32" name="Text 20"/>
          <p:cNvSpPr txBox="1"/>
          <p:nvPr/>
        </p:nvSpPr>
        <p:spPr>
          <a:xfrm>
            <a:off x="8183880" y="4407408"/>
            <a:ext cx="3093415"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Low day-to-day workload for the IT team</a:t>
            </a:r>
            <a:endParaRPr lang="en-US" sz="1300" dirty="0"/>
          </a:p>
        </p:txBody>
      </p:sp>
      <p:sp>
        <p:nvSpPr>
          <p:cNvPr id="33" name="Text 21"/>
          <p:cNvSpPr txBox="1"/>
          <p:nvPr/>
        </p:nvSpPr>
        <p:spPr>
          <a:xfrm>
            <a:off x="7818120" y="5120640"/>
            <a:ext cx="3459175" cy="548640"/>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The goal is not more reports — it is fewer incidents.</a:t>
            </a:r>
            <a:endParaRPr lang="en-US" sz="1400" dirty="0"/>
          </a:p>
        </p:txBody>
      </p:sp>
      <p:sp>
        <p:nvSpPr>
          <p:cNvPr id="34" name="Text 22"/>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03   |   Nessus vs. Trend Micro Apex One™  ·  Proposal for The Westin Resort Guam</a:t>
            </a:r>
            <a:endParaRPr lang="en-US" sz="900" dirty="0"/>
          </a:p>
        </p:txBody>
      </p:sp>
      <p:pic>
        <p:nvPicPr>
          <p:cNvPr id="35" name="Image 10" descr="/private/tmp/claude-501/-Users-jihanvin-Desktop-NIVNAH-AI/16a96446-d9b3-40e2-af9e-a3011ae3db84/scratchpad/assets/secukorea_dark.png">    </p:cNvPr>
          <p:cNvPicPr>
            <a:picLocks noChangeAspect="1"/>
          </p:cNvPicPr>
          <p:nvPr/>
        </p:nvPicPr>
        <p:blipFill>
          <a:blip r:embed="rId11"/>
          <a:stretch>
            <a:fillRect/>
          </a:stretch>
        </p:blipFill>
        <p:spPr>
          <a:xfrm>
            <a:off x="10661904" y="6400800"/>
            <a:ext cx="978408" cy="2331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02   EXISTING TOOL</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What Nessus Does — and Where It Stops</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600200"/>
            <a:ext cx="2487168" cy="1417320"/>
          </a:xfrm>
          <a:prstGeom prst="roundRect">
            <a:avLst>
              <a:gd name="adj" fmla="val 7742"/>
            </a:avLst>
          </a:prstGeom>
          <a:solidFill>
            <a:srgbClr val="EAEEF3"/>
          </a:solidFill>
          <a:ln w="12700">
            <a:solidFill>
              <a:srgbClr val="EAEEF3"/>
            </a:solidFill>
            <a:prstDash val="solid"/>
          </a:ln>
        </p:spPr>
      </p:sp>
      <p:pic>
        <p:nvPicPr>
          <p:cNvPr id="6" name="Image 1" descr="preencoded.png">    </p:cNvPr>
          <p:cNvPicPr>
            <a:picLocks noChangeAspect="1"/>
          </p:cNvPicPr>
          <p:nvPr/>
        </p:nvPicPr>
        <p:blipFill>
          <a:blip r:embed="rId2"/>
          <a:stretch>
            <a:fillRect/>
          </a:stretch>
        </p:blipFill>
        <p:spPr>
          <a:xfrm>
            <a:off x="777240" y="1828800"/>
            <a:ext cx="292608" cy="292608"/>
          </a:xfrm>
          <a:prstGeom prst="rect">
            <a:avLst/>
          </a:prstGeom>
        </p:spPr>
      </p:pic>
      <p:sp>
        <p:nvSpPr>
          <p:cNvPr id="7" name="Text 3"/>
          <p:cNvSpPr txBox="1"/>
          <p:nvPr/>
        </p:nvSpPr>
        <p:spPr>
          <a:xfrm>
            <a:off x="1188720" y="1828800"/>
            <a:ext cx="1709928" cy="292608"/>
          </a:xfrm>
          <a:prstGeom prst="rect">
            <a:avLst/>
          </a:prstGeom>
          <a:noFill/>
          <a:ln/>
        </p:spPr>
        <p:txBody>
          <a:bodyPr wrap="square" lIns="0" tIns="0" rIns="0" bIns="0" rtlCol="0" anchor="ctr"/>
          <a:lstStyle/>
          <a:p>
            <a:pPr indent="0" marL="0">
              <a:buNone/>
            </a:pPr>
            <a:r>
              <a:rPr lang="en-US" sz="1150" b="1" spc="100" kern="0" dirty="0">
                <a:solidFill>
                  <a:srgbClr val="5D6B7E"/>
                </a:solidFill>
                <a:latin typeface="Calibri" pitchFamily="34" charset="0"/>
                <a:ea typeface="Calibri" pitchFamily="34" charset="-122"/>
                <a:cs typeface="Calibri" pitchFamily="34" charset="-120"/>
              </a:rPr>
              <a:t>1  SCAN</a:t>
            </a:r>
            <a:endParaRPr lang="en-US" sz="1150" dirty="0"/>
          </a:p>
        </p:txBody>
      </p:sp>
      <p:sp>
        <p:nvSpPr>
          <p:cNvPr id="8" name="Text 4"/>
          <p:cNvSpPr txBox="1"/>
          <p:nvPr/>
        </p:nvSpPr>
        <p:spPr>
          <a:xfrm>
            <a:off x="777240" y="2240280"/>
            <a:ext cx="2075688" cy="685800"/>
          </a:xfrm>
          <a:prstGeom prst="rect">
            <a:avLst/>
          </a:prstGeom>
          <a:noFill/>
          <a:ln/>
        </p:spPr>
        <p:txBody>
          <a:bodyPr wrap="square" lIns="0" tIns="0" rIns="0" bIns="0" rtlCol="0" anchor="t"/>
          <a:lstStyle/>
          <a:p>
            <a:pPr indent="0" marL="0">
              <a:buNone/>
            </a:pPr>
            <a:r>
              <a:rPr lang="en-US" sz="1150" dirty="0">
                <a:solidFill>
                  <a:srgbClr val="0E2233"/>
                </a:solidFill>
                <a:latin typeface="Calibri" pitchFamily="34" charset="0"/>
                <a:ea typeface="Calibri" pitchFamily="34" charset="-122"/>
                <a:cs typeface="Calibri" pitchFamily="34" charset="-120"/>
              </a:rPr>
              <a:t>Periodic network and credentialed scans find vulnerabilities and misconfigurations</a:t>
            </a:r>
            <a:endParaRPr lang="en-US" sz="1150" dirty="0"/>
          </a:p>
        </p:txBody>
      </p:sp>
      <p:pic>
        <p:nvPicPr>
          <p:cNvPr id="9" name="Image 2" descr="preencoded.png">    </p:cNvPr>
          <p:cNvPicPr>
            <a:picLocks noChangeAspect="1"/>
          </p:cNvPicPr>
          <p:nvPr/>
        </p:nvPicPr>
        <p:blipFill>
          <a:blip r:embed="rId3"/>
          <a:stretch>
            <a:fillRect/>
          </a:stretch>
        </p:blipFill>
        <p:spPr>
          <a:xfrm>
            <a:off x="3127248" y="2208276"/>
            <a:ext cx="201168" cy="201168"/>
          </a:xfrm>
          <a:prstGeom prst="rect">
            <a:avLst/>
          </a:prstGeom>
        </p:spPr>
      </p:pic>
      <p:sp>
        <p:nvSpPr>
          <p:cNvPr id="10" name="Shape 5"/>
          <p:cNvSpPr/>
          <p:nvPr/>
        </p:nvSpPr>
        <p:spPr>
          <a:xfrm>
            <a:off x="3419856" y="1600200"/>
            <a:ext cx="2487168" cy="1417320"/>
          </a:xfrm>
          <a:prstGeom prst="roundRect">
            <a:avLst>
              <a:gd name="adj" fmla="val 7742"/>
            </a:avLst>
          </a:prstGeom>
          <a:solidFill>
            <a:srgbClr val="EAEEF3"/>
          </a:solidFill>
          <a:ln w="12700">
            <a:solidFill>
              <a:srgbClr val="EAEEF3"/>
            </a:solidFill>
            <a:prstDash val="solid"/>
          </a:ln>
        </p:spPr>
      </p:sp>
      <p:pic>
        <p:nvPicPr>
          <p:cNvPr id="11" name="Image 3" descr="preencoded.png">    </p:cNvPr>
          <p:cNvPicPr>
            <a:picLocks noChangeAspect="1"/>
          </p:cNvPicPr>
          <p:nvPr/>
        </p:nvPicPr>
        <p:blipFill>
          <a:blip r:embed="rId4"/>
          <a:stretch>
            <a:fillRect/>
          </a:stretch>
        </p:blipFill>
        <p:spPr>
          <a:xfrm>
            <a:off x="3648456" y="1828800"/>
            <a:ext cx="292608" cy="292608"/>
          </a:xfrm>
          <a:prstGeom prst="rect">
            <a:avLst/>
          </a:prstGeom>
        </p:spPr>
      </p:pic>
      <p:sp>
        <p:nvSpPr>
          <p:cNvPr id="12" name="Text 6"/>
          <p:cNvSpPr txBox="1"/>
          <p:nvPr/>
        </p:nvSpPr>
        <p:spPr>
          <a:xfrm>
            <a:off x="4059936" y="1828800"/>
            <a:ext cx="1709928" cy="292608"/>
          </a:xfrm>
          <a:prstGeom prst="rect">
            <a:avLst/>
          </a:prstGeom>
          <a:noFill/>
          <a:ln/>
        </p:spPr>
        <p:txBody>
          <a:bodyPr wrap="square" lIns="0" tIns="0" rIns="0" bIns="0" rtlCol="0" anchor="ctr"/>
          <a:lstStyle/>
          <a:p>
            <a:pPr indent="0" marL="0">
              <a:buNone/>
            </a:pPr>
            <a:r>
              <a:rPr lang="en-US" sz="1150" b="1" spc="100" kern="0" dirty="0">
                <a:solidFill>
                  <a:srgbClr val="5D6B7E"/>
                </a:solidFill>
                <a:latin typeface="Calibri" pitchFamily="34" charset="0"/>
                <a:ea typeface="Calibri" pitchFamily="34" charset="-122"/>
                <a:cs typeface="Calibri" pitchFamily="34" charset="-120"/>
              </a:rPr>
              <a:t>2  REPORT</a:t>
            </a:r>
            <a:endParaRPr lang="en-US" sz="1150" dirty="0"/>
          </a:p>
        </p:txBody>
      </p:sp>
      <p:sp>
        <p:nvSpPr>
          <p:cNvPr id="13" name="Text 7"/>
          <p:cNvSpPr txBox="1"/>
          <p:nvPr/>
        </p:nvSpPr>
        <p:spPr>
          <a:xfrm>
            <a:off x="3648456" y="2240280"/>
            <a:ext cx="2075688" cy="685800"/>
          </a:xfrm>
          <a:prstGeom prst="rect">
            <a:avLst/>
          </a:prstGeom>
          <a:noFill/>
          <a:ln/>
        </p:spPr>
        <p:txBody>
          <a:bodyPr wrap="square" lIns="0" tIns="0" rIns="0" bIns="0" rtlCol="0" anchor="t"/>
          <a:lstStyle/>
          <a:p>
            <a:pPr indent="0" marL="0">
              <a:buNone/>
            </a:pPr>
            <a:r>
              <a:rPr lang="en-US" sz="1150" dirty="0">
                <a:solidFill>
                  <a:srgbClr val="0E2233"/>
                </a:solidFill>
                <a:latin typeface="Calibri" pitchFamily="34" charset="0"/>
                <a:ea typeface="Calibri" pitchFamily="34" charset="-122"/>
                <a:cs typeface="Calibri" pitchFamily="34" charset="-120"/>
              </a:rPr>
              <a:t>Findings are listed with severity ratings to help prioritize</a:t>
            </a:r>
            <a:endParaRPr lang="en-US" sz="1150" dirty="0"/>
          </a:p>
        </p:txBody>
      </p:sp>
      <p:pic>
        <p:nvPicPr>
          <p:cNvPr id="14" name="Image 4" descr="preencoded.png">    </p:cNvPr>
          <p:cNvPicPr>
            <a:picLocks noChangeAspect="1"/>
          </p:cNvPicPr>
          <p:nvPr/>
        </p:nvPicPr>
        <p:blipFill>
          <a:blip r:embed="rId5"/>
          <a:stretch>
            <a:fillRect/>
          </a:stretch>
        </p:blipFill>
        <p:spPr>
          <a:xfrm>
            <a:off x="5998464" y="2208276"/>
            <a:ext cx="201168" cy="201168"/>
          </a:xfrm>
          <a:prstGeom prst="rect">
            <a:avLst/>
          </a:prstGeom>
        </p:spPr>
      </p:pic>
      <p:sp>
        <p:nvSpPr>
          <p:cNvPr id="15" name="Shape 8"/>
          <p:cNvSpPr/>
          <p:nvPr/>
        </p:nvSpPr>
        <p:spPr>
          <a:xfrm>
            <a:off x="6291072" y="1600200"/>
            <a:ext cx="2487168" cy="1417320"/>
          </a:xfrm>
          <a:prstGeom prst="roundRect">
            <a:avLst>
              <a:gd name="adj" fmla="val 7742"/>
            </a:avLst>
          </a:prstGeom>
          <a:solidFill>
            <a:srgbClr val="EAEEF3"/>
          </a:solidFill>
          <a:ln w="12700">
            <a:solidFill>
              <a:srgbClr val="EAEEF3"/>
            </a:solidFill>
            <a:prstDash val="solid"/>
          </a:ln>
        </p:spPr>
      </p:sp>
      <p:pic>
        <p:nvPicPr>
          <p:cNvPr id="16" name="Image 5" descr="preencoded.png">    </p:cNvPr>
          <p:cNvPicPr>
            <a:picLocks noChangeAspect="1"/>
          </p:cNvPicPr>
          <p:nvPr/>
        </p:nvPicPr>
        <p:blipFill>
          <a:blip r:embed="rId6"/>
          <a:stretch>
            <a:fillRect/>
          </a:stretch>
        </p:blipFill>
        <p:spPr>
          <a:xfrm>
            <a:off x="6519672" y="1828800"/>
            <a:ext cx="292608" cy="292608"/>
          </a:xfrm>
          <a:prstGeom prst="rect">
            <a:avLst/>
          </a:prstGeom>
        </p:spPr>
      </p:pic>
      <p:sp>
        <p:nvSpPr>
          <p:cNvPr id="17" name="Text 9"/>
          <p:cNvSpPr txBox="1"/>
          <p:nvPr/>
        </p:nvSpPr>
        <p:spPr>
          <a:xfrm>
            <a:off x="6931152" y="1828800"/>
            <a:ext cx="1709928" cy="292608"/>
          </a:xfrm>
          <a:prstGeom prst="rect">
            <a:avLst/>
          </a:prstGeom>
          <a:noFill/>
          <a:ln/>
        </p:spPr>
        <p:txBody>
          <a:bodyPr wrap="square" lIns="0" tIns="0" rIns="0" bIns="0" rtlCol="0" anchor="ctr"/>
          <a:lstStyle/>
          <a:p>
            <a:pPr indent="0" marL="0">
              <a:buNone/>
            </a:pPr>
            <a:r>
              <a:rPr lang="en-US" sz="1150" b="1" spc="100" kern="0" dirty="0">
                <a:solidFill>
                  <a:srgbClr val="5D6B7E"/>
                </a:solidFill>
                <a:latin typeface="Calibri" pitchFamily="34" charset="0"/>
                <a:ea typeface="Calibri" pitchFamily="34" charset="-122"/>
                <a:cs typeface="Calibri" pitchFamily="34" charset="-120"/>
              </a:rPr>
              <a:t>3  MANUAL FOLLOW-UP</a:t>
            </a:r>
            <a:endParaRPr lang="en-US" sz="1150" dirty="0"/>
          </a:p>
        </p:txBody>
      </p:sp>
      <p:sp>
        <p:nvSpPr>
          <p:cNvPr id="18" name="Text 10"/>
          <p:cNvSpPr txBox="1"/>
          <p:nvPr/>
        </p:nvSpPr>
        <p:spPr>
          <a:xfrm>
            <a:off x="6519672" y="2240280"/>
            <a:ext cx="2075688" cy="685800"/>
          </a:xfrm>
          <a:prstGeom prst="rect">
            <a:avLst/>
          </a:prstGeom>
          <a:noFill/>
          <a:ln/>
        </p:spPr>
        <p:txBody>
          <a:bodyPr wrap="square" lIns="0" tIns="0" rIns="0" bIns="0" rtlCol="0" anchor="t"/>
          <a:lstStyle/>
          <a:p>
            <a:pPr indent="0" marL="0">
              <a:buNone/>
            </a:pPr>
            <a:r>
              <a:rPr lang="en-US" sz="1150" dirty="0">
                <a:solidFill>
                  <a:srgbClr val="0E2233"/>
                </a:solidFill>
                <a:latin typeface="Calibri" pitchFamily="34" charset="0"/>
                <a:ea typeface="Calibri" pitchFamily="34" charset="-122"/>
                <a:cs typeface="Calibri" pitchFamily="34" charset="-120"/>
              </a:rPr>
              <a:t>IT staff research, patch and verify each finding by hand</a:t>
            </a:r>
            <a:endParaRPr lang="en-US" sz="1150" dirty="0"/>
          </a:p>
        </p:txBody>
      </p:sp>
      <p:pic>
        <p:nvPicPr>
          <p:cNvPr id="19" name="Image 6" descr="preencoded.png">    </p:cNvPr>
          <p:cNvPicPr>
            <a:picLocks noChangeAspect="1"/>
          </p:cNvPicPr>
          <p:nvPr/>
        </p:nvPicPr>
        <p:blipFill>
          <a:blip r:embed="rId7"/>
          <a:stretch>
            <a:fillRect/>
          </a:stretch>
        </p:blipFill>
        <p:spPr>
          <a:xfrm>
            <a:off x="8869680" y="2208276"/>
            <a:ext cx="201168" cy="201168"/>
          </a:xfrm>
          <a:prstGeom prst="rect">
            <a:avLst/>
          </a:prstGeom>
        </p:spPr>
      </p:pic>
      <p:sp>
        <p:nvSpPr>
          <p:cNvPr id="20" name="Shape 11"/>
          <p:cNvSpPr/>
          <p:nvPr/>
        </p:nvSpPr>
        <p:spPr>
          <a:xfrm>
            <a:off x="9162288" y="1600200"/>
            <a:ext cx="2480767" cy="1417320"/>
          </a:xfrm>
          <a:prstGeom prst="roundRect">
            <a:avLst>
              <a:gd name="adj" fmla="val 7742"/>
            </a:avLst>
          </a:prstGeom>
          <a:solidFill>
            <a:srgbClr val="E7F5F7"/>
          </a:solidFill>
          <a:ln w="15875">
            <a:solidFill>
              <a:srgbClr val="0F8B99"/>
            </a:solidFill>
            <a:prstDash val="solid"/>
          </a:ln>
        </p:spPr>
      </p:sp>
      <p:pic>
        <p:nvPicPr>
          <p:cNvPr id="21" name="Image 7" descr="preencoded.png">    </p:cNvPr>
          <p:cNvPicPr>
            <a:picLocks noChangeAspect="1"/>
          </p:cNvPicPr>
          <p:nvPr/>
        </p:nvPicPr>
        <p:blipFill>
          <a:blip r:embed="rId8"/>
          <a:stretch>
            <a:fillRect/>
          </a:stretch>
        </p:blipFill>
        <p:spPr>
          <a:xfrm>
            <a:off x="9390888" y="1828800"/>
            <a:ext cx="292608" cy="292608"/>
          </a:xfrm>
          <a:prstGeom prst="rect">
            <a:avLst/>
          </a:prstGeom>
        </p:spPr>
      </p:pic>
      <p:sp>
        <p:nvSpPr>
          <p:cNvPr id="22" name="Text 12"/>
          <p:cNvSpPr txBox="1"/>
          <p:nvPr/>
        </p:nvSpPr>
        <p:spPr>
          <a:xfrm>
            <a:off x="9802368" y="1828800"/>
            <a:ext cx="1703527" cy="292608"/>
          </a:xfrm>
          <a:prstGeom prst="rect">
            <a:avLst/>
          </a:prstGeom>
          <a:noFill/>
          <a:ln/>
        </p:spPr>
        <p:txBody>
          <a:bodyPr wrap="square" lIns="0" tIns="0" rIns="0" bIns="0" rtlCol="0" anchor="ctr"/>
          <a:lstStyle/>
          <a:p>
            <a:pPr indent="0" marL="0">
              <a:buNone/>
            </a:pPr>
            <a:r>
              <a:rPr lang="en-US" sz="1150" b="1" spc="100" kern="0" dirty="0">
                <a:solidFill>
                  <a:srgbClr val="0F8B99"/>
                </a:solidFill>
                <a:latin typeface="Calibri" pitchFamily="34" charset="0"/>
                <a:ea typeface="Calibri" pitchFamily="34" charset="-122"/>
                <a:cs typeface="Calibri" pitchFamily="34" charset="-120"/>
              </a:rPr>
              <a:t>ENDS HERE</a:t>
            </a:r>
            <a:endParaRPr lang="en-US" sz="1150" dirty="0"/>
          </a:p>
        </p:txBody>
      </p:sp>
      <p:sp>
        <p:nvSpPr>
          <p:cNvPr id="23" name="Text 13"/>
          <p:cNvSpPr txBox="1"/>
          <p:nvPr/>
        </p:nvSpPr>
        <p:spPr>
          <a:xfrm>
            <a:off x="9390888" y="2240280"/>
            <a:ext cx="2069287" cy="685800"/>
          </a:xfrm>
          <a:prstGeom prst="rect">
            <a:avLst/>
          </a:prstGeom>
          <a:noFill/>
          <a:ln/>
        </p:spPr>
        <p:txBody>
          <a:bodyPr wrap="square" lIns="0" tIns="0" rIns="0" bIns="0" rtlCol="0" anchor="t"/>
          <a:lstStyle/>
          <a:p>
            <a:pPr indent="0" marL="0">
              <a:buNone/>
            </a:pPr>
            <a:r>
              <a:rPr lang="en-US" sz="1150" b="1" dirty="0">
                <a:solidFill>
                  <a:srgbClr val="0A6470"/>
                </a:solidFill>
                <a:latin typeface="Calibri" pitchFamily="34" charset="0"/>
                <a:ea typeface="Calibri" pitchFamily="34" charset="-122"/>
                <a:cs typeface="Calibri" pitchFamily="34" charset="-120"/>
              </a:rPr>
              <a:t>No prevention · No shielding · No response to live attacks</a:t>
            </a:r>
            <a:endParaRPr lang="en-US" sz="1150" dirty="0"/>
          </a:p>
        </p:txBody>
      </p:sp>
      <p:sp>
        <p:nvSpPr>
          <p:cNvPr id="24" name="Shape 14"/>
          <p:cNvSpPr/>
          <p:nvPr/>
        </p:nvSpPr>
        <p:spPr>
          <a:xfrm>
            <a:off x="548640" y="3310128"/>
            <a:ext cx="4297680" cy="2697480"/>
          </a:xfrm>
          <a:prstGeom prst="roundRect">
            <a:avLst>
              <a:gd name="adj" fmla="val 4068"/>
            </a:avLst>
          </a:prstGeom>
          <a:solidFill>
            <a:srgbClr val="F4F5F7"/>
          </a:solidFill>
          <a:ln w="9525">
            <a:solidFill>
              <a:srgbClr val="DEE1E5"/>
            </a:solidFill>
            <a:prstDash val="solid"/>
          </a:ln>
        </p:spPr>
      </p:sp>
      <p:sp>
        <p:nvSpPr>
          <p:cNvPr id="25" name="Text 15"/>
          <p:cNvSpPr txBox="1"/>
          <p:nvPr/>
        </p:nvSpPr>
        <p:spPr>
          <a:xfrm>
            <a:off x="822960" y="3538728"/>
            <a:ext cx="374904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Where Nessus adds value</a:t>
            </a:r>
            <a:endParaRPr lang="en-US" sz="1500" dirty="0"/>
          </a:p>
        </p:txBody>
      </p:sp>
      <p:pic>
        <p:nvPicPr>
          <p:cNvPr id="26" name="Image 8" descr="preencoded.png">    </p:cNvPr>
          <p:cNvPicPr>
            <a:picLocks noChangeAspect="1"/>
          </p:cNvPicPr>
          <p:nvPr/>
        </p:nvPicPr>
        <p:blipFill>
          <a:blip r:embed="rId9"/>
          <a:stretch>
            <a:fillRect/>
          </a:stretch>
        </p:blipFill>
        <p:spPr>
          <a:xfrm>
            <a:off x="822960" y="4069080"/>
            <a:ext cx="219456" cy="219456"/>
          </a:xfrm>
          <a:prstGeom prst="rect">
            <a:avLst/>
          </a:prstGeom>
        </p:spPr>
      </p:pic>
      <p:sp>
        <p:nvSpPr>
          <p:cNvPr id="27" name="Text 16"/>
          <p:cNvSpPr txBox="1"/>
          <p:nvPr/>
        </p:nvSpPr>
        <p:spPr>
          <a:xfrm>
            <a:off x="1170432" y="4041648"/>
            <a:ext cx="3383280" cy="512064"/>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Broad discovery of known vulnerabilities and misconfigurations</a:t>
            </a:r>
            <a:endParaRPr lang="en-US" sz="1200" dirty="0"/>
          </a:p>
        </p:txBody>
      </p:sp>
      <p:pic>
        <p:nvPicPr>
          <p:cNvPr id="28" name="Image 9" descr="preencoded.png">    </p:cNvPr>
          <p:cNvPicPr>
            <a:picLocks noChangeAspect="1"/>
          </p:cNvPicPr>
          <p:nvPr/>
        </p:nvPicPr>
        <p:blipFill>
          <a:blip r:embed="rId10"/>
          <a:stretch>
            <a:fillRect/>
          </a:stretch>
        </p:blipFill>
        <p:spPr>
          <a:xfrm>
            <a:off x="822960" y="4672584"/>
            <a:ext cx="219456" cy="219456"/>
          </a:xfrm>
          <a:prstGeom prst="rect">
            <a:avLst/>
          </a:prstGeom>
        </p:spPr>
      </p:pic>
      <p:sp>
        <p:nvSpPr>
          <p:cNvPr id="29" name="Text 17"/>
          <p:cNvSpPr txBox="1"/>
          <p:nvPr/>
        </p:nvSpPr>
        <p:spPr>
          <a:xfrm>
            <a:off x="1170432" y="4645152"/>
            <a:ext cx="3383280" cy="512064"/>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Risk-rated findings that help set priorities</a:t>
            </a:r>
            <a:endParaRPr lang="en-US" sz="1200" dirty="0"/>
          </a:p>
        </p:txBody>
      </p:sp>
      <p:pic>
        <p:nvPicPr>
          <p:cNvPr id="30" name="Image 10" descr="preencoded.png">    </p:cNvPr>
          <p:cNvPicPr>
            <a:picLocks noChangeAspect="1"/>
          </p:cNvPicPr>
          <p:nvPr/>
        </p:nvPicPr>
        <p:blipFill>
          <a:blip r:embed="rId11"/>
          <a:stretch>
            <a:fillRect/>
          </a:stretch>
        </p:blipFill>
        <p:spPr>
          <a:xfrm>
            <a:off x="822960" y="5276088"/>
            <a:ext cx="219456" cy="219456"/>
          </a:xfrm>
          <a:prstGeom prst="rect">
            <a:avLst/>
          </a:prstGeom>
        </p:spPr>
      </p:pic>
      <p:sp>
        <p:nvSpPr>
          <p:cNvPr id="31" name="Text 18"/>
          <p:cNvSpPr txBox="1"/>
          <p:nvPr/>
        </p:nvSpPr>
        <p:spPr>
          <a:xfrm>
            <a:off x="1170432" y="5248656"/>
            <a:ext cx="3383280" cy="512064"/>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Useful for periodic audits and compliance checks</a:t>
            </a:r>
            <a:endParaRPr lang="en-US" sz="1200" dirty="0"/>
          </a:p>
        </p:txBody>
      </p:sp>
      <p:sp>
        <p:nvSpPr>
          <p:cNvPr id="32" name="Shape 19"/>
          <p:cNvSpPr/>
          <p:nvPr/>
        </p:nvSpPr>
        <p:spPr>
          <a:xfrm>
            <a:off x="5120640" y="3310128"/>
            <a:ext cx="6522415" cy="2697480"/>
          </a:xfrm>
          <a:prstGeom prst="roundRect">
            <a:avLst>
              <a:gd name="adj" fmla="val 4068"/>
            </a:avLst>
          </a:prstGeom>
          <a:solidFill>
            <a:srgbClr val="FFFFFF"/>
          </a:solidFill>
          <a:ln w="9525">
            <a:solidFill>
              <a:srgbClr val="DEE1E5"/>
            </a:solidFill>
            <a:prstDash val="solid"/>
          </a:ln>
        </p:spPr>
      </p:sp>
      <p:sp>
        <p:nvSpPr>
          <p:cNvPr id="33" name="Text 20"/>
          <p:cNvSpPr txBox="1"/>
          <p:nvPr/>
        </p:nvSpPr>
        <p:spPr>
          <a:xfrm>
            <a:off x="5394960" y="3538728"/>
            <a:ext cx="5973775"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Where it falls short for the resort</a:t>
            </a:r>
            <a:endParaRPr lang="en-US" sz="1500" dirty="0"/>
          </a:p>
        </p:txBody>
      </p:sp>
      <p:pic>
        <p:nvPicPr>
          <p:cNvPr id="34" name="Image 11" descr="preencoded.png">    </p:cNvPr>
          <p:cNvPicPr>
            <a:picLocks noChangeAspect="1"/>
          </p:cNvPicPr>
          <p:nvPr/>
        </p:nvPicPr>
        <p:blipFill>
          <a:blip r:embed="rId12"/>
          <a:stretch>
            <a:fillRect/>
          </a:stretch>
        </p:blipFill>
        <p:spPr>
          <a:xfrm>
            <a:off x="5394960" y="4059936"/>
            <a:ext cx="201168" cy="201168"/>
          </a:xfrm>
          <a:prstGeom prst="rect">
            <a:avLst/>
          </a:prstGeom>
        </p:spPr>
      </p:pic>
      <p:sp>
        <p:nvSpPr>
          <p:cNvPr id="35" name="Text 21"/>
          <p:cNvSpPr txBox="1"/>
          <p:nvPr/>
        </p:nvSpPr>
        <p:spPr>
          <a:xfrm>
            <a:off x="5715000" y="4023360"/>
            <a:ext cx="5653735" cy="292608"/>
          </a:xfrm>
          <a:prstGeom prst="rect">
            <a:avLst/>
          </a:prstGeom>
          <a:noFill/>
          <a:ln/>
        </p:spPr>
        <p:txBody>
          <a:bodyPr wrap="square" lIns="0" tIns="0" rIns="0" bIns="0" rtlCol="0" anchor="ctr"/>
          <a:lstStyle/>
          <a:p>
            <a:pPr indent="0" marL="0">
              <a:buNone/>
            </a:pPr>
            <a:r>
              <a:rPr lang="en-US" sz="1200" b="1" dirty="0">
                <a:solidFill>
                  <a:srgbClr val="0E2233"/>
                </a:solidFill>
                <a:latin typeface="Calibri" pitchFamily="34" charset="0"/>
                <a:ea typeface="Calibri" pitchFamily="34" charset="-122"/>
                <a:cs typeface="Calibri" pitchFamily="34" charset="-120"/>
              </a:rPr>
              <a:t>Point-in-time only</a:t>
            </a:r>
            <a:pPr indent="0" marL="0">
              <a:buNone/>
            </a:pPr>
            <a:r>
              <a:rPr lang="en-US" sz="1200" dirty="0">
                <a:solidFill>
                  <a:srgbClr val="5F6670"/>
                </a:solidFill>
                <a:latin typeface="Calibri" pitchFamily="34" charset="0"/>
                <a:ea typeface="Calibri" pitchFamily="34" charset="-122"/>
                <a:cs typeface="Calibri" pitchFamily="34" charset="-120"/>
              </a:rPr>
              <a:t>  —  no visibility between scans</a:t>
            </a:r>
            <a:endParaRPr lang="en-US" sz="1200" dirty="0"/>
          </a:p>
        </p:txBody>
      </p:sp>
      <p:pic>
        <p:nvPicPr>
          <p:cNvPr id="36" name="Image 12" descr="preencoded.png">    </p:cNvPr>
          <p:cNvPicPr>
            <a:picLocks noChangeAspect="1"/>
          </p:cNvPicPr>
          <p:nvPr/>
        </p:nvPicPr>
        <p:blipFill>
          <a:blip r:embed="rId13"/>
          <a:stretch>
            <a:fillRect/>
          </a:stretch>
        </p:blipFill>
        <p:spPr>
          <a:xfrm>
            <a:off x="5394960" y="4434840"/>
            <a:ext cx="201168" cy="201168"/>
          </a:xfrm>
          <a:prstGeom prst="rect">
            <a:avLst/>
          </a:prstGeom>
        </p:spPr>
      </p:pic>
      <p:sp>
        <p:nvSpPr>
          <p:cNvPr id="37" name="Text 22"/>
          <p:cNvSpPr txBox="1"/>
          <p:nvPr/>
        </p:nvSpPr>
        <p:spPr>
          <a:xfrm>
            <a:off x="5715000" y="4398264"/>
            <a:ext cx="5653735" cy="292608"/>
          </a:xfrm>
          <a:prstGeom prst="rect">
            <a:avLst/>
          </a:prstGeom>
          <a:noFill/>
          <a:ln/>
        </p:spPr>
        <p:txBody>
          <a:bodyPr wrap="square" lIns="0" tIns="0" rIns="0" bIns="0" rtlCol="0" anchor="ctr"/>
          <a:lstStyle/>
          <a:p>
            <a:pPr indent="0" marL="0">
              <a:buNone/>
            </a:pPr>
            <a:r>
              <a:rPr lang="en-US" sz="1200" b="1" dirty="0">
                <a:solidFill>
                  <a:srgbClr val="0E2233"/>
                </a:solidFill>
                <a:latin typeface="Calibri" pitchFamily="34" charset="0"/>
                <a:ea typeface="Calibri" pitchFamily="34" charset="-122"/>
                <a:cs typeface="Calibri" pitchFamily="34" charset="-120"/>
              </a:rPr>
              <a:t>No malware or ransomware prevention</a:t>
            </a:r>
            <a:pPr indent="0" marL="0">
              <a:buNone/>
            </a:pPr>
            <a:r>
              <a:rPr lang="en-US" sz="1200" dirty="0">
                <a:solidFill>
                  <a:srgbClr val="5F6670"/>
                </a:solidFill>
                <a:latin typeface="Calibri" pitchFamily="34" charset="0"/>
                <a:ea typeface="Calibri" pitchFamily="34" charset="-122"/>
                <a:cs typeface="Calibri" pitchFamily="34" charset="-120"/>
              </a:rPr>
              <a:t>  —  a separate antivirus is still needed (EPP)</a:t>
            </a:r>
            <a:endParaRPr lang="en-US" sz="1200" dirty="0"/>
          </a:p>
        </p:txBody>
      </p:sp>
      <p:pic>
        <p:nvPicPr>
          <p:cNvPr id="38" name="Image 13" descr="preencoded.png">    </p:cNvPr>
          <p:cNvPicPr>
            <a:picLocks noChangeAspect="1"/>
          </p:cNvPicPr>
          <p:nvPr/>
        </p:nvPicPr>
        <p:blipFill>
          <a:blip r:embed="rId14"/>
          <a:stretch>
            <a:fillRect/>
          </a:stretch>
        </p:blipFill>
        <p:spPr>
          <a:xfrm>
            <a:off x="5394960" y="4809744"/>
            <a:ext cx="201168" cy="201168"/>
          </a:xfrm>
          <a:prstGeom prst="rect">
            <a:avLst/>
          </a:prstGeom>
        </p:spPr>
      </p:pic>
      <p:sp>
        <p:nvSpPr>
          <p:cNvPr id="39" name="Text 23"/>
          <p:cNvSpPr txBox="1"/>
          <p:nvPr/>
        </p:nvSpPr>
        <p:spPr>
          <a:xfrm>
            <a:off x="5715000" y="4773168"/>
            <a:ext cx="5653735" cy="292608"/>
          </a:xfrm>
          <a:prstGeom prst="rect">
            <a:avLst/>
          </a:prstGeom>
          <a:noFill/>
          <a:ln/>
        </p:spPr>
        <p:txBody>
          <a:bodyPr wrap="square" lIns="0" tIns="0" rIns="0" bIns="0" rtlCol="0" anchor="ctr"/>
          <a:lstStyle/>
          <a:p>
            <a:pPr indent="0" marL="0">
              <a:buNone/>
            </a:pPr>
            <a:r>
              <a:rPr lang="en-US" sz="1200" b="1" dirty="0">
                <a:solidFill>
                  <a:srgbClr val="0E2233"/>
                </a:solidFill>
                <a:latin typeface="Calibri" pitchFamily="34" charset="0"/>
                <a:ea typeface="Calibri" pitchFamily="34" charset="-122"/>
                <a:cs typeface="Calibri" pitchFamily="34" charset="-120"/>
              </a:rPr>
              <a:t>No detection or response to active attacks</a:t>
            </a:r>
            <a:pPr indent="0" marL="0">
              <a:buNone/>
            </a:pPr>
            <a:r>
              <a:rPr lang="en-US" sz="1200" dirty="0">
                <a:solidFill>
                  <a:srgbClr val="5F6670"/>
                </a:solidFill>
                <a:latin typeface="Calibri" pitchFamily="34" charset="0"/>
                <a:ea typeface="Calibri" pitchFamily="34" charset="-122"/>
                <a:cs typeface="Calibri" pitchFamily="34" charset="-120"/>
              </a:rPr>
              <a:t>  —  no EDR capability</a:t>
            </a:r>
            <a:endParaRPr lang="en-US" sz="1200" dirty="0"/>
          </a:p>
        </p:txBody>
      </p:sp>
      <p:pic>
        <p:nvPicPr>
          <p:cNvPr id="40" name="Image 14" descr="preencoded.png">    </p:cNvPr>
          <p:cNvPicPr>
            <a:picLocks noChangeAspect="1"/>
          </p:cNvPicPr>
          <p:nvPr/>
        </p:nvPicPr>
        <p:blipFill>
          <a:blip r:embed="rId15"/>
          <a:stretch>
            <a:fillRect/>
          </a:stretch>
        </p:blipFill>
        <p:spPr>
          <a:xfrm>
            <a:off x="5394960" y="5184648"/>
            <a:ext cx="201168" cy="201168"/>
          </a:xfrm>
          <a:prstGeom prst="rect">
            <a:avLst/>
          </a:prstGeom>
        </p:spPr>
      </p:pic>
      <p:sp>
        <p:nvSpPr>
          <p:cNvPr id="41" name="Text 24"/>
          <p:cNvSpPr txBox="1"/>
          <p:nvPr/>
        </p:nvSpPr>
        <p:spPr>
          <a:xfrm>
            <a:off x="5715000" y="5148072"/>
            <a:ext cx="5653735" cy="292608"/>
          </a:xfrm>
          <a:prstGeom prst="rect">
            <a:avLst/>
          </a:prstGeom>
          <a:noFill/>
          <a:ln/>
        </p:spPr>
        <p:txBody>
          <a:bodyPr wrap="square" lIns="0" tIns="0" rIns="0" bIns="0" rtlCol="0" anchor="ctr"/>
          <a:lstStyle/>
          <a:p>
            <a:pPr indent="0" marL="0">
              <a:buNone/>
            </a:pPr>
            <a:r>
              <a:rPr lang="en-US" sz="1200" b="1" dirty="0">
                <a:solidFill>
                  <a:srgbClr val="0E2233"/>
                </a:solidFill>
                <a:latin typeface="Calibri" pitchFamily="34" charset="0"/>
                <a:ea typeface="Calibri" pitchFamily="34" charset="-122"/>
                <a:cs typeface="Calibri" pitchFamily="34" charset="-120"/>
              </a:rPr>
              <a:t>Remediation is fully manual</a:t>
            </a:r>
            <a:pPr indent="0" marL="0">
              <a:buNone/>
            </a:pPr>
            <a:r>
              <a:rPr lang="en-US" sz="1200" dirty="0">
                <a:solidFill>
                  <a:srgbClr val="5F6670"/>
                </a:solidFill>
                <a:latin typeface="Calibri" pitchFamily="34" charset="0"/>
                <a:ea typeface="Calibri" pitchFamily="34" charset="-122"/>
                <a:cs typeface="Calibri" pitchFamily="34" charset="-120"/>
              </a:rPr>
              <a:t>  —  every finding adds IT workload</a:t>
            </a:r>
            <a:endParaRPr lang="en-US" sz="1200" dirty="0"/>
          </a:p>
        </p:txBody>
      </p:sp>
      <p:pic>
        <p:nvPicPr>
          <p:cNvPr id="42" name="Image 15" descr="preencoded.png">    </p:cNvPr>
          <p:cNvPicPr>
            <a:picLocks noChangeAspect="1"/>
          </p:cNvPicPr>
          <p:nvPr/>
        </p:nvPicPr>
        <p:blipFill>
          <a:blip r:embed="rId16"/>
          <a:stretch>
            <a:fillRect/>
          </a:stretch>
        </p:blipFill>
        <p:spPr>
          <a:xfrm>
            <a:off x="5394960" y="5559552"/>
            <a:ext cx="201168" cy="201168"/>
          </a:xfrm>
          <a:prstGeom prst="rect">
            <a:avLst/>
          </a:prstGeom>
        </p:spPr>
      </p:pic>
      <p:sp>
        <p:nvSpPr>
          <p:cNvPr id="43" name="Text 25"/>
          <p:cNvSpPr txBox="1"/>
          <p:nvPr/>
        </p:nvSpPr>
        <p:spPr>
          <a:xfrm>
            <a:off x="5715000" y="5522976"/>
            <a:ext cx="5653735" cy="292608"/>
          </a:xfrm>
          <a:prstGeom prst="rect">
            <a:avLst/>
          </a:prstGeom>
          <a:noFill/>
          <a:ln/>
        </p:spPr>
        <p:txBody>
          <a:bodyPr wrap="square" lIns="0" tIns="0" rIns="0" bIns="0" rtlCol="0" anchor="ctr"/>
          <a:lstStyle/>
          <a:p>
            <a:pPr indent="0" marL="0">
              <a:buNone/>
            </a:pPr>
            <a:r>
              <a:rPr lang="en-US" sz="1200" b="1" dirty="0">
                <a:solidFill>
                  <a:srgbClr val="0E2233"/>
                </a:solidFill>
                <a:latin typeface="Calibri" pitchFamily="34" charset="0"/>
                <a:ea typeface="Calibri" pitchFamily="34" charset="-122"/>
                <a:cs typeface="Calibri" pitchFamily="34" charset="-120"/>
              </a:rPr>
              <a:t>No protection until a patch is installed</a:t>
            </a:r>
            <a:pPr indent="0" marL="0">
              <a:buNone/>
            </a:pPr>
            <a:r>
              <a:rPr lang="en-US" sz="1200" dirty="0">
                <a:solidFill>
                  <a:srgbClr val="5F6670"/>
                </a:solidFill>
                <a:latin typeface="Calibri" pitchFamily="34" charset="0"/>
                <a:ea typeface="Calibri" pitchFamily="34" charset="-122"/>
                <a:cs typeface="Calibri" pitchFamily="34" charset="-120"/>
              </a:rPr>
              <a:t>  —  legacy systems may never be patched</a:t>
            </a:r>
            <a:endParaRPr lang="en-US" sz="1200" dirty="0"/>
          </a:p>
        </p:txBody>
      </p:sp>
      <p:sp>
        <p:nvSpPr>
          <p:cNvPr id="44" name="Text 26"/>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04   |   Nessus vs. Trend Micro Apex One™  ·  Proposal for The Westin Resort Guam</a:t>
            </a:r>
            <a:endParaRPr lang="en-US" sz="900" dirty="0"/>
          </a:p>
        </p:txBody>
      </p:sp>
      <p:pic>
        <p:nvPicPr>
          <p:cNvPr id="45" name="Image 16" descr="/private/tmp/claude-501/-Users-jihanvin-Desktop-NIVNAH-AI/16a96446-d9b3-40e2-af9e-a3011ae3db84/scratchpad/assets/secukorea_dark.png">    </p:cNvPr>
          <p:cNvPicPr>
            <a:picLocks noChangeAspect="1"/>
          </p:cNvPicPr>
          <p:nvPr/>
        </p:nvPicPr>
        <p:blipFill>
          <a:blip r:embed="rId17"/>
          <a:stretch>
            <a:fillRect/>
          </a:stretch>
        </p:blipFill>
        <p:spPr>
          <a:xfrm>
            <a:off x="10661904" y="6400800"/>
            <a:ext cx="978408" cy="2331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03   A SIMPLE WAY TO SEE IT</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A Safety Inspection vs. Guards on Every Door</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54480"/>
            <a:ext cx="5074920" cy="3611880"/>
          </a:xfrm>
          <a:prstGeom prst="roundRect">
            <a:avLst>
              <a:gd name="adj" fmla="val 3544"/>
            </a:avLst>
          </a:prstGeom>
          <a:solidFill>
            <a:srgbClr val="F4F5F7"/>
          </a:solidFill>
          <a:ln w="9525">
            <a:solidFill>
              <a:srgbClr val="DEE1E5"/>
            </a:solidFill>
            <a:prstDash val="solid"/>
          </a:ln>
        </p:spPr>
      </p:sp>
      <p:sp>
        <p:nvSpPr>
          <p:cNvPr id="6" name="Shape 3"/>
          <p:cNvSpPr/>
          <p:nvPr/>
        </p:nvSpPr>
        <p:spPr>
          <a:xfrm>
            <a:off x="868680" y="1874520"/>
            <a:ext cx="658368" cy="658368"/>
          </a:xfrm>
          <a:prstGeom prst="ellipse">
            <a:avLst/>
          </a:prstGeom>
          <a:solidFill>
            <a:srgbClr val="EAEEF3"/>
          </a:solidFill>
          <a:ln w="12700">
            <a:solidFill>
              <a:srgbClr val="EAEEF3"/>
            </a:solidFill>
            <a:prstDash val="solid"/>
          </a:ln>
        </p:spPr>
      </p:sp>
      <p:pic>
        <p:nvPicPr>
          <p:cNvPr id="7" name="Image 1" descr="preencoded.png">    </p:cNvPr>
          <p:cNvPicPr>
            <a:picLocks noChangeAspect="1"/>
          </p:cNvPicPr>
          <p:nvPr/>
        </p:nvPicPr>
        <p:blipFill>
          <a:blip r:embed="rId2"/>
          <a:stretch>
            <a:fillRect/>
          </a:stretch>
        </p:blipFill>
        <p:spPr>
          <a:xfrm>
            <a:off x="1046439" y="2052279"/>
            <a:ext cx="302849" cy="302849"/>
          </a:xfrm>
          <a:prstGeom prst="rect">
            <a:avLst/>
          </a:prstGeom>
        </p:spPr>
      </p:pic>
      <p:sp>
        <p:nvSpPr>
          <p:cNvPr id="8" name="Text 4"/>
          <p:cNvSpPr txBox="1"/>
          <p:nvPr/>
        </p:nvSpPr>
        <p:spPr>
          <a:xfrm>
            <a:off x="1709928" y="1901952"/>
            <a:ext cx="3703320" cy="237744"/>
          </a:xfrm>
          <a:prstGeom prst="rect">
            <a:avLst/>
          </a:prstGeom>
          <a:noFill/>
          <a:ln/>
        </p:spPr>
        <p:txBody>
          <a:bodyPr wrap="square" lIns="0" tIns="0" rIns="0" bIns="0" rtlCol="0" anchor="t"/>
          <a:lstStyle/>
          <a:p>
            <a:pPr indent="0" marL="0">
              <a:buNone/>
            </a:pPr>
            <a:r>
              <a:rPr lang="en-US" sz="1100" b="1" spc="200" kern="0" dirty="0">
                <a:solidFill>
                  <a:srgbClr val="5D6B7E"/>
                </a:solidFill>
                <a:latin typeface="Calibri" pitchFamily="34" charset="0"/>
                <a:ea typeface="Calibri" pitchFamily="34" charset="-122"/>
                <a:cs typeface="Calibri" pitchFamily="34" charset="-120"/>
              </a:rPr>
              <a:t>NESSUS</a:t>
            </a:r>
            <a:endParaRPr lang="en-US" sz="1100" dirty="0"/>
          </a:p>
        </p:txBody>
      </p:sp>
      <p:sp>
        <p:nvSpPr>
          <p:cNvPr id="9" name="Text 5"/>
          <p:cNvSpPr txBox="1"/>
          <p:nvPr/>
        </p:nvSpPr>
        <p:spPr>
          <a:xfrm>
            <a:off x="1709928" y="2157984"/>
            <a:ext cx="3703320" cy="566928"/>
          </a:xfrm>
          <a:prstGeom prst="rect">
            <a:avLst/>
          </a:prstGeom>
          <a:noFill/>
          <a:ln/>
        </p:spPr>
        <p:txBody>
          <a:bodyPr wrap="square" lIns="0" tIns="0" rIns="0" bIns="0" rtlCol="0" anchor="t"/>
          <a:lstStyle/>
          <a:p>
            <a:pPr indent="0" marL="0">
              <a:buNone/>
            </a:pPr>
            <a:r>
              <a:rPr lang="en-US" sz="1700" b="1" dirty="0">
                <a:solidFill>
                  <a:srgbClr val="0E2233"/>
                </a:solidFill>
                <a:latin typeface="Arial" pitchFamily="34" charset="0"/>
                <a:ea typeface="Arial" pitchFamily="34" charset="-122"/>
                <a:cs typeface="Arial" pitchFamily="34" charset="-120"/>
              </a:rPr>
              <a:t>The Safety Inspector</a:t>
            </a:r>
            <a:endParaRPr lang="en-US" sz="1700" dirty="0"/>
          </a:p>
        </p:txBody>
      </p:sp>
      <p:sp>
        <p:nvSpPr>
          <p:cNvPr id="10" name="Text 6"/>
          <p:cNvSpPr txBox="1"/>
          <p:nvPr/>
        </p:nvSpPr>
        <p:spPr>
          <a:xfrm>
            <a:off x="868680" y="2880360"/>
            <a:ext cx="4434840" cy="960120"/>
          </a:xfrm>
          <a:prstGeom prst="rect">
            <a:avLst/>
          </a:prstGeom>
          <a:noFill/>
          <a:ln/>
        </p:spPr>
        <p:txBody>
          <a:bodyPr wrap="square" lIns="0" tIns="0" rIns="0" bIns="0" rtlCol="0" anchor="t"/>
          <a:lstStyle/>
          <a:p>
            <a:pPr indent="0" marL="0">
              <a:buNone/>
            </a:pPr>
            <a:r>
              <a:rPr lang="en-US" sz="1250" dirty="0">
                <a:solidFill>
                  <a:srgbClr val="5F6670"/>
                </a:solidFill>
                <a:latin typeface="Calibri" pitchFamily="34" charset="0"/>
                <a:ea typeface="Calibri" pitchFamily="34" charset="-122"/>
                <a:cs typeface="Calibri" pitchFamily="34" charset="-120"/>
              </a:rPr>
              <a:t>An inspector walks the building on a schedule and lists every broken lock. Valuable — but the doors stay open until someone comes to repair them.</a:t>
            </a:r>
            <a:endParaRPr lang="en-US" sz="1250" dirty="0"/>
          </a:p>
        </p:txBody>
      </p:sp>
      <p:pic>
        <p:nvPicPr>
          <p:cNvPr id="11" name="Image 2" descr="preencoded.png">    </p:cNvPr>
          <p:cNvPicPr>
            <a:picLocks noChangeAspect="1"/>
          </p:cNvPicPr>
          <p:nvPr/>
        </p:nvPicPr>
        <p:blipFill>
          <a:blip r:embed="rId3"/>
          <a:stretch>
            <a:fillRect/>
          </a:stretch>
        </p:blipFill>
        <p:spPr>
          <a:xfrm>
            <a:off x="868680" y="4023360"/>
            <a:ext cx="182880" cy="182880"/>
          </a:xfrm>
          <a:prstGeom prst="rect">
            <a:avLst/>
          </a:prstGeom>
        </p:spPr>
      </p:pic>
      <p:sp>
        <p:nvSpPr>
          <p:cNvPr id="12" name="Text 7"/>
          <p:cNvSpPr txBox="1"/>
          <p:nvPr/>
        </p:nvSpPr>
        <p:spPr>
          <a:xfrm>
            <a:off x="1188720" y="3977640"/>
            <a:ext cx="4160520" cy="274320"/>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Finds known issues</a:t>
            </a:r>
            <a:endParaRPr lang="en-US" sz="1250" dirty="0"/>
          </a:p>
        </p:txBody>
      </p:sp>
      <p:pic>
        <p:nvPicPr>
          <p:cNvPr id="13" name="Image 3" descr="preencoded.png">    </p:cNvPr>
          <p:cNvPicPr>
            <a:picLocks noChangeAspect="1"/>
          </p:cNvPicPr>
          <p:nvPr/>
        </p:nvPicPr>
        <p:blipFill>
          <a:blip r:embed="rId4"/>
          <a:stretch>
            <a:fillRect/>
          </a:stretch>
        </p:blipFill>
        <p:spPr>
          <a:xfrm>
            <a:off x="868680" y="4389120"/>
            <a:ext cx="182880" cy="182880"/>
          </a:xfrm>
          <a:prstGeom prst="rect">
            <a:avLst/>
          </a:prstGeom>
        </p:spPr>
      </p:pic>
      <p:sp>
        <p:nvSpPr>
          <p:cNvPr id="14" name="Text 8"/>
          <p:cNvSpPr txBox="1"/>
          <p:nvPr/>
        </p:nvSpPr>
        <p:spPr>
          <a:xfrm>
            <a:off x="1188720" y="4343400"/>
            <a:ext cx="4160520" cy="274320"/>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Reports on a schedule</a:t>
            </a:r>
            <a:endParaRPr lang="en-US" sz="1250" dirty="0"/>
          </a:p>
        </p:txBody>
      </p:sp>
      <p:pic>
        <p:nvPicPr>
          <p:cNvPr id="15" name="Image 4" descr="preencoded.png">    </p:cNvPr>
          <p:cNvPicPr>
            <a:picLocks noChangeAspect="1"/>
          </p:cNvPicPr>
          <p:nvPr/>
        </p:nvPicPr>
        <p:blipFill>
          <a:blip r:embed="rId5"/>
          <a:stretch>
            <a:fillRect/>
          </a:stretch>
        </p:blipFill>
        <p:spPr>
          <a:xfrm>
            <a:off x="868680" y="4754880"/>
            <a:ext cx="182880" cy="182880"/>
          </a:xfrm>
          <a:prstGeom prst="rect">
            <a:avLst/>
          </a:prstGeom>
        </p:spPr>
      </p:pic>
      <p:sp>
        <p:nvSpPr>
          <p:cNvPr id="16" name="Text 9"/>
          <p:cNvSpPr txBox="1"/>
          <p:nvPr/>
        </p:nvSpPr>
        <p:spPr>
          <a:xfrm>
            <a:off x="1188720" y="4709160"/>
            <a:ext cx="4160520" cy="274320"/>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Leaves the fixing to you</a:t>
            </a:r>
            <a:endParaRPr lang="en-US" sz="1250" dirty="0"/>
          </a:p>
        </p:txBody>
      </p:sp>
      <p:sp>
        <p:nvSpPr>
          <p:cNvPr id="17" name="Shape 10"/>
          <p:cNvSpPr/>
          <p:nvPr/>
        </p:nvSpPr>
        <p:spPr>
          <a:xfrm>
            <a:off x="6568135" y="1554480"/>
            <a:ext cx="5074920" cy="3611880"/>
          </a:xfrm>
          <a:prstGeom prst="roundRect">
            <a:avLst>
              <a:gd name="adj" fmla="val 3544"/>
            </a:avLst>
          </a:prstGeom>
          <a:solidFill>
            <a:srgbClr val="E7F5F7"/>
          </a:solidFill>
          <a:ln w="9525">
            <a:solidFill>
              <a:srgbClr val="BFE4E8"/>
            </a:solidFill>
            <a:prstDash val="solid"/>
          </a:ln>
        </p:spPr>
      </p:sp>
      <p:sp>
        <p:nvSpPr>
          <p:cNvPr id="18" name="Shape 11"/>
          <p:cNvSpPr/>
          <p:nvPr/>
        </p:nvSpPr>
        <p:spPr>
          <a:xfrm>
            <a:off x="6888175" y="1874520"/>
            <a:ext cx="658368" cy="658368"/>
          </a:xfrm>
          <a:prstGeom prst="ellipse">
            <a:avLst/>
          </a:prstGeom>
          <a:solidFill>
            <a:srgbClr val="0F8B99"/>
          </a:solidFill>
          <a:ln w="12700">
            <a:solidFill>
              <a:srgbClr val="0F8B99"/>
            </a:solidFill>
            <a:prstDash val="solid"/>
          </a:ln>
        </p:spPr>
      </p:sp>
      <p:pic>
        <p:nvPicPr>
          <p:cNvPr id="19" name="Image 5" descr="preencoded.png">    </p:cNvPr>
          <p:cNvPicPr>
            <a:picLocks noChangeAspect="1"/>
          </p:cNvPicPr>
          <p:nvPr/>
        </p:nvPicPr>
        <p:blipFill>
          <a:blip r:embed="rId6"/>
          <a:stretch>
            <a:fillRect/>
          </a:stretch>
        </p:blipFill>
        <p:spPr>
          <a:xfrm>
            <a:off x="7065935" y="2052279"/>
            <a:ext cx="302849" cy="302849"/>
          </a:xfrm>
          <a:prstGeom prst="rect">
            <a:avLst/>
          </a:prstGeom>
        </p:spPr>
      </p:pic>
      <p:sp>
        <p:nvSpPr>
          <p:cNvPr id="20" name="Text 12"/>
          <p:cNvSpPr txBox="1"/>
          <p:nvPr/>
        </p:nvSpPr>
        <p:spPr>
          <a:xfrm>
            <a:off x="7729423" y="1901952"/>
            <a:ext cx="3703320" cy="237744"/>
          </a:xfrm>
          <a:prstGeom prst="rect">
            <a:avLst/>
          </a:prstGeom>
          <a:noFill/>
          <a:ln/>
        </p:spPr>
        <p:txBody>
          <a:bodyPr wrap="square" lIns="0" tIns="0" rIns="0" bIns="0" rtlCol="0" anchor="t"/>
          <a:lstStyle/>
          <a:p>
            <a:pPr indent="0" marL="0">
              <a:buNone/>
            </a:pPr>
            <a:r>
              <a:rPr lang="en-US" sz="1100" b="1" spc="200" kern="0" dirty="0">
                <a:solidFill>
                  <a:srgbClr val="0F8B99"/>
                </a:solidFill>
                <a:latin typeface="Calibri" pitchFamily="34" charset="0"/>
                <a:ea typeface="Calibri" pitchFamily="34" charset="-122"/>
                <a:cs typeface="Calibri" pitchFamily="34" charset="-120"/>
              </a:rPr>
              <a:t>TREND MICRO APEX ONE</a:t>
            </a:r>
            <a:endParaRPr lang="en-US" sz="1100" dirty="0"/>
          </a:p>
        </p:txBody>
      </p:sp>
      <p:sp>
        <p:nvSpPr>
          <p:cNvPr id="21" name="Text 13"/>
          <p:cNvSpPr txBox="1"/>
          <p:nvPr/>
        </p:nvSpPr>
        <p:spPr>
          <a:xfrm>
            <a:off x="7729423" y="2157984"/>
            <a:ext cx="3703320" cy="566928"/>
          </a:xfrm>
          <a:prstGeom prst="rect">
            <a:avLst/>
          </a:prstGeom>
          <a:noFill/>
          <a:ln/>
        </p:spPr>
        <p:txBody>
          <a:bodyPr wrap="square" lIns="0" tIns="0" rIns="0" bIns="0" rtlCol="0" anchor="t"/>
          <a:lstStyle/>
          <a:p>
            <a:pPr indent="0" marL="0">
              <a:buNone/>
            </a:pPr>
            <a:r>
              <a:rPr lang="en-US" sz="1700" b="1" dirty="0">
                <a:solidFill>
                  <a:srgbClr val="0E2233"/>
                </a:solidFill>
                <a:latin typeface="Arial" pitchFamily="34" charset="0"/>
                <a:ea typeface="Arial" pitchFamily="34" charset="-122"/>
                <a:cs typeface="Arial" pitchFamily="34" charset="-120"/>
              </a:rPr>
              <a:t>Guards, Temporary Locks &amp; an Undo Button</a:t>
            </a:r>
            <a:endParaRPr lang="en-US" sz="1700" dirty="0"/>
          </a:p>
        </p:txBody>
      </p:sp>
      <p:sp>
        <p:nvSpPr>
          <p:cNvPr id="22" name="Text 14"/>
          <p:cNvSpPr txBox="1"/>
          <p:nvPr/>
        </p:nvSpPr>
        <p:spPr>
          <a:xfrm>
            <a:off x="6888175" y="2880360"/>
            <a:ext cx="4434840" cy="960120"/>
          </a:xfrm>
          <a:prstGeom prst="rect">
            <a:avLst/>
          </a:prstGeom>
          <a:noFill/>
          <a:ln/>
        </p:spPr>
        <p:txBody>
          <a:bodyPr wrap="square" lIns="0" tIns="0" rIns="0" bIns="0" rtlCol="0" anchor="t"/>
          <a:lstStyle/>
          <a:p>
            <a:pPr indent="0" marL="0">
              <a:buNone/>
            </a:pPr>
            <a:r>
              <a:rPr lang="en-US" sz="1250" dirty="0">
                <a:solidFill>
                  <a:srgbClr val="5F6670"/>
                </a:solidFill>
                <a:latin typeface="Calibri" pitchFamily="34" charset="0"/>
                <a:ea typeface="Calibri" pitchFamily="34" charset="-122"/>
                <a:cs typeface="Calibri" pitchFamily="34" charset="-120"/>
              </a:rPr>
              <a:t>A guard stands at every door, a temporary lock goes on each broken door right away (virtual patching), and if ransomware strikes, damaged files are restored.</a:t>
            </a:r>
            <a:endParaRPr lang="en-US" sz="1250" dirty="0"/>
          </a:p>
        </p:txBody>
      </p:sp>
      <p:pic>
        <p:nvPicPr>
          <p:cNvPr id="23" name="Image 6" descr="preencoded.png">    </p:cNvPr>
          <p:cNvPicPr>
            <a:picLocks noChangeAspect="1"/>
          </p:cNvPicPr>
          <p:nvPr/>
        </p:nvPicPr>
        <p:blipFill>
          <a:blip r:embed="rId7"/>
          <a:stretch>
            <a:fillRect/>
          </a:stretch>
        </p:blipFill>
        <p:spPr>
          <a:xfrm>
            <a:off x="6888175" y="4023360"/>
            <a:ext cx="182880" cy="182880"/>
          </a:xfrm>
          <a:prstGeom prst="rect">
            <a:avLst/>
          </a:prstGeom>
        </p:spPr>
      </p:pic>
      <p:sp>
        <p:nvSpPr>
          <p:cNvPr id="24" name="Text 15"/>
          <p:cNvSpPr txBox="1"/>
          <p:nvPr/>
        </p:nvSpPr>
        <p:spPr>
          <a:xfrm>
            <a:off x="7208215" y="3977640"/>
            <a:ext cx="4160520" cy="274320"/>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Blocks threats automatically</a:t>
            </a:r>
            <a:endParaRPr lang="en-US" sz="1250" dirty="0"/>
          </a:p>
        </p:txBody>
      </p:sp>
      <p:pic>
        <p:nvPicPr>
          <p:cNvPr id="25" name="Image 7" descr="preencoded.png">    </p:cNvPr>
          <p:cNvPicPr>
            <a:picLocks noChangeAspect="1"/>
          </p:cNvPicPr>
          <p:nvPr/>
        </p:nvPicPr>
        <p:blipFill>
          <a:blip r:embed="rId8"/>
          <a:stretch>
            <a:fillRect/>
          </a:stretch>
        </p:blipFill>
        <p:spPr>
          <a:xfrm>
            <a:off x="6888175" y="4389120"/>
            <a:ext cx="182880" cy="182880"/>
          </a:xfrm>
          <a:prstGeom prst="rect">
            <a:avLst/>
          </a:prstGeom>
        </p:spPr>
      </p:pic>
      <p:sp>
        <p:nvSpPr>
          <p:cNvPr id="26" name="Text 16"/>
          <p:cNvSpPr txBox="1"/>
          <p:nvPr/>
        </p:nvSpPr>
        <p:spPr>
          <a:xfrm>
            <a:off x="7208215" y="4343400"/>
            <a:ext cx="4160520" cy="274320"/>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Shields weaknesses until repaired</a:t>
            </a:r>
            <a:endParaRPr lang="en-US" sz="1250" dirty="0"/>
          </a:p>
        </p:txBody>
      </p:sp>
      <p:pic>
        <p:nvPicPr>
          <p:cNvPr id="27" name="Image 8" descr="preencoded.png">    </p:cNvPr>
          <p:cNvPicPr>
            <a:picLocks noChangeAspect="1"/>
          </p:cNvPicPr>
          <p:nvPr/>
        </p:nvPicPr>
        <p:blipFill>
          <a:blip r:embed="rId9"/>
          <a:stretch>
            <a:fillRect/>
          </a:stretch>
        </p:blipFill>
        <p:spPr>
          <a:xfrm>
            <a:off x="6888175" y="4754880"/>
            <a:ext cx="182880" cy="182880"/>
          </a:xfrm>
          <a:prstGeom prst="rect">
            <a:avLst/>
          </a:prstGeom>
        </p:spPr>
      </p:pic>
      <p:sp>
        <p:nvSpPr>
          <p:cNvPr id="28" name="Text 17"/>
          <p:cNvSpPr txBox="1"/>
          <p:nvPr/>
        </p:nvSpPr>
        <p:spPr>
          <a:xfrm>
            <a:off x="7208215" y="4709160"/>
            <a:ext cx="4160520" cy="274320"/>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Rolls back ransomware damage</a:t>
            </a:r>
            <a:endParaRPr lang="en-US" sz="1250" dirty="0"/>
          </a:p>
        </p:txBody>
      </p:sp>
      <p:sp>
        <p:nvSpPr>
          <p:cNvPr id="29" name="Shape 18"/>
          <p:cNvSpPr/>
          <p:nvPr/>
        </p:nvSpPr>
        <p:spPr>
          <a:xfrm>
            <a:off x="5775808" y="3040380"/>
            <a:ext cx="640080" cy="640080"/>
          </a:xfrm>
          <a:prstGeom prst="ellipse">
            <a:avLst/>
          </a:prstGeom>
          <a:solidFill>
            <a:srgbClr val="10243A"/>
          </a:solidFill>
          <a:ln w="25400">
            <a:solidFill>
              <a:srgbClr val="FFFFFF"/>
            </a:solidFill>
            <a:prstDash val="solid"/>
          </a:ln>
        </p:spPr>
      </p:sp>
      <p:sp>
        <p:nvSpPr>
          <p:cNvPr id="30" name="Text 19"/>
          <p:cNvSpPr txBox="1"/>
          <p:nvPr/>
        </p:nvSpPr>
        <p:spPr>
          <a:xfrm>
            <a:off x="5775808" y="304038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VS</a:t>
            </a:r>
            <a:endParaRPr lang="en-US" sz="1500" dirty="0"/>
          </a:p>
        </p:txBody>
      </p:sp>
      <p:sp>
        <p:nvSpPr>
          <p:cNvPr id="31" name="Text 20"/>
          <p:cNvSpPr txBox="1"/>
          <p:nvPr/>
        </p:nvSpPr>
        <p:spPr>
          <a:xfrm>
            <a:off x="548640" y="5532120"/>
            <a:ext cx="1828800" cy="274320"/>
          </a:xfrm>
          <a:prstGeom prst="rect">
            <a:avLst/>
          </a:prstGeom>
          <a:noFill/>
          <a:ln/>
        </p:spPr>
        <p:txBody>
          <a:bodyPr wrap="square" lIns="0" tIns="0" rIns="0" bIns="0" rtlCol="0" anchor="ctr"/>
          <a:lstStyle/>
          <a:p>
            <a:pPr indent="0" marL="0">
              <a:buNone/>
            </a:pPr>
            <a:r>
              <a:rPr lang="en-US" sz="1000" b="1" spc="150" kern="0" dirty="0">
                <a:solidFill>
                  <a:srgbClr val="5F6670"/>
                </a:solidFill>
                <a:latin typeface="Calibri" pitchFamily="34" charset="0"/>
                <a:ea typeface="Calibri" pitchFamily="34" charset="-122"/>
                <a:cs typeface="Calibri" pitchFamily="34" charset="-120"/>
              </a:rPr>
              <a:t>SECURITY LIFECYCLE</a:t>
            </a:r>
            <a:endParaRPr lang="en-US" sz="1000" dirty="0"/>
          </a:p>
        </p:txBody>
      </p:sp>
      <p:sp>
        <p:nvSpPr>
          <p:cNvPr id="32" name="Shape 21"/>
          <p:cNvSpPr/>
          <p:nvPr/>
        </p:nvSpPr>
        <p:spPr>
          <a:xfrm>
            <a:off x="2468880" y="5440680"/>
            <a:ext cx="1234440" cy="457200"/>
          </a:xfrm>
          <a:prstGeom prst="roundRect">
            <a:avLst>
              <a:gd name="adj" fmla="val 50000"/>
            </a:avLst>
          </a:prstGeom>
          <a:solidFill>
            <a:srgbClr val="0F8B99"/>
          </a:solidFill>
          <a:ln w="12700">
            <a:solidFill>
              <a:srgbClr val="0F8B99"/>
            </a:solidFill>
            <a:prstDash val="solid"/>
          </a:ln>
        </p:spPr>
      </p:sp>
      <p:sp>
        <p:nvSpPr>
          <p:cNvPr id="33" name="Text 22"/>
          <p:cNvSpPr txBox="1"/>
          <p:nvPr/>
        </p:nvSpPr>
        <p:spPr>
          <a:xfrm>
            <a:off x="2468880" y="5440680"/>
            <a:ext cx="1234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Discover</a:t>
            </a:r>
            <a:endParaRPr lang="en-US" sz="1250" dirty="0"/>
          </a:p>
        </p:txBody>
      </p:sp>
      <p:sp>
        <p:nvSpPr>
          <p:cNvPr id="34" name="Shape 23"/>
          <p:cNvSpPr/>
          <p:nvPr/>
        </p:nvSpPr>
        <p:spPr>
          <a:xfrm>
            <a:off x="3867912" y="5440680"/>
            <a:ext cx="1234440" cy="457200"/>
          </a:xfrm>
          <a:prstGeom prst="roundRect">
            <a:avLst>
              <a:gd name="adj" fmla="val 50000"/>
            </a:avLst>
          </a:prstGeom>
          <a:solidFill>
            <a:srgbClr val="0F8B99"/>
          </a:solidFill>
          <a:ln w="12700">
            <a:solidFill>
              <a:srgbClr val="0F8B99"/>
            </a:solidFill>
            <a:prstDash val="solid"/>
          </a:ln>
        </p:spPr>
      </p:sp>
      <p:sp>
        <p:nvSpPr>
          <p:cNvPr id="35" name="Text 24"/>
          <p:cNvSpPr txBox="1"/>
          <p:nvPr/>
        </p:nvSpPr>
        <p:spPr>
          <a:xfrm>
            <a:off x="3867912" y="5440680"/>
            <a:ext cx="1234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Shield</a:t>
            </a:r>
            <a:endParaRPr lang="en-US" sz="1250" dirty="0"/>
          </a:p>
        </p:txBody>
      </p:sp>
      <p:sp>
        <p:nvSpPr>
          <p:cNvPr id="36" name="Shape 25"/>
          <p:cNvSpPr/>
          <p:nvPr/>
        </p:nvSpPr>
        <p:spPr>
          <a:xfrm>
            <a:off x="5266944" y="5440680"/>
            <a:ext cx="1234440" cy="457200"/>
          </a:xfrm>
          <a:prstGeom prst="roundRect">
            <a:avLst>
              <a:gd name="adj" fmla="val 50000"/>
            </a:avLst>
          </a:prstGeom>
          <a:solidFill>
            <a:srgbClr val="0F8B99"/>
          </a:solidFill>
          <a:ln w="12700">
            <a:solidFill>
              <a:srgbClr val="0F8B99"/>
            </a:solidFill>
            <a:prstDash val="solid"/>
          </a:ln>
        </p:spPr>
      </p:sp>
      <p:sp>
        <p:nvSpPr>
          <p:cNvPr id="37" name="Text 26"/>
          <p:cNvSpPr txBox="1"/>
          <p:nvPr/>
        </p:nvSpPr>
        <p:spPr>
          <a:xfrm>
            <a:off x="5266944" y="5440680"/>
            <a:ext cx="1234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Prevent</a:t>
            </a:r>
            <a:endParaRPr lang="en-US" sz="1250" dirty="0"/>
          </a:p>
        </p:txBody>
      </p:sp>
      <p:sp>
        <p:nvSpPr>
          <p:cNvPr id="38" name="Shape 27"/>
          <p:cNvSpPr/>
          <p:nvPr/>
        </p:nvSpPr>
        <p:spPr>
          <a:xfrm>
            <a:off x="6665976" y="5440680"/>
            <a:ext cx="1234440" cy="457200"/>
          </a:xfrm>
          <a:prstGeom prst="roundRect">
            <a:avLst>
              <a:gd name="adj" fmla="val 50000"/>
            </a:avLst>
          </a:prstGeom>
          <a:solidFill>
            <a:srgbClr val="0F8B99"/>
          </a:solidFill>
          <a:ln w="12700">
            <a:solidFill>
              <a:srgbClr val="0F8B99"/>
            </a:solidFill>
            <a:prstDash val="solid"/>
          </a:ln>
        </p:spPr>
      </p:sp>
      <p:sp>
        <p:nvSpPr>
          <p:cNvPr id="39" name="Text 28"/>
          <p:cNvSpPr txBox="1"/>
          <p:nvPr/>
        </p:nvSpPr>
        <p:spPr>
          <a:xfrm>
            <a:off x="6665976" y="5440680"/>
            <a:ext cx="1234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Respond</a:t>
            </a:r>
            <a:endParaRPr lang="en-US" sz="1250" dirty="0"/>
          </a:p>
        </p:txBody>
      </p:sp>
      <p:sp>
        <p:nvSpPr>
          <p:cNvPr id="40" name="Shape 29"/>
          <p:cNvSpPr/>
          <p:nvPr/>
        </p:nvSpPr>
        <p:spPr>
          <a:xfrm>
            <a:off x="8065008" y="5440680"/>
            <a:ext cx="1234440" cy="457200"/>
          </a:xfrm>
          <a:prstGeom prst="roundRect">
            <a:avLst>
              <a:gd name="adj" fmla="val 50000"/>
            </a:avLst>
          </a:prstGeom>
          <a:solidFill>
            <a:srgbClr val="0F8B99"/>
          </a:solidFill>
          <a:ln w="12700">
            <a:solidFill>
              <a:srgbClr val="0F8B99"/>
            </a:solidFill>
            <a:prstDash val="solid"/>
          </a:ln>
        </p:spPr>
      </p:sp>
      <p:sp>
        <p:nvSpPr>
          <p:cNvPr id="41" name="Text 30"/>
          <p:cNvSpPr txBox="1"/>
          <p:nvPr/>
        </p:nvSpPr>
        <p:spPr>
          <a:xfrm>
            <a:off x="8065008" y="5440680"/>
            <a:ext cx="1234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Recover</a:t>
            </a:r>
            <a:endParaRPr lang="en-US" sz="1250" dirty="0"/>
          </a:p>
        </p:txBody>
      </p:sp>
      <p:sp>
        <p:nvSpPr>
          <p:cNvPr id="42" name="Text 31"/>
          <p:cNvSpPr txBox="1"/>
          <p:nvPr/>
        </p:nvSpPr>
        <p:spPr>
          <a:xfrm>
            <a:off x="9555480" y="5440680"/>
            <a:ext cx="2087575" cy="457200"/>
          </a:xfrm>
          <a:prstGeom prst="rect">
            <a:avLst/>
          </a:prstGeom>
          <a:noFill/>
          <a:ln/>
        </p:spPr>
        <p:txBody>
          <a:bodyPr wrap="square" lIns="0" tIns="0" rIns="0" bIns="0" rtlCol="0" anchor="ctr"/>
          <a:lstStyle/>
          <a:p>
            <a:pPr indent="0" marL="0">
              <a:buNone/>
            </a:pPr>
            <a:r>
              <a:rPr lang="en-US" sz="1150" b="1" dirty="0">
                <a:solidFill>
                  <a:srgbClr val="5D6B7E"/>
                </a:solidFill>
                <a:latin typeface="Calibri" pitchFamily="34" charset="0"/>
                <a:ea typeface="Calibri" pitchFamily="34" charset="-122"/>
                <a:cs typeface="Calibri" pitchFamily="34" charset="-120"/>
              </a:rPr>
              <a:t>Nessus</a:t>
            </a:r>
            <a:pPr indent="0" marL="0">
              <a:buNone/>
            </a:pPr>
            <a:r>
              <a:rPr lang="en-US" sz="1150" dirty="0">
                <a:solidFill>
                  <a:srgbClr val="5F6670"/>
                </a:solidFill>
                <a:latin typeface="Calibri" pitchFamily="34" charset="0"/>
                <a:ea typeface="Calibri" pitchFamily="34" charset="-122"/>
                <a:cs typeface="Calibri" pitchFamily="34" charset="-120"/>
              </a:rPr>
              <a:t> covers only Discover.  </a:t>
            </a:r>
            <a:pPr indent="0" marL="0">
              <a:buNone/>
            </a:pPr>
            <a:r>
              <a:rPr lang="en-US" sz="1150" b="1" dirty="0">
                <a:solidFill>
                  <a:srgbClr val="0F8B99"/>
                </a:solidFill>
                <a:latin typeface="Calibri" pitchFamily="34" charset="0"/>
                <a:ea typeface="Calibri" pitchFamily="34" charset="-122"/>
                <a:cs typeface="Calibri" pitchFamily="34" charset="-120"/>
              </a:rPr>
              <a:t>Apex One</a:t>
            </a:r>
            <a:pPr indent="0" marL="0">
              <a:buNone/>
            </a:pPr>
            <a:r>
              <a:rPr lang="en-US" sz="1150" dirty="0">
                <a:solidFill>
                  <a:srgbClr val="5F6670"/>
                </a:solidFill>
                <a:latin typeface="Calibri" pitchFamily="34" charset="0"/>
                <a:ea typeface="Calibri" pitchFamily="34" charset="-122"/>
                <a:cs typeface="Calibri" pitchFamily="34" charset="-120"/>
              </a:rPr>
              <a:t> covers every stage.</a:t>
            </a:r>
            <a:endParaRPr lang="en-US" sz="1150" dirty="0"/>
          </a:p>
        </p:txBody>
      </p:sp>
      <p:sp>
        <p:nvSpPr>
          <p:cNvPr id="43" name="Text 32"/>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05   |   Nessus vs. Trend Micro Apex One™  ·  Proposal for The Westin Resort Guam</a:t>
            </a:r>
            <a:endParaRPr lang="en-US" sz="900" dirty="0"/>
          </a:p>
        </p:txBody>
      </p:sp>
      <p:pic>
        <p:nvPicPr>
          <p:cNvPr id="44" name="Image 9" descr="/private/tmp/claude-501/-Users-jihanvin-Desktop-NIVNAH-AI/16a96446-d9b3-40e2-af9e-a3011ae3db84/scratchpad/assets/secukorea_dark.png">    </p:cNvPr>
          <p:cNvPicPr>
            <a:picLocks noChangeAspect="1"/>
          </p:cNvPicPr>
          <p:nvPr/>
        </p:nvPicPr>
        <p:blipFill>
          <a:blip r:embed="rId10"/>
          <a:stretch>
            <a:fillRect/>
          </a:stretch>
        </p:blipFill>
        <p:spPr>
          <a:xfrm>
            <a:off x="10661904" y="6400800"/>
            <a:ext cx="978408" cy="2331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04   THE PATCH GAP</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Between Finding and Fixing, Systems Stay Exposed</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2331720" y="2395728"/>
            <a:ext cx="8991295" cy="0"/>
          </a:xfrm>
          <a:prstGeom prst="line">
            <a:avLst/>
          </a:prstGeom>
          <a:noFill/>
          <a:ln w="19050">
            <a:solidFill>
              <a:srgbClr val="B8C0CA"/>
            </a:solidFill>
            <a:prstDash val="solid"/>
          </a:ln>
        </p:spPr>
      </p:sp>
      <p:sp>
        <p:nvSpPr>
          <p:cNvPr id="6" name="Shape 3"/>
          <p:cNvSpPr/>
          <p:nvPr/>
        </p:nvSpPr>
        <p:spPr>
          <a:xfrm>
            <a:off x="2157984" y="2221992"/>
            <a:ext cx="347472" cy="347472"/>
          </a:xfrm>
          <a:prstGeom prst="ellipse">
            <a:avLst/>
          </a:prstGeom>
          <a:solidFill>
            <a:srgbClr val="5D6B7E"/>
          </a:solidFill>
          <a:ln w="19050">
            <a:solidFill>
              <a:srgbClr val="FFFFFF"/>
            </a:solidFill>
            <a:prstDash val="solid"/>
          </a:ln>
        </p:spPr>
      </p:sp>
      <p:sp>
        <p:nvSpPr>
          <p:cNvPr id="7" name="Text 4"/>
          <p:cNvSpPr txBox="1"/>
          <p:nvPr/>
        </p:nvSpPr>
        <p:spPr>
          <a:xfrm>
            <a:off x="2157984" y="2221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txBox="1"/>
          <p:nvPr/>
        </p:nvSpPr>
        <p:spPr>
          <a:xfrm>
            <a:off x="2157984" y="1536192"/>
            <a:ext cx="1920240" cy="658368"/>
          </a:xfrm>
          <a:prstGeom prst="rect">
            <a:avLst/>
          </a:prstGeom>
          <a:noFill/>
          <a:ln/>
        </p:spPr>
        <p:txBody>
          <a:bodyPr wrap="square" lIns="0" tIns="0" rIns="0" bIns="0" rtlCol="0" anchor="b"/>
          <a:lstStyle/>
          <a:p>
            <a:pPr algn="l" indent="0" marL="0">
              <a:buNone/>
            </a:pPr>
            <a:r>
              <a:rPr lang="en-US" sz="1200" b="1" dirty="0">
                <a:solidFill>
                  <a:srgbClr val="0E2233"/>
                </a:solidFill>
                <a:latin typeface="Calibri" pitchFamily="34" charset="0"/>
                <a:ea typeface="Calibri" pitchFamily="34" charset="-122"/>
                <a:cs typeface="Calibri" pitchFamily="34" charset="-120"/>
              </a:rPr>
              <a:t>Vulnerability disclosed</a:t>
            </a:r>
            <a:endParaRPr lang="en-US" sz="1200" dirty="0"/>
          </a:p>
          <a:p>
            <a:pPr algn="l" indent="0" marL="0">
              <a:buNone/>
            </a:pPr>
            <a:r>
              <a:rPr lang="en-US" sz="1050" dirty="0">
                <a:solidFill>
                  <a:srgbClr val="5F6670"/>
                </a:solidFill>
                <a:latin typeface="Calibri" pitchFamily="34" charset="0"/>
                <a:ea typeface="Calibri" pitchFamily="34" charset="-122"/>
                <a:cs typeface="Calibri" pitchFamily="34" charset="-120"/>
              </a:rPr>
              <a:t>Attacks can begin</a:t>
            </a:r>
            <a:endParaRPr lang="en-US" sz="1200" dirty="0"/>
          </a:p>
        </p:txBody>
      </p:sp>
      <p:sp>
        <p:nvSpPr>
          <p:cNvPr id="9" name="Shape 6"/>
          <p:cNvSpPr/>
          <p:nvPr/>
        </p:nvSpPr>
        <p:spPr>
          <a:xfrm>
            <a:off x="4405808" y="2221992"/>
            <a:ext cx="347472" cy="347472"/>
          </a:xfrm>
          <a:prstGeom prst="ellipse">
            <a:avLst/>
          </a:prstGeom>
          <a:solidFill>
            <a:srgbClr val="5D6B7E"/>
          </a:solidFill>
          <a:ln w="19050">
            <a:solidFill>
              <a:srgbClr val="FFFFFF"/>
            </a:solidFill>
            <a:prstDash val="solid"/>
          </a:ln>
        </p:spPr>
      </p:sp>
      <p:sp>
        <p:nvSpPr>
          <p:cNvPr id="10" name="Text 7"/>
          <p:cNvSpPr txBox="1"/>
          <p:nvPr/>
        </p:nvSpPr>
        <p:spPr>
          <a:xfrm>
            <a:off x="4405808" y="2221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8"/>
          <p:cNvSpPr txBox="1"/>
          <p:nvPr/>
        </p:nvSpPr>
        <p:spPr>
          <a:xfrm>
            <a:off x="3619424" y="1536192"/>
            <a:ext cx="1920240" cy="658368"/>
          </a:xfrm>
          <a:prstGeom prst="rect">
            <a:avLst/>
          </a:prstGeom>
          <a:noFill/>
          <a:ln/>
        </p:spPr>
        <p:txBody>
          <a:bodyPr wrap="square" lIns="0" tIns="0" rIns="0" bIns="0" rtlCol="0" anchor="b"/>
          <a:lstStyle/>
          <a:p>
            <a:pPr algn="ctr" indent="0" marL="0">
              <a:buNone/>
            </a:pPr>
            <a:r>
              <a:rPr lang="en-US" sz="1200" b="1" dirty="0">
                <a:solidFill>
                  <a:srgbClr val="0E2233"/>
                </a:solidFill>
                <a:latin typeface="Calibri" pitchFamily="34" charset="0"/>
                <a:ea typeface="Calibri" pitchFamily="34" charset="-122"/>
                <a:cs typeface="Calibri" pitchFamily="34" charset="-120"/>
              </a:rPr>
              <a:t>Next Nessus scan</a:t>
            </a:r>
            <a:endParaRPr lang="en-US" sz="1200" dirty="0"/>
          </a:p>
          <a:p>
            <a:pPr algn="ctr" indent="0" marL="0">
              <a:buNone/>
            </a:pPr>
            <a:r>
              <a:rPr lang="en-US" sz="1050" dirty="0">
                <a:solidFill>
                  <a:srgbClr val="5F6670"/>
                </a:solidFill>
                <a:latin typeface="Calibri" pitchFamily="34" charset="0"/>
                <a:ea typeface="Calibri" pitchFamily="34" charset="-122"/>
                <a:cs typeface="Calibri" pitchFamily="34" charset="-120"/>
              </a:rPr>
              <a:t>The finding is reported</a:t>
            </a:r>
            <a:endParaRPr lang="en-US" sz="1200" dirty="0"/>
          </a:p>
        </p:txBody>
      </p:sp>
      <p:sp>
        <p:nvSpPr>
          <p:cNvPr id="12" name="Shape 9"/>
          <p:cNvSpPr/>
          <p:nvPr/>
        </p:nvSpPr>
        <p:spPr>
          <a:xfrm>
            <a:off x="6653632" y="2221992"/>
            <a:ext cx="347472" cy="347472"/>
          </a:xfrm>
          <a:prstGeom prst="ellipse">
            <a:avLst/>
          </a:prstGeom>
          <a:solidFill>
            <a:srgbClr val="5D6B7E"/>
          </a:solidFill>
          <a:ln w="19050">
            <a:solidFill>
              <a:srgbClr val="FFFFFF"/>
            </a:solidFill>
            <a:prstDash val="solid"/>
          </a:ln>
        </p:spPr>
      </p:sp>
      <p:sp>
        <p:nvSpPr>
          <p:cNvPr id="13" name="Text 10"/>
          <p:cNvSpPr txBox="1"/>
          <p:nvPr/>
        </p:nvSpPr>
        <p:spPr>
          <a:xfrm>
            <a:off x="6653632" y="2221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1"/>
          <p:cNvSpPr txBox="1"/>
          <p:nvPr/>
        </p:nvSpPr>
        <p:spPr>
          <a:xfrm>
            <a:off x="5867248" y="1536192"/>
            <a:ext cx="1920240" cy="658368"/>
          </a:xfrm>
          <a:prstGeom prst="rect">
            <a:avLst/>
          </a:prstGeom>
          <a:noFill/>
          <a:ln/>
        </p:spPr>
        <p:txBody>
          <a:bodyPr wrap="square" lIns="0" tIns="0" rIns="0" bIns="0" rtlCol="0" anchor="b"/>
          <a:lstStyle/>
          <a:p>
            <a:pPr algn="ctr" indent="0" marL="0">
              <a:buNone/>
            </a:pPr>
            <a:r>
              <a:rPr lang="en-US" sz="1200" b="1" dirty="0">
                <a:solidFill>
                  <a:srgbClr val="0E2233"/>
                </a:solidFill>
                <a:latin typeface="Calibri" pitchFamily="34" charset="0"/>
                <a:ea typeface="Calibri" pitchFamily="34" charset="-122"/>
                <a:cs typeface="Calibri" pitchFamily="34" charset="-120"/>
              </a:rPr>
              <a:t>Vendor patch released</a:t>
            </a:r>
            <a:endParaRPr lang="en-US" sz="1200" dirty="0"/>
          </a:p>
          <a:p>
            <a:pPr algn="ctr" indent="0" marL="0">
              <a:buNone/>
            </a:pPr>
            <a:r>
              <a:rPr lang="en-US" sz="1050" dirty="0">
                <a:solidFill>
                  <a:srgbClr val="5F6670"/>
                </a:solidFill>
                <a:latin typeface="Calibri" pitchFamily="34" charset="0"/>
                <a:ea typeface="Calibri" pitchFamily="34" charset="-122"/>
                <a:cs typeface="Calibri" pitchFamily="34" charset="-120"/>
              </a:rPr>
              <a:t>Often days or weeks later</a:t>
            </a:r>
            <a:endParaRPr lang="en-US" sz="1200" dirty="0"/>
          </a:p>
        </p:txBody>
      </p:sp>
      <p:sp>
        <p:nvSpPr>
          <p:cNvPr id="15" name="Shape 12"/>
          <p:cNvSpPr/>
          <p:nvPr/>
        </p:nvSpPr>
        <p:spPr>
          <a:xfrm>
            <a:off x="8901455" y="2221992"/>
            <a:ext cx="347472" cy="347472"/>
          </a:xfrm>
          <a:prstGeom prst="ellipse">
            <a:avLst/>
          </a:prstGeom>
          <a:solidFill>
            <a:srgbClr val="5D6B7E"/>
          </a:solidFill>
          <a:ln w="19050">
            <a:solidFill>
              <a:srgbClr val="FFFFFF"/>
            </a:solidFill>
            <a:prstDash val="solid"/>
          </a:ln>
        </p:spPr>
      </p:sp>
      <p:sp>
        <p:nvSpPr>
          <p:cNvPr id="16" name="Text 13"/>
          <p:cNvSpPr txBox="1"/>
          <p:nvPr/>
        </p:nvSpPr>
        <p:spPr>
          <a:xfrm>
            <a:off x="8901455" y="2221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4"/>
          <p:cNvSpPr txBox="1"/>
          <p:nvPr/>
        </p:nvSpPr>
        <p:spPr>
          <a:xfrm>
            <a:off x="8115071" y="1536192"/>
            <a:ext cx="1920240" cy="658368"/>
          </a:xfrm>
          <a:prstGeom prst="rect">
            <a:avLst/>
          </a:prstGeom>
          <a:noFill/>
          <a:ln/>
        </p:spPr>
        <p:txBody>
          <a:bodyPr wrap="square" lIns="0" tIns="0" rIns="0" bIns="0" rtlCol="0" anchor="b"/>
          <a:lstStyle/>
          <a:p>
            <a:pPr algn="ctr" indent="0" marL="0">
              <a:buNone/>
            </a:pPr>
            <a:r>
              <a:rPr lang="en-US" sz="1200" b="1" dirty="0">
                <a:solidFill>
                  <a:srgbClr val="0E2233"/>
                </a:solidFill>
                <a:latin typeface="Calibri" pitchFamily="34" charset="0"/>
                <a:ea typeface="Calibri" pitchFamily="34" charset="-122"/>
                <a:cs typeface="Calibri" pitchFamily="34" charset="-120"/>
              </a:rPr>
              <a:t>Patch tested &amp; scheduled</a:t>
            </a:r>
            <a:endParaRPr lang="en-US" sz="1200" dirty="0"/>
          </a:p>
          <a:p>
            <a:pPr algn="ctr" indent="0" marL="0">
              <a:buNone/>
            </a:pPr>
            <a:r>
              <a:rPr lang="en-US" sz="1050" dirty="0">
                <a:solidFill>
                  <a:srgbClr val="5F6670"/>
                </a:solidFill>
                <a:latin typeface="Calibri" pitchFamily="34" charset="0"/>
                <a:ea typeface="Calibri" pitchFamily="34" charset="-122"/>
                <a:cs typeface="Calibri" pitchFamily="34" charset="-120"/>
              </a:rPr>
              <a:t>Maintenance window needed</a:t>
            </a:r>
            <a:endParaRPr lang="en-US" sz="1200" dirty="0"/>
          </a:p>
        </p:txBody>
      </p:sp>
      <p:sp>
        <p:nvSpPr>
          <p:cNvPr id="18" name="Shape 15"/>
          <p:cNvSpPr/>
          <p:nvPr/>
        </p:nvSpPr>
        <p:spPr>
          <a:xfrm>
            <a:off x="11149279" y="2221992"/>
            <a:ext cx="347472" cy="347472"/>
          </a:xfrm>
          <a:prstGeom prst="ellipse">
            <a:avLst/>
          </a:prstGeom>
          <a:solidFill>
            <a:srgbClr val="5D6B7E"/>
          </a:solidFill>
          <a:ln w="19050">
            <a:solidFill>
              <a:srgbClr val="FFFFFF"/>
            </a:solidFill>
            <a:prstDash val="solid"/>
          </a:ln>
        </p:spPr>
      </p:sp>
      <p:sp>
        <p:nvSpPr>
          <p:cNvPr id="19" name="Text 16"/>
          <p:cNvSpPr txBox="1"/>
          <p:nvPr/>
        </p:nvSpPr>
        <p:spPr>
          <a:xfrm>
            <a:off x="11149279" y="2221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76511" y="1536192"/>
            <a:ext cx="1920240" cy="658368"/>
          </a:xfrm>
          <a:prstGeom prst="rect">
            <a:avLst/>
          </a:prstGeom>
          <a:noFill/>
          <a:ln/>
        </p:spPr>
        <p:txBody>
          <a:bodyPr wrap="square" lIns="0" tIns="0" rIns="0" bIns="0" rtlCol="0" anchor="b"/>
          <a:lstStyle/>
          <a:p>
            <a:pPr algn="r" indent="0" marL="0">
              <a:buNone/>
            </a:pPr>
            <a:r>
              <a:rPr lang="en-US" sz="1200" b="1" dirty="0">
                <a:solidFill>
                  <a:srgbClr val="0E2233"/>
                </a:solidFill>
                <a:latin typeface="Calibri" pitchFamily="34" charset="0"/>
                <a:ea typeface="Calibri" pitchFamily="34" charset="-122"/>
                <a:cs typeface="Calibri" pitchFamily="34" charset="-120"/>
              </a:rPr>
              <a:t>Patch installed</a:t>
            </a:r>
            <a:endParaRPr lang="en-US" sz="1200" dirty="0"/>
          </a:p>
          <a:p>
            <a:pPr algn="r" indent="0" marL="0">
              <a:buNone/>
            </a:pPr>
            <a:r>
              <a:rPr lang="en-US" sz="1050" dirty="0">
                <a:solidFill>
                  <a:srgbClr val="5F6670"/>
                </a:solidFill>
                <a:latin typeface="Calibri" pitchFamily="34" charset="0"/>
                <a:ea typeface="Calibri" pitchFamily="34" charset="-122"/>
                <a:cs typeface="Calibri" pitchFamily="34" charset="-120"/>
              </a:rPr>
              <a:t>Legacy systems: may never</a:t>
            </a:r>
            <a:endParaRPr lang="en-US" sz="1200" dirty="0"/>
          </a:p>
        </p:txBody>
      </p:sp>
      <p:sp>
        <p:nvSpPr>
          <p:cNvPr id="21" name="Text 18"/>
          <p:cNvSpPr txBox="1"/>
          <p:nvPr/>
        </p:nvSpPr>
        <p:spPr>
          <a:xfrm>
            <a:off x="548640" y="3337560"/>
            <a:ext cx="1645920" cy="566928"/>
          </a:xfrm>
          <a:prstGeom prst="rect">
            <a:avLst/>
          </a:prstGeom>
          <a:noFill/>
          <a:ln/>
        </p:spPr>
        <p:txBody>
          <a:bodyPr wrap="square" lIns="0" tIns="0" rIns="0" bIns="0" rtlCol="0" anchor="ctr"/>
          <a:lstStyle/>
          <a:p>
            <a:pPr indent="0" marL="0">
              <a:buNone/>
            </a:pPr>
            <a:r>
              <a:rPr lang="en-US" sz="1500" b="1" dirty="0">
                <a:solidFill>
                  <a:srgbClr val="5D6B7E"/>
                </a:solidFill>
                <a:latin typeface="Arial" pitchFamily="34" charset="0"/>
                <a:ea typeface="Arial" pitchFamily="34" charset="-122"/>
                <a:cs typeface="Arial" pitchFamily="34" charset="-120"/>
              </a:rPr>
              <a:t>Nessus only</a:t>
            </a:r>
            <a:endParaRPr lang="en-US" sz="1200" dirty="0"/>
          </a:p>
          <a:p>
            <a:pPr indent="0" marL="0">
              <a:buNone/>
            </a:pPr>
            <a:r>
              <a:rPr lang="en-US" sz="1000" dirty="0">
                <a:solidFill>
                  <a:srgbClr val="5F6670"/>
                </a:solidFill>
                <a:latin typeface="Calibri" pitchFamily="34" charset="0"/>
                <a:ea typeface="Calibri" pitchFamily="34" charset="-122"/>
                <a:cs typeface="Calibri" pitchFamily="34" charset="-120"/>
              </a:rPr>
              <a:t>Scan, then wait</a:t>
            </a:r>
            <a:endParaRPr lang="en-US" sz="1200" dirty="0"/>
          </a:p>
        </p:txBody>
      </p:sp>
      <p:sp>
        <p:nvSpPr>
          <p:cNvPr id="22" name="Text 19"/>
          <p:cNvSpPr txBox="1"/>
          <p:nvPr/>
        </p:nvSpPr>
        <p:spPr>
          <a:xfrm>
            <a:off x="548640" y="4434840"/>
            <a:ext cx="1645920" cy="566928"/>
          </a:xfrm>
          <a:prstGeom prst="rect">
            <a:avLst/>
          </a:prstGeom>
          <a:noFill/>
          <a:ln/>
        </p:spPr>
        <p:txBody>
          <a:bodyPr wrap="square" lIns="0" tIns="0" rIns="0" bIns="0" rtlCol="0" anchor="ctr"/>
          <a:lstStyle/>
          <a:p>
            <a:pPr indent="0" marL="0">
              <a:buNone/>
            </a:pPr>
            <a:r>
              <a:rPr lang="en-US" sz="1500" b="1" dirty="0">
                <a:solidFill>
                  <a:srgbClr val="0F8B99"/>
                </a:solidFill>
                <a:latin typeface="Arial" pitchFamily="34" charset="0"/>
                <a:ea typeface="Arial" pitchFamily="34" charset="-122"/>
                <a:cs typeface="Arial" pitchFamily="34" charset="-120"/>
              </a:rPr>
              <a:t>With Apex One</a:t>
            </a:r>
            <a:endParaRPr lang="en-US" sz="1200" dirty="0"/>
          </a:p>
          <a:p>
            <a:pPr indent="0" marL="0">
              <a:buNone/>
            </a:pPr>
            <a:r>
              <a:rPr lang="en-US" sz="1000" dirty="0">
                <a:solidFill>
                  <a:srgbClr val="5F6670"/>
                </a:solidFill>
                <a:latin typeface="Calibri" pitchFamily="34" charset="0"/>
                <a:ea typeface="Calibri" pitchFamily="34" charset="-122"/>
                <a:cs typeface="Calibri" pitchFamily="34" charset="-120"/>
              </a:rPr>
              <a:t>Virtual patching</a:t>
            </a:r>
            <a:endParaRPr lang="en-US" sz="1200" dirty="0"/>
          </a:p>
        </p:txBody>
      </p:sp>
      <p:sp>
        <p:nvSpPr>
          <p:cNvPr id="23" name="Shape 20"/>
          <p:cNvSpPr/>
          <p:nvPr/>
        </p:nvSpPr>
        <p:spPr>
          <a:xfrm>
            <a:off x="2331720" y="3337560"/>
            <a:ext cx="8991295" cy="566928"/>
          </a:xfrm>
          <a:prstGeom prst="roundRect">
            <a:avLst>
              <a:gd name="adj" fmla="val 16129"/>
            </a:avLst>
          </a:prstGeom>
          <a:solidFill>
            <a:srgbClr val="D3EDF0"/>
          </a:solidFill>
          <a:ln w="9525">
            <a:solidFill>
              <a:srgbClr val="EBA9AD"/>
            </a:solidFill>
            <a:prstDash val="dash"/>
          </a:ln>
        </p:spPr>
      </p:sp>
      <p:pic>
        <p:nvPicPr>
          <p:cNvPr id="24" name="Image 1" descr="preencoded.png">    </p:cNvPr>
          <p:cNvPicPr>
            <a:picLocks noChangeAspect="1"/>
          </p:cNvPicPr>
          <p:nvPr/>
        </p:nvPicPr>
        <p:blipFill>
          <a:blip r:embed="rId2"/>
          <a:stretch>
            <a:fillRect/>
          </a:stretch>
        </p:blipFill>
        <p:spPr>
          <a:xfrm>
            <a:off x="2560320" y="3493008"/>
            <a:ext cx="256032" cy="256032"/>
          </a:xfrm>
          <a:prstGeom prst="rect">
            <a:avLst/>
          </a:prstGeom>
        </p:spPr>
      </p:pic>
      <p:sp>
        <p:nvSpPr>
          <p:cNvPr id="25" name="Text 21"/>
          <p:cNvSpPr txBox="1"/>
          <p:nvPr/>
        </p:nvSpPr>
        <p:spPr>
          <a:xfrm>
            <a:off x="2971800" y="3337560"/>
            <a:ext cx="8168335" cy="566928"/>
          </a:xfrm>
          <a:prstGeom prst="rect">
            <a:avLst/>
          </a:prstGeom>
          <a:noFill/>
          <a:ln/>
        </p:spPr>
        <p:txBody>
          <a:bodyPr wrap="square" lIns="0" tIns="0" rIns="0" bIns="0" rtlCol="0" anchor="ctr"/>
          <a:lstStyle/>
          <a:p>
            <a:pPr indent="0" marL="0">
              <a:buNone/>
            </a:pPr>
            <a:r>
              <a:rPr lang="en-US" sz="1250" b="1" dirty="0">
                <a:solidFill>
                  <a:srgbClr val="0A6470"/>
                </a:solidFill>
                <a:latin typeface="Calibri" pitchFamily="34" charset="0"/>
                <a:ea typeface="Calibri" pitchFamily="34" charset="-122"/>
                <a:cs typeface="Calibri" pitchFamily="34" charset="-120"/>
              </a:rPr>
              <a:t>EXPOSED — open to exploits until the patch is finally installed</a:t>
            </a:r>
            <a:endParaRPr lang="en-US" sz="1250" dirty="0"/>
          </a:p>
        </p:txBody>
      </p:sp>
      <p:sp>
        <p:nvSpPr>
          <p:cNvPr id="26" name="Shape 22"/>
          <p:cNvSpPr/>
          <p:nvPr/>
        </p:nvSpPr>
        <p:spPr>
          <a:xfrm>
            <a:off x="2331720" y="4434840"/>
            <a:ext cx="629391" cy="566928"/>
          </a:xfrm>
          <a:prstGeom prst="rect">
            <a:avLst/>
          </a:prstGeom>
          <a:solidFill>
            <a:srgbClr val="D3EDF0"/>
          </a:solidFill>
          <a:ln w="12700">
            <a:solidFill>
              <a:srgbClr val="D3EDF0"/>
            </a:solidFill>
            <a:prstDash val="solid"/>
          </a:ln>
        </p:spPr>
      </p:sp>
      <p:sp>
        <p:nvSpPr>
          <p:cNvPr id="27" name="Shape 23"/>
          <p:cNvSpPr/>
          <p:nvPr/>
        </p:nvSpPr>
        <p:spPr>
          <a:xfrm>
            <a:off x="2961111" y="4434840"/>
            <a:ext cx="8361905" cy="566928"/>
          </a:xfrm>
          <a:prstGeom prst="roundRect">
            <a:avLst>
              <a:gd name="adj" fmla="val 16129"/>
            </a:avLst>
          </a:prstGeom>
          <a:solidFill>
            <a:srgbClr val="0F8B99"/>
          </a:solidFill>
          <a:ln w="12700">
            <a:solidFill>
              <a:srgbClr val="0F8B99"/>
            </a:solidFill>
            <a:prstDash val="solid"/>
          </a:ln>
        </p:spPr>
      </p:sp>
      <p:pic>
        <p:nvPicPr>
          <p:cNvPr id="28" name="Image 2" descr="preencoded.png">    </p:cNvPr>
          <p:cNvPicPr>
            <a:picLocks noChangeAspect="1"/>
          </p:cNvPicPr>
          <p:nvPr/>
        </p:nvPicPr>
        <p:blipFill>
          <a:blip r:embed="rId3"/>
          <a:stretch>
            <a:fillRect/>
          </a:stretch>
        </p:blipFill>
        <p:spPr>
          <a:xfrm>
            <a:off x="3189711" y="4590288"/>
            <a:ext cx="256032" cy="256032"/>
          </a:xfrm>
          <a:prstGeom prst="rect">
            <a:avLst/>
          </a:prstGeom>
        </p:spPr>
      </p:pic>
      <p:sp>
        <p:nvSpPr>
          <p:cNvPr id="29" name="Text 24"/>
          <p:cNvSpPr txBox="1"/>
          <p:nvPr/>
        </p:nvSpPr>
        <p:spPr>
          <a:xfrm>
            <a:off x="3601191" y="4434840"/>
            <a:ext cx="7538945"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SHIELDED — exploit attempts blocked while you patch on your own timeline</a:t>
            </a:r>
            <a:endParaRPr lang="en-US" sz="1250" dirty="0"/>
          </a:p>
        </p:txBody>
      </p:sp>
      <p:sp>
        <p:nvSpPr>
          <p:cNvPr id="30" name="Text 25"/>
          <p:cNvSpPr txBox="1"/>
          <p:nvPr/>
        </p:nvSpPr>
        <p:spPr>
          <a:xfrm>
            <a:off x="2331720" y="5056632"/>
            <a:ext cx="4572000" cy="237744"/>
          </a:xfrm>
          <a:prstGeom prst="rect">
            <a:avLst/>
          </a:prstGeom>
          <a:noFill/>
          <a:ln/>
        </p:spPr>
        <p:txBody>
          <a:bodyPr wrap="square" lIns="0" tIns="0" rIns="0" bIns="0" rtlCol="0" anchor="t"/>
          <a:lstStyle/>
          <a:p>
            <a:pPr indent="0" marL="0">
              <a:buNone/>
            </a:pPr>
            <a:r>
              <a:rPr lang="en-US" sz="1000" i="1" dirty="0">
                <a:solidFill>
                  <a:srgbClr val="0F8B99"/>
                </a:solidFill>
                <a:latin typeface="Calibri" pitchFamily="34" charset="0"/>
                <a:ea typeface="Calibri" pitchFamily="34" charset="-122"/>
                <a:cs typeface="Calibri" pitchFamily="34" charset="-120"/>
              </a:rPr>
              <a:t>Virtual patch applied — often before a vendor patch exists</a:t>
            </a:r>
            <a:endParaRPr lang="en-US" sz="1000" dirty="0"/>
          </a:p>
        </p:txBody>
      </p:sp>
      <p:sp>
        <p:nvSpPr>
          <p:cNvPr id="31" name="Shape 26"/>
          <p:cNvSpPr/>
          <p:nvPr/>
        </p:nvSpPr>
        <p:spPr>
          <a:xfrm>
            <a:off x="548640" y="5468112"/>
            <a:ext cx="11094415" cy="566928"/>
          </a:xfrm>
          <a:prstGeom prst="roundRect">
            <a:avLst>
              <a:gd name="adj" fmla="val 16129"/>
            </a:avLst>
          </a:prstGeom>
          <a:solidFill>
            <a:srgbClr val="10243A"/>
          </a:solidFill>
          <a:ln w="12700">
            <a:solidFill>
              <a:srgbClr val="10243A"/>
            </a:solidFill>
            <a:prstDash val="solid"/>
          </a:ln>
        </p:spPr>
      </p:sp>
      <p:sp>
        <p:nvSpPr>
          <p:cNvPr id="32" name="Text 27"/>
          <p:cNvSpPr txBox="1"/>
          <p:nvPr/>
        </p:nvSpPr>
        <p:spPr>
          <a:xfrm>
            <a:off x="868680" y="5468112"/>
            <a:ext cx="10454335" cy="566928"/>
          </a:xfrm>
          <a:prstGeom prst="rect">
            <a:avLst/>
          </a:prstGeom>
          <a:noFill/>
          <a:ln/>
        </p:spPr>
        <p:txBody>
          <a:bodyPr wrap="square" lIns="0" tIns="0" rIns="0" bIns="0" rtlCol="0" anchor="ctr"/>
          <a:lstStyle/>
          <a:p>
            <a:pPr indent="0" marL="0">
              <a:buNone/>
            </a:pPr>
            <a:r>
              <a:rPr lang="en-US" sz="1350" dirty="0">
                <a:solidFill>
                  <a:srgbClr val="C8CCD2"/>
                </a:solidFill>
                <a:latin typeface="Calibri" pitchFamily="34" charset="0"/>
                <a:ea typeface="Calibri" pitchFamily="34" charset="-122"/>
                <a:cs typeface="Calibri" pitchFamily="34" charset="-120"/>
              </a:rPr>
              <a:t>Nessus tells you a door is unlocked. </a:t>
            </a:r>
            <a:pPr indent="0" marL="0">
              <a:buNone/>
            </a:pPr>
            <a:r>
              <a:rPr lang="en-US" sz="1350" b="1" dirty="0">
                <a:solidFill>
                  <a:srgbClr val="FFFFFF"/>
                </a:solidFill>
                <a:latin typeface="Calibri" pitchFamily="34" charset="0"/>
                <a:ea typeface="Calibri" pitchFamily="34" charset="-122"/>
                <a:cs typeface="Calibri" pitchFamily="34" charset="-120"/>
              </a:rPr>
              <a:t>Apex One locks it right away — while you schedule the permanent fix.</a:t>
            </a:r>
            <a:endParaRPr lang="en-US" sz="1350" dirty="0"/>
          </a:p>
        </p:txBody>
      </p:sp>
      <p:sp>
        <p:nvSpPr>
          <p:cNvPr id="33" name="Text 28"/>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06   |   Nessus vs. Trend Micro Apex One™  ·  Proposal for The Westin Resort Guam</a:t>
            </a:r>
            <a:endParaRPr lang="en-US" sz="900" dirty="0"/>
          </a:p>
        </p:txBody>
      </p:sp>
      <p:pic>
        <p:nvPicPr>
          <p:cNvPr id="34" name="Image 3" descr="/private/tmp/claude-501/-Users-jihanvin-Desktop-NIVNAH-AI/16a96446-d9b3-40e2-af9e-a3011ae3db84/scratchpad/assets/secukorea_dark.png">    </p:cNvPr>
          <p:cNvPicPr>
            <a:picLocks noChangeAspect="1"/>
          </p:cNvPicPr>
          <p:nvPr/>
        </p:nvPicPr>
        <p:blipFill>
          <a:blip r:embed="rId4"/>
          <a:stretch>
            <a:fillRect/>
          </a:stretch>
        </p:blipFill>
        <p:spPr>
          <a:xfrm>
            <a:off x="10661904" y="6400800"/>
            <a:ext cx="978408" cy="2331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05   THE SOLUTION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Trend Micro Apex One: All-in-One Endpoint Security</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72768"/>
            <a:ext cx="566928" cy="566928"/>
          </a:xfrm>
          <a:prstGeom prst="ellipse">
            <a:avLst/>
          </a:prstGeom>
          <a:solidFill>
            <a:srgbClr val="E7F5F7"/>
          </a:solidFill>
          <a:ln w="12700">
            <a:solidFill>
              <a:srgbClr val="E7F5F7"/>
            </a:solidFill>
            <a:prstDash val="solid"/>
          </a:ln>
        </p:spPr>
      </p:sp>
      <p:pic>
        <p:nvPicPr>
          <p:cNvPr id="6" name="Image 1" descr="preencoded.png">    </p:cNvPr>
          <p:cNvPicPr>
            <a:picLocks noChangeAspect="1"/>
          </p:cNvPicPr>
          <p:nvPr/>
        </p:nvPicPr>
        <p:blipFill>
          <a:blip r:embed="rId2"/>
          <a:stretch>
            <a:fillRect/>
          </a:stretch>
        </p:blipFill>
        <p:spPr>
          <a:xfrm>
            <a:off x="701711" y="1725839"/>
            <a:ext cx="260787" cy="260787"/>
          </a:xfrm>
          <a:prstGeom prst="rect">
            <a:avLst/>
          </a:prstGeom>
        </p:spPr>
      </p:pic>
      <p:sp>
        <p:nvSpPr>
          <p:cNvPr id="7" name="Text 3"/>
          <p:cNvSpPr txBox="1"/>
          <p:nvPr/>
        </p:nvSpPr>
        <p:spPr>
          <a:xfrm>
            <a:off x="1325880" y="1554480"/>
            <a:ext cx="475488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Automated</a:t>
            </a:r>
            <a:endParaRPr lang="en-US" sz="1500" dirty="0"/>
          </a:p>
        </p:txBody>
      </p:sp>
      <p:sp>
        <p:nvSpPr>
          <p:cNvPr id="8" name="Text 4"/>
          <p:cNvSpPr txBox="1"/>
          <p:nvPr/>
        </p:nvSpPr>
        <p:spPr>
          <a:xfrm>
            <a:off x="1325880" y="1892808"/>
            <a:ext cx="4754880" cy="566928"/>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Stops attackers sooner with next-gen anti-malware and the industry's most timely virtual patching.</a:t>
            </a:r>
            <a:endParaRPr lang="en-US" sz="1200" dirty="0"/>
          </a:p>
        </p:txBody>
      </p:sp>
      <p:sp>
        <p:nvSpPr>
          <p:cNvPr id="9" name="Shape 5"/>
          <p:cNvSpPr/>
          <p:nvPr/>
        </p:nvSpPr>
        <p:spPr>
          <a:xfrm>
            <a:off x="548640" y="2651760"/>
            <a:ext cx="566928" cy="566928"/>
          </a:xfrm>
          <a:prstGeom prst="ellipse">
            <a:avLst/>
          </a:prstGeom>
          <a:solidFill>
            <a:srgbClr val="E7F5F7"/>
          </a:solidFill>
          <a:ln w="12700">
            <a:solidFill>
              <a:srgbClr val="E7F5F7"/>
            </a:solidFill>
            <a:prstDash val="solid"/>
          </a:ln>
        </p:spPr>
      </p:sp>
      <p:pic>
        <p:nvPicPr>
          <p:cNvPr id="10" name="Image 2" descr="preencoded.png">    </p:cNvPr>
          <p:cNvPicPr>
            <a:picLocks noChangeAspect="1"/>
          </p:cNvPicPr>
          <p:nvPr/>
        </p:nvPicPr>
        <p:blipFill>
          <a:blip r:embed="rId3"/>
          <a:stretch>
            <a:fillRect/>
          </a:stretch>
        </p:blipFill>
        <p:spPr>
          <a:xfrm>
            <a:off x="701711" y="2804831"/>
            <a:ext cx="260787" cy="260787"/>
          </a:xfrm>
          <a:prstGeom prst="rect">
            <a:avLst/>
          </a:prstGeom>
        </p:spPr>
      </p:pic>
      <p:sp>
        <p:nvSpPr>
          <p:cNvPr id="11" name="Text 6"/>
          <p:cNvSpPr txBox="1"/>
          <p:nvPr/>
        </p:nvSpPr>
        <p:spPr>
          <a:xfrm>
            <a:off x="1325880" y="2633472"/>
            <a:ext cx="475488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Insightful</a:t>
            </a:r>
            <a:endParaRPr lang="en-US" sz="1500" dirty="0"/>
          </a:p>
        </p:txBody>
      </p:sp>
      <p:sp>
        <p:nvSpPr>
          <p:cNvPr id="12" name="Text 7"/>
          <p:cNvSpPr txBox="1"/>
          <p:nvPr/>
        </p:nvSpPr>
        <p:spPr>
          <a:xfrm>
            <a:off x="1325880" y="2971800"/>
            <a:ext cx="4754880" cy="566928"/>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Visibility and control across the environment, with behavior monitoring and central investigation in Apex Central.</a:t>
            </a:r>
            <a:endParaRPr lang="en-US" sz="1200" dirty="0"/>
          </a:p>
        </p:txBody>
      </p:sp>
      <p:sp>
        <p:nvSpPr>
          <p:cNvPr id="13" name="Shape 8"/>
          <p:cNvSpPr/>
          <p:nvPr/>
        </p:nvSpPr>
        <p:spPr>
          <a:xfrm>
            <a:off x="548640" y="3730752"/>
            <a:ext cx="566928" cy="566928"/>
          </a:xfrm>
          <a:prstGeom prst="ellipse">
            <a:avLst/>
          </a:prstGeom>
          <a:solidFill>
            <a:srgbClr val="E7F5F7"/>
          </a:solidFill>
          <a:ln w="12700">
            <a:solidFill>
              <a:srgbClr val="E7F5F7"/>
            </a:solidFill>
            <a:prstDash val="solid"/>
          </a:ln>
        </p:spPr>
      </p:sp>
      <p:pic>
        <p:nvPicPr>
          <p:cNvPr id="14" name="Image 3" descr="preencoded.png">    </p:cNvPr>
          <p:cNvPicPr>
            <a:picLocks noChangeAspect="1"/>
          </p:cNvPicPr>
          <p:nvPr/>
        </p:nvPicPr>
        <p:blipFill>
          <a:blip r:embed="rId4"/>
          <a:stretch>
            <a:fillRect/>
          </a:stretch>
        </p:blipFill>
        <p:spPr>
          <a:xfrm>
            <a:off x="701711" y="3883823"/>
            <a:ext cx="260787" cy="260787"/>
          </a:xfrm>
          <a:prstGeom prst="rect">
            <a:avLst/>
          </a:prstGeom>
        </p:spPr>
      </p:pic>
      <p:sp>
        <p:nvSpPr>
          <p:cNvPr id="15" name="Text 9"/>
          <p:cNvSpPr txBox="1"/>
          <p:nvPr/>
        </p:nvSpPr>
        <p:spPr>
          <a:xfrm>
            <a:off x="1325880" y="3712464"/>
            <a:ext cx="475488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Connected</a:t>
            </a:r>
            <a:endParaRPr lang="en-US" sz="1500" dirty="0"/>
          </a:p>
        </p:txBody>
      </p:sp>
      <p:sp>
        <p:nvSpPr>
          <p:cNvPr id="16" name="Text 10"/>
          <p:cNvSpPr txBox="1"/>
          <p:nvPr/>
        </p:nvSpPr>
        <p:spPr>
          <a:xfrm>
            <a:off x="1325880" y="4050792"/>
            <a:ext cx="4754880" cy="566928"/>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Real-time global and local threat intelligence, plus open APIs for third-party security tools.</a:t>
            </a:r>
            <a:endParaRPr lang="en-US" sz="1200" dirty="0"/>
          </a:p>
        </p:txBody>
      </p:sp>
      <p:sp>
        <p:nvSpPr>
          <p:cNvPr id="17" name="Shape 11"/>
          <p:cNvSpPr/>
          <p:nvPr/>
        </p:nvSpPr>
        <p:spPr>
          <a:xfrm>
            <a:off x="548640" y="4809744"/>
            <a:ext cx="566928" cy="566928"/>
          </a:xfrm>
          <a:prstGeom prst="ellipse">
            <a:avLst/>
          </a:prstGeom>
          <a:solidFill>
            <a:srgbClr val="E7F5F7"/>
          </a:solidFill>
          <a:ln w="12700">
            <a:solidFill>
              <a:srgbClr val="E7F5F7"/>
            </a:solidFill>
            <a:prstDash val="solid"/>
          </a:ln>
        </p:spPr>
      </p:sp>
      <p:pic>
        <p:nvPicPr>
          <p:cNvPr id="18" name="Image 4" descr="preencoded.png">    </p:cNvPr>
          <p:cNvPicPr>
            <a:picLocks noChangeAspect="1"/>
          </p:cNvPicPr>
          <p:nvPr/>
        </p:nvPicPr>
        <p:blipFill>
          <a:blip r:embed="rId5"/>
          <a:stretch>
            <a:fillRect/>
          </a:stretch>
        </p:blipFill>
        <p:spPr>
          <a:xfrm>
            <a:off x="701711" y="4962815"/>
            <a:ext cx="260787" cy="260787"/>
          </a:xfrm>
          <a:prstGeom prst="rect">
            <a:avLst/>
          </a:prstGeom>
        </p:spPr>
      </p:pic>
      <p:sp>
        <p:nvSpPr>
          <p:cNvPr id="19" name="Text 12"/>
          <p:cNvSpPr txBox="1"/>
          <p:nvPr/>
        </p:nvSpPr>
        <p:spPr>
          <a:xfrm>
            <a:off x="1325880" y="4791456"/>
            <a:ext cx="4754880"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Lightweight single agent</a:t>
            </a:r>
            <a:endParaRPr lang="en-US" sz="1500" dirty="0"/>
          </a:p>
        </p:txBody>
      </p:sp>
      <p:sp>
        <p:nvSpPr>
          <p:cNvPr id="20" name="Text 13"/>
          <p:cNvSpPr txBox="1"/>
          <p:nvPr/>
        </p:nvSpPr>
        <p:spPr>
          <a:xfrm>
            <a:off x="1325880" y="5129784"/>
            <a:ext cx="4754880" cy="566928"/>
          </a:xfrm>
          <a:prstGeom prst="rect">
            <a:avLst/>
          </a:prstGeom>
          <a:noFill/>
          <a:ln/>
        </p:spPr>
        <p:txBody>
          <a:bodyPr wrap="square" lIns="0" tIns="0" rIns="0" bIns="0" rtlCol="0" anchor="t"/>
          <a:lstStyle/>
          <a:p>
            <a:pPr indent="0" marL="0">
              <a:buNone/>
            </a:pPr>
            <a:r>
              <a:rPr lang="en-US" sz="1200" dirty="0">
                <a:solidFill>
                  <a:srgbClr val="5F6670"/>
                </a:solidFill>
                <a:latin typeface="Calibri" pitchFamily="34" charset="0"/>
                <a:ea typeface="Calibri" pitchFamily="34" charset="-122"/>
                <a:cs typeface="Calibri" pitchFamily="34" charset="-120"/>
              </a:rPr>
              <a:t>Uses the right detection technique at the right time for minimal impact on devices and networks.</a:t>
            </a:r>
            <a:endParaRPr lang="en-US" sz="1200" dirty="0"/>
          </a:p>
        </p:txBody>
      </p:sp>
      <p:sp>
        <p:nvSpPr>
          <p:cNvPr id="21" name="Shape 14"/>
          <p:cNvSpPr/>
          <p:nvPr/>
        </p:nvSpPr>
        <p:spPr>
          <a:xfrm>
            <a:off x="6400800" y="1554480"/>
            <a:ext cx="5242255" cy="2395728"/>
          </a:xfrm>
          <a:prstGeom prst="roundRect">
            <a:avLst>
              <a:gd name="adj" fmla="val 5344"/>
            </a:avLst>
          </a:prstGeom>
          <a:solidFill>
            <a:srgbClr val="F4F5F7"/>
          </a:solidFill>
          <a:ln w="9525">
            <a:solidFill>
              <a:srgbClr val="DEE1E5"/>
            </a:solidFill>
            <a:prstDash val="solid"/>
          </a:ln>
        </p:spPr>
      </p:sp>
      <p:sp>
        <p:nvSpPr>
          <p:cNvPr id="22" name="Text 15"/>
          <p:cNvSpPr txBox="1"/>
          <p:nvPr/>
        </p:nvSpPr>
        <p:spPr>
          <a:xfrm>
            <a:off x="6675120" y="1737360"/>
            <a:ext cx="4693615" cy="237744"/>
          </a:xfrm>
          <a:prstGeom prst="rect">
            <a:avLst/>
          </a:prstGeom>
          <a:noFill/>
          <a:ln/>
        </p:spPr>
        <p:txBody>
          <a:bodyPr wrap="square" lIns="0" tIns="0" rIns="0" bIns="0" rtlCol="0" anchor="t"/>
          <a:lstStyle/>
          <a:p>
            <a:pPr indent="0" marL="0">
              <a:buNone/>
            </a:pPr>
            <a:r>
              <a:rPr lang="en-US" sz="1050" b="1" spc="200" kern="0" dirty="0">
                <a:solidFill>
                  <a:srgbClr val="0F8B99"/>
                </a:solidFill>
                <a:latin typeface="Calibri" pitchFamily="34" charset="0"/>
                <a:ea typeface="Calibri" pitchFamily="34" charset="-122"/>
                <a:cs typeface="Calibri" pitchFamily="34" charset="-120"/>
              </a:rPr>
              <a:t>PROTECTION POINTS</a:t>
            </a:r>
            <a:endParaRPr lang="en-US" sz="1050" dirty="0"/>
          </a:p>
        </p:txBody>
      </p:sp>
      <p:sp>
        <p:nvSpPr>
          <p:cNvPr id="23" name="Shape 16"/>
          <p:cNvSpPr/>
          <p:nvPr/>
        </p:nvSpPr>
        <p:spPr>
          <a:xfrm>
            <a:off x="6675120" y="2103120"/>
            <a:ext cx="2255368" cy="457200"/>
          </a:xfrm>
          <a:prstGeom prst="roundRect">
            <a:avLst>
              <a:gd name="adj" fmla="val 50000"/>
            </a:avLst>
          </a:prstGeom>
          <a:solidFill>
            <a:srgbClr val="FFFFFF"/>
          </a:solidFill>
          <a:ln w="9525">
            <a:solidFill>
              <a:srgbClr val="DEE1E5"/>
            </a:solidFill>
            <a:prstDash val="solid"/>
          </a:ln>
        </p:spPr>
      </p:sp>
      <p:pic>
        <p:nvPicPr>
          <p:cNvPr id="24" name="Image 5" descr="preencoded.png">    </p:cNvPr>
          <p:cNvPicPr>
            <a:picLocks noChangeAspect="1"/>
          </p:cNvPicPr>
          <p:nvPr/>
        </p:nvPicPr>
        <p:blipFill>
          <a:blip r:embed="rId6"/>
          <a:stretch>
            <a:fillRect/>
          </a:stretch>
        </p:blipFill>
        <p:spPr>
          <a:xfrm>
            <a:off x="6839712" y="2221992"/>
            <a:ext cx="219456" cy="219456"/>
          </a:xfrm>
          <a:prstGeom prst="rect">
            <a:avLst/>
          </a:prstGeom>
        </p:spPr>
      </p:pic>
      <p:sp>
        <p:nvSpPr>
          <p:cNvPr id="25" name="Text 17"/>
          <p:cNvSpPr txBox="1"/>
          <p:nvPr/>
        </p:nvSpPr>
        <p:spPr>
          <a:xfrm>
            <a:off x="7178040" y="2103120"/>
            <a:ext cx="1661008" cy="457200"/>
          </a:xfrm>
          <a:prstGeom prst="rect">
            <a:avLst/>
          </a:prstGeom>
          <a:noFill/>
          <a:ln/>
        </p:spPr>
        <p:txBody>
          <a:bodyPr wrap="square" lIns="0" tIns="0" rIns="0" bIns="0" rtlCol="0" anchor="ctr"/>
          <a:lstStyle/>
          <a:p>
            <a:pPr indent="0" marL="0">
              <a:buNone/>
            </a:pPr>
            <a:r>
              <a:rPr lang="en-US" sz="1150" b="1" dirty="0">
                <a:solidFill>
                  <a:srgbClr val="0E2233"/>
                </a:solidFill>
                <a:latin typeface="Calibri" pitchFamily="34" charset="0"/>
                <a:ea typeface="Calibri" pitchFamily="34" charset="-122"/>
                <a:cs typeface="Calibri" pitchFamily="34" charset="-120"/>
              </a:rPr>
              <a:t>Windows PCs</a:t>
            </a:r>
            <a:endParaRPr lang="en-US" sz="1150" dirty="0"/>
          </a:p>
        </p:txBody>
      </p:sp>
      <p:sp>
        <p:nvSpPr>
          <p:cNvPr id="26" name="Shape 18"/>
          <p:cNvSpPr/>
          <p:nvPr/>
        </p:nvSpPr>
        <p:spPr>
          <a:xfrm>
            <a:off x="9113368" y="2103120"/>
            <a:ext cx="2255368" cy="457200"/>
          </a:xfrm>
          <a:prstGeom prst="roundRect">
            <a:avLst>
              <a:gd name="adj" fmla="val 50000"/>
            </a:avLst>
          </a:prstGeom>
          <a:solidFill>
            <a:srgbClr val="FFFFFF"/>
          </a:solidFill>
          <a:ln w="9525">
            <a:solidFill>
              <a:srgbClr val="DEE1E5"/>
            </a:solidFill>
            <a:prstDash val="solid"/>
          </a:ln>
        </p:spPr>
      </p:sp>
      <p:pic>
        <p:nvPicPr>
          <p:cNvPr id="27" name="Image 6" descr="preencoded.png">    </p:cNvPr>
          <p:cNvPicPr>
            <a:picLocks noChangeAspect="1"/>
          </p:cNvPicPr>
          <p:nvPr/>
        </p:nvPicPr>
        <p:blipFill>
          <a:blip r:embed="rId7"/>
          <a:stretch>
            <a:fillRect/>
          </a:stretch>
        </p:blipFill>
        <p:spPr>
          <a:xfrm>
            <a:off x="9277960" y="2221992"/>
            <a:ext cx="219456" cy="219456"/>
          </a:xfrm>
          <a:prstGeom prst="rect">
            <a:avLst/>
          </a:prstGeom>
        </p:spPr>
      </p:pic>
      <p:sp>
        <p:nvSpPr>
          <p:cNvPr id="28" name="Text 19"/>
          <p:cNvSpPr txBox="1"/>
          <p:nvPr/>
        </p:nvSpPr>
        <p:spPr>
          <a:xfrm>
            <a:off x="9616288" y="2103120"/>
            <a:ext cx="1661008" cy="457200"/>
          </a:xfrm>
          <a:prstGeom prst="rect">
            <a:avLst/>
          </a:prstGeom>
          <a:noFill/>
          <a:ln/>
        </p:spPr>
        <p:txBody>
          <a:bodyPr wrap="square" lIns="0" tIns="0" rIns="0" bIns="0" rtlCol="0" anchor="ctr"/>
          <a:lstStyle/>
          <a:p>
            <a:pPr indent="0" marL="0">
              <a:buNone/>
            </a:pPr>
            <a:r>
              <a:rPr lang="en-US" sz="1150" b="1" dirty="0">
                <a:solidFill>
                  <a:srgbClr val="0E2233"/>
                </a:solidFill>
                <a:latin typeface="Calibri" pitchFamily="34" charset="0"/>
                <a:ea typeface="Calibri" pitchFamily="34" charset="-122"/>
                <a:cs typeface="Calibri" pitchFamily="34" charset="-120"/>
              </a:rPr>
              <a:t>Windows servers</a:t>
            </a:r>
            <a:endParaRPr lang="en-US" sz="1150" dirty="0"/>
          </a:p>
        </p:txBody>
      </p:sp>
      <p:sp>
        <p:nvSpPr>
          <p:cNvPr id="29" name="Shape 20"/>
          <p:cNvSpPr/>
          <p:nvPr/>
        </p:nvSpPr>
        <p:spPr>
          <a:xfrm>
            <a:off x="6675120" y="2679192"/>
            <a:ext cx="2255368" cy="457200"/>
          </a:xfrm>
          <a:prstGeom prst="roundRect">
            <a:avLst>
              <a:gd name="adj" fmla="val 50000"/>
            </a:avLst>
          </a:prstGeom>
          <a:solidFill>
            <a:srgbClr val="FFFFFF"/>
          </a:solidFill>
          <a:ln w="9525">
            <a:solidFill>
              <a:srgbClr val="DEE1E5"/>
            </a:solidFill>
            <a:prstDash val="solid"/>
          </a:ln>
        </p:spPr>
      </p:sp>
      <p:pic>
        <p:nvPicPr>
          <p:cNvPr id="30" name="Image 7" descr="preencoded.png">    </p:cNvPr>
          <p:cNvPicPr>
            <a:picLocks noChangeAspect="1"/>
          </p:cNvPicPr>
          <p:nvPr/>
        </p:nvPicPr>
        <p:blipFill>
          <a:blip r:embed="rId8"/>
          <a:stretch>
            <a:fillRect/>
          </a:stretch>
        </p:blipFill>
        <p:spPr>
          <a:xfrm>
            <a:off x="6839712" y="2798064"/>
            <a:ext cx="219456" cy="219456"/>
          </a:xfrm>
          <a:prstGeom prst="rect">
            <a:avLst/>
          </a:prstGeom>
        </p:spPr>
      </p:pic>
      <p:sp>
        <p:nvSpPr>
          <p:cNvPr id="31" name="Text 21"/>
          <p:cNvSpPr txBox="1"/>
          <p:nvPr/>
        </p:nvSpPr>
        <p:spPr>
          <a:xfrm>
            <a:off x="7178040" y="2679192"/>
            <a:ext cx="1661008" cy="457200"/>
          </a:xfrm>
          <a:prstGeom prst="rect">
            <a:avLst/>
          </a:prstGeom>
          <a:noFill/>
          <a:ln/>
        </p:spPr>
        <p:txBody>
          <a:bodyPr wrap="square" lIns="0" tIns="0" rIns="0" bIns="0" rtlCol="0" anchor="ctr"/>
          <a:lstStyle/>
          <a:p>
            <a:pPr indent="0" marL="0">
              <a:buNone/>
            </a:pPr>
            <a:r>
              <a:rPr lang="en-US" sz="1150" b="1" dirty="0">
                <a:solidFill>
                  <a:srgbClr val="0E2233"/>
                </a:solidFill>
                <a:latin typeface="Calibri" pitchFamily="34" charset="0"/>
                <a:ea typeface="Calibri" pitchFamily="34" charset="-122"/>
                <a:cs typeface="Calibri" pitchFamily="34" charset="-120"/>
              </a:rPr>
              <a:t>Mac computers</a:t>
            </a:r>
            <a:endParaRPr lang="en-US" sz="1150" dirty="0"/>
          </a:p>
        </p:txBody>
      </p:sp>
      <p:sp>
        <p:nvSpPr>
          <p:cNvPr id="32" name="Shape 22"/>
          <p:cNvSpPr/>
          <p:nvPr/>
        </p:nvSpPr>
        <p:spPr>
          <a:xfrm>
            <a:off x="9113368" y="2679192"/>
            <a:ext cx="2255368" cy="457200"/>
          </a:xfrm>
          <a:prstGeom prst="roundRect">
            <a:avLst>
              <a:gd name="adj" fmla="val 50000"/>
            </a:avLst>
          </a:prstGeom>
          <a:solidFill>
            <a:srgbClr val="FFFFFF"/>
          </a:solidFill>
          <a:ln w="9525">
            <a:solidFill>
              <a:srgbClr val="DEE1E5"/>
            </a:solidFill>
            <a:prstDash val="solid"/>
          </a:ln>
        </p:spPr>
      </p:sp>
      <p:pic>
        <p:nvPicPr>
          <p:cNvPr id="33" name="Image 8" descr="preencoded.png">    </p:cNvPr>
          <p:cNvPicPr>
            <a:picLocks noChangeAspect="1"/>
          </p:cNvPicPr>
          <p:nvPr/>
        </p:nvPicPr>
        <p:blipFill>
          <a:blip r:embed="rId9"/>
          <a:stretch>
            <a:fillRect/>
          </a:stretch>
        </p:blipFill>
        <p:spPr>
          <a:xfrm>
            <a:off x="9277960" y="2798064"/>
            <a:ext cx="219456" cy="219456"/>
          </a:xfrm>
          <a:prstGeom prst="rect">
            <a:avLst/>
          </a:prstGeom>
        </p:spPr>
      </p:pic>
      <p:sp>
        <p:nvSpPr>
          <p:cNvPr id="34" name="Text 23"/>
          <p:cNvSpPr txBox="1"/>
          <p:nvPr/>
        </p:nvSpPr>
        <p:spPr>
          <a:xfrm>
            <a:off x="9616288" y="2679192"/>
            <a:ext cx="1661008" cy="457200"/>
          </a:xfrm>
          <a:prstGeom prst="rect">
            <a:avLst/>
          </a:prstGeom>
          <a:noFill/>
          <a:ln/>
        </p:spPr>
        <p:txBody>
          <a:bodyPr wrap="square" lIns="0" tIns="0" rIns="0" bIns="0" rtlCol="0" anchor="ctr"/>
          <a:lstStyle/>
          <a:p>
            <a:pPr indent="0" marL="0">
              <a:buNone/>
            </a:pPr>
            <a:r>
              <a:rPr lang="en-US" sz="1150" b="1" dirty="0">
                <a:solidFill>
                  <a:srgbClr val="0E2233"/>
                </a:solidFill>
                <a:latin typeface="Calibri" pitchFamily="34" charset="0"/>
                <a:ea typeface="Calibri" pitchFamily="34" charset="-122"/>
                <a:cs typeface="Calibri" pitchFamily="34" charset="-120"/>
              </a:rPr>
              <a:t>Laptops</a:t>
            </a:r>
            <a:endParaRPr lang="en-US" sz="1150" dirty="0"/>
          </a:p>
        </p:txBody>
      </p:sp>
      <p:sp>
        <p:nvSpPr>
          <p:cNvPr id="35" name="Shape 24"/>
          <p:cNvSpPr/>
          <p:nvPr/>
        </p:nvSpPr>
        <p:spPr>
          <a:xfrm>
            <a:off x="6675120" y="3255264"/>
            <a:ext cx="2255368" cy="457200"/>
          </a:xfrm>
          <a:prstGeom prst="roundRect">
            <a:avLst>
              <a:gd name="adj" fmla="val 50000"/>
            </a:avLst>
          </a:prstGeom>
          <a:solidFill>
            <a:srgbClr val="FFFFFF"/>
          </a:solidFill>
          <a:ln w="9525">
            <a:solidFill>
              <a:srgbClr val="DEE1E5"/>
            </a:solidFill>
            <a:prstDash val="solid"/>
          </a:ln>
        </p:spPr>
      </p:sp>
      <p:pic>
        <p:nvPicPr>
          <p:cNvPr id="36" name="Image 9" descr="preencoded.png">    </p:cNvPr>
          <p:cNvPicPr>
            <a:picLocks noChangeAspect="1"/>
          </p:cNvPicPr>
          <p:nvPr/>
        </p:nvPicPr>
        <p:blipFill>
          <a:blip r:embed="rId10"/>
          <a:stretch>
            <a:fillRect/>
          </a:stretch>
        </p:blipFill>
        <p:spPr>
          <a:xfrm>
            <a:off x="6839712" y="3374136"/>
            <a:ext cx="219456" cy="219456"/>
          </a:xfrm>
          <a:prstGeom prst="rect">
            <a:avLst/>
          </a:prstGeom>
        </p:spPr>
      </p:pic>
      <p:sp>
        <p:nvSpPr>
          <p:cNvPr id="37" name="Text 25"/>
          <p:cNvSpPr txBox="1"/>
          <p:nvPr/>
        </p:nvSpPr>
        <p:spPr>
          <a:xfrm>
            <a:off x="7178040" y="3255264"/>
            <a:ext cx="1661008" cy="457200"/>
          </a:xfrm>
          <a:prstGeom prst="rect">
            <a:avLst/>
          </a:prstGeom>
          <a:noFill/>
          <a:ln/>
        </p:spPr>
        <p:txBody>
          <a:bodyPr wrap="square" lIns="0" tIns="0" rIns="0" bIns="0" rtlCol="0" anchor="ctr"/>
          <a:lstStyle/>
          <a:p>
            <a:pPr indent="0" marL="0">
              <a:buNone/>
            </a:pPr>
            <a:r>
              <a:rPr lang="en-US" sz="1150" b="1" dirty="0">
                <a:solidFill>
                  <a:srgbClr val="0E2233"/>
                </a:solidFill>
                <a:latin typeface="Calibri" pitchFamily="34" charset="0"/>
                <a:ea typeface="Calibri" pitchFamily="34" charset="-122"/>
                <a:cs typeface="Calibri" pitchFamily="34" charset="-120"/>
              </a:rPr>
              <a:t>Virtual desktops (VDI)</a:t>
            </a:r>
            <a:endParaRPr lang="en-US" sz="1150" dirty="0"/>
          </a:p>
        </p:txBody>
      </p:sp>
      <p:sp>
        <p:nvSpPr>
          <p:cNvPr id="38" name="Shape 26"/>
          <p:cNvSpPr/>
          <p:nvPr/>
        </p:nvSpPr>
        <p:spPr>
          <a:xfrm>
            <a:off x="9113368" y="3255264"/>
            <a:ext cx="2255368" cy="457200"/>
          </a:xfrm>
          <a:prstGeom prst="roundRect">
            <a:avLst>
              <a:gd name="adj" fmla="val 50000"/>
            </a:avLst>
          </a:prstGeom>
          <a:solidFill>
            <a:srgbClr val="FFFFFF"/>
          </a:solidFill>
          <a:ln w="9525">
            <a:solidFill>
              <a:srgbClr val="DEE1E5"/>
            </a:solidFill>
            <a:prstDash val="solid"/>
          </a:ln>
        </p:spPr>
      </p:sp>
      <p:pic>
        <p:nvPicPr>
          <p:cNvPr id="39" name="Image 10" descr="preencoded.png">    </p:cNvPr>
          <p:cNvPicPr>
            <a:picLocks noChangeAspect="1"/>
          </p:cNvPicPr>
          <p:nvPr/>
        </p:nvPicPr>
        <p:blipFill>
          <a:blip r:embed="rId11"/>
          <a:stretch>
            <a:fillRect/>
          </a:stretch>
        </p:blipFill>
        <p:spPr>
          <a:xfrm>
            <a:off x="9277960" y="3374136"/>
            <a:ext cx="219456" cy="219456"/>
          </a:xfrm>
          <a:prstGeom prst="rect">
            <a:avLst/>
          </a:prstGeom>
        </p:spPr>
      </p:pic>
      <p:sp>
        <p:nvSpPr>
          <p:cNvPr id="40" name="Text 27"/>
          <p:cNvSpPr txBox="1"/>
          <p:nvPr/>
        </p:nvSpPr>
        <p:spPr>
          <a:xfrm>
            <a:off x="9616288" y="3255264"/>
            <a:ext cx="1661008" cy="457200"/>
          </a:xfrm>
          <a:prstGeom prst="rect">
            <a:avLst/>
          </a:prstGeom>
          <a:noFill/>
          <a:ln/>
        </p:spPr>
        <p:txBody>
          <a:bodyPr wrap="square" lIns="0" tIns="0" rIns="0" bIns="0" rtlCol="0" anchor="ctr"/>
          <a:lstStyle/>
          <a:p>
            <a:pPr indent="0" marL="0">
              <a:buNone/>
            </a:pPr>
            <a:r>
              <a:rPr lang="en-US" sz="1150" b="1" dirty="0">
                <a:solidFill>
                  <a:srgbClr val="0E2233"/>
                </a:solidFill>
                <a:latin typeface="Calibri" pitchFamily="34" charset="0"/>
                <a:ea typeface="Calibri" pitchFamily="34" charset="-122"/>
                <a:cs typeface="Calibri" pitchFamily="34" charset="-120"/>
              </a:rPr>
              <a:t>Off-network devices*</a:t>
            </a:r>
            <a:endParaRPr lang="en-US" sz="1150" dirty="0"/>
          </a:p>
        </p:txBody>
      </p:sp>
      <p:sp>
        <p:nvSpPr>
          <p:cNvPr id="41" name="Shape 28"/>
          <p:cNvSpPr/>
          <p:nvPr/>
        </p:nvSpPr>
        <p:spPr>
          <a:xfrm>
            <a:off x="6400800" y="4114800"/>
            <a:ext cx="5242255" cy="1874520"/>
          </a:xfrm>
          <a:prstGeom prst="roundRect">
            <a:avLst>
              <a:gd name="adj" fmla="val 6829"/>
            </a:avLst>
          </a:prstGeom>
          <a:solidFill>
            <a:srgbClr val="10243A"/>
          </a:solidFill>
          <a:ln w="12700">
            <a:solidFill>
              <a:srgbClr val="10243A"/>
            </a:solidFill>
            <a:prstDash val="solid"/>
          </a:ln>
        </p:spPr>
      </p:sp>
      <p:sp>
        <p:nvSpPr>
          <p:cNvPr id="42" name="Text 29"/>
          <p:cNvSpPr txBox="1"/>
          <p:nvPr/>
        </p:nvSpPr>
        <p:spPr>
          <a:xfrm>
            <a:off x="6675120" y="4297680"/>
            <a:ext cx="4693615" cy="237744"/>
          </a:xfrm>
          <a:prstGeom prst="rect">
            <a:avLst/>
          </a:prstGeom>
          <a:noFill/>
          <a:ln/>
        </p:spPr>
        <p:txBody>
          <a:bodyPr wrap="square" lIns="0" tIns="0" rIns="0" bIns="0" rtlCol="0" anchor="t"/>
          <a:lstStyle/>
          <a:p>
            <a:pPr indent="0" marL="0">
              <a:buNone/>
            </a:pPr>
            <a:r>
              <a:rPr lang="en-US" sz="1050" b="1" spc="200" kern="0" dirty="0">
                <a:solidFill>
                  <a:srgbClr val="0F8B99"/>
                </a:solidFill>
                <a:latin typeface="Calibri" pitchFamily="34" charset="0"/>
                <a:ea typeface="Calibri" pitchFamily="34" charset="-122"/>
                <a:cs typeface="Calibri" pitchFamily="34" charset="-120"/>
              </a:rPr>
              <a:t>PROPOSED DEPLOYMENT  ·  ON-PREMISES</a:t>
            </a:r>
            <a:endParaRPr lang="en-US" sz="1050" dirty="0"/>
          </a:p>
        </p:txBody>
      </p:sp>
      <p:pic>
        <p:nvPicPr>
          <p:cNvPr id="43" name="Image 11" descr="preencoded.png">    </p:cNvPr>
          <p:cNvPicPr>
            <a:picLocks noChangeAspect="1"/>
          </p:cNvPicPr>
          <p:nvPr/>
        </p:nvPicPr>
        <p:blipFill>
          <a:blip r:embed="rId12"/>
          <a:stretch>
            <a:fillRect/>
          </a:stretch>
        </p:blipFill>
        <p:spPr>
          <a:xfrm>
            <a:off x="6675120" y="4663440"/>
            <a:ext cx="274320" cy="274320"/>
          </a:xfrm>
          <a:prstGeom prst="rect">
            <a:avLst/>
          </a:prstGeom>
        </p:spPr>
      </p:pic>
      <p:sp>
        <p:nvSpPr>
          <p:cNvPr id="44" name="Text 30"/>
          <p:cNvSpPr txBox="1"/>
          <p:nvPr/>
        </p:nvSpPr>
        <p:spPr>
          <a:xfrm>
            <a:off x="6675120" y="5010912"/>
            <a:ext cx="1473098"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Apex Server</a:t>
            </a:r>
            <a:endParaRPr lang="en-US" sz="1300" dirty="0"/>
          </a:p>
        </p:txBody>
      </p:sp>
      <p:sp>
        <p:nvSpPr>
          <p:cNvPr id="45" name="Text 31"/>
          <p:cNvSpPr txBox="1"/>
          <p:nvPr/>
        </p:nvSpPr>
        <p:spPr>
          <a:xfrm>
            <a:off x="6675120" y="5285232"/>
            <a:ext cx="1473098" cy="457200"/>
          </a:xfrm>
          <a:prstGeom prst="rect">
            <a:avLst/>
          </a:prstGeom>
          <a:noFill/>
          <a:ln/>
        </p:spPr>
        <p:txBody>
          <a:bodyPr wrap="square" lIns="0" tIns="0" rIns="0" bIns="0" rtlCol="0" anchor="t"/>
          <a:lstStyle/>
          <a:p>
            <a:pPr indent="0" marL="0">
              <a:buNone/>
            </a:pPr>
            <a:r>
              <a:rPr lang="en-US" sz="1050" dirty="0">
                <a:solidFill>
                  <a:srgbClr val="C8CCD2"/>
                </a:solidFill>
                <a:latin typeface="Calibri" pitchFamily="34" charset="0"/>
                <a:ea typeface="Calibri" pitchFamily="34" charset="-122"/>
                <a:cs typeface="Calibri" pitchFamily="34" charset="-120"/>
              </a:rPr>
              <a:t>Policies and virtual patches</a:t>
            </a:r>
            <a:endParaRPr lang="en-US" sz="1050" dirty="0"/>
          </a:p>
        </p:txBody>
      </p:sp>
      <p:pic>
        <p:nvPicPr>
          <p:cNvPr id="46" name="Image 12" descr="preencoded.png">    </p:cNvPr>
          <p:cNvPicPr>
            <a:picLocks noChangeAspect="1"/>
          </p:cNvPicPr>
          <p:nvPr/>
        </p:nvPicPr>
        <p:blipFill>
          <a:blip r:embed="rId13"/>
          <a:stretch>
            <a:fillRect/>
          </a:stretch>
        </p:blipFill>
        <p:spPr>
          <a:xfrm>
            <a:off x="8285378" y="4663440"/>
            <a:ext cx="274320" cy="274320"/>
          </a:xfrm>
          <a:prstGeom prst="rect">
            <a:avLst/>
          </a:prstGeom>
        </p:spPr>
      </p:pic>
      <p:sp>
        <p:nvSpPr>
          <p:cNvPr id="47" name="Text 32"/>
          <p:cNvSpPr txBox="1"/>
          <p:nvPr/>
        </p:nvSpPr>
        <p:spPr>
          <a:xfrm>
            <a:off x="8285378" y="5010912"/>
            <a:ext cx="1473098"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Apex Central</a:t>
            </a:r>
            <a:endParaRPr lang="en-US" sz="1300" dirty="0"/>
          </a:p>
        </p:txBody>
      </p:sp>
      <p:sp>
        <p:nvSpPr>
          <p:cNvPr id="48" name="Text 33"/>
          <p:cNvSpPr txBox="1"/>
          <p:nvPr/>
        </p:nvSpPr>
        <p:spPr>
          <a:xfrm>
            <a:off x="8285378" y="5285232"/>
            <a:ext cx="1473098" cy="457200"/>
          </a:xfrm>
          <a:prstGeom prst="rect">
            <a:avLst/>
          </a:prstGeom>
          <a:noFill/>
          <a:ln/>
        </p:spPr>
        <p:txBody>
          <a:bodyPr wrap="square" lIns="0" tIns="0" rIns="0" bIns="0" rtlCol="0" anchor="t"/>
          <a:lstStyle/>
          <a:p>
            <a:pPr indent="0" marL="0">
              <a:buNone/>
            </a:pPr>
            <a:r>
              <a:rPr lang="en-US" sz="1050" dirty="0">
                <a:solidFill>
                  <a:srgbClr val="C8CCD2"/>
                </a:solidFill>
                <a:latin typeface="Calibri" pitchFamily="34" charset="0"/>
                <a:ea typeface="Calibri" pitchFamily="34" charset="-122"/>
                <a:cs typeface="Calibri" pitchFamily="34" charset="-120"/>
              </a:rPr>
              <a:t>One web console for all agents</a:t>
            </a:r>
            <a:endParaRPr lang="en-US" sz="1050" dirty="0"/>
          </a:p>
        </p:txBody>
      </p:sp>
      <p:pic>
        <p:nvPicPr>
          <p:cNvPr id="49" name="Image 13" descr="preencoded.png">    </p:cNvPr>
          <p:cNvPicPr>
            <a:picLocks noChangeAspect="1"/>
          </p:cNvPicPr>
          <p:nvPr/>
        </p:nvPicPr>
        <p:blipFill>
          <a:blip r:embed="rId14"/>
          <a:stretch>
            <a:fillRect/>
          </a:stretch>
        </p:blipFill>
        <p:spPr>
          <a:xfrm>
            <a:off x="9895637" y="4663440"/>
            <a:ext cx="274320" cy="274320"/>
          </a:xfrm>
          <a:prstGeom prst="rect">
            <a:avLst/>
          </a:prstGeom>
        </p:spPr>
      </p:pic>
      <p:sp>
        <p:nvSpPr>
          <p:cNvPr id="50" name="Text 34"/>
          <p:cNvSpPr txBox="1"/>
          <p:nvPr/>
        </p:nvSpPr>
        <p:spPr>
          <a:xfrm>
            <a:off x="9895637" y="5010912"/>
            <a:ext cx="1473098"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Threat Intel</a:t>
            </a:r>
            <a:endParaRPr lang="en-US" sz="1300" dirty="0"/>
          </a:p>
        </p:txBody>
      </p:sp>
      <p:sp>
        <p:nvSpPr>
          <p:cNvPr id="51" name="Text 35"/>
          <p:cNvSpPr txBox="1"/>
          <p:nvPr/>
        </p:nvSpPr>
        <p:spPr>
          <a:xfrm>
            <a:off x="9895637" y="5285232"/>
            <a:ext cx="1473098" cy="457200"/>
          </a:xfrm>
          <a:prstGeom prst="rect">
            <a:avLst/>
          </a:prstGeom>
          <a:noFill/>
          <a:ln/>
        </p:spPr>
        <p:txBody>
          <a:bodyPr wrap="square" lIns="0" tIns="0" rIns="0" bIns="0" rtlCol="0" anchor="t"/>
          <a:lstStyle/>
          <a:p>
            <a:pPr indent="0" marL="0">
              <a:buNone/>
            </a:pPr>
            <a:r>
              <a:rPr lang="en-US" sz="1050" dirty="0">
                <a:solidFill>
                  <a:srgbClr val="C8CCD2"/>
                </a:solidFill>
                <a:latin typeface="Calibri" pitchFamily="34" charset="0"/>
                <a:ea typeface="Calibri" pitchFamily="34" charset="-122"/>
                <a:cs typeface="Calibri" pitchFamily="34" charset="-120"/>
              </a:rPr>
              <a:t>Smart Protection Network</a:t>
            </a:r>
            <a:endParaRPr lang="en-US" sz="1050" dirty="0"/>
          </a:p>
        </p:txBody>
      </p:sp>
      <p:sp>
        <p:nvSpPr>
          <p:cNvPr id="52" name="Text 36"/>
          <p:cNvSpPr txBox="1"/>
          <p:nvPr/>
        </p:nvSpPr>
        <p:spPr>
          <a:xfrm>
            <a:off x="548640" y="6108192"/>
            <a:ext cx="11094415" cy="237744"/>
          </a:xfrm>
          <a:prstGeom prst="rect">
            <a:avLst/>
          </a:prstGeom>
          <a:noFill/>
          <a:ln/>
        </p:spPr>
        <p:txBody>
          <a:bodyPr wrap="square" lIns="0" tIns="0" rIns="0" bIns="0" rtlCol="0" anchor="b"/>
          <a:lstStyle/>
          <a:p>
            <a:pPr indent="0" marL="0">
              <a:buNone/>
            </a:pPr>
            <a:r>
              <a:rPr lang="en-US" sz="800" i="1" dirty="0">
                <a:solidFill>
                  <a:srgbClr val="8A94A1"/>
                </a:solidFill>
                <a:latin typeface="Calibri" pitchFamily="34" charset="0"/>
                <a:ea typeface="Calibri" pitchFamily="34" charset="-122"/>
                <a:cs typeface="Calibri" pitchFamily="34" charset="-120"/>
              </a:rPr>
              <a:t>* Edge Relay lets employees outside the corporate network stay connected to Apex One without a VPN.</a:t>
            </a:r>
            <a:endParaRPr lang="en-US" sz="800" dirty="0"/>
          </a:p>
        </p:txBody>
      </p:sp>
      <p:sp>
        <p:nvSpPr>
          <p:cNvPr id="53" name="Text 37"/>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07   |   Nessus vs. Trend Micro Apex One™  ·  Proposal for The Westin Resort Guam</a:t>
            </a:r>
            <a:endParaRPr lang="en-US" sz="900" dirty="0"/>
          </a:p>
        </p:txBody>
      </p:sp>
      <p:pic>
        <p:nvPicPr>
          <p:cNvPr id="54" name="Image 14" descr="/private/tmp/claude-501/-Users-jihanvin-Desktop-NIVNAH-AI/16a96446-d9b3-40e2-af9e-a3011ae3db84/scratchpad/assets/secukorea_dark.png">    </p:cNvPr>
          <p:cNvPicPr>
            <a:picLocks noChangeAspect="1"/>
          </p:cNvPicPr>
          <p:nvPr/>
        </p:nvPicPr>
        <p:blipFill>
          <a:blip r:embed="rId15"/>
          <a:stretch>
            <a:fillRect/>
          </a:stretch>
        </p:blipFill>
        <p:spPr>
          <a:xfrm>
            <a:off x="10661904" y="6400800"/>
            <a:ext cx="978408" cy="2331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43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06   HOW IT WORKS</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Right Technique at the Right Time</a:t>
            </a:r>
            <a:endParaRPr lang="en-US" sz="2800" dirty="0"/>
          </a:p>
        </p:txBody>
      </p:sp>
      <p:pic>
        <p:nvPicPr>
          <p:cNvPr id="4" name="Image 0" descr="/private/tmp/claude-501/-Users-jihanvin-Desktop-NIVNAH-AI/16a96446-d9b3-40e2-af9e-a3011ae3db84/scratchpad/assets/westin_white.png">    </p:cNvPr>
          <p:cNvPicPr>
            <a:picLocks noChangeAspect="1"/>
          </p:cNvPicPr>
          <p:nvPr/>
        </p:nvPicPr>
        <p:blipFill>
          <a:blip r:embed="rId1"/>
          <a:stretch>
            <a:fillRect/>
          </a:stretch>
        </p:blipFill>
        <p:spPr>
          <a:xfrm>
            <a:off x="10634472" y="402336"/>
            <a:ext cx="1005840" cy="301752"/>
          </a:xfrm>
          <a:prstGeom prst="rect">
            <a:avLst/>
          </a:prstGeom>
        </p:spPr>
      </p:pic>
      <p:sp>
        <p:nvSpPr>
          <p:cNvPr id="5" name="Text 2"/>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350" dirty="0">
                <a:solidFill>
                  <a:srgbClr val="C8CCD2"/>
                </a:solidFill>
                <a:latin typeface="Calibri" pitchFamily="34" charset="0"/>
                <a:ea typeface="Calibri" pitchFamily="34" charset="-122"/>
                <a:cs typeface="Calibri" pitchFamily="34" charset="-120"/>
              </a:rPr>
              <a:t>Trend Micro XGen™ security filters threats step by step, using the most efficient technique at each stage — so detection stays high and false alarms stay low.</a:t>
            </a:r>
            <a:endParaRPr lang="en-US" sz="1350" dirty="0"/>
          </a:p>
        </p:txBody>
      </p:sp>
      <p:sp>
        <p:nvSpPr>
          <p:cNvPr id="6" name="Shape 3"/>
          <p:cNvSpPr/>
          <p:nvPr/>
        </p:nvSpPr>
        <p:spPr>
          <a:xfrm>
            <a:off x="548640" y="1920240"/>
            <a:ext cx="2697480" cy="3401568"/>
          </a:xfrm>
          <a:prstGeom prst="roundRect">
            <a:avLst>
              <a:gd name="adj" fmla="val 4746"/>
            </a:avLst>
          </a:prstGeom>
          <a:solidFill>
            <a:srgbClr val="183247"/>
          </a:solidFill>
          <a:ln w="9525">
            <a:solidFill>
              <a:srgbClr val="284559"/>
            </a:solidFill>
            <a:prstDash val="solid"/>
          </a:ln>
        </p:spPr>
      </p:sp>
      <p:sp>
        <p:nvSpPr>
          <p:cNvPr id="7" name="Shape 4"/>
          <p:cNvSpPr/>
          <p:nvPr/>
        </p:nvSpPr>
        <p:spPr>
          <a:xfrm>
            <a:off x="804672" y="2176272"/>
            <a:ext cx="548640" cy="548640"/>
          </a:xfrm>
          <a:prstGeom prst="ellipse">
            <a:avLst/>
          </a:prstGeom>
          <a:solidFill>
            <a:srgbClr val="0F8B99"/>
          </a:solidFill>
          <a:ln w="12700">
            <a:solidFill>
              <a:srgbClr val="0F8B99"/>
            </a:solidFill>
            <a:prstDash val="solid"/>
          </a:ln>
        </p:spPr>
      </p:sp>
      <p:pic>
        <p:nvPicPr>
          <p:cNvPr id="8" name="Image 1" descr="preencoded.png">    </p:cNvPr>
          <p:cNvPicPr>
            <a:picLocks noChangeAspect="1"/>
          </p:cNvPicPr>
          <p:nvPr/>
        </p:nvPicPr>
        <p:blipFill>
          <a:blip r:embed="rId2"/>
          <a:stretch>
            <a:fillRect/>
          </a:stretch>
        </p:blipFill>
        <p:spPr>
          <a:xfrm>
            <a:off x="952805" y="2324405"/>
            <a:ext cx="252374" cy="252374"/>
          </a:xfrm>
          <a:prstGeom prst="rect">
            <a:avLst/>
          </a:prstGeom>
        </p:spPr>
      </p:pic>
      <p:sp>
        <p:nvSpPr>
          <p:cNvPr id="9" name="Text 5"/>
          <p:cNvSpPr txBox="1"/>
          <p:nvPr/>
        </p:nvSpPr>
        <p:spPr>
          <a:xfrm>
            <a:off x="1481328" y="2194560"/>
            <a:ext cx="1645920" cy="237744"/>
          </a:xfrm>
          <a:prstGeom prst="rect">
            <a:avLst/>
          </a:prstGeom>
          <a:noFill/>
          <a:ln/>
        </p:spPr>
        <p:txBody>
          <a:bodyPr wrap="square" lIns="0" tIns="0" rIns="0" bIns="0" rtlCol="0" anchor="t"/>
          <a:lstStyle/>
          <a:p>
            <a:pPr indent="0" marL="0">
              <a:buNone/>
            </a:pPr>
            <a:r>
              <a:rPr lang="en-US" sz="1000" b="1" spc="150" kern="0" dirty="0">
                <a:solidFill>
                  <a:srgbClr val="0F8B99"/>
                </a:solidFill>
                <a:latin typeface="Calibri" pitchFamily="34" charset="0"/>
                <a:ea typeface="Calibri" pitchFamily="34" charset="-122"/>
                <a:cs typeface="Calibri" pitchFamily="34" charset="-120"/>
              </a:rPr>
              <a:t>BEFORE EXECUTION</a:t>
            </a:r>
            <a:endParaRPr lang="en-US" sz="1000" dirty="0"/>
          </a:p>
        </p:txBody>
      </p:sp>
      <p:sp>
        <p:nvSpPr>
          <p:cNvPr id="10" name="Text 6"/>
          <p:cNvSpPr txBox="1"/>
          <p:nvPr/>
        </p:nvSpPr>
        <p:spPr>
          <a:xfrm>
            <a:off x="1481328" y="2432304"/>
            <a:ext cx="1645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Stop it at the door</a:t>
            </a:r>
            <a:endParaRPr lang="en-US" sz="1400" dirty="0"/>
          </a:p>
        </p:txBody>
      </p:sp>
      <p:pic>
        <p:nvPicPr>
          <p:cNvPr id="11" name="Image 2" descr="preencoded.png">    </p:cNvPr>
          <p:cNvPicPr>
            <a:picLocks noChangeAspect="1"/>
          </p:cNvPicPr>
          <p:nvPr/>
        </p:nvPicPr>
        <p:blipFill>
          <a:blip r:embed="rId3"/>
          <a:stretch>
            <a:fillRect/>
          </a:stretch>
        </p:blipFill>
        <p:spPr>
          <a:xfrm>
            <a:off x="804672" y="2971800"/>
            <a:ext cx="164592" cy="164592"/>
          </a:xfrm>
          <a:prstGeom prst="rect">
            <a:avLst/>
          </a:prstGeom>
        </p:spPr>
      </p:pic>
      <p:sp>
        <p:nvSpPr>
          <p:cNvPr id="12" name="Text 7"/>
          <p:cNvSpPr txBox="1"/>
          <p:nvPr/>
        </p:nvSpPr>
        <p:spPr>
          <a:xfrm>
            <a:off x="1060704" y="29260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Web and file reputation</a:t>
            </a:r>
            <a:endParaRPr lang="en-US" sz="1100" dirty="0"/>
          </a:p>
        </p:txBody>
      </p:sp>
      <p:pic>
        <p:nvPicPr>
          <p:cNvPr id="13" name="Image 3" descr="preencoded.png">    </p:cNvPr>
          <p:cNvPicPr>
            <a:picLocks noChangeAspect="1"/>
          </p:cNvPicPr>
          <p:nvPr/>
        </p:nvPicPr>
        <p:blipFill>
          <a:blip r:embed="rId4"/>
          <a:stretch>
            <a:fillRect/>
          </a:stretch>
        </p:blipFill>
        <p:spPr>
          <a:xfrm>
            <a:off x="804672" y="3429000"/>
            <a:ext cx="164592" cy="164592"/>
          </a:xfrm>
          <a:prstGeom prst="rect">
            <a:avLst/>
          </a:prstGeom>
        </p:spPr>
      </p:pic>
      <p:sp>
        <p:nvSpPr>
          <p:cNvPr id="14" name="Text 8"/>
          <p:cNvSpPr txBox="1"/>
          <p:nvPr/>
        </p:nvSpPr>
        <p:spPr>
          <a:xfrm>
            <a:off x="1060704" y="33832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Exploit prevention (IPS, host firewall)</a:t>
            </a:r>
            <a:endParaRPr lang="en-US" sz="1100" dirty="0"/>
          </a:p>
        </p:txBody>
      </p:sp>
      <p:pic>
        <p:nvPicPr>
          <p:cNvPr id="15" name="Image 4" descr="preencoded.png">    </p:cNvPr>
          <p:cNvPicPr>
            <a:picLocks noChangeAspect="1"/>
          </p:cNvPicPr>
          <p:nvPr/>
        </p:nvPicPr>
        <p:blipFill>
          <a:blip r:embed="rId5"/>
          <a:stretch>
            <a:fillRect/>
          </a:stretch>
        </p:blipFill>
        <p:spPr>
          <a:xfrm>
            <a:off x="804672" y="3886200"/>
            <a:ext cx="164592" cy="164592"/>
          </a:xfrm>
          <a:prstGeom prst="rect">
            <a:avLst/>
          </a:prstGeom>
        </p:spPr>
      </p:pic>
      <p:sp>
        <p:nvSpPr>
          <p:cNvPr id="16" name="Text 9"/>
          <p:cNvSpPr txBox="1"/>
          <p:nvPr/>
        </p:nvSpPr>
        <p:spPr>
          <a:xfrm>
            <a:off x="1060704" y="38404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Variant protection</a:t>
            </a:r>
            <a:endParaRPr lang="en-US" sz="1100" dirty="0"/>
          </a:p>
        </p:txBody>
      </p:sp>
      <p:pic>
        <p:nvPicPr>
          <p:cNvPr id="17" name="Image 5" descr="preencoded.png">    </p:cNvPr>
          <p:cNvPicPr>
            <a:picLocks noChangeAspect="1"/>
          </p:cNvPicPr>
          <p:nvPr/>
        </p:nvPicPr>
        <p:blipFill>
          <a:blip r:embed="rId6"/>
          <a:stretch>
            <a:fillRect/>
          </a:stretch>
        </p:blipFill>
        <p:spPr>
          <a:xfrm>
            <a:off x="804672" y="4343400"/>
            <a:ext cx="164592" cy="164592"/>
          </a:xfrm>
          <a:prstGeom prst="rect">
            <a:avLst/>
          </a:prstGeom>
        </p:spPr>
      </p:pic>
      <p:sp>
        <p:nvSpPr>
          <p:cNvPr id="18" name="Text 10"/>
          <p:cNvSpPr txBox="1"/>
          <p:nvPr/>
        </p:nvSpPr>
        <p:spPr>
          <a:xfrm>
            <a:off x="1060704" y="42976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Application control</a:t>
            </a:r>
            <a:endParaRPr lang="en-US" sz="1100" dirty="0"/>
          </a:p>
        </p:txBody>
      </p:sp>
      <p:pic>
        <p:nvPicPr>
          <p:cNvPr id="19" name="Image 6" descr="preencoded.png">    </p:cNvPr>
          <p:cNvPicPr>
            <a:picLocks noChangeAspect="1"/>
          </p:cNvPicPr>
          <p:nvPr/>
        </p:nvPicPr>
        <p:blipFill>
          <a:blip r:embed="rId7"/>
          <a:stretch>
            <a:fillRect/>
          </a:stretch>
        </p:blipFill>
        <p:spPr>
          <a:xfrm>
            <a:off x="804672" y="4800600"/>
            <a:ext cx="164592" cy="164592"/>
          </a:xfrm>
          <a:prstGeom prst="rect">
            <a:avLst/>
          </a:prstGeom>
        </p:spPr>
      </p:pic>
      <p:sp>
        <p:nvSpPr>
          <p:cNvPr id="20" name="Text 11"/>
          <p:cNvSpPr txBox="1"/>
          <p:nvPr/>
        </p:nvSpPr>
        <p:spPr>
          <a:xfrm>
            <a:off x="1060704" y="47548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Pre-execution machine learning</a:t>
            </a:r>
            <a:endParaRPr lang="en-US" sz="1100" dirty="0"/>
          </a:p>
        </p:txBody>
      </p:sp>
      <p:pic>
        <p:nvPicPr>
          <p:cNvPr id="21" name="Image 7" descr="preencoded.png">    </p:cNvPr>
          <p:cNvPicPr>
            <a:picLocks noChangeAspect="1"/>
          </p:cNvPicPr>
          <p:nvPr/>
        </p:nvPicPr>
        <p:blipFill>
          <a:blip r:embed="rId8"/>
          <a:stretch>
            <a:fillRect/>
          </a:stretch>
        </p:blipFill>
        <p:spPr>
          <a:xfrm>
            <a:off x="3337560" y="3511296"/>
            <a:ext cx="219456" cy="219456"/>
          </a:xfrm>
          <a:prstGeom prst="rect">
            <a:avLst/>
          </a:prstGeom>
        </p:spPr>
      </p:pic>
      <p:sp>
        <p:nvSpPr>
          <p:cNvPr id="22" name="Shape 12"/>
          <p:cNvSpPr/>
          <p:nvPr/>
        </p:nvSpPr>
        <p:spPr>
          <a:xfrm>
            <a:off x="3657600" y="1920240"/>
            <a:ext cx="2697480" cy="3401568"/>
          </a:xfrm>
          <a:prstGeom prst="roundRect">
            <a:avLst>
              <a:gd name="adj" fmla="val 4746"/>
            </a:avLst>
          </a:prstGeom>
          <a:solidFill>
            <a:srgbClr val="183247"/>
          </a:solidFill>
          <a:ln w="9525">
            <a:solidFill>
              <a:srgbClr val="284559"/>
            </a:solidFill>
            <a:prstDash val="solid"/>
          </a:ln>
        </p:spPr>
      </p:sp>
      <p:sp>
        <p:nvSpPr>
          <p:cNvPr id="23" name="Shape 13"/>
          <p:cNvSpPr/>
          <p:nvPr/>
        </p:nvSpPr>
        <p:spPr>
          <a:xfrm>
            <a:off x="3913632" y="2176272"/>
            <a:ext cx="548640" cy="548640"/>
          </a:xfrm>
          <a:prstGeom prst="ellipse">
            <a:avLst/>
          </a:prstGeom>
          <a:solidFill>
            <a:srgbClr val="0F8B99"/>
          </a:solidFill>
          <a:ln w="12700">
            <a:solidFill>
              <a:srgbClr val="0F8B99"/>
            </a:solidFill>
            <a:prstDash val="solid"/>
          </a:ln>
        </p:spPr>
      </p:sp>
      <p:pic>
        <p:nvPicPr>
          <p:cNvPr id="24" name="Image 8" descr="preencoded.png">    </p:cNvPr>
          <p:cNvPicPr>
            <a:picLocks noChangeAspect="1"/>
          </p:cNvPicPr>
          <p:nvPr/>
        </p:nvPicPr>
        <p:blipFill>
          <a:blip r:embed="rId9"/>
          <a:stretch>
            <a:fillRect/>
          </a:stretch>
        </p:blipFill>
        <p:spPr>
          <a:xfrm>
            <a:off x="4061765" y="2324405"/>
            <a:ext cx="252374" cy="252374"/>
          </a:xfrm>
          <a:prstGeom prst="rect">
            <a:avLst/>
          </a:prstGeom>
        </p:spPr>
      </p:pic>
      <p:sp>
        <p:nvSpPr>
          <p:cNvPr id="25" name="Text 14"/>
          <p:cNvSpPr txBox="1"/>
          <p:nvPr/>
        </p:nvSpPr>
        <p:spPr>
          <a:xfrm>
            <a:off x="4590288" y="2194560"/>
            <a:ext cx="1645920" cy="237744"/>
          </a:xfrm>
          <a:prstGeom prst="rect">
            <a:avLst/>
          </a:prstGeom>
          <a:noFill/>
          <a:ln/>
        </p:spPr>
        <p:txBody>
          <a:bodyPr wrap="square" lIns="0" tIns="0" rIns="0" bIns="0" rtlCol="0" anchor="t"/>
          <a:lstStyle/>
          <a:p>
            <a:pPr indent="0" marL="0">
              <a:buNone/>
            </a:pPr>
            <a:r>
              <a:rPr lang="en-US" sz="1000" b="1" spc="150" kern="0" dirty="0">
                <a:solidFill>
                  <a:srgbClr val="0F8B99"/>
                </a:solidFill>
                <a:latin typeface="Calibri" pitchFamily="34" charset="0"/>
                <a:ea typeface="Calibri" pitchFamily="34" charset="-122"/>
                <a:cs typeface="Calibri" pitchFamily="34" charset="-120"/>
              </a:rPr>
              <a:t>DURING EXECUTION</a:t>
            </a:r>
            <a:endParaRPr lang="en-US" sz="1000" dirty="0"/>
          </a:p>
        </p:txBody>
      </p:sp>
      <p:sp>
        <p:nvSpPr>
          <p:cNvPr id="26" name="Text 15"/>
          <p:cNvSpPr txBox="1"/>
          <p:nvPr/>
        </p:nvSpPr>
        <p:spPr>
          <a:xfrm>
            <a:off x="4590288" y="2432304"/>
            <a:ext cx="1645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Catch it in the act</a:t>
            </a:r>
            <a:endParaRPr lang="en-US" sz="1400" dirty="0"/>
          </a:p>
        </p:txBody>
      </p:sp>
      <p:pic>
        <p:nvPicPr>
          <p:cNvPr id="27" name="Image 9" descr="preencoded.png">    </p:cNvPr>
          <p:cNvPicPr>
            <a:picLocks noChangeAspect="1"/>
          </p:cNvPicPr>
          <p:nvPr/>
        </p:nvPicPr>
        <p:blipFill>
          <a:blip r:embed="rId10"/>
          <a:stretch>
            <a:fillRect/>
          </a:stretch>
        </p:blipFill>
        <p:spPr>
          <a:xfrm>
            <a:off x="3913632" y="2971800"/>
            <a:ext cx="164592" cy="164592"/>
          </a:xfrm>
          <a:prstGeom prst="rect">
            <a:avLst/>
          </a:prstGeom>
        </p:spPr>
      </p:pic>
      <p:sp>
        <p:nvSpPr>
          <p:cNvPr id="28" name="Text 16"/>
          <p:cNvSpPr txBox="1"/>
          <p:nvPr/>
        </p:nvSpPr>
        <p:spPr>
          <a:xfrm>
            <a:off x="4169664" y="29260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Behavioral analysis (scripts, injection, memory, browser)</a:t>
            </a:r>
            <a:endParaRPr lang="en-US" sz="1100" dirty="0"/>
          </a:p>
        </p:txBody>
      </p:sp>
      <p:pic>
        <p:nvPicPr>
          <p:cNvPr id="29" name="Image 10" descr="preencoded.png">    </p:cNvPr>
          <p:cNvPicPr>
            <a:picLocks noChangeAspect="1"/>
          </p:cNvPicPr>
          <p:nvPr/>
        </p:nvPicPr>
        <p:blipFill>
          <a:blip r:embed="rId11"/>
          <a:stretch>
            <a:fillRect/>
          </a:stretch>
        </p:blipFill>
        <p:spPr>
          <a:xfrm>
            <a:off x="3913632" y="3429000"/>
            <a:ext cx="164592" cy="164592"/>
          </a:xfrm>
          <a:prstGeom prst="rect">
            <a:avLst/>
          </a:prstGeom>
        </p:spPr>
      </p:pic>
      <p:sp>
        <p:nvSpPr>
          <p:cNvPr id="30" name="Text 17"/>
          <p:cNvSpPr txBox="1"/>
          <p:nvPr/>
        </p:nvSpPr>
        <p:spPr>
          <a:xfrm>
            <a:off x="4169664" y="33832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Runtime machine learning</a:t>
            </a:r>
            <a:endParaRPr lang="en-US" sz="1100" dirty="0"/>
          </a:p>
        </p:txBody>
      </p:sp>
      <p:pic>
        <p:nvPicPr>
          <p:cNvPr id="31" name="Image 11" descr="preencoded.png">    </p:cNvPr>
          <p:cNvPicPr>
            <a:picLocks noChangeAspect="1"/>
          </p:cNvPicPr>
          <p:nvPr/>
        </p:nvPicPr>
        <p:blipFill>
          <a:blip r:embed="rId12"/>
          <a:stretch>
            <a:fillRect/>
          </a:stretch>
        </p:blipFill>
        <p:spPr>
          <a:xfrm>
            <a:off x="3913632" y="3886200"/>
            <a:ext cx="164592" cy="164592"/>
          </a:xfrm>
          <a:prstGeom prst="rect">
            <a:avLst/>
          </a:prstGeom>
        </p:spPr>
      </p:pic>
      <p:sp>
        <p:nvSpPr>
          <p:cNvPr id="32" name="Text 18"/>
          <p:cNvSpPr txBox="1"/>
          <p:nvPr/>
        </p:nvSpPr>
        <p:spPr>
          <a:xfrm>
            <a:off x="4169664" y="38404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In-memory analysis for fileless malware</a:t>
            </a:r>
            <a:endParaRPr lang="en-US" sz="1100" dirty="0"/>
          </a:p>
        </p:txBody>
      </p:sp>
      <p:pic>
        <p:nvPicPr>
          <p:cNvPr id="33" name="Image 12" descr="preencoded.png">    </p:cNvPr>
          <p:cNvPicPr>
            <a:picLocks noChangeAspect="1"/>
          </p:cNvPicPr>
          <p:nvPr/>
        </p:nvPicPr>
        <p:blipFill>
          <a:blip r:embed="rId13"/>
          <a:stretch>
            <a:fillRect/>
          </a:stretch>
        </p:blipFill>
        <p:spPr>
          <a:xfrm>
            <a:off x="3913632" y="4343400"/>
            <a:ext cx="164592" cy="164592"/>
          </a:xfrm>
          <a:prstGeom prst="rect">
            <a:avLst/>
          </a:prstGeom>
        </p:spPr>
      </p:pic>
      <p:sp>
        <p:nvSpPr>
          <p:cNvPr id="34" name="Text 19"/>
          <p:cNvSpPr txBox="1"/>
          <p:nvPr/>
        </p:nvSpPr>
        <p:spPr>
          <a:xfrm>
            <a:off x="4169664" y="42976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Ransomware rollback</a:t>
            </a:r>
            <a:endParaRPr lang="en-US" sz="1100" dirty="0"/>
          </a:p>
        </p:txBody>
      </p:sp>
      <p:pic>
        <p:nvPicPr>
          <p:cNvPr id="35" name="Image 13" descr="preencoded.png">    </p:cNvPr>
          <p:cNvPicPr>
            <a:picLocks noChangeAspect="1"/>
          </p:cNvPicPr>
          <p:nvPr/>
        </p:nvPicPr>
        <p:blipFill>
          <a:blip r:embed="rId14"/>
          <a:stretch>
            <a:fillRect/>
          </a:stretch>
        </p:blipFill>
        <p:spPr>
          <a:xfrm>
            <a:off x="6446520" y="3511296"/>
            <a:ext cx="219456" cy="219456"/>
          </a:xfrm>
          <a:prstGeom prst="rect">
            <a:avLst/>
          </a:prstGeom>
        </p:spPr>
      </p:pic>
      <p:sp>
        <p:nvSpPr>
          <p:cNvPr id="36" name="Shape 20"/>
          <p:cNvSpPr/>
          <p:nvPr/>
        </p:nvSpPr>
        <p:spPr>
          <a:xfrm>
            <a:off x="6766560" y="1920240"/>
            <a:ext cx="2697480" cy="3401568"/>
          </a:xfrm>
          <a:prstGeom prst="roundRect">
            <a:avLst>
              <a:gd name="adj" fmla="val 4746"/>
            </a:avLst>
          </a:prstGeom>
          <a:solidFill>
            <a:srgbClr val="183247"/>
          </a:solidFill>
          <a:ln w="9525">
            <a:solidFill>
              <a:srgbClr val="284559"/>
            </a:solidFill>
            <a:prstDash val="solid"/>
          </a:ln>
        </p:spPr>
      </p:sp>
      <p:sp>
        <p:nvSpPr>
          <p:cNvPr id="37" name="Shape 21"/>
          <p:cNvSpPr/>
          <p:nvPr/>
        </p:nvSpPr>
        <p:spPr>
          <a:xfrm>
            <a:off x="7022592" y="2176272"/>
            <a:ext cx="548640" cy="548640"/>
          </a:xfrm>
          <a:prstGeom prst="ellipse">
            <a:avLst/>
          </a:prstGeom>
          <a:solidFill>
            <a:srgbClr val="0F8B99"/>
          </a:solidFill>
          <a:ln w="12700">
            <a:solidFill>
              <a:srgbClr val="0F8B99"/>
            </a:solidFill>
            <a:prstDash val="solid"/>
          </a:ln>
        </p:spPr>
      </p:sp>
      <p:pic>
        <p:nvPicPr>
          <p:cNvPr id="38" name="Image 14" descr="preencoded.png">    </p:cNvPr>
          <p:cNvPicPr>
            <a:picLocks noChangeAspect="1"/>
          </p:cNvPicPr>
          <p:nvPr/>
        </p:nvPicPr>
        <p:blipFill>
          <a:blip r:embed="rId15"/>
          <a:stretch>
            <a:fillRect/>
          </a:stretch>
        </p:blipFill>
        <p:spPr>
          <a:xfrm>
            <a:off x="7170725" y="2324405"/>
            <a:ext cx="252374" cy="252374"/>
          </a:xfrm>
          <a:prstGeom prst="rect">
            <a:avLst/>
          </a:prstGeom>
        </p:spPr>
      </p:pic>
      <p:sp>
        <p:nvSpPr>
          <p:cNvPr id="39" name="Text 22"/>
          <p:cNvSpPr txBox="1"/>
          <p:nvPr/>
        </p:nvSpPr>
        <p:spPr>
          <a:xfrm>
            <a:off x="7699248" y="2194560"/>
            <a:ext cx="1645920" cy="237744"/>
          </a:xfrm>
          <a:prstGeom prst="rect">
            <a:avLst/>
          </a:prstGeom>
          <a:noFill/>
          <a:ln/>
        </p:spPr>
        <p:txBody>
          <a:bodyPr wrap="square" lIns="0" tIns="0" rIns="0" bIns="0" rtlCol="0" anchor="t"/>
          <a:lstStyle/>
          <a:p>
            <a:pPr indent="0" marL="0">
              <a:buNone/>
            </a:pPr>
            <a:r>
              <a:rPr lang="en-US" sz="1000" b="1" spc="150" kern="0" dirty="0">
                <a:solidFill>
                  <a:srgbClr val="0F8B99"/>
                </a:solidFill>
                <a:latin typeface="Calibri" pitchFamily="34" charset="0"/>
                <a:ea typeface="Calibri" pitchFamily="34" charset="-122"/>
                <a:cs typeface="Calibri" pitchFamily="34" charset="-120"/>
              </a:rPr>
              <a:t>AFTER / INVESTIGATE</a:t>
            </a:r>
            <a:endParaRPr lang="en-US" sz="1000" dirty="0"/>
          </a:p>
        </p:txBody>
      </p:sp>
      <p:sp>
        <p:nvSpPr>
          <p:cNvPr id="40" name="Text 23"/>
          <p:cNvSpPr txBox="1"/>
          <p:nvPr/>
        </p:nvSpPr>
        <p:spPr>
          <a:xfrm>
            <a:off x="7699248" y="2432304"/>
            <a:ext cx="1645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Learn and respond</a:t>
            </a:r>
            <a:endParaRPr lang="en-US" sz="1400" dirty="0"/>
          </a:p>
        </p:txBody>
      </p:sp>
      <p:pic>
        <p:nvPicPr>
          <p:cNvPr id="41" name="Image 15" descr="preencoded.png">    </p:cNvPr>
          <p:cNvPicPr>
            <a:picLocks noChangeAspect="1"/>
          </p:cNvPicPr>
          <p:nvPr/>
        </p:nvPicPr>
        <p:blipFill>
          <a:blip r:embed="rId16"/>
          <a:stretch>
            <a:fillRect/>
          </a:stretch>
        </p:blipFill>
        <p:spPr>
          <a:xfrm>
            <a:off x="7022592" y="2971800"/>
            <a:ext cx="164592" cy="164592"/>
          </a:xfrm>
          <a:prstGeom prst="rect">
            <a:avLst/>
          </a:prstGeom>
        </p:spPr>
      </p:pic>
      <p:sp>
        <p:nvSpPr>
          <p:cNvPr id="42" name="Text 24"/>
          <p:cNvSpPr txBox="1"/>
          <p:nvPr/>
        </p:nvSpPr>
        <p:spPr>
          <a:xfrm>
            <a:off x="7278624" y="29260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Command &amp; control (C&amp;C) blocking</a:t>
            </a:r>
            <a:endParaRPr lang="en-US" sz="1100" dirty="0"/>
          </a:p>
        </p:txBody>
      </p:sp>
      <p:pic>
        <p:nvPicPr>
          <p:cNvPr id="43" name="Image 16" descr="preencoded.png">    </p:cNvPr>
          <p:cNvPicPr>
            <a:picLocks noChangeAspect="1"/>
          </p:cNvPicPr>
          <p:nvPr/>
        </p:nvPicPr>
        <p:blipFill>
          <a:blip r:embed="rId17"/>
          <a:stretch>
            <a:fillRect/>
          </a:stretch>
        </p:blipFill>
        <p:spPr>
          <a:xfrm>
            <a:off x="7022592" y="3429000"/>
            <a:ext cx="164592" cy="164592"/>
          </a:xfrm>
          <a:prstGeom prst="rect">
            <a:avLst/>
          </a:prstGeom>
        </p:spPr>
      </p:pic>
      <p:sp>
        <p:nvSpPr>
          <p:cNvPr id="44" name="Text 25"/>
          <p:cNvSpPr txBox="1"/>
          <p:nvPr/>
        </p:nvSpPr>
        <p:spPr>
          <a:xfrm>
            <a:off x="7278624" y="33832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Suspicious-object quarantine and isolation</a:t>
            </a:r>
            <a:endParaRPr lang="en-US" sz="1100" dirty="0"/>
          </a:p>
        </p:txBody>
      </p:sp>
      <p:pic>
        <p:nvPicPr>
          <p:cNvPr id="45" name="Image 17" descr="preencoded.png">    </p:cNvPr>
          <p:cNvPicPr>
            <a:picLocks noChangeAspect="1"/>
          </p:cNvPicPr>
          <p:nvPr/>
        </p:nvPicPr>
        <p:blipFill>
          <a:blip r:embed="rId18"/>
          <a:stretch>
            <a:fillRect/>
          </a:stretch>
        </p:blipFill>
        <p:spPr>
          <a:xfrm>
            <a:off x="7022592" y="3886200"/>
            <a:ext cx="164592" cy="164592"/>
          </a:xfrm>
          <a:prstGeom prst="rect">
            <a:avLst/>
          </a:prstGeom>
        </p:spPr>
      </p:pic>
      <p:sp>
        <p:nvSpPr>
          <p:cNvPr id="46" name="Text 26"/>
          <p:cNvSpPr txBox="1"/>
          <p:nvPr/>
        </p:nvSpPr>
        <p:spPr>
          <a:xfrm>
            <a:off x="7278624" y="38404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Threat intelligence shared across layers</a:t>
            </a:r>
            <a:endParaRPr lang="en-US" sz="1100" dirty="0"/>
          </a:p>
        </p:txBody>
      </p:sp>
      <p:pic>
        <p:nvPicPr>
          <p:cNvPr id="47" name="Image 18" descr="preencoded.png">    </p:cNvPr>
          <p:cNvPicPr>
            <a:picLocks noChangeAspect="1"/>
          </p:cNvPicPr>
          <p:nvPr/>
        </p:nvPicPr>
        <p:blipFill>
          <a:blip r:embed="rId19"/>
          <a:stretch>
            <a:fillRect/>
          </a:stretch>
        </p:blipFill>
        <p:spPr>
          <a:xfrm>
            <a:off x="7022592" y="4343400"/>
            <a:ext cx="164592" cy="164592"/>
          </a:xfrm>
          <a:prstGeom prst="rect">
            <a:avLst/>
          </a:prstGeom>
        </p:spPr>
      </p:pic>
      <p:sp>
        <p:nvSpPr>
          <p:cNvPr id="48" name="Text 27"/>
          <p:cNvSpPr txBox="1"/>
          <p:nvPr/>
        </p:nvSpPr>
        <p:spPr>
          <a:xfrm>
            <a:off x="7278624" y="4297680"/>
            <a:ext cx="2011680" cy="420624"/>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Central logs and reports in Apex Central</a:t>
            </a:r>
            <a:endParaRPr lang="en-US" sz="1100" dirty="0"/>
          </a:p>
        </p:txBody>
      </p:sp>
      <p:sp>
        <p:nvSpPr>
          <p:cNvPr id="49" name="Shape 28"/>
          <p:cNvSpPr/>
          <p:nvPr/>
        </p:nvSpPr>
        <p:spPr>
          <a:xfrm>
            <a:off x="9875520" y="1920240"/>
            <a:ext cx="1767535" cy="1645920"/>
          </a:xfrm>
          <a:prstGeom prst="roundRect">
            <a:avLst>
              <a:gd name="adj" fmla="val 7778"/>
            </a:avLst>
          </a:prstGeom>
          <a:solidFill>
            <a:srgbClr val="0F8B99"/>
          </a:solidFill>
          <a:ln w="12700">
            <a:solidFill>
              <a:srgbClr val="0F8B99"/>
            </a:solidFill>
            <a:prstDash val="solid"/>
          </a:ln>
        </p:spPr>
      </p:sp>
      <p:pic>
        <p:nvPicPr>
          <p:cNvPr id="50" name="Image 19" descr="preencoded.png">    </p:cNvPr>
          <p:cNvPicPr>
            <a:picLocks noChangeAspect="1"/>
          </p:cNvPicPr>
          <p:nvPr/>
        </p:nvPicPr>
        <p:blipFill>
          <a:blip r:embed="rId20"/>
          <a:stretch>
            <a:fillRect/>
          </a:stretch>
        </p:blipFill>
        <p:spPr>
          <a:xfrm>
            <a:off x="10149840" y="2194560"/>
            <a:ext cx="365760" cy="365760"/>
          </a:xfrm>
          <a:prstGeom prst="rect">
            <a:avLst/>
          </a:prstGeom>
        </p:spPr>
      </p:pic>
      <p:sp>
        <p:nvSpPr>
          <p:cNvPr id="51" name="Text 29"/>
          <p:cNvSpPr txBox="1"/>
          <p:nvPr/>
        </p:nvSpPr>
        <p:spPr>
          <a:xfrm>
            <a:off x="10149840" y="2670048"/>
            <a:ext cx="1310335" cy="329184"/>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Blocked</a:t>
            </a:r>
            <a:endParaRPr lang="en-US" sz="1600" dirty="0"/>
          </a:p>
        </p:txBody>
      </p:sp>
      <p:sp>
        <p:nvSpPr>
          <p:cNvPr id="52" name="Text 30"/>
          <p:cNvSpPr txBox="1"/>
          <p:nvPr/>
        </p:nvSpPr>
        <p:spPr>
          <a:xfrm>
            <a:off x="10149840" y="2999232"/>
            <a:ext cx="1310335" cy="4572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Malicious files and actions stopped</a:t>
            </a:r>
            <a:endParaRPr lang="en-US" sz="1100" dirty="0"/>
          </a:p>
        </p:txBody>
      </p:sp>
      <p:sp>
        <p:nvSpPr>
          <p:cNvPr id="53" name="Shape 31"/>
          <p:cNvSpPr/>
          <p:nvPr/>
        </p:nvSpPr>
        <p:spPr>
          <a:xfrm>
            <a:off x="9875520" y="3675888"/>
            <a:ext cx="1767535" cy="1645920"/>
          </a:xfrm>
          <a:prstGeom prst="roundRect">
            <a:avLst>
              <a:gd name="adj" fmla="val 7778"/>
            </a:avLst>
          </a:prstGeom>
          <a:solidFill>
            <a:srgbClr val="3F4650"/>
          </a:solidFill>
          <a:ln w="12700">
            <a:solidFill>
              <a:srgbClr val="3F4650"/>
            </a:solidFill>
            <a:prstDash val="solid"/>
          </a:ln>
        </p:spPr>
      </p:sp>
      <p:pic>
        <p:nvPicPr>
          <p:cNvPr id="54" name="Image 20" descr="preencoded.png">    </p:cNvPr>
          <p:cNvPicPr>
            <a:picLocks noChangeAspect="1"/>
          </p:cNvPicPr>
          <p:nvPr/>
        </p:nvPicPr>
        <p:blipFill>
          <a:blip r:embed="rId21"/>
          <a:stretch>
            <a:fillRect/>
          </a:stretch>
        </p:blipFill>
        <p:spPr>
          <a:xfrm>
            <a:off x="10149840" y="3950208"/>
            <a:ext cx="365760" cy="365760"/>
          </a:xfrm>
          <a:prstGeom prst="rect">
            <a:avLst/>
          </a:prstGeom>
        </p:spPr>
      </p:pic>
      <p:sp>
        <p:nvSpPr>
          <p:cNvPr id="55" name="Text 32"/>
          <p:cNvSpPr txBox="1"/>
          <p:nvPr/>
        </p:nvSpPr>
        <p:spPr>
          <a:xfrm>
            <a:off x="10149840" y="4425696"/>
            <a:ext cx="1310335" cy="329184"/>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Allowed</a:t>
            </a:r>
            <a:endParaRPr lang="en-US" sz="1600" dirty="0"/>
          </a:p>
        </p:txBody>
      </p:sp>
      <p:sp>
        <p:nvSpPr>
          <p:cNvPr id="56" name="Text 33"/>
          <p:cNvSpPr txBox="1"/>
          <p:nvPr/>
        </p:nvSpPr>
        <p:spPr>
          <a:xfrm>
            <a:off x="10149840" y="4754880"/>
            <a:ext cx="1310335" cy="4572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Safe files and actions run normally</a:t>
            </a:r>
            <a:endParaRPr lang="en-US" sz="1100" dirty="0"/>
          </a:p>
        </p:txBody>
      </p:sp>
      <p:sp>
        <p:nvSpPr>
          <p:cNvPr id="57" name="Text 34"/>
          <p:cNvSpPr txBox="1"/>
          <p:nvPr/>
        </p:nvSpPr>
        <p:spPr>
          <a:xfrm>
            <a:off x="548640" y="5532120"/>
            <a:ext cx="11094415"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Noise cancellation: </a:t>
            </a:r>
            <a:pPr indent="0" marL="0">
              <a:buNone/>
            </a:pPr>
            <a:r>
              <a:rPr lang="en-US" sz="1250" dirty="0">
                <a:solidFill>
                  <a:srgbClr val="C8CCD2"/>
                </a:solidFill>
                <a:latin typeface="Calibri" pitchFamily="34" charset="0"/>
                <a:ea typeface="Calibri" pitchFamily="34" charset="-122"/>
                <a:cs typeface="Calibri" pitchFamily="34" charset="-120"/>
              </a:rPr>
              <a:t>census and good-file checks at every layer reduce false positives, so the IT team sees fewer, more meaningful alerts.</a:t>
            </a:r>
            <a:endParaRPr lang="en-US" sz="1250" dirty="0"/>
          </a:p>
        </p:txBody>
      </p:sp>
      <p:sp>
        <p:nvSpPr>
          <p:cNvPr id="58" name="Text 35"/>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9AA1AB"/>
                </a:solidFill>
                <a:latin typeface="Calibri" pitchFamily="34" charset="0"/>
                <a:ea typeface="Calibri" pitchFamily="34" charset="-122"/>
                <a:cs typeface="Calibri" pitchFamily="34" charset="-120"/>
              </a:rPr>
              <a:t>08   |   Nessus vs. Trend Micro Apex One™  ·  Proposal for The Westin Resort Guam</a:t>
            </a:r>
            <a:endParaRPr lang="en-US" sz="900" dirty="0"/>
          </a:p>
        </p:txBody>
      </p:sp>
      <p:pic>
        <p:nvPicPr>
          <p:cNvPr id="59" name="Image 21" descr="/private/tmp/claude-501/-Users-jihanvin-Desktop-NIVNAH-AI/16a96446-d9b3-40e2-af9e-a3011ae3db84/scratchpad/assets/secukorea_light.png">    </p:cNvPr>
          <p:cNvPicPr>
            <a:picLocks noChangeAspect="1"/>
          </p:cNvPicPr>
          <p:nvPr/>
        </p:nvPicPr>
        <p:blipFill>
          <a:blip r:embed="rId22"/>
          <a:stretch>
            <a:fillRect/>
          </a:stretch>
        </p:blipFill>
        <p:spPr>
          <a:xfrm>
            <a:off x="10661904" y="6400800"/>
            <a:ext cx="978408" cy="2331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07   KEY DIFFERENTIATOR</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Virtual Patching: Protection Before the Patch</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72768"/>
            <a:ext cx="2487168" cy="1536192"/>
          </a:xfrm>
          <a:prstGeom prst="roundRect">
            <a:avLst>
              <a:gd name="adj" fmla="val 8333"/>
            </a:avLst>
          </a:prstGeom>
          <a:solidFill>
            <a:srgbClr val="F4F5F7"/>
          </a:solidFill>
          <a:ln w="9525">
            <a:solidFill>
              <a:srgbClr val="DEE1E5"/>
            </a:solidFill>
            <a:prstDash val="solid"/>
          </a:ln>
        </p:spPr>
      </p:sp>
      <p:sp>
        <p:nvSpPr>
          <p:cNvPr id="6" name="Shape 3"/>
          <p:cNvSpPr/>
          <p:nvPr/>
        </p:nvSpPr>
        <p:spPr>
          <a:xfrm>
            <a:off x="777240" y="1801368"/>
            <a:ext cx="502920" cy="502920"/>
          </a:xfrm>
          <a:prstGeom prst="ellipse">
            <a:avLst/>
          </a:prstGeom>
          <a:solidFill>
            <a:srgbClr val="EAEEF3"/>
          </a:solidFill>
          <a:ln w="12700">
            <a:solidFill>
              <a:srgbClr val="EAEEF3"/>
            </a:solidFill>
            <a:prstDash val="solid"/>
          </a:ln>
        </p:spPr>
      </p:sp>
      <p:pic>
        <p:nvPicPr>
          <p:cNvPr id="7" name="Image 1" descr="preencoded.png">    </p:cNvPr>
          <p:cNvPicPr>
            <a:picLocks noChangeAspect="1"/>
          </p:cNvPicPr>
          <p:nvPr/>
        </p:nvPicPr>
        <p:blipFill>
          <a:blip r:embed="rId2"/>
          <a:stretch>
            <a:fillRect/>
          </a:stretch>
        </p:blipFill>
        <p:spPr>
          <a:xfrm>
            <a:off x="913028" y="1937156"/>
            <a:ext cx="231343" cy="231343"/>
          </a:xfrm>
          <a:prstGeom prst="rect">
            <a:avLst/>
          </a:prstGeom>
        </p:spPr>
      </p:pic>
      <p:sp>
        <p:nvSpPr>
          <p:cNvPr id="8" name="Text 4"/>
          <p:cNvSpPr txBox="1"/>
          <p:nvPr/>
        </p:nvSpPr>
        <p:spPr>
          <a:xfrm>
            <a:off x="1417320" y="1801368"/>
            <a:ext cx="1481328" cy="502920"/>
          </a:xfrm>
          <a:prstGeom prst="rect">
            <a:avLst/>
          </a:prstGeom>
          <a:noFill/>
          <a:ln/>
        </p:spPr>
        <p:txBody>
          <a:bodyPr wrap="square" lIns="0" tIns="0" rIns="0" bIns="0" rtlCol="0" anchor="ctr"/>
          <a:lstStyle/>
          <a:p>
            <a:pPr indent="0" marL="0">
              <a:buNone/>
            </a:pPr>
            <a:r>
              <a:rPr lang="en-US" sz="1000" b="1" spc="150" kern="0" dirty="0">
                <a:solidFill>
                  <a:srgbClr val="5D6B7E"/>
                </a:solidFill>
                <a:latin typeface="Calibri" pitchFamily="34" charset="0"/>
                <a:ea typeface="Calibri" pitchFamily="34" charset="-122"/>
                <a:cs typeface="Calibri" pitchFamily="34" charset="-120"/>
              </a:rPr>
              <a:t>STEP 1</a:t>
            </a:r>
            <a:endParaRPr lang="en-US" sz="1000" dirty="0"/>
          </a:p>
        </p:txBody>
      </p:sp>
      <p:sp>
        <p:nvSpPr>
          <p:cNvPr id="9" name="Text 5"/>
          <p:cNvSpPr txBox="1"/>
          <p:nvPr/>
        </p:nvSpPr>
        <p:spPr>
          <a:xfrm>
            <a:off x="777240" y="2395728"/>
            <a:ext cx="2121408" cy="274320"/>
          </a:xfrm>
          <a:prstGeom prst="rect">
            <a:avLst/>
          </a:prstGeom>
          <a:noFill/>
          <a:ln/>
        </p:spPr>
        <p:txBody>
          <a:bodyPr wrap="square" lIns="0" tIns="0" rIns="0" bIns="0" rtlCol="0" anchor="t"/>
          <a:lstStyle/>
          <a:p>
            <a:pPr indent="0" marL="0">
              <a:buNone/>
            </a:pPr>
            <a:r>
              <a:rPr lang="en-US" sz="1300" b="1" dirty="0">
                <a:solidFill>
                  <a:srgbClr val="0E2233"/>
                </a:solidFill>
                <a:latin typeface="Arial" pitchFamily="34" charset="0"/>
                <a:ea typeface="Arial" pitchFamily="34" charset="-122"/>
                <a:cs typeface="Arial" pitchFamily="34" charset="-120"/>
              </a:rPr>
              <a:t>Vulnerability found</a:t>
            </a:r>
            <a:endParaRPr lang="en-US" sz="1300" dirty="0"/>
          </a:p>
        </p:txBody>
      </p:sp>
      <p:sp>
        <p:nvSpPr>
          <p:cNvPr id="10" name="Text 6"/>
          <p:cNvSpPr txBox="1"/>
          <p:nvPr/>
        </p:nvSpPr>
        <p:spPr>
          <a:xfrm>
            <a:off x="777240" y="2670048"/>
            <a:ext cx="2075688" cy="384048"/>
          </a:xfrm>
          <a:prstGeom prst="rect">
            <a:avLst/>
          </a:prstGeom>
          <a:noFill/>
          <a:ln/>
        </p:spPr>
        <p:txBody>
          <a:bodyPr wrap="square" lIns="0" tIns="0" rIns="0" bIns="0" rtlCol="0" anchor="t"/>
          <a:lstStyle/>
          <a:p>
            <a:pPr indent="0" marL="0">
              <a:buNone/>
            </a:pPr>
            <a:r>
              <a:rPr lang="en-US" sz="1050" dirty="0">
                <a:solidFill>
                  <a:srgbClr val="5F6670"/>
                </a:solidFill>
                <a:latin typeface="Calibri" pitchFamily="34" charset="0"/>
                <a:ea typeface="Calibri" pitchFamily="34" charset="-122"/>
                <a:cs typeface="Calibri" pitchFamily="34" charset="-120"/>
              </a:rPr>
              <a:t>Apex One flags a CVE on a front-desk PC</a:t>
            </a:r>
            <a:endParaRPr lang="en-US" sz="1050" dirty="0"/>
          </a:p>
        </p:txBody>
      </p:sp>
      <p:pic>
        <p:nvPicPr>
          <p:cNvPr id="11" name="Image 2" descr="preencoded.png">    </p:cNvPr>
          <p:cNvPicPr>
            <a:picLocks noChangeAspect="1"/>
          </p:cNvPicPr>
          <p:nvPr/>
        </p:nvPicPr>
        <p:blipFill>
          <a:blip r:embed="rId3"/>
          <a:stretch>
            <a:fillRect/>
          </a:stretch>
        </p:blipFill>
        <p:spPr>
          <a:xfrm>
            <a:off x="3127248" y="2240280"/>
            <a:ext cx="201168" cy="201168"/>
          </a:xfrm>
          <a:prstGeom prst="rect">
            <a:avLst/>
          </a:prstGeom>
        </p:spPr>
      </p:pic>
      <p:sp>
        <p:nvSpPr>
          <p:cNvPr id="12" name="Shape 7"/>
          <p:cNvSpPr/>
          <p:nvPr/>
        </p:nvSpPr>
        <p:spPr>
          <a:xfrm>
            <a:off x="3419856" y="1572768"/>
            <a:ext cx="2487168" cy="1536192"/>
          </a:xfrm>
          <a:prstGeom prst="roundRect">
            <a:avLst>
              <a:gd name="adj" fmla="val 8333"/>
            </a:avLst>
          </a:prstGeom>
          <a:solidFill>
            <a:srgbClr val="E7F5F7"/>
          </a:solidFill>
          <a:ln w="9525">
            <a:solidFill>
              <a:srgbClr val="BFE4E8"/>
            </a:solidFill>
            <a:prstDash val="solid"/>
          </a:ln>
        </p:spPr>
      </p:sp>
      <p:sp>
        <p:nvSpPr>
          <p:cNvPr id="13" name="Shape 8"/>
          <p:cNvSpPr/>
          <p:nvPr/>
        </p:nvSpPr>
        <p:spPr>
          <a:xfrm>
            <a:off x="3648456" y="1801368"/>
            <a:ext cx="502920" cy="502920"/>
          </a:xfrm>
          <a:prstGeom prst="ellipse">
            <a:avLst/>
          </a:prstGeom>
          <a:solidFill>
            <a:srgbClr val="0F8B99"/>
          </a:solidFill>
          <a:ln w="12700">
            <a:solidFill>
              <a:srgbClr val="0F8B99"/>
            </a:solidFill>
            <a:prstDash val="solid"/>
          </a:ln>
        </p:spPr>
      </p:sp>
      <p:pic>
        <p:nvPicPr>
          <p:cNvPr id="14" name="Image 3" descr="preencoded.png">    </p:cNvPr>
          <p:cNvPicPr>
            <a:picLocks noChangeAspect="1"/>
          </p:cNvPicPr>
          <p:nvPr/>
        </p:nvPicPr>
        <p:blipFill>
          <a:blip r:embed="rId4"/>
          <a:stretch>
            <a:fillRect/>
          </a:stretch>
        </p:blipFill>
        <p:spPr>
          <a:xfrm>
            <a:off x="3784244" y="1937156"/>
            <a:ext cx="231343" cy="231343"/>
          </a:xfrm>
          <a:prstGeom prst="rect">
            <a:avLst/>
          </a:prstGeom>
        </p:spPr>
      </p:pic>
      <p:sp>
        <p:nvSpPr>
          <p:cNvPr id="15" name="Text 9"/>
          <p:cNvSpPr txBox="1"/>
          <p:nvPr/>
        </p:nvSpPr>
        <p:spPr>
          <a:xfrm>
            <a:off x="4288536" y="1801368"/>
            <a:ext cx="1481328" cy="502920"/>
          </a:xfrm>
          <a:prstGeom prst="rect">
            <a:avLst/>
          </a:prstGeom>
          <a:noFill/>
          <a:ln/>
        </p:spPr>
        <p:txBody>
          <a:bodyPr wrap="square" lIns="0" tIns="0" rIns="0" bIns="0" rtlCol="0" anchor="ctr"/>
          <a:lstStyle/>
          <a:p>
            <a:pPr indent="0" marL="0">
              <a:buNone/>
            </a:pPr>
            <a:r>
              <a:rPr lang="en-US" sz="1000" b="1" spc="150" kern="0" dirty="0">
                <a:solidFill>
                  <a:srgbClr val="0F8B99"/>
                </a:solidFill>
                <a:latin typeface="Calibri" pitchFamily="34" charset="0"/>
                <a:ea typeface="Calibri" pitchFamily="34" charset="-122"/>
                <a:cs typeface="Calibri" pitchFamily="34" charset="-120"/>
              </a:rPr>
              <a:t>STEP 2</a:t>
            </a:r>
            <a:endParaRPr lang="en-US" sz="1000" dirty="0"/>
          </a:p>
        </p:txBody>
      </p:sp>
      <p:sp>
        <p:nvSpPr>
          <p:cNvPr id="16" name="Text 10"/>
          <p:cNvSpPr txBox="1"/>
          <p:nvPr/>
        </p:nvSpPr>
        <p:spPr>
          <a:xfrm>
            <a:off x="3648456" y="2395728"/>
            <a:ext cx="2121408" cy="274320"/>
          </a:xfrm>
          <a:prstGeom prst="rect">
            <a:avLst/>
          </a:prstGeom>
          <a:noFill/>
          <a:ln/>
        </p:spPr>
        <p:txBody>
          <a:bodyPr wrap="square" lIns="0" tIns="0" rIns="0" bIns="0" rtlCol="0" anchor="t"/>
          <a:lstStyle/>
          <a:p>
            <a:pPr indent="0" marL="0">
              <a:buNone/>
            </a:pPr>
            <a:r>
              <a:rPr lang="en-US" sz="1300" b="1" dirty="0">
                <a:solidFill>
                  <a:srgbClr val="0E2233"/>
                </a:solidFill>
                <a:latin typeface="Arial" pitchFamily="34" charset="0"/>
                <a:ea typeface="Arial" pitchFamily="34" charset="-122"/>
                <a:cs typeface="Arial" pitchFamily="34" charset="-120"/>
              </a:rPr>
              <a:t>Virtual patch applied</a:t>
            </a:r>
            <a:endParaRPr lang="en-US" sz="1300" dirty="0"/>
          </a:p>
        </p:txBody>
      </p:sp>
      <p:sp>
        <p:nvSpPr>
          <p:cNvPr id="17" name="Text 11"/>
          <p:cNvSpPr txBox="1"/>
          <p:nvPr/>
        </p:nvSpPr>
        <p:spPr>
          <a:xfrm>
            <a:off x="3648456" y="2670048"/>
            <a:ext cx="2075688" cy="384048"/>
          </a:xfrm>
          <a:prstGeom prst="rect">
            <a:avLst/>
          </a:prstGeom>
          <a:noFill/>
          <a:ln/>
        </p:spPr>
        <p:txBody>
          <a:bodyPr wrap="square" lIns="0" tIns="0" rIns="0" bIns="0" rtlCol="0" anchor="t"/>
          <a:lstStyle/>
          <a:p>
            <a:pPr indent="0" marL="0">
              <a:buNone/>
            </a:pPr>
            <a:r>
              <a:rPr lang="en-US" sz="1050" dirty="0">
                <a:solidFill>
                  <a:srgbClr val="5F6670"/>
                </a:solidFill>
                <a:latin typeface="Calibri" pitchFamily="34" charset="0"/>
                <a:ea typeface="Calibri" pitchFamily="34" charset="-122"/>
                <a:cs typeface="Calibri" pitchFamily="34" charset="-120"/>
              </a:rPr>
              <a:t>Apex One Vulnerability Protection shields the flaw</a:t>
            </a:r>
            <a:endParaRPr lang="en-US" sz="1050" dirty="0"/>
          </a:p>
        </p:txBody>
      </p:sp>
      <p:pic>
        <p:nvPicPr>
          <p:cNvPr id="18" name="Image 4" descr="preencoded.png">    </p:cNvPr>
          <p:cNvPicPr>
            <a:picLocks noChangeAspect="1"/>
          </p:cNvPicPr>
          <p:nvPr/>
        </p:nvPicPr>
        <p:blipFill>
          <a:blip r:embed="rId5"/>
          <a:stretch>
            <a:fillRect/>
          </a:stretch>
        </p:blipFill>
        <p:spPr>
          <a:xfrm>
            <a:off x="5998464" y="2240280"/>
            <a:ext cx="201168" cy="201168"/>
          </a:xfrm>
          <a:prstGeom prst="rect">
            <a:avLst/>
          </a:prstGeom>
        </p:spPr>
      </p:pic>
      <p:sp>
        <p:nvSpPr>
          <p:cNvPr id="19" name="Shape 12"/>
          <p:cNvSpPr/>
          <p:nvPr/>
        </p:nvSpPr>
        <p:spPr>
          <a:xfrm>
            <a:off x="6291072" y="1572768"/>
            <a:ext cx="2487168" cy="1536192"/>
          </a:xfrm>
          <a:prstGeom prst="roundRect">
            <a:avLst>
              <a:gd name="adj" fmla="val 8333"/>
            </a:avLst>
          </a:prstGeom>
          <a:solidFill>
            <a:srgbClr val="E7F5F7"/>
          </a:solidFill>
          <a:ln w="9525">
            <a:solidFill>
              <a:srgbClr val="BFE4E8"/>
            </a:solidFill>
            <a:prstDash val="solid"/>
          </a:ln>
        </p:spPr>
      </p:sp>
      <p:sp>
        <p:nvSpPr>
          <p:cNvPr id="20" name="Shape 13"/>
          <p:cNvSpPr/>
          <p:nvPr/>
        </p:nvSpPr>
        <p:spPr>
          <a:xfrm>
            <a:off x="6519672" y="1801368"/>
            <a:ext cx="502920" cy="502920"/>
          </a:xfrm>
          <a:prstGeom prst="ellipse">
            <a:avLst/>
          </a:prstGeom>
          <a:solidFill>
            <a:srgbClr val="0F8B99"/>
          </a:solidFill>
          <a:ln w="12700">
            <a:solidFill>
              <a:srgbClr val="0F8B99"/>
            </a:solidFill>
            <a:prstDash val="solid"/>
          </a:ln>
        </p:spPr>
      </p:sp>
      <p:pic>
        <p:nvPicPr>
          <p:cNvPr id="21" name="Image 5" descr="preencoded.png">    </p:cNvPr>
          <p:cNvPicPr>
            <a:picLocks noChangeAspect="1"/>
          </p:cNvPicPr>
          <p:nvPr/>
        </p:nvPicPr>
        <p:blipFill>
          <a:blip r:embed="rId6"/>
          <a:stretch>
            <a:fillRect/>
          </a:stretch>
        </p:blipFill>
        <p:spPr>
          <a:xfrm>
            <a:off x="6655460" y="1937156"/>
            <a:ext cx="231343" cy="231343"/>
          </a:xfrm>
          <a:prstGeom prst="rect">
            <a:avLst/>
          </a:prstGeom>
        </p:spPr>
      </p:pic>
      <p:sp>
        <p:nvSpPr>
          <p:cNvPr id="22" name="Text 14"/>
          <p:cNvSpPr txBox="1"/>
          <p:nvPr/>
        </p:nvSpPr>
        <p:spPr>
          <a:xfrm>
            <a:off x="7159752" y="1801368"/>
            <a:ext cx="1481328" cy="502920"/>
          </a:xfrm>
          <a:prstGeom prst="rect">
            <a:avLst/>
          </a:prstGeom>
          <a:noFill/>
          <a:ln/>
        </p:spPr>
        <p:txBody>
          <a:bodyPr wrap="square" lIns="0" tIns="0" rIns="0" bIns="0" rtlCol="0" anchor="ctr"/>
          <a:lstStyle/>
          <a:p>
            <a:pPr indent="0" marL="0">
              <a:buNone/>
            </a:pPr>
            <a:r>
              <a:rPr lang="en-US" sz="1000" b="1" spc="150" kern="0" dirty="0">
                <a:solidFill>
                  <a:srgbClr val="0F8B99"/>
                </a:solidFill>
                <a:latin typeface="Calibri" pitchFamily="34" charset="0"/>
                <a:ea typeface="Calibri" pitchFamily="34" charset="-122"/>
                <a:cs typeface="Calibri" pitchFamily="34" charset="-120"/>
              </a:rPr>
              <a:t>STEP 3</a:t>
            </a:r>
            <a:endParaRPr lang="en-US" sz="1000" dirty="0"/>
          </a:p>
        </p:txBody>
      </p:sp>
      <p:sp>
        <p:nvSpPr>
          <p:cNvPr id="23" name="Text 15"/>
          <p:cNvSpPr txBox="1"/>
          <p:nvPr/>
        </p:nvSpPr>
        <p:spPr>
          <a:xfrm>
            <a:off x="6519672" y="2395728"/>
            <a:ext cx="2121408" cy="274320"/>
          </a:xfrm>
          <a:prstGeom prst="rect">
            <a:avLst/>
          </a:prstGeom>
          <a:noFill/>
          <a:ln/>
        </p:spPr>
        <p:txBody>
          <a:bodyPr wrap="square" lIns="0" tIns="0" rIns="0" bIns="0" rtlCol="0" anchor="t"/>
          <a:lstStyle/>
          <a:p>
            <a:pPr indent="0" marL="0">
              <a:buNone/>
            </a:pPr>
            <a:r>
              <a:rPr lang="en-US" sz="1300" b="1" dirty="0">
                <a:solidFill>
                  <a:srgbClr val="0E2233"/>
                </a:solidFill>
                <a:latin typeface="Arial" pitchFamily="34" charset="0"/>
                <a:ea typeface="Arial" pitchFamily="34" charset="-122"/>
                <a:cs typeface="Arial" pitchFamily="34" charset="-120"/>
              </a:rPr>
              <a:t>Exploits blocked</a:t>
            </a:r>
            <a:endParaRPr lang="en-US" sz="1300" dirty="0"/>
          </a:p>
        </p:txBody>
      </p:sp>
      <p:sp>
        <p:nvSpPr>
          <p:cNvPr id="24" name="Text 16"/>
          <p:cNvSpPr txBox="1"/>
          <p:nvPr/>
        </p:nvSpPr>
        <p:spPr>
          <a:xfrm>
            <a:off x="6519672" y="2670048"/>
            <a:ext cx="2075688" cy="384048"/>
          </a:xfrm>
          <a:prstGeom prst="rect">
            <a:avLst/>
          </a:prstGeom>
          <a:noFill/>
          <a:ln/>
        </p:spPr>
        <p:txBody>
          <a:bodyPr wrap="square" lIns="0" tIns="0" rIns="0" bIns="0" rtlCol="0" anchor="t"/>
          <a:lstStyle/>
          <a:p>
            <a:pPr indent="0" marL="0">
              <a:buNone/>
            </a:pPr>
            <a:r>
              <a:rPr lang="en-US" sz="1050" dirty="0">
                <a:solidFill>
                  <a:srgbClr val="5F6670"/>
                </a:solidFill>
                <a:latin typeface="Calibri" pitchFamily="34" charset="0"/>
                <a:ea typeface="Calibri" pitchFamily="34" charset="-122"/>
                <a:cs typeface="Calibri" pitchFamily="34" charset="-120"/>
              </a:rPr>
              <a:t>Attacks on the flaw stopped at the endpoint</a:t>
            </a:r>
            <a:endParaRPr lang="en-US" sz="1050" dirty="0"/>
          </a:p>
        </p:txBody>
      </p:sp>
      <p:pic>
        <p:nvPicPr>
          <p:cNvPr id="25" name="Image 6" descr="preencoded.png">    </p:cNvPr>
          <p:cNvPicPr>
            <a:picLocks noChangeAspect="1"/>
          </p:cNvPicPr>
          <p:nvPr/>
        </p:nvPicPr>
        <p:blipFill>
          <a:blip r:embed="rId7"/>
          <a:stretch>
            <a:fillRect/>
          </a:stretch>
        </p:blipFill>
        <p:spPr>
          <a:xfrm>
            <a:off x="8869680" y="2240280"/>
            <a:ext cx="201168" cy="201168"/>
          </a:xfrm>
          <a:prstGeom prst="rect">
            <a:avLst/>
          </a:prstGeom>
        </p:spPr>
      </p:pic>
      <p:sp>
        <p:nvSpPr>
          <p:cNvPr id="26" name="Shape 17"/>
          <p:cNvSpPr/>
          <p:nvPr/>
        </p:nvSpPr>
        <p:spPr>
          <a:xfrm>
            <a:off x="9162288" y="1572768"/>
            <a:ext cx="2487168" cy="1536192"/>
          </a:xfrm>
          <a:prstGeom prst="roundRect">
            <a:avLst>
              <a:gd name="adj" fmla="val 8333"/>
            </a:avLst>
          </a:prstGeom>
          <a:solidFill>
            <a:srgbClr val="F4F5F7"/>
          </a:solidFill>
          <a:ln w="9525">
            <a:solidFill>
              <a:srgbClr val="DEE1E5"/>
            </a:solidFill>
            <a:prstDash val="solid"/>
          </a:ln>
        </p:spPr>
      </p:sp>
      <p:sp>
        <p:nvSpPr>
          <p:cNvPr id="27" name="Shape 18"/>
          <p:cNvSpPr/>
          <p:nvPr/>
        </p:nvSpPr>
        <p:spPr>
          <a:xfrm>
            <a:off x="9390888" y="1801368"/>
            <a:ext cx="502920" cy="502920"/>
          </a:xfrm>
          <a:prstGeom prst="ellipse">
            <a:avLst/>
          </a:prstGeom>
          <a:solidFill>
            <a:srgbClr val="EAEEF3"/>
          </a:solidFill>
          <a:ln w="12700">
            <a:solidFill>
              <a:srgbClr val="EAEEF3"/>
            </a:solidFill>
            <a:prstDash val="solid"/>
          </a:ln>
        </p:spPr>
      </p:sp>
      <p:pic>
        <p:nvPicPr>
          <p:cNvPr id="28" name="Image 7" descr="preencoded.png">    </p:cNvPr>
          <p:cNvPicPr>
            <a:picLocks noChangeAspect="1"/>
          </p:cNvPicPr>
          <p:nvPr/>
        </p:nvPicPr>
        <p:blipFill>
          <a:blip r:embed="rId8"/>
          <a:stretch>
            <a:fillRect/>
          </a:stretch>
        </p:blipFill>
        <p:spPr>
          <a:xfrm>
            <a:off x="9526676" y="1937156"/>
            <a:ext cx="231343" cy="231343"/>
          </a:xfrm>
          <a:prstGeom prst="rect">
            <a:avLst/>
          </a:prstGeom>
        </p:spPr>
      </p:pic>
      <p:sp>
        <p:nvSpPr>
          <p:cNvPr id="29" name="Text 19"/>
          <p:cNvSpPr txBox="1"/>
          <p:nvPr/>
        </p:nvSpPr>
        <p:spPr>
          <a:xfrm>
            <a:off x="10030968" y="1801368"/>
            <a:ext cx="1481328" cy="502920"/>
          </a:xfrm>
          <a:prstGeom prst="rect">
            <a:avLst/>
          </a:prstGeom>
          <a:noFill/>
          <a:ln/>
        </p:spPr>
        <p:txBody>
          <a:bodyPr wrap="square" lIns="0" tIns="0" rIns="0" bIns="0" rtlCol="0" anchor="ctr"/>
          <a:lstStyle/>
          <a:p>
            <a:pPr indent="0" marL="0">
              <a:buNone/>
            </a:pPr>
            <a:r>
              <a:rPr lang="en-US" sz="1000" b="1" spc="150" kern="0" dirty="0">
                <a:solidFill>
                  <a:srgbClr val="5D6B7E"/>
                </a:solidFill>
                <a:latin typeface="Calibri" pitchFamily="34" charset="0"/>
                <a:ea typeface="Calibri" pitchFamily="34" charset="-122"/>
                <a:cs typeface="Calibri" pitchFamily="34" charset="-120"/>
              </a:rPr>
              <a:t>STEP 4</a:t>
            </a:r>
            <a:endParaRPr lang="en-US" sz="1000" dirty="0"/>
          </a:p>
        </p:txBody>
      </p:sp>
      <p:sp>
        <p:nvSpPr>
          <p:cNvPr id="30" name="Text 20"/>
          <p:cNvSpPr txBox="1"/>
          <p:nvPr/>
        </p:nvSpPr>
        <p:spPr>
          <a:xfrm>
            <a:off x="9390888" y="2395728"/>
            <a:ext cx="2121408" cy="274320"/>
          </a:xfrm>
          <a:prstGeom prst="rect">
            <a:avLst/>
          </a:prstGeom>
          <a:noFill/>
          <a:ln/>
        </p:spPr>
        <p:txBody>
          <a:bodyPr wrap="square" lIns="0" tIns="0" rIns="0" bIns="0" rtlCol="0" anchor="t"/>
          <a:lstStyle/>
          <a:p>
            <a:pPr indent="0" marL="0">
              <a:buNone/>
            </a:pPr>
            <a:r>
              <a:rPr lang="en-US" sz="1300" b="1" dirty="0">
                <a:solidFill>
                  <a:srgbClr val="0E2233"/>
                </a:solidFill>
                <a:latin typeface="Arial" pitchFamily="34" charset="0"/>
                <a:ea typeface="Arial" pitchFamily="34" charset="-122"/>
                <a:cs typeface="Arial" pitchFamily="34" charset="-120"/>
              </a:rPr>
              <a:t>Patch on your schedule</a:t>
            </a:r>
            <a:endParaRPr lang="en-US" sz="1300" dirty="0"/>
          </a:p>
        </p:txBody>
      </p:sp>
      <p:sp>
        <p:nvSpPr>
          <p:cNvPr id="31" name="Text 21"/>
          <p:cNvSpPr txBox="1"/>
          <p:nvPr/>
        </p:nvSpPr>
        <p:spPr>
          <a:xfrm>
            <a:off x="9390888" y="2670048"/>
            <a:ext cx="2075688" cy="384048"/>
          </a:xfrm>
          <a:prstGeom prst="rect">
            <a:avLst/>
          </a:prstGeom>
          <a:noFill/>
          <a:ln/>
        </p:spPr>
        <p:txBody>
          <a:bodyPr wrap="square" lIns="0" tIns="0" rIns="0" bIns="0" rtlCol="0" anchor="t"/>
          <a:lstStyle/>
          <a:p>
            <a:pPr indent="0" marL="0">
              <a:buNone/>
            </a:pPr>
            <a:r>
              <a:rPr lang="en-US" sz="1050" dirty="0">
                <a:solidFill>
                  <a:srgbClr val="5F6670"/>
                </a:solidFill>
                <a:latin typeface="Calibri" pitchFamily="34" charset="0"/>
                <a:ea typeface="Calibri" pitchFamily="34" charset="-122"/>
                <a:cs typeface="Calibri" pitchFamily="34" charset="-120"/>
              </a:rPr>
              <a:t>Permanent fix installed in a planned window</a:t>
            </a:r>
            <a:endParaRPr lang="en-US" sz="1050" dirty="0"/>
          </a:p>
        </p:txBody>
      </p:sp>
      <p:sp>
        <p:nvSpPr>
          <p:cNvPr id="32" name="Shape 22"/>
          <p:cNvSpPr/>
          <p:nvPr/>
        </p:nvSpPr>
        <p:spPr>
          <a:xfrm>
            <a:off x="548640" y="3310128"/>
            <a:ext cx="5410048" cy="2679192"/>
          </a:xfrm>
          <a:prstGeom prst="roundRect">
            <a:avLst>
              <a:gd name="adj" fmla="val 4778"/>
            </a:avLst>
          </a:prstGeom>
          <a:solidFill>
            <a:srgbClr val="F4F5F7"/>
          </a:solidFill>
          <a:ln w="9525">
            <a:solidFill>
              <a:srgbClr val="DEE1E5"/>
            </a:solidFill>
            <a:prstDash val="solid"/>
          </a:ln>
        </p:spPr>
      </p:sp>
      <p:sp>
        <p:nvSpPr>
          <p:cNvPr id="33" name="Text 23"/>
          <p:cNvSpPr txBox="1"/>
          <p:nvPr/>
        </p:nvSpPr>
        <p:spPr>
          <a:xfrm>
            <a:off x="822960" y="3538728"/>
            <a:ext cx="4861408"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What it protects</a:t>
            </a:r>
            <a:endParaRPr lang="en-US" sz="1500" dirty="0"/>
          </a:p>
        </p:txBody>
      </p:sp>
      <p:pic>
        <p:nvPicPr>
          <p:cNvPr id="34" name="Image 8" descr="preencoded.png">    </p:cNvPr>
          <p:cNvPicPr>
            <a:picLocks noChangeAspect="1"/>
          </p:cNvPicPr>
          <p:nvPr/>
        </p:nvPicPr>
        <p:blipFill>
          <a:blip r:embed="rId9"/>
          <a:stretch>
            <a:fillRect/>
          </a:stretch>
        </p:blipFill>
        <p:spPr>
          <a:xfrm>
            <a:off x="822960" y="4005072"/>
            <a:ext cx="201168" cy="201168"/>
          </a:xfrm>
          <a:prstGeom prst="rect">
            <a:avLst/>
          </a:prstGeom>
        </p:spPr>
      </p:pic>
      <p:sp>
        <p:nvSpPr>
          <p:cNvPr id="35" name="Text 24"/>
          <p:cNvSpPr txBox="1"/>
          <p:nvPr/>
        </p:nvSpPr>
        <p:spPr>
          <a:xfrm>
            <a:off x="1152144" y="3968496"/>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Blocks known and unknown vulnerability exploits before patches are deployed</a:t>
            </a:r>
            <a:endParaRPr lang="en-US" sz="1200" dirty="0"/>
          </a:p>
        </p:txBody>
      </p:sp>
      <p:pic>
        <p:nvPicPr>
          <p:cNvPr id="36" name="Image 9" descr="preencoded.png">    </p:cNvPr>
          <p:cNvPicPr>
            <a:picLocks noChangeAspect="1"/>
          </p:cNvPicPr>
          <p:nvPr/>
        </p:nvPicPr>
        <p:blipFill>
          <a:blip r:embed="rId10"/>
          <a:stretch>
            <a:fillRect/>
          </a:stretch>
        </p:blipFill>
        <p:spPr>
          <a:xfrm>
            <a:off x="822960" y="4480560"/>
            <a:ext cx="201168" cy="201168"/>
          </a:xfrm>
          <a:prstGeom prst="rect">
            <a:avLst/>
          </a:prstGeom>
        </p:spPr>
      </p:pic>
      <p:sp>
        <p:nvSpPr>
          <p:cNvPr id="37" name="Text 25"/>
          <p:cNvSpPr txBox="1"/>
          <p:nvPr/>
        </p:nvSpPr>
        <p:spPr>
          <a:xfrm>
            <a:off x="1152144" y="4443984"/>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Protects end-of-support and legacy operating systems</a:t>
            </a:r>
            <a:endParaRPr lang="en-US" sz="1200" dirty="0"/>
          </a:p>
        </p:txBody>
      </p:sp>
      <p:pic>
        <p:nvPicPr>
          <p:cNvPr id="38" name="Image 10" descr="preencoded.png">    </p:cNvPr>
          <p:cNvPicPr>
            <a:picLocks noChangeAspect="1"/>
          </p:cNvPicPr>
          <p:nvPr/>
        </p:nvPicPr>
        <p:blipFill>
          <a:blip r:embed="rId11"/>
          <a:stretch>
            <a:fillRect/>
          </a:stretch>
        </p:blipFill>
        <p:spPr>
          <a:xfrm>
            <a:off x="822960" y="4956048"/>
            <a:ext cx="201168" cy="201168"/>
          </a:xfrm>
          <a:prstGeom prst="rect">
            <a:avLst/>
          </a:prstGeom>
        </p:spPr>
      </p:pic>
      <p:sp>
        <p:nvSpPr>
          <p:cNvPr id="39" name="Text 26"/>
          <p:cNvSpPr txBox="1"/>
          <p:nvPr/>
        </p:nvSpPr>
        <p:spPr>
          <a:xfrm>
            <a:off x="1152144" y="4919472"/>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Deep packet inspection stops malicious traffic and network backdoors</a:t>
            </a:r>
            <a:endParaRPr lang="en-US" sz="1200" dirty="0"/>
          </a:p>
        </p:txBody>
      </p:sp>
      <p:pic>
        <p:nvPicPr>
          <p:cNvPr id="40" name="Image 11" descr="preencoded.png">    </p:cNvPr>
          <p:cNvPicPr>
            <a:picLocks noChangeAspect="1"/>
          </p:cNvPicPr>
          <p:nvPr/>
        </p:nvPicPr>
        <p:blipFill>
          <a:blip r:embed="rId12"/>
          <a:stretch>
            <a:fillRect/>
          </a:stretch>
        </p:blipFill>
        <p:spPr>
          <a:xfrm>
            <a:off x="822960" y="5431536"/>
            <a:ext cx="201168" cy="201168"/>
          </a:xfrm>
          <a:prstGeom prst="rect">
            <a:avLst/>
          </a:prstGeom>
        </p:spPr>
      </p:pic>
      <p:sp>
        <p:nvSpPr>
          <p:cNvPr id="41" name="Text 27"/>
          <p:cNvSpPr txBox="1"/>
          <p:nvPr/>
        </p:nvSpPr>
        <p:spPr>
          <a:xfrm>
            <a:off x="1152144" y="5394960"/>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Shields the OS and common applications — on or off the network</a:t>
            </a:r>
            <a:endParaRPr lang="en-US" sz="1200" dirty="0"/>
          </a:p>
        </p:txBody>
      </p:sp>
      <p:sp>
        <p:nvSpPr>
          <p:cNvPr id="42" name="Shape 28"/>
          <p:cNvSpPr/>
          <p:nvPr/>
        </p:nvSpPr>
        <p:spPr>
          <a:xfrm>
            <a:off x="6233008" y="3310128"/>
            <a:ext cx="5410048" cy="2679192"/>
          </a:xfrm>
          <a:prstGeom prst="roundRect">
            <a:avLst>
              <a:gd name="adj" fmla="val 4778"/>
            </a:avLst>
          </a:prstGeom>
          <a:solidFill>
            <a:srgbClr val="E7F5F7"/>
          </a:solidFill>
          <a:ln w="9525">
            <a:solidFill>
              <a:srgbClr val="BFE4E8"/>
            </a:solidFill>
            <a:prstDash val="solid"/>
          </a:ln>
        </p:spPr>
      </p:sp>
      <p:sp>
        <p:nvSpPr>
          <p:cNvPr id="43" name="Text 29"/>
          <p:cNvSpPr txBox="1"/>
          <p:nvPr/>
        </p:nvSpPr>
        <p:spPr>
          <a:xfrm>
            <a:off x="6507328" y="3538728"/>
            <a:ext cx="4861408" cy="310896"/>
          </a:xfrm>
          <a:prstGeom prst="rect">
            <a:avLst/>
          </a:prstGeom>
          <a:noFill/>
          <a:ln/>
        </p:spPr>
        <p:txBody>
          <a:bodyPr wrap="square" lIns="0" tIns="0" rIns="0" bIns="0" rtlCol="0" anchor="t"/>
          <a:lstStyle/>
          <a:p>
            <a:pPr indent="0" marL="0">
              <a:buNone/>
            </a:pPr>
            <a:r>
              <a:rPr lang="en-US" sz="1500" b="1" dirty="0">
                <a:solidFill>
                  <a:srgbClr val="0A6470"/>
                </a:solidFill>
                <a:latin typeface="Arial" pitchFamily="34" charset="0"/>
                <a:ea typeface="Arial" pitchFamily="34" charset="-122"/>
                <a:cs typeface="Arial" pitchFamily="34" charset="-120"/>
              </a:rPr>
              <a:t>Why it matters for the resort</a:t>
            </a:r>
            <a:endParaRPr lang="en-US" sz="1500" dirty="0"/>
          </a:p>
        </p:txBody>
      </p:sp>
      <p:pic>
        <p:nvPicPr>
          <p:cNvPr id="44" name="Image 12" descr="preencoded.png">    </p:cNvPr>
          <p:cNvPicPr>
            <a:picLocks noChangeAspect="1"/>
          </p:cNvPicPr>
          <p:nvPr/>
        </p:nvPicPr>
        <p:blipFill>
          <a:blip r:embed="rId13"/>
          <a:stretch>
            <a:fillRect/>
          </a:stretch>
        </p:blipFill>
        <p:spPr>
          <a:xfrm>
            <a:off x="6507328" y="4005072"/>
            <a:ext cx="201168" cy="201168"/>
          </a:xfrm>
          <a:prstGeom prst="rect">
            <a:avLst/>
          </a:prstGeom>
        </p:spPr>
      </p:pic>
      <p:sp>
        <p:nvSpPr>
          <p:cNvPr id="45" name="Text 30"/>
          <p:cNvSpPr txBox="1"/>
          <p:nvPr/>
        </p:nvSpPr>
        <p:spPr>
          <a:xfrm>
            <a:off x="6836512" y="3968496"/>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Vulnerability assessment by CVE and Microsoft bulletin — no separate scanner needed</a:t>
            </a:r>
            <a:endParaRPr lang="en-US" sz="1200" dirty="0"/>
          </a:p>
        </p:txBody>
      </p:sp>
      <p:pic>
        <p:nvPicPr>
          <p:cNvPr id="46" name="Image 13" descr="preencoded.png">    </p:cNvPr>
          <p:cNvPicPr>
            <a:picLocks noChangeAspect="1"/>
          </p:cNvPicPr>
          <p:nvPr/>
        </p:nvPicPr>
        <p:blipFill>
          <a:blip r:embed="rId14"/>
          <a:stretch>
            <a:fillRect/>
          </a:stretch>
        </p:blipFill>
        <p:spPr>
          <a:xfrm>
            <a:off x="6507328" y="4480560"/>
            <a:ext cx="201168" cy="201168"/>
          </a:xfrm>
          <a:prstGeom prst="rect">
            <a:avLst/>
          </a:prstGeom>
        </p:spPr>
      </p:pic>
      <p:sp>
        <p:nvSpPr>
          <p:cNvPr id="47" name="Text 31"/>
          <p:cNvSpPr txBox="1"/>
          <p:nvPr/>
        </p:nvSpPr>
        <p:spPr>
          <a:xfrm>
            <a:off x="6836512" y="4443984"/>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No emergency patching during peak season — patch on your own timeline</a:t>
            </a:r>
            <a:endParaRPr lang="en-US" sz="1200" dirty="0"/>
          </a:p>
        </p:txBody>
      </p:sp>
      <p:pic>
        <p:nvPicPr>
          <p:cNvPr id="48" name="Image 14" descr="preencoded.png">    </p:cNvPr>
          <p:cNvPicPr>
            <a:picLocks noChangeAspect="1"/>
          </p:cNvPicPr>
          <p:nvPr/>
        </p:nvPicPr>
        <p:blipFill>
          <a:blip r:embed="rId15"/>
          <a:stretch>
            <a:fillRect/>
          </a:stretch>
        </p:blipFill>
        <p:spPr>
          <a:xfrm>
            <a:off x="6507328" y="4956048"/>
            <a:ext cx="201168" cy="201168"/>
          </a:xfrm>
          <a:prstGeom prst="rect">
            <a:avLst/>
          </a:prstGeom>
        </p:spPr>
      </p:pic>
      <p:sp>
        <p:nvSpPr>
          <p:cNvPr id="49" name="Text 32"/>
          <p:cNvSpPr txBox="1"/>
          <p:nvPr/>
        </p:nvSpPr>
        <p:spPr>
          <a:xfrm>
            <a:off x="6836512" y="4919472"/>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Extends the safe life of older PMS and back-office systems</a:t>
            </a:r>
            <a:endParaRPr lang="en-US" sz="1200" dirty="0"/>
          </a:p>
        </p:txBody>
      </p:sp>
      <p:pic>
        <p:nvPicPr>
          <p:cNvPr id="50" name="Image 15" descr="preencoded.png">    </p:cNvPr>
          <p:cNvPicPr>
            <a:picLocks noChangeAspect="1"/>
          </p:cNvPicPr>
          <p:nvPr/>
        </p:nvPicPr>
        <p:blipFill>
          <a:blip r:embed="rId16"/>
          <a:stretch>
            <a:fillRect/>
          </a:stretch>
        </p:blipFill>
        <p:spPr>
          <a:xfrm>
            <a:off x="6507328" y="5431536"/>
            <a:ext cx="201168" cy="201168"/>
          </a:xfrm>
          <a:prstGeom prst="rect">
            <a:avLst/>
          </a:prstGeom>
        </p:spPr>
      </p:pic>
      <p:sp>
        <p:nvSpPr>
          <p:cNvPr id="51" name="Text 33"/>
          <p:cNvSpPr txBox="1"/>
          <p:nvPr/>
        </p:nvSpPr>
        <p:spPr>
          <a:xfrm>
            <a:off x="6836512" y="5394960"/>
            <a:ext cx="4541368" cy="438912"/>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Backed by Trend Micro Research and ZDI: 61% of disclosed zero-days in 2020</a:t>
            </a:r>
            <a:endParaRPr lang="en-US" sz="1200" dirty="0"/>
          </a:p>
        </p:txBody>
      </p:sp>
      <p:sp>
        <p:nvSpPr>
          <p:cNvPr id="52" name="Text 34"/>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09   |   Nessus vs. Trend Micro Apex One™  ·  Proposal for The Westin Resort Guam</a:t>
            </a:r>
            <a:endParaRPr lang="en-US" sz="900" dirty="0"/>
          </a:p>
        </p:txBody>
      </p:sp>
      <p:pic>
        <p:nvPicPr>
          <p:cNvPr id="53" name="Image 16" descr="/private/tmp/claude-501/-Users-jihanvin-Desktop-NIVNAH-AI/16a96446-d9b3-40e2-af9e-a3011ae3db84/scratchpad/assets/secukorea_dark.png">    </p:cNvPr>
          <p:cNvPicPr>
            <a:picLocks noChangeAspect="1"/>
          </p:cNvPicPr>
          <p:nvPr/>
        </p:nvPicPr>
        <p:blipFill>
          <a:blip r:embed="rId17"/>
          <a:stretch>
            <a:fillRect/>
          </a:stretch>
        </p:blipFill>
        <p:spPr>
          <a:xfrm>
            <a:off x="10661904" y="6400800"/>
            <a:ext cx="978408" cy="2331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08   CORE PROTECTION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Ransomware Protection and System Lockdown</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54480"/>
            <a:ext cx="5394960" cy="4434840"/>
          </a:xfrm>
          <a:prstGeom prst="roundRect">
            <a:avLst>
              <a:gd name="adj" fmla="val 2887"/>
            </a:avLst>
          </a:prstGeom>
          <a:solidFill>
            <a:srgbClr val="10243A"/>
          </a:solidFill>
          <a:ln w="12700">
            <a:solidFill>
              <a:srgbClr val="10243A"/>
            </a:solidFill>
            <a:prstDash val="solid"/>
          </a:ln>
        </p:spPr>
      </p:sp>
      <p:sp>
        <p:nvSpPr>
          <p:cNvPr id="6" name="Text 3"/>
          <p:cNvSpPr txBox="1"/>
          <p:nvPr/>
        </p:nvSpPr>
        <p:spPr>
          <a:xfrm>
            <a:off x="868680" y="1828800"/>
            <a:ext cx="4754880" cy="237744"/>
          </a:xfrm>
          <a:prstGeom prst="rect">
            <a:avLst/>
          </a:prstGeom>
          <a:noFill/>
          <a:ln/>
        </p:spPr>
        <p:txBody>
          <a:bodyPr wrap="square" lIns="0" tIns="0" rIns="0" bIns="0" rtlCol="0" anchor="t"/>
          <a:lstStyle/>
          <a:p>
            <a:pPr indent="0" marL="0">
              <a:buNone/>
            </a:pPr>
            <a:r>
              <a:rPr lang="en-US" sz="1050" b="1" spc="150" kern="0" dirty="0">
                <a:solidFill>
                  <a:srgbClr val="0F8B99"/>
                </a:solidFill>
                <a:latin typeface="Calibri" pitchFamily="34" charset="0"/>
                <a:ea typeface="Calibri" pitchFamily="34" charset="-122"/>
                <a:cs typeface="Calibri" pitchFamily="34" charset="-120"/>
              </a:rPr>
              <a:t>RANSOMWARE PROTECTION &amp; ROLLBACK</a:t>
            </a:r>
            <a:endParaRPr lang="en-US" sz="1050" dirty="0"/>
          </a:p>
        </p:txBody>
      </p:sp>
      <p:sp>
        <p:nvSpPr>
          <p:cNvPr id="7" name="Text 4"/>
          <p:cNvSpPr txBox="1"/>
          <p:nvPr/>
        </p:nvSpPr>
        <p:spPr>
          <a:xfrm>
            <a:off x="868680" y="2103120"/>
            <a:ext cx="475488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Encryption blocked in milliseconds</a:t>
            </a:r>
            <a:endParaRPr lang="en-US" sz="2000" dirty="0"/>
          </a:p>
        </p:txBody>
      </p:sp>
      <p:sp>
        <p:nvSpPr>
          <p:cNvPr id="8" name="Shape 5"/>
          <p:cNvSpPr/>
          <p:nvPr/>
        </p:nvSpPr>
        <p:spPr>
          <a:xfrm>
            <a:off x="868680" y="2788920"/>
            <a:ext cx="640080" cy="640080"/>
          </a:xfrm>
          <a:prstGeom prst="ellipse">
            <a:avLst/>
          </a:prstGeom>
          <a:solidFill>
            <a:srgbClr val="0F8B99"/>
          </a:solidFill>
          <a:ln w="12700">
            <a:solidFill>
              <a:srgbClr val="0F8B99"/>
            </a:solidFill>
            <a:prstDash val="solid"/>
          </a:ln>
        </p:spPr>
      </p:sp>
      <p:pic>
        <p:nvPicPr>
          <p:cNvPr id="9" name="Image 1" descr="preencoded.png">    </p:cNvPr>
          <p:cNvPicPr>
            <a:picLocks noChangeAspect="1"/>
          </p:cNvPicPr>
          <p:nvPr/>
        </p:nvPicPr>
        <p:blipFill>
          <a:blip r:embed="rId2"/>
          <a:stretch>
            <a:fillRect/>
          </a:stretch>
        </p:blipFill>
        <p:spPr>
          <a:xfrm>
            <a:off x="1041502" y="2961742"/>
            <a:ext cx="294437" cy="294437"/>
          </a:xfrm>
          <a:prstGeom prst="rect">
            <a:avLst/>
          </a:prstGeom>
        </p:spPr>
      </p:pic>
      <p:sp>
        <p:nvSpPr>
          <p:cNvPr id="10" name="Text 6"/>
          <p:cNvSpPr txBox="1"/>
          <p:nvPr/>
        </p:nvSpPr>
        <p:spPr>
          <a:xfrm>
            <a:off x="1691640" y="2807208"/>
            <a:ext cx="3931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1. Detect</a:t>
            </a:r>
            <a:endParaRPr lang="en-US" sz="1400" dirty="0"/>
          </a:p>
        </p:txBody>
      </p:sp>
      <p:sp>
        <p:nvSpPr>
          <p:cNvPr id="11" name="Text 7"/>
          <p:cNvSpPr txBox="1"/>
          <p:nvPr/>
        </p:nvSpPr>
        <p:spPr>
          <a:xfrm>
            <a:off x="1691640" y="3108960"/>
            <a:ext cx="3931920" cy="457200"/>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Runtime machine learning and expert rules spot suspicious file encryption</a:t>
            </a:r>
            <a:endParaRPr lang="en-US" sz="1150" dirty="0"/>
          </a:p>
        </p:txBody>
      </p:sp>
      <p:sp>
        <p:nvSpPr>
          <p:cNvPr id="12" name="Shape 8"/>
          <p:cNvSpPr/>
          <p:nvPr/>
        </p:nvSpPr>
        <p:spPr>
          <a:xfrm>
            <a:off x="1188720" y="3447288"/>
            <a:ext cx="0" cy="329184"/>
          </a:xfrm>
          <a:prstGeom prst="line">
            <a:avLst/>
          </a:prstGeom>
          <a:noFill/>
          <a:ln w="19050">
            <a:solidFill>
              <a:srgbClr val="5A6069"/>
            </a:solidFill>
            <a:prstDash val="solid"/>
          </a:ln>
        </p:spPr>
      </p:sp>
      <p:sp>
        <p:nvSpPr>
          <p:cNvPr id="13" name="Shape 9"/>
          <p:cNvSpPr/>
          <p:nvPr/>
        </p:nvSpPr>
        <p:spPr>
          <a:xfrm>
            <a:off x="868680" y="3794760"/>
            <a:ext cx="640080" cy="640080"/>
          </a:xfrm>
          <a:prstGeom prst="ellipse">
            <a:avLst/>
          </a:prstGeom>
          <a:solidFill>
            <a:srgbClr val="0F8B99"/>
          </a:solidFill>
          <a:ln w="12700">
            <a:solidFill>
              <a:srgbClr val="0F8B99"/>
            </a:solidFill>
            <a:prstDash val="solid"/>
          </a:ln>
        </p:spPr>
      </p:sp>
      <p:pic>
        <p:nvPicPr>
          <p:cNvPr id="14" name="Image 2" descr="preencoded.png">    </p:cNvPr>
          <p:cNvPicPr>
            <a:picLocks noChangeAspect="1"/>
          </p:cNvPicPr>
          <p:nvPr/>
        </p:nvPicPr>
        <p:blipFill>
          <a:blip r:embed="rId3"/>
          <a:stretch>
            <a:fillRect/>
          </a:stretch>
        </p:blipFill>
        <p:spPr>
          <a:xfrm>
            <a:off x="1041502" y="3967582"/>
            <a:ext cx="294437" cy="294437"/>
          </a:xfrm>
          <a:prstGeom prst="rect">
            <a:avLst/>
          </a:prstGeom>
        </p:spPr>
      </p:pic>
      <p:sp>
        <p:nvSpPr>
          <p:cNvPr id="15" name="Text 10"/>
          <p:cNvSpPr txBox="1"/>
          <p:nvPr/>
        </p:nvSpPr>
        <p:spPr>
          <a:xfrm>
            <a:off x="1691640" y="3813048"/>
            <a:ext cx="3931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2. Block</a:t>
            </a:r>
            <a:endParaRPr lang="en-US" sz="1400" dirty="0"/>
          </a:p>
        </p:txBody>
      </p:sp>
      <p:sp>
        <p:nvSpPr>
          <p:cNvPr id="16" name="Text 11"/>
          <p:cNvSpPr txBox="1"/>
          <p:nvPr/>
        </p:nvSpPr>
        <p:spPr>
          <a:xfrm>
            <a:off x="1691640" y="4114800"/>
            <a:ext cx="3931920" cy="457200"/>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Malicious encryption processes are terminated immediately</a:t>
            </a:r>
            <a:endParaRPr lang="en-US" sz="1150" dirty="0"/>
          </a:p>
        </p:txBody>
      </p:sp>
      <p:sp>
        <p:nvSpPr>
          <p:cNvPr id="17" name="Shape 12"/>
          <p:cNvSpPr/>
          <p:nvPr/>
        </p:nvSpPr>
        <p:spPr>
          <a:xfrm>
            <a:off x="1188720" y="4453128"/>
            <a:ext cx="0" cy="329184"/>
          </a:xfrm>
          <a:prstGeom prst="line">
            <a:avLst/>
          </a:prstGeom>
          <a:noFill/>
          <a:ln w="19050">
            <a:solidFill>
              <a:srgbClr val="5A6069"/>
            </a:solidFill>
            <a:prstDash val="solid"/>
          </a:ln>
        </p:spPr>
      </p:sp>
      <p:sp>
        <p:nvSpPr>
          <p:cNvPr id="18" name="Shape 13"/>
          <p:cNvSpPr/>
          <p:nvPr/>
        </p:nvSpPr>
        <p:spPr>
          <a:xfrm>
            <a:off x="868680" y="4800600"/>
            <a:ext cx="640080" cy="640080"/>
          </a:xfrm>
          <a:prstGeom prst="ellipse">
            <a:avLst/>
          </a:prstGeom>
          <a:solidFill>
            <a:srgbClr val="0F8B99"/>
          </a:solidFill>
          <a:ln w="12700">
            <a:solidFill>
              <a:srgbClr val="0F8B99"/>
            </a:solidFill>
            <a:prstDash val="solid"/>
          </a:ln>
        </p:spPr>
      </p:sp>
      <p:pic>
        <p:nvPicPr>
          <p:cNvPr id="19" name="Image 3" descr="preencoded.png">    </p:cNvPr>
          <p:cNvPicPr>
            <a:picLocks noChangeAspect="1"/>
          </p:cNvPicPr>
          <p:nvPr/>
        </p:nvPicPr>
        <p:blipFill>
          <a:blip r:embed="rId4"/>
          <a:stretch>
            <a:fillRect/>
          </a:stretch>
        </p:blipFill>
        <p:spPr>
          <a:xfrm>
            <a:off x="1041502" y="4973422"/>
            <a:ext cx="294437" cy="294437"/>
          </a:xfrm>
          <a:prstGeom prst="rect">
            <a:avLst/>
          </a:prstGeom>
        </p:spPr>
      </p:pic>
      <p:sp>
        <p:nvSpPr>
          <p:cNvPr id="20" name="Text 14"/>
          <p:cNvSpPr txBox="1"/>
          <p:nvPr/>
        </p:nvSpPr>
        <p:spPr>
          <a:xfrm>
            <a:off x="1691640" y="4818888"/>
            <a:ext cx="3931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3. Roll back</a:t>
            </a:r>
            <a:endParaRPr lang="en-US" sz="1400" dirty="0"/>
          </a:p>
        </p:txBody>
      </p:sp>
      <p:sp>
        <p:nvSpPr>
          <p:cNvPr id="21" name="Text 15"/>
          <p:cNvSpPr txBox="1"/>
          <p:nvPr/>
        </p:nvSpPr>
        <p:spPr>
          <a:xfrm>
            <a:off x="1691640" y="5120640"/>
            <a:ext cx="3931920" cy="457200"/>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Files encrypted before detection are restored automatically</a:t>
            </a:r>
            <a:endParaRPr lang="en-US" sz="1150" dirty="0"/>
          </a:p>
        </p:txBody>
      </p:sp>
      <p:sp>
        <p:nvSpPr>
          <p:cNvPr id="22" name="Shape 16"/>
          <p:cNvSpPr/>
          <p:nvPr/>
        </p:nvSpPr>
        <p:spPr>
          <a:xfrm>
            <a:off x="6217920" y="1554480"/>
            <a:ext cx="5425135" cy="4434840"/>
          </a:xfrm>
          <a:prstGeom prst="roundRect">
            <a:avLst>
              <a:gd name="adj" fmla="val 2887"/>
            </a:avLst>
          </a:prstGeom>
          <a:solidFill>
            <a:srgbClr val="F4F5F7"/>
          </a:solidFill>
          <a:ln w="9525">
            <a:solidFill>
              <a:srgbClr val="DEE1E5"/>
            </a:solidFill>
            <a:prstDash val="solid"/>
          </a:ln>
        </p:spPr>
      </p:sp>
      <p:sp>
        <p:nvSpPr>
          <p:cNvPr id="23" name="Text 17"/>
          <p:cNvSpPr txBox="1"/>
          <p:nvPr/>
        </p:nvSpPr>
        <p:spPr>
          <a:xfrm>
            <a:off x="6537960" y="1828800"/>
            <a:ext cx="4785055" cy="237744"/>
          </a:xfrm>
          <a:prstGeom prst="rect">
            <a:avLst/>
          </a:prstGeom>
          <a:noFill/>
          <a:ln/>
        </p:spPr>
        <p:txBody>
          <a:bodyPr wrap="square" lIns="0" tIns="0" rIns="0" bIns="0" rtlCol="0" anchor="t"/>
          <a:lstStyle/>
          <a:p>
            <a:pPr indent="0" marL="0">
              <a:buNone/>
            </a:pPr>
            <a:r>
              <a:rPr lang="en-US" sz="1050" b="1" spc="150" kern="0" dirty="0">
                <a:solidFill>
                  <a:srgbClr val="0F8B99"/>
                </a:solidFill>
                <a:latin typeface="Calibri" pitchFamily="34" charset="0"/>
                <a:ea typeface="Calibri" pitchFamily="34" charset="-122"/>
                <a:cs typeface="Calibri" pitchFamily="34" charset="-120"/>
              </a:rPr>
              <a:t>APPLICATION CONTROL &amp; SYSTEM LOCKDOWN</a:t>
            </a:r>
            <a:endParaRPr lang="en-US" sz="1050" dirty="0"/>
          </a:p>
        </p:txBody>
      </p:sp>
      <p:sp>
        <p:nvSpPr>
          <p:cNvPr id="24" name="Text 18"/>
          <p:cNvSpPr txBox="1"/>
          <p:nvPr/>
        </p:nvSpPr>
        <p:spPr>
          <a:xfrm>
            <a:off x="6537960" y="2103120"/>
            <a:ext cx="4785055" cy="411480"/>
          </a:xfrm>
          <a:prstGeom prst="rect">
            <a:avLst/>
          </a:prstGeom>
          <a:noFill/>
          <a:ln/>
        </p:spPr>
        <p:txBody>
          <a:bodyPr wrap="square" lIns="0" tIns="0" rIns="0" bIns="0" rtlCol="0" anchor="t"/>
          <a:lstStyle/>
          <a:p>
            <a:pPr indent="0" marL="0">
              <a:buNone/>
            </a:pPr>
            <a:r>
              <a:rPr lang="en-US" sz="2000" b="1" dirty="0">
                <a:solidFill>
                  <a:srgbClr val="0E2233"/>
                </a:solidFill>
                <a:latin typeface="Arial" pitchFamily="34" charset="0"/>
                <a:ea typeface="Arial" pitchFamily="34" charset="-122"/>
                <a:cs typeface="Arial" pitchFamily="34" charset="-120"/>
              </a:rPr>
              <a:t>Only approved applications run</a:t>
            </a:r>
            <a:endParaRPr lang="en-US" sz="2000" dirty="0"/>
          </a:p>
        </p:txBody>
      </p:sp>
      <p:sp>
        <p:nvSpPr>
          <p:cNvPr id="25" name="Text 19"/>
          <p:cNvSpPr txBox="1"/>
          <p:nvPr/>
        </p:nvSpPr>
        <p:spPr>
          <a:xfrm>
            <a:off x="6537960" y="2542032"/>
            <a:ext cx="4785055" cy="274320"/>
          </a:xfrm>
          <a:prstGeom prst="rect">
            <a:avLst/>
          </a:prstGeom>
          <a:noFill/>
          <a:ln/>
        </p:spPr>
        <p:txBody>
          <a:bodyPr wrap="square" lIns="0" tIns="0" rIns="0" bIns="0" rtlCol="0" anchor="t"/>
          <a:lstStyle/>
          <a:p>
            <a:pPr indent="0" marL="0">
              <a:buNone/>
            </a:pPr>
            <a:r>
              <a:rPr lang="en-US" sz="1200" i="1" dirty="0">
                <a:solidFill>
                  <a:srgbClr val="5F6670"/>
                </a:solidFill>
                <a:latin typeface="Calibri" pitchFamily="34" charset="0"/>
                <a:ea typeface="Calibri" pitchFamily="34" charset="-122"/>
                <a:cs typeface="Calibri" pitchFamily="34" charset="-120"/>
              </a:rPr>
              <a:t>Ideal for front-desk, PMS and other systems that should never change.</a:t>
            </a:r>
            <a:endParaRPr lang="en-US" sz="1200" dirty="0"/>
          </a:p>
        </p:txBody>
      </p:sp>
      <p:sp>
        <p:nvSpPr>
          <p:cNvPr id="26" name="Shape 20"/>
          <p:cNvSpPr/>
          <p:nvPr/>
        </p:nvSpPr>
        <p:spPr>
          <a:xfrm>
            <a:off x="6537960" y="3017520"/>
            <a:ext cx="329184" cy="329184"/>
          </a:xfrm>
          <a:prstGeom prst="ellipse">
            <a:avLst/>
          </a:prstGeom>
          <a:solidFill>
            <a:srgbClr val="0F8B99"/>
          </a:solidFill>
          <a:ln w="12700">
            <a:solidFill>
              <a:srgbClr val="0F8B99"/>
            </a:solidFill>
            <a:prstDash val="solid"/>
          </a:ln>
        </p:spPr>
      </p:sp>
      <p:pic>
        <p:nvPicPr>
          <p:cNvPr id="27" name="Image 4" descr="preencoded.png">    </p:cNvPr>
          <p:cNvPicPr>
            <a:picLocks noChangeAspect="1"/>
          </p:cNvPicPr>
          <p:nvPr/>
        </p:nvPicPr>
        <p:blipFill>
          <a:blip r:embed="rId5"/>
          <a:stretch>
            <a:fillRect/>
          </a:stretch>
        </p:blipFill>
        <p:spPr>
          <a:xfrm>
            <a:off x="6626840" y="3106400"/>
            <a:ext cx="151425" cy="151425"/>
          </a:xfrm>
          <a:prstGeom prst="rect">
            <a:avLst/>
          </a:prstGeom>
        </p:spPr>
      </p:pic>
      <p:sp>
        <p:nvSpPr>
          <p:cNvPr id="28" name="Text 21"/>
          <p:cNvSpPr txBox="1"/>
          <p:nvPr/>
        </p:nvSpPr>
        <p:spPr>
          <a:xfrm>
            <a:off x="7040880" y="298094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Blocks unknown and unwanted executables, DLLs and drivers</a:t>
            </a:r>
            <a:endParaRPr lang="en-US" sz="1250" dirty="0"/>
          </a:p>
        </p:txBody>
      </p:sp>
      <p:sp>
        <p:nvSpPr>
          <p:cNvPr id="29" name="Shape 22"/>
          <p:cNvSpPr/>
          <p:nvPr/>
        </p:nvSpPr>
        <p:spPr>
          <a:xfrm>
            <a:off x="6537960" y="3566160"/>
            <a:ext cx="329184" cy="329184"/>
          </a:xfrm>
          <a:prstGeom prst="ellipse">
            <a:avLst/>
          </a:prstGeom>
          <a:solidFill>
            <a:srgbClr val="0F8B99"/>
          </a:solidFill>
          <a:ln w="12700">
            <a:solidFill>
              <a:srgbClr val="0F8B99"/>
            </a:solidFill>
            <a:prstDash val="solid"/>
          </a:ln>
        </p:spPr>
      </p:sp>
      <p:pic>
        <p:nvPicPr>
          <p:cNvPr id="30" name="Image 5" descr="preencoded.png">    </p:cNvPr>
          <p:cNvPicPr>
            <a:picLocks noChangeAspect="1"/>
          </p:cNvPicPr>
          <p:nvPr/>
        </p:nvPicPr>
        <p:blipFill>
          <a:blip r:embed="rId6"/>
          <a:stretch>
            <a:fillRect/>
          </a:stretch>
        </p:blipFill>
        <p:spPr>
          <a:xfrm>
            <a:off x="6626840" y="3655040"/>
            <a:ext cx="151425" cy="151425"/>
          </a:xfrm>
          <a:prstGeom prst="rect">
            <a:avLst/>
          </a:prstGeom>
        </p:spPr>
      </p:pic>
      <p:sp>
        <p:nvSpPr>
          <p:cNvPr id="31" name="Text 23"/>
          <p:cNvSpPr txBox="1"/>
          <p:nvPr/>
        </p:nvSpPr>
        <p:spPr>
          <a:xfrm>
            <a:off x="7040880" y="352958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System lockdown stops new applications from running</a:t>
            </a:r>
            <a:endParaRPr lang="en-US" sz="1250" dirty="0"/>
          </a:p>
        </p:txBody>
      </p:sp>
      <p:sp>
        <p:nvSpPr>
          <p:cNvPr id="32" name="Shape 24"/>
          <p:cNvSpPr/>
          <p:nvPr/>
        </p:nvSpPr>
        <p:spPr>
          <a:xfrm>
            <a:off x="6537960" y="4114800"/>
            <a:ext cx="329184" cy="329184"/>
          </a:xfrm>
          <a:prstGeom prst="ellipse">
            <a:avLst/>
          </a:prstGeom>
          <a:solidFill>
            <a:srgbClr val="0F8B99"/>
          </a:solidFill>
          <a:ln w="12700">
            <a:solidFill>
              <a:srgbClr val="0F8B99"/>
            </a:solidFill>
            <a:prstDash val="solid"/>
          </a:ln>
        </p:spPr>
      </p:sp>
      <p:pic>
        <p:nvPicPr>
          <p:cNvPr id="33" name="Image 6" descr="preencoded.png">    </p:cNvPr>
          <p:cNvPicPr>
            <a:picLocks noChangeAspect="1"/>
          </p:cNvPicPr>
          <p:nvPr/>
        </p:nvPicPr>
        <p:blipFill>
          <a:blip r:embed="rId7"/>
          <a:stretch>
            <a:fillRect/>
          </a:stretch>
        </p:blipFill>
        <p:spPr>
          <a:xfrm>
            <a:off x="6626840" y="4203680"/>
            <a:ext cx="151425" cy="151425"/>
          </a:xfrm>
          <a:prstGeom prst="rect">
            <a:avLst/>
          </a:prstGeom>
        </p:spPr>
      </p:pic>
      <p:sp>
        <p:nvSpPr>
          <p:cNvPr id="34" name="Text 25"/>
          <p:cNvSpPr txBox="1"/>
          <p:nvPr/>
        </p:nvSpPr>
        <p:spPr>
          <a:xfrm>
            <a:off x="7040880" y="407822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Allow and block lists by name, path or certificate</a:t>
            </a:r>
            <a:endParaRPr lang="en-US" sz="1250" dirty="0"/>
          </a:p>
        </p:txBody>
      </p:sp>
      <p:sp>
        <p:nvSpPr>
          <p:cNvPr id="35" name="Shape 26"/>
          <p:cNvSpPr/>
          <p:nvPr/>
        </p:nvSpPr>
        <p:spPr>
          <a:xfrm>
            <a:off x="6537960" y="4663440"/>
            <a:ext cx="329184" cy="329184"/>
          </a:xfrm>
          <a:prstGeom prst="ellipse">
            <a:avLst/>
          </a:prstGeom>
          <a:solidFill>
            <a:srgbClr val="0F8B99"/>
          </a:solidFill>
          <a:ln w="12700">
            <a:solidFill>
              <a:srgbClr val="0F8B99"/>
            </a:solidFill>
            <a:prstDash val="solid"/>
          </a:ln>
        </p:spPr>
      </p:sp>
      <p:pic>
        <p:nvPicPr>
          <p:cNvPr id="36" name="Image 7" descr="preencoded.png">    </p:cNvPr>
          <p:cNvPicPr>
            <a:picLocks noChangeAspect="1"/>
          </p:cNvPicPr>
          <p:nvPr/>
        </p:nvPicPr>
        <p:blipFill>
          <a:blip r:embed="rId8"/>
          <a:stretch>
            <a:fillRect/>
          </a:stretch>
        </p:blipFill>
        <p:spPr>
          <a:xfrm>
            <a:off x="6626840" y="4752320"/>
            <a:ext cx="151425" cy="151425"/>
          </a:xfrm>
          <a:prstGeom prst="rect">
            <a:avLst/>
          </a:prstGeom>
        </p:spPr>
      </p:pic>
      <p:sp>
        <p:nvSpPr>
          <p:cNvPr id="37" name="Text 27"/>
          <p:cNvSpPr txBox="1"/>
          <p:nvPr/>
        </p:nvSpPr>
        <p:spPr>
          <a:xfrm>
            <a:off x="7040880" y="462686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Reputation data from over 1 billion known-good files</a:t>
            </a:r>
            <a:endParaRPr lang="en-US" sz="1250" dirty="0"/>
          </a:p>
        </p:txBody>
      </p:sp>
      <p:sp>
        <p:nvSpPr>
          <p:cNvPr id="38" name="Shape 28"/>
          <p:cNvSpPr/>
          <p:nvPr/>
        </p:nvSpPr>
        <p:spPr>
          <a:xfrm>
            <a:off x="6537960" y="5212080"/>
            <a:ext cx="329184" cy="329184"/>
          </a:xfrm>
          <a:prstGeom prst="ellipse">
            <a:avLst/>
          </a:prstGeom>
          <a:solidFill>
            <a:srgbClr val="0F8B99"/>
          </a:solidFill>
          <a:ln w="12700">
            <a:solidFill>
              <a:srgbClr val="0F8B99"/>
            </a:solidFill>
            <a:prstDash val="solid"/>
          </a:ln>
        </p:spPr>
      </p:sp>
      <p:pic>
        <p:nvPicPr>
          <p:cNvPr id="39" name="Image 8" descr="preencoded.png">    </p:cNvPr>
          <p:cNvPicPr>
            <a:picLocks noChangeAspect="1"/>
          </p:cNvPicPr>
          <p:nvPr/>
        </p:nvPicPr>
        <p:blipFill>
          <a:blip r:embed="rId9"/>
          <a:stretch>
            <a:fillRect/>
          </a:stretch>
        </p:blipFill>
        <p:spPr>
          <a:xfrm>
            <a:off x="6626840" y="5300960"/>
            <a:ext cx="151425" cy="151425"/>
          </a:xfrm>
          <a:prstGeom prst="rect">
            <a:avLst/>
          </a:prstGeom>
        </p:spPr>
      </p:pic>
      <p:sp>
        <p:nvSpPr>
          <p:cNvPr id="40" name="Text 29"/>
          <p:cNvSpPr txBox="1"/>
          <p:nvPr/>
        </p:nvSpPr>
        <p:spPr>
          <a:xfrm>
            <a:off x="7040880" y="517550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Approved updates still install from trusted sources</a:t>
            </a:r>
            <a:endParaRPr lang="en-US" sz="1250" dirty="0"/>
          </a:p>
        </p:txBody>
      </p:sp>
      <p:sp>
        <p:nvSpPr>
          <p:cNvPr id="41" name="Text 30"/>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10   |   Nessus vs. Trend Micro Apex One™  ·  Proposal for The Westin Resort Guam</a:t>
            </a:r>
            <a:endParaRPr lang="en-US" sz="900" dirty="0"/>
          </a:p>
        </p:txBody>
      </p:sp>
      <p:pic>
        <p:nvPicPr>
          <p:cNvPr id="42" name="Image 9" descr="/private/tmp/claude-501/-Users-jihanvin-Desktop-NIVNAH-AI/16a96446-d9b3-40e2-af9e-a3011ae3db84/scratchpad/assets/secukorea_dark.png">    </p:cNvPr>
          <p:cNvPicPr>
            <a:picLocks noChangeAspect="1"/>
          </p:cNvPicPr>
          <p:nvPr/>
        </p:nvPicPr>
        <p:blipFill>
          <a:blip r:embed="rId10"/>
          <a:stretch>
            <a:fillRect/>
          </a:stretch>
        </p:blipFill>
        <p:spPr>
          <a:xfrm>
            <a:off x="10661904" y="6400800"/>
            <a:ext cx="978408" cy="2331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09   DATA PROTECTION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Protecting Guest and Payment Data</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54480"/>
            <a:ext cx="3515258" cy="3246120"/>
          </a:xfrm>
          <a:prstGeom prst="roundRect">
            <a:avLst>
              <a:gd name="adj" fmla="val 3944"/>
            </a:avLst>
          </a:prstGeom>
          <a:solidFill>
            <a:srgbClr val="FFFFFF"/>
          </a:solidFill>
          <a:ln w="9525">
            <a:solidFill>
              <a:srgbClr val="BFE4E8"/>
            </a:solidFill>
            <a:prstDash val="solid"/>
          </a:ln>
          <a:effectLst>
            <a:outerShdw sx="100000" sy="100000" kx="0" ky="0" algn="bl" rotWithShape="0" blurRad="101600" dist="25400" dir="5400000">
              <a:srgbClr val="000000">
                <a:alpha val="10000"/>
              </a:srgbClr>
            </a:outerShdw>
          </a:effectLst>
        </p:spPr>
      </p:sp>
      <p:sp>
        <p:nvSpPr>
          <p:cNvPr id="6" name="Shape 3"/>
          <p:cNvSpPr/>
          <p:nvPr/>
        </p:nvSpPr>
        <p:spPr>
          <a:xfrm>
            <a:off x="822960" y="1828800"/>
            <a:ext cx="566928" cy="566928"/>
          </a:xfrm>
          <a:prstGeom prst="ellipse">
            <a:avLst/>
          </a:prstGeom>
          <a:solidFill>
            <a:srgbClr val="0F8B99"/>
          </a:solidFill>
          <a:ln w="12700">
            <a:solidFill>
              <a:srgbClr val="0F8B99"/>
            </a:solidFill>
            <a:prstDash val="solid"/>
          </a:ln>
        </p:spPr>
      </p:sp>
      <p:pic>
        <p:nvPicPr>
          <p:cNvPr id="7" name="Image 1" descr="preencoded.png">    </p:cNvPr>
          <p:cNvPicPr>
            <a:picLocks noChangeAspect="1"/>
          </p:cNvPicPr>
          <p:nvPr/>
        </p:nvPicPr>
        <p:blipFill>
          <a:blip r:embed="rId2"/>
          <a:stretch>
            <a:fillRect/>
          </a:stretch>
        </p:blipFill>
        <p:spPr>
          <a:xfrm>
            <a:off x="976031" y="1981871"/>
            <a:ext cx="260787" cy="260787"/>
          </a:xfrm>
          <a:prstGeom prst="rect">
            <a:avLst/>
          </a:prstGeom>
        </p:spPr>
      </p:pic>
      <p:sp>
        <p:nvSpPr>
          <p:cNvPr id="8" name="Text 4"/>
          <p:cNvSpPr txBox="1"/>
          <p:nvPr/>
        </p:nvSpPr>
        <p:spPr>
          <a:xfrm>
            <a:off x="1536192" y="1865376"/>
            <a:ext cx="2417978" cy="219456"/>
          </a:xfrm>
          <a:prstGeom prst="rect">
            <a:avLst/>
          </a:prstGeom>
          <a:noFill/>
          <a:ln/>
        </p:spPr>
        <p:txBody>
          <a:bodyPr wrap="square" lIns="0" tIns="0" rIns="0" bIns="0" rtlCol="0" anchor="t"/>
          <a:lstStyle/>
          <a:p>
            <a:pPr indent="0" marL="0">
              <a:buNone/>
            </a:pPr>
            <a:r>
              <a:rPr lang="en-US" sz="950" b="1" spc="120" kern="0" dirty="0">
                <a:solidFill>
                  <a:srgbClr val="0F8B99"/>
                </a:solidFill>
                <a:latin typeface="Calibri" pitchFamily="34" charset="0"/>
                <a:ea typeface="Calibri" pitchFamily="34" charset="-122"/>
                <a:cs typeface="Calibri" pitchFamily="34" charset="-120"/>
              </a:rPr>
              <a:t>INTEGRATED IN THE AGENT</a:t>
            </a:r>
            <a:endParaRPr lang="en-US" sz="950" dirty="0"/>
          </a:p>
        </p:txBody>
      </p:sp>
      <p:sp>
        <p:nvSpPr>
          <p:cNvPr id="9" name="Text 5"/>
          <p:cNvSpPr txBox="1"/>
          <p:nvPr/>
        </p:nvSpPr>
        <p:spPr>
          <a:xfrm>
            <a:off x="1536192" y="2084832"/>
            <a:ext cx="2417978"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Data Loss Prevention</a:t>
            </a:r>
            <a:endParaRPr lang="en-US" sz="1500" dirty="0"/>
          </a:p>
        </p:txBody>
      </p:sp>
      <p:pic>
        <p:nvPicPr>
          <p:cNvPr id="10" name="Image 2" descr="preencoded.png">    </p:cNvPr>
          <p:cNvPicPr>
            <a:picLocks noChangeAspect="1"/>
          </p:cNvPicPr>
          <p:nvPr/>
        </p:nvPicPr>
        <p:blipFill>
          <a:blip r:embed="rId3"/>
          <a:stretch>
            <a:fillRect/>
          </a:stretch>
        </p:blipFill>
        <p:spPr>
          <a:xfrm>
            <a:off x="841248" y="2697480"/>
            <a:ext cx="164592" cy="164592"/>
          </a:xfrm>
          <a:prstGeom prst="rect">
            <a:avLst/>
          </a:prstGeom>
        </p:spPr>
      </p:pic>
      <p:sp>
        <p:nvSpPr>
          <p:cNvPr id="11" name="Text 6"/>
          <p:cNvSpPr txBox="1"/>
          <p:nvPr/>
        </p:nvSpPr>
        <p:spPr>
          <a:xfrm>
            <a:off x="1115568" y="2651760"/>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Ready-made templates for PCI DSS, GDPR, HIPAA and US PII</a:t>
            </a:r>
            <a:endParaRPr lang="en-US" sz="1200" dirty="0"/>
          </a:p>
        </p:txBody>
      </p:sp>
      <p:pic>
        <p:nvPicPr>
          <p:cNvPr id="12" name="Image 3" descr="preencoded.png">    </p:cNvPr>
          <p:cNvPicPr>
            <a:picLocks noChangeAspect="1"/>
          </p:cNvPicPr>
          <p:nvPr/>
        </p:nvPicPr>
        <p:blipFill>
          <a:blip r:embed="rId4"/>
          <a:stretch>
            <a:fillRect/>
          </a:stretch>
        </p:blipFill>
        <p:spPr>
          <a:xfrm>
            <a:off x="841248" y="3209544"/>
            <a:ext cx="164592" cy="164592"/>
          </a:xfrm>
          <a:prstGeom prst="rect">
            <a:avLst/>
          </a:prstGeom>
        </p:spPr>
      </p:pic>
      <p:sp>
        <p:nvSpPr>
          <p:cNvPr id="13" name="Text 7"/>
          <p:cNvSpPr txBox="1"/>
          <p:nvPr/>
        </p:nvSpPr>
        <p:spPr>
          <a:xfrm>
            <a:off x="1115568" y="3163824"/>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Watches USB, email, webmail and cloud storage</a:t>
            </a:r>
            <a:endParaRPr lang="en-US" sz="1200" dirty="0"/>
          </a:p>
        </p:txBody>
      </p:sp>
      <p:pic>
        <p:nvPicPr>
          <p:cNvPr id="14" name="Image 4" descr="preencoded.png">    </p:cNvPr>
          <p:cNvPicPr>
            <a:picLocks noChangeAspect="1"/>
          </p:cNvPicPr>
          <p:nvPr/>
        </p:nvPicPr>
        <p:blipFill>
          <a:blip r:embed="rId5"/>
          <a:stretch>
            <a:fillRect/>
          </a:stretch>
        </p:blipFill>
        <p:spPr>
          <a:xfrm>
            <a:off x="841248" y="3721608"/>
            <a:ext cx="164592" cy="164592"/>
          </a:xfrm>
          <a:prstGeom prst="rect">
            <a:avLst/>
          </a:prstGeom>
        </p:spPr>
      </p:pic>
      <p:sp>
        <p:nvSpPr>
          <p:cNvPr id="15" name="Text 8"/>
          <p:cNvSpPr txBox="1"/>
          <p:nvPr/>
        </p:nvSpPr>
        <p:spPr>
          <a:xfrm>
            <a:off x="1115568" y="3675888"/>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Recognizes over 300 file types</a:t>
            </a:r>
            <a:endParaRPr lang="en-US" sz="1200" dirty="0"/>
          </a:p>
        </p:txBody>
      </p:sp>
      <p:pic>
        <p:nvPicPr>
          <p:cNvPr id="16" name="Image 5" descr="preencoded.png">    </p:cNvPr>
          <p:cNvPicPr>
            <a:picLocks noChangeAspect="1"/>
          </p:cNvPicPr>
          <p:nvPr/>
        </p:nvPicPr>
        <p:blipFill>
          <a:blip r:embed="rId6"/>
          <a:stretch>
            <a:fillRect/>
          </a:stretch>
        </p:blipFill>
        <p:spPr>
          <a:xfrm>
            <a:off x="841248" y="4233672"/>
            <a:ext cx="164592" cy="164592"/>
          </a:xfrm>
          <a:prstGeom prst="rect">
            <a:avLst/>
          </a:prstGeom>
        </p:spPr>
      </p:pic>
      <p:sp>
        <p:nvSpPr>
          <p:cNvPr id="17" name="Text 9"/>
          <p:cNvSpPr txBox="1"/>
          <p:nvPr/>
        </p:nvSpPr>
        <p:spPr>
          <a:xfrm>
            <a:off x="1115568" y="4187952"/>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Alerts, blocks or coaches staff on data policy</a:t>
            </a:r>
            <a:endParaRPr lang="en-US" sz="1200" dirty="0"/>
          </a:p>
        </p:txBody>
      </p:sp>
      <p:sp>
        <p:nvSpPr>
          <p:cNvPr id="18" name="Shape 10"/>
          <p:cNvSpPr/>
          <p:nvPr/>
        </p:nvSpPr>
        <p:spPr>
          <a:xfrm>
            <a:off x="4338218" y="1554480"/>
            <a:ext cx="3515258" cy="3246120"/>
          </a:xfrm>
          <a:prstGeom prst="roundRect">
            <a:avLst>
              <a:gd name="adj" fmla="val 3944"/>
            </a:avLst>
          </a:prstGeom>
          <a:solidFill>
            <a:srgbClr val="FFFFFF"/>
          </a:solidFill>
          <a:ln w="9525">
            <a:solidFill>
              <a:srgbClr val="BFE4E8"/>
            </a:solidFill>
            <a:prstDash val="solid"/>
          </a:ln>
          <a:effectLst>
            <a:outerShdw sx="100000" sy="100000" kx="0" ky="0" algn="bl" rotWithShape="0" blurRad="101600" dist="25400" dir="5400000">
              <a:srgbClr val="000000">
                <a:alpha val="10000"/>
              </a:srgbClr>
            </a:outerShdw>
          </a:effectLst>
        </p:spPr>
      </p:sp>
      <p:sp>
        <p:nvSpPr>
          <p:cNvPr id="19" name="Shape 11"/>
          <p:cNvSpPr/>
          <p:nvPr/>
        </p:nvSpPr>
        <p:spPr>
          <a:xfrm>
            <a:off x="4612538" y="1828800"/>
            <a:ext cx="566928" cy="566928"/>
          </a:xfrm>
          <a:prstGeom prst="ellipse">
            <a:avLst/>
          </a:prstGeom>
          <a:solidFill>
            <a:srgbClr val="0F8B99"/>
          </a:solidFill>
          <a:ln w="12700">
            <a:solidFill>
              <a:srgbClr val="0F8B99"/>
            </a:solidFill>
            <a:prstDash val="solid"/>
          </a:ln>
        </p:spPr>
      </p:sp>
      <p:pic>
        <p:nvPicPr>
          <p:cNvPr id="20" name="Image 6" descr="preencoded.png">    </p:cNvPr>
          <p:cNvPicPr>
            <a:picLocks noChangeAspect="1"/>
          </p:cNvPicPr>
          <p:nvPr/>
        </p:nvPicPr>
        <p:blipFill>
          <a:blip r:embed="rId7"/>
          <a:stretch>
            <a:fillRect/>
          </a:stretch>
        </p:blipFill>
        <p:spPr>
          <a:xfrm>
            <a:off x="4765609" y="1981871"/>
            <a:ext cx="260787" cy="260787"/>
          </a:xfrm>
          <a:prstGeom prst="rect">
            <a:avLst/>
          </a:prstGeom>
        </p:spPr>
      </p:pic>
      <p:sp>
        <p:nvSpPr>
          <p:cNvPr id="21" name="Text 12"/>
          <p:cNvSpPr txBox="1"/>
          <p:nvPr/>
        </p:nvSpPr>
        <p:spPr>
          <a:xfrm>
            <a:off x="5325770" y="1865376"/>
            <a:ext cx="2417978" cy="219456"/>
          </a:xfrm>
          <a:prstGeom prst="rect">
            <a:avLst/>
          </a:prstGeom>
          <a:noFill/>
          <a:ln/>
        </p:spPr>
        <p:txBody>
          <a:bodyPr wrap="square" lIns="0" tIns="0" rIns="0" bIns="0" rtlCol="0" anchor="t"/>
          <a:lstStyle/>
          <a:p>
            <a:pPr indent="0" marL="0">
              <a:buNone/>
            </a:pPr>
            <a:r>
              <a:rPr lang="en-US" sz="950" b="1" spc="120" kern="0" dirty="0">
                <a:solidFill>
                  <a:srgbClr val="0F8B99"/>
                </a:solidFill>
                <a:latin typeface="Calibri" pitchFamily="34" charset="0"/>
                <a:ea typeface="Calibri" pitchFamily="34" charset="-122"/>
                <a:cs typeface="Calibri" pitchFamily="34" charset="-120"/>
              </a:rPr>
              <a:t>REMOVABLE MEDIA</a:t>
            </a:r>
            <a:endParaRPr lang="en-US" sz="950" dirty="0"/>
          </a:p>
        </p:txBody>
      </p:sp>
      <p:sp>
        <p:nvSpPr>
          <p:cNvPr id="22" name="Text 13"/>
          <p:cNvSpPr txBox="1"/>
          <p:nvPr/>
        </p:nvSpPr>
        <p:spPr>
          <a:xfrm>
            <a:off x="5325770" y="2084832"/>
            <a:ext cx="2417978"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Device Control</a:t>
            </a:r>
            <a:endParaRPr lang="en-US" sz="1500" dirty="0"/>
          </a:p>
        </p:txBody>
      </p:sp>
      <p:pic>
        <p:nvPicPr>
          <p:cNvPr id="23" name="Image 7" descr="preencoded.png">    </p:cNvPr>
          <p:cNvPicPr>
            <a:picLocks noChangeAspect="1"/>
          </p:cNvPicPr>
          <p:nvPr/>
        </p:nvPicPr>
        <p:blipFill>
          <a:blip r:embed="rId8"/>
          <a:stretch>
            <a:fillRect/>
          </a:stretch>
        </p:blipFill>
        <p:spPr>
          <a:xfrm>
            <a:off x="4630826" y="2697480"/>
            <a:ext cx="164592" cy="164592"/>
          </a:xfrm>
          <a:prstGeom prst="rect">
            <a:avLst/>
          </a:prstGeom>
        </p:spPr>
      </p:pic>
      <p:sp>
        <p:nvSpPr>
          <p:cNvPr id="24" name="Text 14"/>
          <p:cNvSpPr txBox="1"/>
          <p:nvPr/>
        </p:nvSpPr>
        <p:spPr>
          <a:xfrm>
            <a:off x="4905146" y="2651760"/>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Restrict USB drives and USB-attached phones</a:t>
            </a:r>
            <a:endParaRPr lang="en-US" sz="1200" dirty="0"/>
          </a:p>
        </p:txBody>
      </p:sp>
      <p:pic>
        <p:nvPicPr>
          <p:cNvPr id="25" name="Image 8" descr="preencoded.png">    </p:cNvPr>
          <p:cNvPicPr>
            <a:picLocks noChangeAspect="1"/>
          </p:cNvPicPr>
          <p:nvPr/>
        </p:nvPicPr>
        <p:blipFill>
          <a:blip r:embed="rId9"/>
          <a:stretch>
            <a:fillRect/>
          </a:stretch>
        </p:blipFill>
        <p:spPr>
          <a:xfrm>
            <a:off x="4630826" y="3209544"/>
            <a:ext cx="164592" cy="164592"/>
          </a:xfrm>
          <a:prstGeom prst="rect">
            <a:avLst/>
          </a:prstGeom>
        </p:spPr>
      </p:pic>
      <p:sp>
        <p:nvSpPr>
          <p:cNvPr id="26" name="Text 15"/>
          <p:cNvSpPr txBox="1"/>
          <p:nvPr/>
        </p:nvSpPr>
        <p:spPr>
          <a:xfrm>
            <a:off x="4905146" y="3163824"/>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Control CD/DVD writers and other media</a:t>
            </a:r>
            <a:endParaRPr lang="en-US" sz="1200" dirty="0"/>
          </a:p>
        </p:txBody>
      </p:sp>
      <p:pic>
        <p:nvPicPr>
          <p:cNvPr id="27" name="Image 9" descr="preencoded.png">    </p:cNvPr>
          <p:cNvPicPr>
            <a:picLocks noChangeAspect="1"/>
          </p:cNvPicPr>
          <p:nvPr/>
        </p:nvPicPr>
        <p:blipFill>
          <a:blip r:embed="rId10"/>
          <a:stretch>
            <a:fillRect/>
          </a:stretch>
        </p:blipFill>
        <p:spPr>
          <a:xfrm>
            <a:off x="4630826" y="3721608"/>
            <a:ext cx="164592" cy="164592"/>
          </a:xfrm>
          <a:prstGeom prst="rect">
            <a:avLst/>
          </a:prstGeom>
        </p:spPr>
      </p:pic>
      <p:sp>
        <p:nvSpPr>
          <p:cNvPr id="28" name="Text 16"/>
          <p:cNvSpPr txBox="1"/>
          <p:nvPr/>
        </p:nvSpPr>
        <p:spPr>
          <a:xfrm>
            <a:off x="4905146" y="3675888"/>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Granular policies by user or endpoint</a:t>
            </a:r>
            <a:endParaRPr lang="en-US" sz="1200" dirty="0"/>
          </a:p>
        </p:txBody>
      </p:sp>
      <p:pic>
        <p:nvPicPr>
          <p:cNvPr id="29" name="Image 10" descr="preencoded.png">    </p:cNvPr>
          <p:cNvPicPr>
            <a:picLocks noChangeAspect="1"/>
          </p:cNvPicPr>
          <p:nvPr/>
        </p:nvPicPr>
        <p:blipFill>
          <a:blip r:embed="rId11"/>
          <a:stretch>
            <a:fillRect/>
          </a:stretch>
        </p:blipFill>
        <p:spPr>
          <a:xfrm>
            <a:off x="4630826" y="4233672"/>
            <a:ext cx="164592" cy="164592"/>
          </a:xfrm>
          <a:prstGeom prst="rect">
            <a:avLst/>
          </a:prstGeom>
        </p:spPr>
      </p:pic>
      <p:sp>
        <p:nvSpPr>
          <p:cNvPr id="30" name="Text 17"/>
          <p:cNvSpPr txBox="1"/>
          <p:nvPr/>
        </p:nvSpPr>
        <p:spPr>
          <a:xfrm>
            <a:off x="4905146" y="4187952"/>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Same agent — no extra software</a:t>
            </a:r>
            <a:endParaRPr lang="en-US" sz="1200" dirty="0"/>
          </a:p>
        </p:txBody>
      </p:sp>
      <p:sp>
        <p:nvSpPr>
          <p:cNvPr id="31" name="Shape 18"/>
          <p:cNvSpPr/>
          <p:nvPr/>
        </p:nvSpPr>
        <p:spPr>
          <a:xfrm>
            <a:off x="8127797" y="1554480"/>
            <a:ext cx="3515258" cy="3246120"/>
          </a:xfrm>
          <a:prstGeom prst="roundRect">
            <a:avLst>
              <a:gd name="adj" fmla="val 3944"/>
            </a:avLst>
          </a:prstGeom>
          <a:solidFill>
            <a:srgbClr val="FFFFFF"/>
          </a:solidFill>
          <a:ln w="9525">
            <a:solidFill>
              <a:srgbClr val="BFE4E8"/>
            </a:solidFill>
            <a:prstDash val="solid"/>
          </a:ln>
        </p:spPr>
      </p:sp>
      <p:sp>
        <p:nvSpPr>
          <p:cNvPr id="32" name="Shape 19"/>
          <p:cNvSpPr/>
          <p:nvPr/>
        </p:nvSpPr>
        <p:spPr>
          <a:xfrm>
            <a:off x="8402117" y="1828800"/>
            <a:ext cx="566928" cy="566928"/>
          </a:xfrm>
          <a:prstGeom prst="ellipse">
            <a:avLst/>
          </a:prstGeom>
          <a:solidFill>
            <a:srgbClr val="0F8B99"/>
          </a:solidFill>
          <a:ln w="12700">
            <a:solidFill>
              <a:srgbClr val="0F8B99"/>
            </a:solidFill>
            <a:prstDash val="solid"/>
          </a:ln>
        </p:spPr>
      </p:sp>
      <p:pic>
        <p:nvPicPr>
          <p:cNvPr id="33" name="Image 11" descr="preencoded.png">    </p:cNvPr>
          <p:cNvPicPr>
            <a:picLocks noChangeAspect="1"/>
          </p:cNvPicPr>
          <p:nvPr/>
        </p:nvPicPr>
        <p:blipFill>
          <a:blip r:embed="rId12"/>
          <a:stretch>
            <a:fillRect/>
          </a:stretch>
        </p:blipFill>
        <p:spPr>
          <a:xfrm>
            <a:off x="8555187" y="1981871"/>
            <a:ext cx="260787" cy="260787"/>
          </a:xfrm>
          <a:prstGeom prst="rect">
            <a:avLst/>
          </a:prstGeom>
        </p:spPr>
      </p:pic>
      <p:sp>
        <p:nvSpPr>
          <p:cNvPr id="34" name="Text 20"/>
          <p:cNvSpPr txBox="1"/>
          <p:nvPr/>
        </p:nvSpPr>
        <p:spPr>
          <a:xfrm>
            <a:off x="9115349" y="1865376"/>
            <a:ext cx="2417978" cy="219456"/>
          </a:xfrm>
          <a:prstGeom prst="rect">
            <a:avLst/>
          </a:prstGeom>
          <a:noFill/>
          <a:ln/>
        </p:spPr>
        <p:txBody>
          <a:bodyPr wrap="square" lIns="0" tIns="0" rIns="0" bIns="0" rtlCol="0" anchor="t"/>
          <a:lstStyle/>
          <a:p>
            <a:pPr indent="0" marL="0">
              <a:buNone/>
            </a:pPr>
            <a:r>
              <a:rPr lang="en-US" sz="950" b="1" spc="120" kern="0" dirty="0">
                <a:solidFill>
                  <a:srgbClr val="0F8B99"/>
                </a:solidFill>
                <a:latin typeface="Calibri" pitchFamily="34" charset="0"/>
                <a:ea typeface="Calibri" pitchFamily="34" charset="-122"/>
                <a:cs typeface="Calibri" pitchFamily="34" charset="-120"/>
              </a:rPr>
              <a:t>INTEGRATED IN THE AGENT</a:t>
            </a:r>
            <a:endParaRPr lang="en-US" sz="950" dirty="0"/>
          </a:p>
        </p:txBody>
      </p:sp>
      <p:sp>
        <p:nvSpPr>
          <p:cNvPr id="35" name="Text 21"/>
          <p:cNvSpPr txBox="1"/>
          <p:nvPr/>
        </p:nvSpPr>
        <p:spPr>
          <a:xfrm>
            <a:off x="9115349" y="2084832"/>
            <a:ext cx="2417978" cy="310896"/>
          </a:xfrm>
          <a:prstGeom prst="rect">
            <a:avLst/>
          </a:prstGeom>
          <a:noFill/>
          <a:ln/>
        </p:spPr>
        <p:txBody>
          <a:bodyPr wrap="square" lIns="0" tIns="0" rIns="0" bIns="0" rtlCol="0" anchor="t"/>
          <a:lstStyle/>
          <a:p>
            <a:pPr indent="0" marL="0">
              <a:buNone/>
            </a:pPr>
            <a:r>
              <a:rPr lang="en-US" sz="1500" b="1" dirty="0">
                <a:solidFill>
                  <a:srgbClr val="0E2233"/>
                </a:solidFill>
                <a:latin typeface="Arial" pitchFamily="34" charset="0"/>
                <a:ea typeface="Arial" pitchFamily="34" charset="-122"/>
                <a:cs typeface="Arial" pitchFamily="34" charset="-120"/>
              </a:rPr>
              <a:t>Web &amp; C&amp;C Protection</a:t>
            </a:r>
            <a:endParaRPr lang="en-US" sz="1500" dirty="0"/>
          </a:p>
        </p:txBody>
      </p:sp>
      <p:pic>
        <p:nvPicPr>
          <p:cNvPr id="36" name="Image 12" descr="preencoded.png">    </p:cNvPr>
          <p:cNvPicPr>
            <a:picLocks noChangeAspect="1"/>
          </p:cNvPicPr>
          <p:nvPr/>
        </p:nvPicPr>
        <p:blipFill>
          <a:blip r:embed="rId13"/>
          <a:stretch>
            <a:fillRect/>
          </a:stretch>
        </p:blipFill>
        <p:spPr>
          <a:xfrm>
            <a:off x="8420405" y="2697480"/>
            <a:ext cx="164592" cy="164592"/>
          </a:xfrm>
          <a:prstGeom prst="rect">
            <a:avLst/>
          </a:prstGeom>
        </p:spPr>
      </p:pic>
      <p:sp>
        <p:nvSpPr>
          <p:cNvPr id="37" name="Text 22"/>
          <p:cNvSpPr txBox="1"/>
          <p:nvPr/>
        </p:nvSpPr>
        <p:spPr>
          <a:xfrm>
            <a:off x="8694725" y="2651760"/>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Blocks malicious and phishing websites</a:t>
            </a:r>
            <a:endParaRPr lang="en-US" sz="1200" dirty="0"/>
          </a:p>
        </p:txBody>
      </p:sp>
      <p:pic>
        <p:nvPicPr>
          <p:cNvPr id="38" name="Image 13" descr="preencoded.png">    </p:cNvPr>
          <p:cNvPicPr>
            <a:picLocks noChangeAspect="1"/>
          </p:cNvPicPr>
          <p:nvPr/>
        </p:nvPicPr>
        <p:blipFill>
          <a:blip r:embed="rId14"/>
          <a:stretch>
            <a:fillRect/>
          </a:stretch>
        </p:blipFill>
        <p:spPr>
          <a:xfrm>
            <a:off x="8420405" y="3209544"/>
            <a:ext cx="164592" cy="164592"/>
          </a:xfrm>
          <a:prstGeom prst="rect">
            <a:avLst/>
          </a:prstGeom>
        </p:spPr>
      </p:pic>
      <p:sp>
        <p:nvSpPr>
          <p:cNvPr id="39" name="Text 23"/>
          <p:cNvSpPr txBox="1"/>
          <p:nvPr/>
        </p:nvSpPr>
        <p:spPr>
          <a:xfrm>
            <a:off x="8694725" y="3163824"/>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Stops ransomware C&amp;C callbacks</a:t>
            </a:r>
            <a:endParaRPr lang="en-US" sz="1200" dirty="0"/>
          </a:p>
        </p:txBody>
      </p:sp>
      <p:pic>
        <p:nvPicPr>
          <p:cNvPr id="40" name="Image 14" descr="preencoded.png">    </p:cNvPr>
          <p:cNvPicPr>
            <a:picLocks noChangeAspect="1"/>
          </p:cNvPicPr>
          <p:nvPr/>
        </p:nvPicPr>
        <p:blipFill>
          <a:blip r:embed="rId15"/>
          <a:stretch>
            <a:fillRect/>
          </a:stretch>
        </p:blipFill>
        <p:spPr>
          <a:xfrm>
            <a:off x="8420405" y="3721608"/>
            <a:ext cx="164592" cy="164592"/>
          </a:xfrm>
          <a:prstGeom prst="rect">
            <a:avLst/>
          </a:prstGeom>
        </p:spPr>
      </p:pic>
      <p:sp>
        <p:nvSpPr>
          <p:cNvPr id="41" name="Text 24"/>
          <p:cNvSpPr txBox="1"/>
          <p:nvPr/>
        </p:nvSpPr>
        <p:spPr>
          <a:xfrm>
            <a:off x="8694725" y="3675888"/>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Browser exploit protection</a:t>
            </a:r>
            <a:endParaRPr lang="en-US" sz="1200" dirty="0"/>
          </a:p>
        </p:txBody>
      </p:sp>
      <p:pic>
        <p:nvPicPr>
          <p:cNvPr id="42" name="Image 15" descr="preencoded.png">    </p:cNvPr>
          <p:cNvPicPr>
            <a:picLocks noChangeAspect="1"/>
          </p:cNvPicPr>
          <p:nvPr/>
        </p:nvPicPr>
        <p:blipFill>
          <a:blip r:embed="rId16"/>
          <a:stretch>
            <a:fillRect/>
          </a:stretch>
        </p:blipFill>
        <p:spPr>
          <a:xfrm>
            <a:off x="8420405" y="4233672"/>
            <a:ext cx="164592" cy="164592"/>
          </a:xfrm>
          <a:prstGeom prst="rect">
            <a:avLst/>
          </a:prstGeom>
        </p:spPr>
      </p:pic>
      <p:sp>
        <p:nvSpPr>
          <p:cNvPr id="43" name="Text 25"/>
          <p:cNvSpPr txBox="1"/>
          <p:nvPr/>
        </p:nvSpPr>
        <p:spPr>
          <a:xfrm>
            <a:off x="8694725" y="4187952"/>
            <a:ext cx="2738018" cy="457200"/>
          </a:xfrm>
          <a:prstGeom prst="rect">
            <a:avLst/>
          </a:prstGeom>
          <a:noFill/>
          <a:ln/>
        </p:spPr>
        <p:txBody>
          <a:bodyPr wrap="square" lIns="0" tIns="0" rIns="0" bIns="0" rtlCol="0" anchor="t"/>
          <a:lstStyle/>
          <a:p>
            <a:pPr indent="0" marL="0">
              <a:buNone/>
            </a:pPr>
            <a:r>
              <a:rPr lang="en-US" sz="1200" dirty="0">
                <a:solidFill>
                  <a:srgbClr val="0E2233"/>
                </a:solidFill>
                <a:latin typeface="Calibri" pitchFamily="34" charset="0"/>
                <a:ea typeface="Calibri" pitchFamily="34" charset="-122"/>
                <a:cs typeface="Calibri" pitchFamily="34" charset="-120"/>
              </a:rPr>
              <a:t>Same agent — no extra software</a:t>
            </a:r>
            <a:endParaRPr lang="en-US" sz="1200" dirty="0"/>
          </a:p>
        </p:txBody>
      </p:sp>
      <p:sp>
        <p:nvSpPr>
          <p:cNvPr id="44" name="Shape 26"/>
          <p:cNvSpPr/>
          <p:nvPr/>
        </p:nvSpPr>
        <p:spPr>
          <a:xfrm>
            <a:off x="548640" y="4983480"/>
            <a:ext cx="11094415" cy="1005840"/>
          </a:xfrm>
          <a:prstGeom prst="roundRect">
            <a:avLst>
              <a:gd name="adj" fmla="val 12727"/>
            </a:avLst>
          </a:prstGeom>
          <a:solidFill>
            <a:srgbClr val="10243A"/>
          </a:solidFill>
          <a:ln w="12700">
            <a:solidFill>
              <a:srgbClr val="10243A"/>
            </a:solidFill>
            <a:prstDash val="solid"/>
          </a:ln>
        </p:spPr>
      </p:sp>
      <p:sp>
        <p:nvSpPr>
          <p:cNvPr id="45" name="Text 27"/>
          <p:cNvSpPr txBox="1"/>
          <p:nvPr/>
        </p:nvSpPr>
        <p:spPr>
          <a:xfrm>
            <a:off x="868680" y="5148072"/>
            <a:ext cx="2103120" cy="274320"/>
          </a:xfrm>
          <a:prstGeom prst="rect">
            <a:avLst/>
          </a:prstGeom>
          <a:noFill/>
          <a:ln/>
        </p:spPr>
        <p:txBody>
          <a:bodyPr wrap="square" lIns="0" tIns="0" rIns="0" bIns="0" rtlCol="0" anchor="t"/>
          <a:lstStyle/>
          <a:p>
            <a:pPr indent="0" marL="0">
              <a:buNone/>
            </a:pPr>
            <a:r>
              <a:rPr lang="en-US" sz="1050" b="1" spc="150" kern="0" dirty="0">
                <a:solidFill>
                  <a:srgbClr val="0F8B99"/>
                </a:solidFill>
                <a:latin typeface="Calibri" pitchFamily="34" charset="0"/>
                <a:ea typeface="Calibri" pitchFamily="34" charset="-122"/>
                <a:cs typeface="Calibri" pitchFamily="34" charset="-120"/>
              </a:rPr>
              <a:t>GUEST DATA COVERED</a:t>
            </a:r>
            <a:endParaRPr lang="en-US" sz="1050" dirty="0"/>
          </a:p>
        </p:txBody>
      </p:sp>
      <p:sp>
        <p:nvSpPr>
          <p:cNvPr id="46" name="Text 28"/>
          <p:cNvSpPr txBox="1"/>
          <p:nvPr/>
        </p:nvSpPr>
        <p:spPr>
          <a:xfrm>
            <a:off x="868680" y="5440680"/>
            <a:ext cx="3108960" cy="457200"/>
          </a:xfrm>
          <a:prstGeom prst="rect">
            <a:avLst/>
          </a:prstGeom>
          <a:noFill/>
          <a:ln/>
        </p:spPr>
        <p:txBody>
          <a:bodyPr wrap="square" lIns="0" tIns="0" rIns="0" bIns="0" rtlCol="0" anchor="t"/>
          <a:lstStyle/>
          <a:p>
            <a:pPr indent="0" marL="0">
              <a:buNone/>
            </a:pPr>
            <a:r>
              <a:rPr lang="en-US" sz="1100" dirty="0">
                <a:solidFill>
                  <a:srgbClr val="C8CCD2"/>
                </a:solidFill>
                <a:latin typeface="Calibri" pitchFamily="34" charset="0"/>
                <a:ea typeface="Calibri" pitchFamily="34" charset="-122"/>
                <a:cs typeface="Calibri" pitchFamily="34" charset="-120"/>
              </a:rPr>
              <a:t>Audit-ready reporting and forensic data capture support PCI DSS reviews.</a:t>
            </a:r>
            <a:endParaRPr lang="en-US" sz="1100" dirty="0"/>
          </a:p>
        </p:txBody>
      </p:sp>
      <p:sp>
        <p:nvSpPr>
          <p:cNvPr id="47" name="Shape 29"/>
          <p:cNvSpPr/>
          <p:nvPr/>
        </p:nvSpPr>
        <p:spPr>
          <a:xfrm>
            <a:off x="4297680" y="5212080"/>
            <a:ext cx="548640" cy="548640"/>
          </a:xfrm>
          <a:prstGeom prst="ellipse">
            <a:avLst/>
          </a:prstGeom>
          <a:solidFill>
            <a:srgbClr val="0F8B99"/>
          </a:solidFill>
          <a:ln w="12700">
            <a:solidFill>
              <a:srgbClr val="0F8B99"/>
            </a:solidFill>
            <a:prstDash val="solid"/>
          </a:ln>
        </p:spPr>
      </p:sp>
      <p:pic>
        <p:nvPicPr>
          <p:cNvPr id="48" name="Image 16" descr="preencoded.png">    </p:cNvPr>
          <p:cNvPicPr>
            <a:picLocks noChangeAspect="1"/>
          </p:cNvPicPr>
          <p:nvPr/>
        </p:nvPicPr>
        <p:blipFill>
          <a:blip r:embed="rId17"/>
          <a:stretch>
            <a:fillRect/>
          </a:stretch>
        </p:blipFill>
        <p:spPr>
          <a:xfrm>
            <a:off x="4445813" y="5360213"/>
            <a:ext cx="252374" cy="252374"/>
          </a:xfrm>
          <a:prstGeom prst="rect">
            <a:avLst/>
          </a:prstGeom>
        </p:spPr>
      </p:pic>
      <p:sp>
        <p:nvSpPr>
          <p:cNvPr id="49" name="Text 30"/>
          <p:cNvSpPr txBox="1"/>
          <p:nvPr/>
        </p:nvSpPr>
        <p:spPr>
          <a:xfrm>
            <a:off x="4983480" y="5166360"/>
            <a:ext cx="1595018"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rest</a:t>
            </a:r>
            <a:endParaRPr lang="en-US" sz="1200" dirty="0"/>
          </a:p>
          <a:p>
            <a:pPr indent="0" marL="0">
              <a:buNone/>
            </a:pPr>
            <a:r>
              <a:rPr lang="en-US" sz="1050" dirty="0">
                <a:solidFill>
                  <a:srgbClr val="C8CCD2"/>
                </a:solidFill>
                <a:latin typeface="Calibri" pitchFamily="34" charset="0"/>
                <a:ea typeface="Calibri" pitchFamily="34" charset="-122"/>
                <a:cs typeface="Calibri" pitchFamily="34" charset="-120"/>
              </a:rPr>
              <a:t>Files on PCs and servers</a:t>
            </a:r>
            <a:endParaRPr lang="en-US" sz="1200" dirty="0"/>
          </a:p>
        </p:txBody>
      </p:sp>
      <p:sp>
        <p:nvSpPr>
          <p:cNvPr id="50" name="Shape 31"/>
          <p:cNvSpPr/>
          <p:nvPr/>
        </p:nvSpPr>
        <p:spPr>
          <a:xfrm>
            <a:off x="6807098" y="5212080"/>
            <a:ext cx="548640" cy="548640"/>
          </a:xfrm>
          <a:prstGeom prst="ellipse">
            <a:avLst/>
          </a:prstGeom>
          <a:solidFill>
            <a:srgbClr val="0F8B99"/>
          </a:solidFill>
          <a:ln w="12700">
            <a:solidFill>
              <a:srgbClr val="0F8B99"/>
            </a:solidFill>
            <a:prstDash val="solid"/>
          </a:ln>
        </p:spPr>
      </p:sp>
      <p:pic>
        <p:nvPicPr>
          <p:cNvPr id="51" name="Image 17" descr="preencoded.png">    </p:cNvPr>
          <p:cNvPicPr>
            <a:picLocks noChangeAspect="1"/>
          </p:cNvPicPr>
          <p:nvPr/>
        </p:nvPicPr>
        <p:blipFill>
          <a:blip r:embed="rId18"/>
          <a:stretch>
            <a:fillRect/>
          </a:stretch>
        </p:blipFill>
        <p:spPr>
          <a:xfrm>
            <a:off x="6955231" y="5360213"/>
            <a:ext cx="252374" cy="252374"/>
          </a:xfrm>
          <a:prstGeom prst="rect">
            <a:avLst/>
          </a:prstGeom>
        </p:spPr>
      </p:pic>
      <p:sp>
        <p:nvSpPr>
          <p:cNvPr id="52" name="Text 32"/>
          <p:cNvSpPr txBox="1"/>
          <p:nvPr/>
        </p:nvSpPr>
        <p:spPr>
          <a:xfrm>
            <a:off x="7492898" y="5166360"/>
            <a:ext cx="1595018"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 use</a:t>
            </a:r>
            <a:endParaRPr lang="en-US" sz="1200" dirty="0"/>
          </a:p>
          <a:p>
            <a:pPr indent="0" marL="0">
              <a:buNone/>
            </a:pPr>
            <a:r>
              <a:rPr lang="en-US" sz="1050" dirty="0">
                <a:solidFill>
                  <a:srgbClr val="C8CCD2"/>
                </a:solidFill>
                <a:latin typeface="Calibri" pitchFamily="34" charset="0"/>
                <a:ea typeface="Calibri" pitchFamily="34" charset="-122"/>
                <a:cs typeface="Calibri" pitchFamily="34" charset="-120"/>
              </a:rPr>
              <a:t>Copy, print, USB</a:t>
            </a:r>
            <a:endParaRPr lang="en-US" sz="1200" dirty="0"/>
          </a:p>
        </p:txBody>
      </p:sp>
      <p:sp>
        <p:nvSpPr>
          <p:cNvPr id="53" name="Shape 33"/>
          <p:cNvSpPr/>
          <p:nvPr/>
        </p:nvSpPr>
        <p:spPr>
          <a:xfrm>
            <a:off x="9316517" y="5212080"/>
            <a:ext cx="548640" cy="548640"/>
          </a:xfrm>
          <a:prstGeom prst="ellipse">
            <a:avLst/>
          </a:prstGeom>
          <a:solidFill>
            <a:srgbClr val="0F8B99"/>
          </a:solidFill>
          <a:ln w="12700">
            <a:solidFill>
              <a:srgbClr val="0F8B99"/>
            </a:solidFill>
            <a:prstDash val="solid"/>
          </a:ln>
        </p:spPr>
      </p:sp>
      <p:pic>
        <p:nvPicPr>
          <p:cNvPr id="54" name="Image 18" descr="preencoded.png">    </p:cNvPr>
          <p:cNvPicPr>
            <a:picLocks noChangeAspect="1"/>
          </p:cNvPicPr>
          <p:nvPr/>
        </p:nvPicPr>
        <p:blipFill>
          <a:blip r:embed="rId19"/>
          <a:stretch>
            <a:fillRect/>
          </a:stretch>
        </p:blipFill>
        <p:spPr>
          <a:xfrm>
            <a:off x="9464650" y="5360213"/>
            <a:ext cx="252374" cy="252374"/>
          </a:xfrm>
          <a:prstGeom prst="rect">
            <a:avLst/>
          </a:prstGeom>
        </p:spPr>
      </p:pic>
      <p:sp>
        <p:nvSpPr>
          <p:cNvPr id="55" name="Text 34"/>
          <p:cNvSpPr txBox="1"/>
          <p:nvPr/>
        </p:nvSpPr>
        <p:spPr>
          <a:xfrm>
            <a:off x="10002317" y="5166360"/>
            <a:ext cx="1595018"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 motion</a:t>
            </a:r>
            <a:endParaRPr lang="en-US" sz="1200" dirty="0"/>
          </a:p>
          <a:p>
            <a:pPr indent="0" marL="0">
              <a:buNone/>
            </a:pPr>
            <a:r>
              <a:rPr lang="en-US" sz="1050" dirty="0">
                <a:solidFill>
                  <a:srgbClr val="C8CCD2"/>
                </a:solidFill>
                <a:latin typeface="Calibri" pitchFamily="34" charset="0"/>
                <a:ea typeface="Calibri" pitchFamily="34" charset="-122"/>
                <a:cs typeface="Calibri" pitchFamily="34" charset="-120"/>
              </a:rPr>
              <a:t>Email, web, cloud, FTP</a:t>
            </a:r>
            <a:endParaRPr lang="en-US" sz="1200" dirty="0"/>
          </a:p>
        </p:txBody>
      </p:sp>
      <p:sp>
        <p:nvSpPr>
          <p:cNvPr id="56" name="Text 35"/>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11   |   Nessus vs. Trend Micro Apex One™  ·  Proposal for The Westin Resort Guam</a:t>
            </a:r>
            <a:endParaRPr lang="en-US" sz="900" dirty="0"/>
          </a:p>
        </p:txBody>
      </p:sp>
      <p:pic>
        <p:nvPicPr>
          <p:cNvPr id="57" name="Image 19" descr="/private/tmp/claude-501/-Users-jihanvin-Desktop-NIVNAH-AI/16a96446-d9b3-40e2-af9e-a3011ae3db84/scratchpad/assets/secukorea_dark.png">    </p:cNvPr>
          <p:cNvPicPr>
            <a:picLocks noChangeAspect="1"/>
          </p:cNvPicPr>
          <p:nvPr/>
        </p:nvPicPr>
        <p:blipFill>
          <a:blip r:embed="rId20"/>
          <a:stretch>
            <a:fillRect/>
          </a:stretch>
        </p:blipFill>
        <p:spPr>
          <a:xfrm>
            <a:off x="10661904" y="6400800"/>
            <a:ext cx="978408" cy="2331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43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10   DETECTION &amp; RESPONSE</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Detection and Response — With Expert Help</a:t>
            </a:r>
            <a:endParaRPr lang="en-US" sz="2800" dirty="0"/>
          </a:p>
        </p:txBody>
      </p:sp>
      <p:pic>
        <p:nvPicPr>
          <p:cNvPr id="4" name="Image 0" descr="/private/tmp/claude-501/-Users-jihanvin-Desktop-NIVNAH-AI/16a96446-d9b3-40e2-af9e-a3011ae3db84/scratchpad/assets/westin_white.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600200"/>
            <a:ext cx="2567864" cy="3520440"/>
          </a:xfrm>
          <a:prstGeom prst="roundRect">
            <a:avLst>
              <a:gd name="adj" fmla="val 4985"/>
            </a:avLst>
          </a:prstGeom>
          <a:solidFill>
            <a:srgbClr val="183247"/>
          </a:solidFill>
          <a:ln w="9525">
            <a:solidFill>
              <a:srgbClr val="284559"/>
            </a:solidFill>
            <a:prstDash val="solid"/>
          </a:ln>
        </p:spPr>
      </p:sp>
      <p:sp>
        <p:nvSpPr>
          <p:cNvPr id="6" name="Shape 3"/>
          <p:cNvSpPr/>
          <p:nvPr/>
        </p:nvSpPr>
        <p:spPr>
          <a:xfrm>
            <a:off x="822960" y="1874520"/>
            <a:ext cx="960120" cy="274320"/>
          </a:xfrm>
          <a:prstGeom prst="roundRect">
            <a:avLst>
              <a:gd name="adj" fmla="val 50000"/>
            </a:avLst>
          </a:prstGeom>
          <a:solidFill>
            <a:srgbClr val="284559"/>
          </a:solidFill>
          <a:ln w="12700">
            <a:solidFill>
              <a:srgbClr val="284559"/>
            </a:solidFill>
            <a:prstDash val="solid"/>
          </a:ln>
        </p:spPr>
      </p:sp>
      <p:sp>
        <p:nvSpPr>
          <p:cNvPr id="7" name="Text 4"/>
          <p:cNvSpPr txBox="1"/>
          <p:nvPr/>
        </p:nvSpPr>
        <p:spPr>
          <a:xfrm>
            <a:off x="822960" y="1874520"/>
            <a:ext cx="9601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INCLUDED</a:t>
            </a:r>
            <a:endParaRPr lang="en-US" sz="900" dirty="0"/>
          </a:p>
        </p:txBody>
      </p:sp>
      <p:sp>
        <p:nvSpPr>
          <p:cNvPr id="8" name="Shape 5"/>
          <p:cNvSpPr/>
          <p:nvPr/>
        </p:nvSpPr>
        <p:spPr>
          <a:xfrm>
            <a:off x="2293544" y="1801368"/>
            <a:ext cx="548640" cy="548640"/>
          </a:xfrm>
          <a:prstGeom prst="ellipse">
            <a:avLst/>
          </a:prstGeom>
          <a:solidFill>
            <a:srgbClr val="0F8B99"/>
          </a:solidFill>
          <a:ln w="12700">
            <a:solidFill>
              <a:srgbClr val="0F8B99"/>
            </a:solidFill>
            <a:prstDash val="solid"/>
          </a:ln>
        </p:spPr>
      </p:sp>
      <p:pic>
        <p:nvPicPr>
          <p:cNvPr id="9" name="Image 1" descr="preencoded.png">    </p:cNvPr>
          <p:cNvPicPr>
            <a:picLocks noChangeAspect="1"/>
          </p:cNvPicPr>
          <p:nvPr/>
        </p:nvPicPr>
        <p:blipFill>
          <a:blip r:embed="rId2"/>
          <a:stretch>
            <a:fillRect/>
          </a:stretch>
        </p:blipFill>
        <p:spPr>
          <a:xfrm>
            <a:off x="2441677" y="1949501"/>
            <a:ext cx="252374" cy="252374"/>
          </a:xfrm>
          <a:prstGeom prst="rect">
            <a:avLst/>
          </a:prstGeom>
        </p:spPr>
      </p:pic>
      <p:sp>
        <p:nvSpPr>
          <p:cNvPr id="10" name="Text 6"/>
          <p:cNvSpPr txBox="1"/>
          <p:nvPr/>
        </p:nvSpPr>
        <p:spPr>
          <a:xfrm>
            <a:off x="822960" y="2468880"/>
            <a:ext cx="2019224"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Behavior Monitoring</a:t>
            </a:r>
            <a:endParaRPr lang="en-US" sz="1500" dirty="0"/>
          </a:p>
        </p:txBody>
      </p:sp>
      <p:pic>
        <p:nvPicPr>
          <p:cNvPr id="11" name="Image 2" descr="preencoded.png">    </p:cNvPr>
          <p:cNvPicPr>
            <a:picLocks noChangeAspect="1"/>
          </p:cNvPicPr>
          <p:nvPr/>
        </p:nvPicPr>
        <p:blipFill>
          <a:blip r:embed="rId3"/>
          <a:stretch>
            <a:fillRect/>
          </a:stretch>
        </p:blipFill>
        <p:spPr>
          <a:xfrm>
            <a:off x="822960" y="3008376"/>
            <a:ext cx="182880" cy="182880"/>
          </a:xfrm>
          <a:prstGeom prst="rect">
            <a:avLst/>
          </a:prstGeom>
        </p:spPr>
      </p:pic>
      <p:sp>
        <p:nvSpPr>
          <p:cNvPr id="12" name="Text 7"/>
          <p:cNvSpPr txBox="1"/>
          <p:nvPr/>
        </p:nvSpPr>
        <p:spPr>
          <a:xfrm>
            <a:off x="1097280" y="2971800"/>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Detects fileless and unknown attacks by behavior</a:t>
            </a:r>
            <a:endParaRPr lang="en-US" sz="1150" dirty="0"/>
          </a:p>
        </p:txBody>
      </p:sp>
      <p:pic>
        <p:nvPicPr>
          <p:cNvPr id="13" name="Image 3" descr="preencoded.png">    </p:cNvPr>
          <p:cNvPicPr>
            <a:picLocks noChangeAspect="1"/>
          </p:cNvPicPr>
          <p:nvPr/>
        </p:nvPicPr>
        <p:blipFill>
          <a:blip r:embed="rId4"/>
          <a:stretch>
            <a:fillRect/>
          </a:stretch>
        </p:blipFill>
        <p:spPr>
          <a:xfrm>
            <a:off x="822960" y="3666744"/>
            <a:ext cx="182880" cy="182880"/>
          </a:xfrm>
          <a:prstGeom prst="rect">
            <a:avLst/>
          </a:prstGeom>
        </p:spPr>
      </p:pic>
      <p:sp>
        <p:nvSpPr>
          <p:cNvPr id="14" name="Text 8"/>
          <p:cNvSpPr txBox="1"/>
          <p:nvPr/>
        </p:nvSpPr>
        <p:spPr>
          <a:xfrm>
            <a:off x="1097280" y="3630168"/>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Indicators-of-attack (IOA) analysis</a:t>
            </a:r>
            <a:endParaRPr lang="en-US" sz="1150" dirty="0"/>
          </a:p>
        </p:txBody>
      </p:sp>
      <p:pic>
        <p:nvPicPr>
          <p:cNvPr id="15" name="Image 4" descr="preencoded.png">    </p:cNvPr>
          <p:cNvPicPr>
            <a:picLocks noChangeAspect="1"/>
          </p:cNvPicPr>
          <p:nvPr/>
        </p:nvPicPr>
        <p:blipFill>
          <a:blip r:embed="rId5"/>
          <a:stretch>
            <a:fillRect/>
          </a:stretch>
        </p:blipFill>
        <p:spPr>
          <a:xfrm>
            <a:off x="822960" y="4325112"/>
            <a:ext cx="182880" cy="182880"/>
          </a:xfrm>
          <a:prstGeom prst="rect">
            <a:avLst/>
          </a:prstGeom>
        </p:spPr>
      </p:pic>
      <p:sp>
        <p:nvSpPr>
          <p:cNvPr id="16" name="Text 9"/>
          <p:cNvSpPr txBox="1"/>
          <p:nvPr/>
        </p:nvSpPr>
        <p:spPr>
          <a:xfrm>
            <a:off x="1097280" y="4288536"/>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Suspicious processes stopped automatically</a:t>
            </a:r>
            <a:endParaRPr lang="en-US" sz="1150" dirty="0"/>
          </a:p>
        </p:txBody>
      </p:sp>
      <p:sp>
        <p:nvSpPr>
          <p:cNvPr id="17" name="Shape 10"/>
          <p:cNvSpPr/>
          <p:nvPr/>
        </p:nvSpPr>
        <p:spPr>
          <a:xfrm>
            <a:off x="3390824" y="1600200"/>
            <a:ext cx="2567864" cy="3520440"/>
          </a:xfrm>
          <a:prstGeom prst="roundRect">
            <a:avLst>
              <a:gd name="adj" fmla="val 4985"/>
            </a:avLst>
          </a:prstGeom>
          <a:solidFill>
            <a:srgbClr val="183247"/>
          </a:solidFill>
          <a:ln w="9525">
            <a:solidFill>
              <a:srgbClr val="284559"/>
            </a:solidFill>
            <a:prstDash val="solid"/>
          </a:ln>
        </p:spPr>
      </p:sp>
      <p:sp>
        <p:nvSpPr>
          <p:cNvPr id="18" name="Shape 11"/>
          <p:cNvSpPr/>
          <p:nvPr/>
        </p:nvSpPr>
        <p:spPr>
          <a:xfrm>
            <a:off x="3665144" y="1874520"/>
            <a:ext cx="960120" cy="274320"/>
          </a:xfrm>
          <a:prstGeom prst="roundRect">
            <a:avLst>
              <a:gd name="adj" fmla="val 50000"/>
            </a:avLst>
          </a:prstGeom>
          <a:solidFill>
            <a:srgbClr val="284559"/>
          </a:solidFill>
          <a:ln w="12700">
            <a:solidFill>
              <a:srgbClr val="284559"/>
            </a:solidFill>
            <a:prstDash val="solid"/>
          </a:ln>
        </p:spPr>
      </p:sp>
      <p:sp>
        <p:nvSpPr>
          <p:cNvPr id="19" name="Text 12"/>
          <p:cNvSpPr txBox="1"/>
          <p:nvPr/>
        </p:nvSpPr>
        <p:spPr>
          <a:xfrm>
            <a:off x="3665144" y="1874520"/>
            <a:ext cx="9601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INCLUDED</a:t>
            </a:r>
            <a:endParaRPr lang="en-US" sz="900" dirty="0"/>
          </a:p>
        </p:txBody>
      </p:sp>
      <p:sp>
        <p:nvSpPr>
          <p:cNvPr id="20" name="Shape 13"/>
          <p:cNvSpPr/>
          <p:nvPr/>
        </p:nvSpPr>
        <p:spPr>
          <a:xfrm>
            <a:off x="5135728" y="1801368"/>
            <a:ext cx="548640" cy="548640"/>
          </a:xfrm>
          <a:prstGeom prst="ellipse">
            <a:avLst/>
          </a:prstGeom>
          <a:solidFill>
            <a:srgbClr val="0F8B99"/>
          </a:solidFill>
          <a:ln w="12700">
            <a:solidFill>
              <a:srgbClr val="0F8B99"/>
            </a:solidFill>
            <a:prstDash val="solid"/>
          </a:ln>
        </p:spPr>
      </p:sp>
      <p:pic>
        <p:nvPicPr>
          <p:cNvPr id="21" name="Image 5" descr="preencoded.png">    </p:cNvPr>
          <p:cNvPicPr>
            <a:picLocks noChangeAspect="1"/>
          </p:cNvPicPr>
          <p:nvPr/>
        </p:nvPicPr>
        <p:blipFill>
          <a:blip r:embed="rId6"/>
          <a:stretch>
            <a:fillRect/>
          </a:stretch>
        </p:blipFill>
        <p:spPr>
          <a:xfrm>
            <a:off x="5283860" y="1949501"/>
            <a:ext cx="252374" cy="252374"/>
          </a:xfrm>
          <a:prstGeom prst="rect">
            <a:avLst/>
          </a:prstGeom>
        </p:spPr>
      </p:pic>
      <p:sp>
        <p:nvSpPr>
          <p:cNvPr id="22" name="Text 14"/>
          <p:cNvSpPr txBox="1"/>
          <p:nvPr/>
        </p:nvSpPr>
        <p:spPr>
          <a:xfrm>
            <a:off x="3665144" y="2468880"/>
            <a:ext cx="2019224"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Containment</a:t>
            </a:r>
            <a:endParaRPr lang="en-US" sz="1500" dirty="0"/>
          </a:p>
        </p:txBody>
      </p:sp>
      <p:pic>
        <p:nvPicPr>
          <p:cNvPr id="23" name="Image 6" descr="preencoded.png">    </p:cNvPr>
          <p:cNvPicPr>
            <a:picLocks noChangeAspect="1"/>
          </p:cNvPicPr>
          <p:nvPr/>
        </p:nvPicPr>
        <p:blipFill>
          <a:blip r:embed="rId7"/>
          <a:stretch>
            <a:fillRect/>
          </a:stretch>
        </p:blipFill>
        <p:spPr>
          <a:xfrm>
            <a:off x="3665144" y="3008376"/>
            <a:ext cx="182880" cy="182880"/>
          </a:xfrm>
          <a:prstGeom prst="rect">
            <a:avLst/>
          </a:prstGeom>
        </p:spPr>
      </p:pic>
      <p:sp>
        <p:nvSpPr>
          <p:cNvPr id="24" name="Text 15"/>
          <p:cNvSpPr txBox="1"/>
          <p:nvPr/>
        </p:nvSpPr>
        <p:spPr>
          <a:xfrm>
            <a:off x="3939464" y="2971800"/>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Isolate an infected endpoint from the network</a:t>
            </a:r>
            <a:endParaRPr lang="en-US" sz="1150" dirty="0"/>
          </a:p>
        </p:txBody>
      </p:sp>
      <p:pic>
        <p:nvPicPr>
          <p:cNvPr id="25" name="Image 7" descr="preencoded.png">    </p:cNvPr>
          <p:cNvPicPr>
            <a:picLocks noChangeAspect="1"/>
          </p:cNvPicPr>
          <p:nvPr/>
        </p:nvPicPr>
        <p:blipFill>
          <a:blip r:embed="rId8"/>
          <a:stretch>
            <a:fillRect/>
          </a:stretch>
        </p:blipFill>
        <p:spPr>
          <a:xfrm>
            <a:off x="3665144" y="3666744"/>
            <a:ext cx="182880" cy="182880"/>
          </a:xfrm>
          <a:prstGeom prst="rect">
            <a:avLst/>
          </a:prstGeom>
        </p:spPr>
      </p:pic>
      <p:sp>
        <p:nvSpPr>
          <p:cNvPr id="26" name="Text 16"/>
          <p:cNvSpPr txBox="1"/>
          <p:nvPr/>
        </p:nvSpPr>
        <p:spPr>
          <a:xfrm>
            <a:off x="3939464" y="3630168"/>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Quarantine malicious files</a:t>
            </a:r>
            <a:endParaRPr lang="en-US" sz="1150" dirty="0"/>
          </a:p>
        </p:txBody>
      </p:sp>
      <p:pic>
        <p:nvPicPr>
          <p:cNvPr id="27" name="Image 8" descr="preencoded.png">    </p:cNvPr>
          <p:cNvPicPr>
            <a:picLocks noChangeAspect="1"/>
          </p:cNvPicPr>
          <p:nvPr/>
        </p:nvPicPr>
        <p:blipFill>
          <a:blip r:embed="rId9"/>
          <a:stretch>
            <a:fillRect/>
          </a:stretch>
        </p:blipFill>
        <p:spPr>
          <a:xfrm>
            <a:off x="3665144" y="4325112"/>
            <a:ext cx="182880" cy="182880"/>
          </a:xfrm>
          <a:prstGeom prst="rect">
            <a:avLst/>
          </a:prstGeom>
        </p:spPr>
      </p:pic>
      <p:sp>
        <p:nvSpPr>
          <p:cNvPr id="28" name="Text 17"/>
          <p:cNvSpPr txBox="1"/>
          <p:nvPr/>
        </p:nvSpPr>
        <p:spPr>
          <a:xfrm>
            <a:off x="3939464" y="4288536"/>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Block C&amp;C communication</a:t>
            </a:r>
            <a:endParaRPr lang="en-US" sz="1150" dirty="0"/>
          </a:p>
        </p:txBody>
      </p:sp>
      <p:sp>
        <p:nvSpPr>
          <p:cNvPr id="29" name="Shape 18"/>
          <p:cNvSpPr/>
          <p:nvPr/>
        </p:nvSpPr>
        <p:spPr>
          <a:xfrm>
            <a:off x="6233008" y="1600200"/>
            <a:ext cx="2567864" cy="3520440"/>
          </a:xfrm>
          <a:prstGeom prst="roundRect">
            <a:avLst>
              <a:gd name="adj" fmla="val 4985"/>
            </a:avLst>
          </a:prstGeom>
          <a:solidFill>
            <a:srgbClr val="183247"/>
          </a:solidFill>
          <a:ln w="9525">
            <a:solidFill>
              <a:srgbClr val="284559"/>
            </a:solidFill>
            <a:prstDash val="solid"/>
          </a:ln>
        </p:spPr>
      </p:sp>
      <p:sp>
        <p:nvSpPr>
          <p:cNvPr id="30" name="Shape 19"/>
          <p:cNvSpPr/>
          <p:nvPr/>
        </p:nvSpPr>
        <p:spPr>
          <a:xfrm>
            <a:off x="6507328" y="1874520"/>
            <a:ext cx="960120" cy="274320"/>
          </a:xfrm>
          <a:prstGeom prst="roundRect">
            <a:avLst>
              <a:gd name="adj" fmla="val 50000"/>
            </a:avLst>
          </a:prstGeom>
          <a:solidFill>
            <a:srgbClr val="284559"/>
          </a:solidFill>
          <a:ln w="12700">
            <a:solidFill>
              <a:srgbClr val="284559"/>
            </a:solidFill>
            <a:prstDash val="solid"/>
          </a:ln>
        </p:spPr>
      </p:sp>
      <p:sp>
        <p:nvSpPr>
          <p:cNvPr id="31" name="Text 20"/>
          <p:cNvSpPr txBox="1"/>
          <p:nvPr/>
        </p:nvSpPr>
        <p:spPr>
          <a:xfrm>
            <a:off x="6507328" y="1874520"/>
            <a:ext cx="9601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INCLUDED</a:t>
            </a:r>
            <a:endParaRPr lang="en-US" sz="900" dirty="0"/>
          </a:p>
        </p:txBody>
      </p:sp>
      <p:sp>
        <p:nvSpPr>
          <p:cNvPr id="32" name="Shape 21"/>
          <p:cNvSpPr/>
          <p:nvPr/>
        </p:nvSpPr>
        <p:spPr>
          <a:xfrm>
            <a:off x="7977911" y="1801368"/>
            <a:ext cx="548640" cy="548640"/>
          </a:xfrm>
          <a:prstGeom prst="ellipse">
            <a:avLst/>
          </a:prstGeom>
          <a:solidFill>
            <a:srgbClr val="0F8B99"/>
          </a:solidFill>
          <a:ln w="12700">
            <a:solidFill>
              <a:srgbClr val="0F8B99"/>
            </a:solidFill>
            <a:prstDash val="solid"/>
          </a:ln>
        </p:spPr>
      </p:sp>
      <p:pic>
        <p:nvPicPr>
          <p:cNvPr id="33" name="Image 9" descr="preencoded.png">    </p:cNvPr>
          <p:cNvPicPr>
            <a:picLocks noChangeAspect="1"/>
          </p:cNvPicPr>
          <p:nvPr/>
        </p:nvPicPr>
        <p:blipFill>
          <a:blip r:embed="rId10"/>
          <a:stretch>
            <a:fillRect/>
          </a:stretch>
        </p:blipFill>
        <p:spPr>
          <a:xfrm>
            <a:off x="8126044" y="1949501"/>
            <a:ext cx="252374" cy="252374"/>
          </a:xfrm>
          <a:prstGeom prst="rect">
            <a:avLst/>
          </a:prstGeom>
        </p:spPr>
      </p:pic>
      <p:sp>
        <p:nvSpPr>
          <p:cNvPr id="34" name="Text 22"/>
          <p:cNvSpPr txBox="1"/>
          <p:nvPr/>
        </p:nvSpPr>
        <p:spPr>
          <a:xfrm>
            <a:off x="6507328" y="2468880"/>
            <a:ext cx="2019224"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Apex Central Console</a:t>
            </a:r>
            <a:endParaRPr lang="en-US" sz="1500" dirty="0"/>
          </a:p>
        </p:txBody>
      </p:sp>
      <p:pic>
        <p:nvPicPr>
          <p:cNvPr id="35" name="Image 10" descr="preencoded.png">    </p:cNvPr>
          <p:cNvPicPr>
            <a:picLocks noChangeAspect="1"/>
          </p:cNvPicPr>
          <p:nvPr/>
        </p:nvPicPr>
        <p:blipFill>
          <a:blip r:embed="rId11"/>
          <a:stretch>
            <a:fillRect/>
          </a:stretch>
        </p:blipFill>
        <p:spPr>
          <a:xfrm>
            <a:off x="6507328" y="3008376"/>
            <a:ext cx="182880" cy="182880"/>
          </a:xfrm>
          <a:prstGeom prst="rect">
            <a:avLst/>
          </a:prstGeom>
        </p:spPr>
      </p:pic>
      <p:sp>
        <p:nvSpPr>
          <p:cNvPr id="36" name="Text 23"/>
          <p:cNvSpPr txBox="1"/>
          <p:nvPr/>
        </p:nvSpPr>
        <p:spPr>
          <a:xfrm>
            <a:off x="6781648" y="2971800"/>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Central visibility across all endpoints</a:t>
            </a:r>
            <a:endParaRPr lang="en-US" sz="1150" dirty="0"/>
          </a:p>
        </p:txBody>
      </p:sp>
      <p:pic>
        <p:nvPicPr>
          <p:cNvPr id="37" name="Image 11" descr="preencoded.png">    </p:cNvPr>
          <p:cNvPicPr>
            <a:picLocks noChangeAspect="1"/>
          </p:cNvPicPr>
          <p:nvPr/>
        </p:nvPicPr>
        <p:blipFill>
          <a:blip r:embed="rId12"/>
          <a:stretch>
            <a:fillRect/>
          </a:stretch>
        </p:blipFill>
        <p:spPr>
          <a:xfrm>
            <a:off x="6507328" y="3666744"/>
            <a:ext cx="182880" cy="182880"/>
          </a:xfrm>
          <a:prstGeom prst="rect">
            <a:avLst/>
          </a:prstGeom>
        </p:spPr>
      </p:pic>
      <p:sp>
        <p:nvSpPr>
          <p:cNvPr id="38" name="Text 24"/>
          <p:cNvSpPr txBox="1"/>
          <p:nvPr/>
        </p:nvSpPr>
        <p:spPr>
          <a:xfrm>
            <a:off x="6781648" y="3630168"/>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Customizable dashboards per role</a:t>
            </a:r>
            <a:endParaRPr lang="en-US" sz="1150" dirty="0"/>
          </a:p>
        </p:txBody>
      </p:sp>
      <p:pic>
        <p:nvPicPr>
          <p:cNvPr id="39" name="Image 12" descr="preencoded.png">    </p:cNvPr>
          <p:cNvPicPr>
            <a:picLocks noChangeAspect="1"/>
          </p:cNvPicPr>
          <p:nvPr/>
        </p:nvPicPr>
        <p:blipFill>
          <a:blip r:embed="rId13"/>
          <a:stretch>
            <a:fillRect/>
          </a:stretch>
        </p:blipFill>
        <p:spPr>
          <a:xfrm>
            <a:off x="6507328" y="4325112"/>
            <a:ext cx="182880" cy="182880"/>
          </a:xfrm>
          <a:prstGeom prst="rect">
            <a:avLst/>
          </a:prstGeom>
        </p:spPr>
      </p:pic>
      <p:sp>
        <p:nvSpPr>
          <p:cNvPr id="40" name="Text 25"/>
          <p:cNvSpPr txBox="1"/>
          <p:nvPr/>
        </p:nvSpPr>
        <p:spPr>
          <a:xfrm>
            <a:off x="6781648" y="4288536"/>
            <a:ext cx="1790624" cy="585216"/>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Logs and reports for audits</a:t>
            </a:r>
            <a:endParaRPr lang="en-US" sz="1150" dirty="0"/>
          </a:p>
        </p:txBody>
      </p:sp>
      <p:sp>
        <p:nvSpPr>
          <p:cNvPr id="41" name="Shape 26"/>
          <p:cNvSpPr/>
          <p:nvPr/>
        </p:nvSpPr>
        <p:spPr>
          <a:xfrm>
            <a:off x="9075191" y="1600200"/>
            <a:ext cx="2567864" cy="3520440"/>
          </a:xfrm>
          <a:prstGeom prst="roundRect">
            <a:avLst>
              <a:gd name="adj" fmla="val 4985"/>
            </a:avLst>
          </a:prstGeom>
          <a:solidFill>
            <a:srgbClr val="0F8B99"/>
          </a:solidFill>
          <a:ln w="9525">
            <a:solidFill>
              <a:srgbClr val="0F8B99"/>
            </a:solidFill>
            <a:prstDash val="solid"/>
          </a:ln>
        </p:spPr>
      </p:sp>
      <p:sp>
        <p:nvSpPr>
          <p:cNvPr id="42" name="Shape 27"/>
          <p:cNvSpPr/>
          <p:nvPr/>
        </p:nvSpPr>
        <p:spPr>
          <a:xfrm>
            <a:off x="9349511" y="1874520"/>
            <a:ext cx="960120" cy="274320"/>
          </a:xfrm>
          <a:prstGeom prst="roundRect">
            <a:avLst>
              <a:gd name="adj" fmla="val 50000"/>
            </a:avLst>
          </a:prstGeom>
          <a:solidFill>
            <a:srgbClr val="FFFFFF"/>
          </a:solidFill>
          <a:ln w="12700">
            <a:solidFill>
              <a:srgbClr val="FFFFFF"/>
            </a:solidFill>
            <a:prstDash val="solid"/>
          </a:ln>
        </p:spPr>
      </p:sp>
      <p:sp>
        <p:nvSpPr>
          <p:cNvPr id="43" name="Text 28"/>
          <p:cNvSpPr txBox="1"/>
          <p:nvPr/>
        </p:nvSpPr>
        <p:spPr>
          <a:xfrm>
            <a:off x="9349511" y="1874520"/>
            <a:ext cx="960120" cy="274320"/>
          </a:xfrm>
          <a:prstGeom prst="rect">
            <a:avLst/>
          </a:prstGeom>
          <a:noFill/>
          <a:ln/>
        </p:spPr>
        <p:txBody>
          <a:bodyPr wrap="square" lIns="0" tIns="0" rIns="0" bIns="0" rtlCol="0" anchor="ctr"/>
          <a:lstStyle/>
          <a:p>
            <a:pPr algn="ctr" indent="0" marL="0">
              <a:buNone/>
            </a:pPr>
            <a:r>
              <a:rPr lang="en-US" sz="900" b="1" spc="100" kern="0" dirty="0">
                <a:solidFill>
                  <a:srgbClr val="0F8B99"/>
                </a:solidFill>
                <a:latin typeface="Calibri" pitchFamily="34" charset="0"/>
                <a:ea typeface="Calibri" pitchFamily="34" charset="-122"/>
                <a:cs typeface="Calibri" pitchFamily="34" charset="-120"/>
              </a:rPr>
              <a:t>SECUKOREA</a:t>
            </a:r>
            <a:endParaRPr lang="en-US" sz="900" dirty="0"/>
          </a:p>
        </p:txBody>
      </p:sp>
      <p:sp>
        <p:nvSpPr>
          <p:cNvPr id="44" name="Shape 29"/>
          <p:cNvSpPr/>
          <p:nvPr/>
        </p:nvSpPr>
        <p:spPr>
          <a:xfrm>
            <a:off x="10820095" y="1801368"/>
            <a:ext cx="548640" cy="548640"/>
          </a:xfrm>
          <a:prstGeom prst="ellipse">
            <a:avLst/>
          </a:prstGeom>
          <a:solidFill>
            <a:srgbClr val="FFFFFF"/>
          </a:solidFill>
          <a:ln w="12700">
            <a:solidFill>
              <a:srgbClr val="FFFFFF"/>
            </a:solidFill>
            <a:prstDash val="solid"/>
          </a:ln>
        </p:spPr>
      </p:sp>
      <p:pic>
        <p:nvPicPr>
          <p:cNvPr id="45" name="Image 13" descr="preencoded.png">    </p:cNvPr>
          <p:cNvPicPr>
            <a:picLocks noChangeAspect="1"/>
          </p:cNvPicPr>
          <p:nvPr/>
        </p:nvPicPr>
        <p:blipFill>
          <a:blip r:embed="rId14"/>
          <a:stretch>
            <a:fillRect/>
          </a:stretch>
        </p:blipFill>
        <p:spPr>
          <a:xfrm>
            <a:off x="10968228" y="1949501"/>
            <a:ext cx="252374" cy="252374"/>
          </a:xfrm>
          <a:prstGeom prst="rect">
            <a:avLst/>
          </a:prstGeom>
        </p:spPr>
      </p:pic>
      <p:sp>
        <p:nvSpPr>
          <p:cNvPr id="46" name="Text 30"/>
          <p:cNvSpPr txBox="1"/>
          <p:nvPr/>
        </p:nvSpPr>
        <p:spPr>
          <a:xfrm>
            <a:off x="9349511" y="2468880"/>
            <a:ext cx="2019224"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Expert Support</a:t>
            </a:r>
            <a:endParaRPr lang="en-US" sz="1500" dirty="0"/>
          </a:p>
        </p:txBody>
      </p:sp>
      <p:pic>
        <p:nvPicPr>
          <p:cNvPr id="47" name="Image 14" descr="preencoded.png">    </p:cNvPr>
          <p:cNvPicPr>
            <a:picLocks noChangeAspect="1"/>
          </p:cNvPicPr>
          <p:nvPr/>
        </p:nvPicPr>
        <p:blipFill>
          <a:blip r:embed="rId15"/>
          <a:stretch>
            <a:fillRect/>
          </a:stretch>
        </p:blipFill>
        <p:spPr>
          <a:xfrm>
            <a:off x="9349511" y="3008376"/>
            <a:ext cx="182880" cy="182880"/>
          </a:xfrm>
          <a:prstGeom prst="rect">
            <a:avLst/>
          </a:prstGeom>
        </p:spPr>
      </p:pic>
      <p:sp>
        <p:nvSpPr>
          <p:cNvPr id="48" name="Text 31"/>
          <p:cNvSpPr txBox="1"/>
          <p:nvPr/>
        </p:nvSpPr>
        <p:spPr>
          <a:xfrm>
            <a:off x="9623831" y="2971800"/>
            <a:ext cx="1790624" cy="58521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24/7 remote technical support</a:t>
            </a:r>
            <a:endParaRPr lang="en-US" sz="1150" dirty="0"/>
          </a:p>
        </p:txBody>
      </p:sp>
      <p:pic>
        <p:nvPicPr>
          <p:cNvPr id="49" name="Image 15" descr="preencoded.png">    </p:cNvPr>
          <p:cNvPicPr>
            <a:picLocks noChangeAspect="1"/>
          </p:cNvPicPr>
          <p:nvPr/>
        </p:nvPicPr>
        <p:blipFill>
          <a:blip r:embed="rId16"/>
          <a:stretch>
            <a:fillRect/>
          </a:stretch>
        </p:blipFill>
        <p:spPr>
          <a:xfrm>
            <a:off x="9349511" y="3666744"/>
            <a:ext cx="182880" cy="182880"/>
          </a:xfrm>
          <a:prstGeom prst="rect">
            <a:avLst/>
          </a:prstGeom>
        </p:spPr>
      </p:pic>
      <p:sp>
        <p:nvSpPr>
          <p:cNvPr id="50" name="Text 32"/>
          <p:cNvSpPr txBox="1"/>
          <p:nvPr/>
        </p:nvSpPr>
        <p:spPr>
          <a:xfrm>
            <a:off x="9623831" y="3630168"/>
            <a:ext cx="1790624" cy="58521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Dedicated engineer for the resort</a:t>
            </a:r>
            <a:endParaRPr lang="en-US" sz="1150" dirty="0"/>
          </a:p>
        </p:txBody>
      </p:sp>
      <p:pic>
        <p:nvPicPr>
          <p:cNvPr id="51" name="Image 16" descr="preencoded.png">    </p:cNvPr>
          <p:cNvPicPr>
            <a:picLocks noChangeAspect="1"/>
          </p:cNvPicPr>
          <p:nvPr/>
        </p:nvPicPr>
        <p:blipFill>
          <a:blip r:embed="rId17"/>
          <a:stretch>
            <a:fillRect/>
          </a:stretch>
        </p:blipFill>
        <p:spPr>
          <a:xfrm>
            <a:off x="9349511" y="4325112"/>
            <a:ext cx="182880" cy="182880"/>
          </a:xfrm>
          <a:prstGeom prst="rect">
            <a:avLst/>
          </a:prstGeom>
        </p:spPr>
      </p:pic>
      <p:sp>
        <p:nvSpPr>
          <p:cNvPr id="52" name="Text 33"/>
          <p:cNvSpPr txBox="1"/>
          <p:nvPr/>
        </p:nvSpPr>
        <p:spPr>
          <a:xfrm>
            <a:off x="9623831" y="4288536"/>
            <a:ext cx="1790624" cy="58521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Help reviewing and responding to alerts</a:t>
            </a:r>
            <a:endParaRPr lang="en-US" sz="1150" dirty="0"/>
          </a:p>
        </p:txBody>
      </p:sp>
      <p:sp>
        <p:nvSpPr>
          <p:cNvPr id="53" name="Shape 34"/>
          <p:cNvSpPr/>
          <p:nvPr/>
        </p:nvSpPr>
        <p:spPr>
          <a:xfrm>
            <a:off x="548640" y="5349240"/>
            <a:ext cx="11094415" cy="0"/>
          </a:xfrm>
          <a:prstGeom prst="line">
            <a:avLst/>
          </a:prstGeom>
          <a:noFill/>
          <a:ln w="12700">
            <a:solidFill>
              <a:srgbClr val="284559"/>
            </a:solidFill>
            <a:prstDash val="solid"/>
          </a:ln>
        </p:spPr>
      </p:sp>
      <p:sp>
        <p:nvSpPr>
          <p:cNvPr id="54" name="Text 35"/>
          <p:cNvSpPr txBox="1"/>
          <p:nvPr/>
        </p:nvSpPr>
        <p:spPr>
          <a:xfrm>
            <a:off x="548640" y="5468112"/>
            <a:ext cx="11094415"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For a small IT team: </a:t>
            </a:r>
            <a:pPr indent="0" marL="0">
              <a:buNone/>
            </a:pPr>
            <a:r>
              <a:rPr lang="en-US" sz="1300" dirty="0">
                <a:solidFill>
                  <a:srgbClr val="C8CCD2"/>
                </a:solidFill>
                <a:latin typeface="Calibri" pitchFamily="34" charset="0"/>
                <a:ea typeface="Calibri" pitchFamily="34" charset="-122"/>
                <a:cs typeface="Calibri" pitchFamily="34" charset="-120"/>
              </a:rPr>
              <a:t>automatic response on every endpoint, one console for visibility, and SECUKOREA engineers on call 24/7.</a:t>
            </a:r>
            <a:endParaRPr lang="en-US" sz="1300" dirty="0"/>
          </a:p>
        </p:txBody>
      </p:sp>
      <p:sp>
        <p:nvSpPr>
          <p:cNvPr id="55" name="Text 36"/>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9AA1AB"/>
                </a:solidFill>
                <a:latin typeface="Calibri" pitchFamily="34" charset="0"/>
                <a:ea typeface="Calibri" pitchFamily="34" charset="-122"/>
                <a:cs typeface="Calibri" pitchFamily="34" charset="-120"/>
              </a:rPr>
              <a:t>12   |   Nessus vs. Trend Micro Apex One™  ·  Proposal for The Westin Resort Guam</a:t>
            </a:r>
            <a:endParaRPr lang="en-US" sz="900" dirty="0"/>
          </a:p>
        </p:txBody>
      </p:sp>
      <p:pic>
        <p:nvPicPr>
          <p:cNvPr id="56" name="Image 17" descr="/private/tmp/claude-501/-Users-jihanvin-Desktop-NIVNAH-AI/16a96446-d9b3-40e2-af9e-a3011ae3db84/scratchpad/assets/secukorea_light.png">    </p:cNvPr>
          <p:cNvPicPr>
            <a:picLocks noChangeAspect="1"/>
          </p:cNvPicPr>
          <p:nvPr/>
        </p:nvPicPr>
        <p:blipFill>
          <a:blip r:embed="rId18"/>
          <a:stretch>
            <a:fillRect/>
          </a:stretch>
        </p:blipFill>
        <p:spPr>
          <a:xfrm>
            <a:off x="10661904" y="6400800"/>
            <a:ext cx="978408" cy="2331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11   PROPOSED SCOPE</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Proposed Scope for The Westin Resort Guam</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Text 2"/>
          <p:cNvSpPr txBox="1"/>
          <p:nvPr/>
        </p:nvSpPr>
        <p:spPr>
          <a:xfrm>
            <a:off x="548640" y="1481328"/>
            <a:ext cx="11094415"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Calibri" pitchFamily="34" charset="0"/>
                <a:ea typeface="Calibri" pitchFamily="34" charset="-122"/>
                <a:cs typeface="Calibri" pitchFamily="34" charset="-120"/>
              </a:rPr>
              <a:t>APEX ONE ON-PREMISES — CAPABILITIES IN ONE AGENT</a:t>
            </a:r>
            <a:endParaRPr lang="en-US" sz="1100" dirty="0"/>
          </a:p>
        </p:txBody>
      </p:sp>
      <p:sp>
        <p:nvSpPr>
          <p:cNvPr id="6" name="Shape 3"/>
          <p:cNvSpPr/>
          <p:nvPr/>
        </p:nvSpPr>
        <p:spPr>
          <a:xfrm>
            <a:off x="548640" y="1828800"/>
            <a:ext cx="2567864" cy="1993392"/>
          </a:xfrm>
          <a:prstGeom prst="roundRect">
            <a:avLst>
              <a:gd name="adj" fmla="val 6422"/>
            </a:avLst>
          </a:prstGeom>
          <a:solidFill>
            <a:srgbClr val="FFFFFF"/>
          </a:solidFill>
          <a:ln w="12700">
            <a:solidFill>
              <a:srgbClr val="BFE4E8"/>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777240" y="2057400"/>
            <a:ext cx="475488" cy="475488"/>
          </a:xfrm>
          <a:prstGeom prst="ellipse">
            <a:avLst/>
          </a:prstGeom>
          <a:solidFill>
            <a:srgbClr val="0F8B99"/>
          </a:solidFill>
          <a:ln w="12700">
            <a:solidFill>
              <a:srgbClr val="0F8B99"/>
            </a:solidFill>
            <a:prstDash val="solid"/>
          </a:ln>
        </p:spPr>
      </p:sp>
      <p:pic>
        <p:nvPicPr>
          <p:cNvPr id="8" name="Image 1" descr="preencoded.png">    </p:cNvPr>
          <p:cNvPicPr>
            <a:picLocks noChangeAspect="1"/>
          </p:cNvPicPr>
          <p:nvPr/>
        </p:nvPicPr>
        <p:blipFill>
          <a:blip r:embed="rId2"/>
          <a:stretch>
            <a:fillRect/>
          </a:stretch>
        </p:blipFill>
        <p:spPr>
          <a:xfrm>
            <a:off x="905622" y="2185782"/>
            <a:ext cx="218724" cy="218724"/>
          </a:xfrm>
          <a:prstGeom prst="rect">
            <a:avLst/>
          </a:prstGeom>
        </p:spPr>
      </p:pic>
      <p:sp>
        <p:nvSpPr>
          <p:cNvPr id="9" name="Text 5"/>
          <p:cNvSpPr txBox="1"/>
          <p:nvPr/>
        </p:nvSpPr>
        <p:spPr>
          <a:xfrm>
            <a:off x="1371600" y="2011680"/>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Anti-Malware</a:t>
            </a:r>
            <a:endParaRPr lang="en-US" sz="1300" dirty="0"/>
          </a:p>
        </p:txBody>
      </p:sp>
      <p:sp>
        <p:nvSpPr>
          <p:cNvPr id="10" name="Text 6"/>
          <p:cNvSpPr txBox="1"/>
          <p:nvPr/>
        </p:nvSpPr>
        <p:spPr>
          <a:xfrm>
            <a:off x="777240" y="2670048"/>
            <a:ext cx="2110664" cy="219456"/>
          </a:xfrm>
          <a:prstGeom prst="rect">
            <a:avLst/>
          </a:prstGeom>
          <a:noFill/>
          <a:ln/>
        </p:spPr>
        <p:txBody>
          <a:bodyPr wrap="square" lIns="0" tIns="0" rIns="0" bIns="0" rtlCol="0" anchor="t"/>
          <a:lstStyle/>
          <a:p>
            <a:pPr indent="0" marL="0">
              <a:buNone/>
            </a:pPr>
            <a:r>
              <a:rPr lang="en-US" sz="950" b="1" spc="100" kern="0" dirty="0">
                <a:solidFill>
                  <a:srgbClr val="0F8B99"/>
                </a:solidFill>
                <a:latin typeface="Calibri" pitchFamily="34" charset="0"/>
                <a:ea typeface="Calibri" pitchFamily="34" charset="-122"/>
                <a:cs typeface="Calibri" pitchFamily="34" charset="-120"/>
              </a:rPr>
              <a:t>EPP · RANSOMWARE</a:t>
            </a:r>
            <a:endParaRPr lang="en-US" sz="950" dirty="0"/>
          </a:p>
        </p:txBody>
      </p:sp>
      <p:sp>
        <p:nvSpPr>
          <p:cNvPr id="11" name="Text 7"/>
          <p:cNvSpPr txBox="1"/>
          <p:nvPr/>
        </p:nvSpPr>
        <p:spPr>
          <a:xfrm>
            <a:off x="777240" y="2916936"/>
            <a:ext cx="2110664" cy="83210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XGen blend of machine learning, behavioral analysis and web reputation, with ransomware rollback.</a:t>
            </a:r>
            <a:endParaRPr lang="en-US" sz="1100" dirty="0"/>
          </a:p>
        </p:txBody>
      </p:sp>
      <p:sp>
        <p:nvSpPr>
          <p:cNvPr id="12" name="Shape 8"/>
          <p:cNvSpPr/>
          <p:nvPr/>
        </p:nvSpPr>
        <p:spPr>
          <a:xfrm>
            <a:off x="3390824" y="1828800"/>
            <a:ext cx="2567864" cy="1993392"/>
          </a:xfrm>
          <a:prstGeom prst="roundRect">
            <a:avLst>
              <a:gd name="adj" fmla="val 6422"/>
            </a:avLst>
          </a:prstGeom>
          <a:solidFill>
            <a:srgbClr val="FFFFFF"/>
          </a:solidFill>
          <a:ln w="12700">
            <a:solidFill>
              <a:srgbClr val="BFE4E8"/>
            </a:solidFill>
            <a:prstDash val="solid"/>
          </a:ln>
          <a:effectLst>
            <a:outerShdw sx="100000" sy="100000" kx="0" ky="0" algn="bl" rotWithShape="0" blurRad="101600" dist="25400" dir="5400000">
              <a:srgbClr val="000000">
                <a:alpha val="10000"/>
              </a:srgbClr>
            </a:outerShdw>
          </a:effectLst>
        </p:spPr>
      </p:sp>
      <p:sp>
        <p:nvSpPr>
          <p:cNvPr id="13" name="Shape 9"/>
          <p:cNvSpPr/>
          <p:nvPr/>
        </p:nvSpPr>
        <p:spPr>
          <a:xfrm>
            <a:off x="3619424" y="2057400"/>
            <a:ext cx="475488" cy="475488"/>
          </a:xfrm>
          <a:prstGeom prst="ellipse">
            <a:avLst/>
          </a:prstGeom>
          <a:solidFill>
            <a:srgbClr val="0F8B99"/>
          </a:solidFill>
          <a:ln w="12700">
            <a:solidFill>
              <a:srgbClr val="0F8B99"/>
            </a:solidFill>
            <a:prstDash val="solid"/>
          </a:ln>
        </p:spPr>
      </p:sp>
      <p:pic>
        <p:nvPicPr>
          <p:cNvPr id="14" name="Image 2" descr="preencoded.png">    </p:cNvPr>
          <p:cNvPicPr>
            <a:picLocks noChangeAspect="1"/>
          </p:cNvPicPr>
          <p:nvPr/>
        </p:nvPicPr>
        <p:blipFill>
          <a:blip r:embed="rId3"/>
          <a:stretch>
            <a:fillRect/>
          </a:stretch>
        </p:blipFill>
        <p:spPr>
          <a:xfrm>
            <a:off x="3747806" y="2185782"/>
            <a:ext cx="218724" cy="218724"/>
          </a:xfrm>
          <a:prstGeom prst="rect">
            <a:avLst/>
          </a:prstGeom>
        </p:spPr>
      </p:pic>
      <p:sp>
        <p:nvSpPr>
          <p:cNvPr id="15" name="Text 10"/>
          <p:cNvSpPr txBox="1"/>
          <p:nvPr/>
        </p:nvSpPr>
        <p:spPr>
          <a:xfrm>
            <a:off x="4213784" y="2011680"/>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Vulnerability Protection</a:t>
            </a:r>
            <a:endParaRPr lang="en-US" sz="1300" dirty="0"/>
          </a:p>
        </p:txBody>
      </p:sp>
      <p:sp>
        <p:nvSpPr>
          <p:cNvPr id="16" name="Text 11"/>
          <p:cNvSpPr txBox="1"/>
          <p:nvPr/>
        </p:nvSpPr>
        <p:spPr>
          <a:xfrm>
            <a:off x="3619424" y="2670048"/>
            <a:ext cx="2110664" cy="219456"/>
          </a:xfrm>
          <a:prstGeom prst="rect">
            <a:avLst/>
          </a:prstGeom>
          <a:noFill/>
          <a:ln/>
        </p:spPr>
        <p:txBody>
          <a:bodyPr wrap="square" lIns="0" tIns="0" rIns="0" bIns="0" rtlCol="0" anchor="t"/>
          <a:lstStyle/>
          <a:p>
            <a:pPr indent="0" marL="0">
              <a:buNone/>
            </a:pPr>
            <a:r>
              <a:rPr lang="en-US" sz="950" b="1" spc="100" kern="0" dirty="0">
                <a:solidFill>
                  <a:srgbClr val="0F8B99"/>
                </a:solidFill>
                <a:latin typeface="Calibri" pitchFamily="34" charset="0"/>
                <a:ea typeface="Calibri" pitchFamily="34" charset="-122"/>
                <a:cs typeface="Calibri" pitchFamily="34" charset="-120"/>
              </a:rPr>
              <a:t>VIRTUAL PATCHING</a:t>
            </a:r>
            <a:endParaRPr lang="en-US" sz="950" dirty="0"/>
          </a:p>
        </p:txBody>
      </p:sp>
      <p:sp>
        <p:nvSpPr>
          <p:cNvPr id="17" name="Text 12"/>
          <p:cNvSpPr txBox="1"/>
          <p:nvPr/>
        </p:nvSpPr>
        <p:spPr>
          <a:xfrm>
            <a:off x="3619424" y="2916936"/>
            <a:ext cx="2110664" cy="83210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Shields known and unknown vulnerabilities — including on legacy systems — before patches are deployed.</a:t>
            </a:r>
            <a:endParaRPr lang="en-US" sz="1100" dirty="0"/>
          </a:p>
        </p:txBody>
      </p:sp>
      <p:sp>
        <p:nvSpPr>
          <p:cNvPr id="18" name="Shape 13"/>
          <p:cNvSpPr/>
          <p:nvPr/>
        </p:nvSpPr>
        <p:spPr>
          <a:xfrm>
            <a:off x="6233008" y="1828800"/>
            <a:ext cx="2567864" cy="1993392"/>
          </a:xfrm>
          <a:prstGeom prst="roundRect">
            <a:avLst>
              <a:gd name="adj" fmla="val 6422"/>
            </a:avLst>
          </a:prstGeom>
          <a:solidFill>
            <a:srgbClr val="FFFFFF"/>
          </a:solidFill>
          <a:ln w="12700">
            <a:solidFill>
              <a:srgbClr val="BFE4E8"/>
            </a:solidFill>
            <a:prstDash val="solid"/>
          </a:ln>
          <a:effectLst>
            <a:outerShdw sx="100000" sy="100000" kx="0" ky="0" algn="bl" rotWithShape="0" blurRad="101600" dist="25400" dir="5400000">
              <a:srgbClr val="000000">
                <a:alpha val="10000"/>
              </a:srgbClr>
            </a:outerShdw>
          </a:effectLst>
        </p:spPr>
      </p:sp>
      <p:sp>
        <p:nvSpPr>
          <p:cNvPr id="19" name="Shape 14"/>
          <p:cNvSpPr/>
          <p:nvPr/>
        </p:nvSpPr>
        <p:spPr>
          <a:xfrm>
            <a:off x="6461608" y="2057400"/>
            <a:ext cx="475488" cy="475488"/>
          </a:xfrm>
          <a:prstGeom prst="ellipse">
            <a:avLst/>
          </a:prstGeom>
          <a:solidFill>
            <a:srgbClr val="0F8B99"/>
          </a:solidFill>
          <a:ln w="12700">
            <a:solidFill>
              <a:srgbClr val="0F8B99"/>
            </a:solidFill>
            <a:prstDash val="solid"/>
          </a:ln>
        </p:spPr>
      </p:sp>
      <p:pic>
        <p:nvPicPr>
          <p:cNvPr id="20" name="Image 3" descr="preencoded.png">    </p:cNvPr>
          <p:cNvPicPr>
            <a:picLocks noChangeAspect="1"/>
          </p:cNvPicPr>
          <p:nvPr/>
        </p:nvPicPr>
        <p:blipFill>
          <a:blip r:embed="rId4"/>
          <a:stretch>
            <a:fillRect/>
          </a:stretch>
        </p:blipFill>
        <p:spPr>
          <a:xfrm>
            <a:off x="6589989" y="2185782"/>
            <a:ext cx="218724" cy="218724"/>
          </a:xfrm>
          <a:prstGeom prst="rect">
            <a:avLst/>
          </a:prstGeom>
        </p:spPr>
      </p:pic>
      <p:sp>
        <p:nvSpPr>
          <p:cNvPr id="21" name="Text 15"/>
          <p:cNvSpPr txBox="1"/>
          <p:nvPr/>
        </p:nvSpPr>
        <p:spPr>
          <a:xfrm>
            <a:off x="7055968" y="2011680"/>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Application Control</a:t>
            </a:r>
            <a:endParaRPr lang="en-US" sz="1300" dirty="0"/>
          </a:p>
        </p:txBody>
      </p:sp>
      <p:sp>
        <p:nvSpPr>
          <p:cNvPr id="22" name="Text 16"/>
          <p:cNvSpPr txBox="1"/>
          <p:nvPr/>
        </p:nvSpPr>
        <p:spPr>
          <a:xfrm>
            <a:off x="6461608" y="2670048"/>
            <a:ext cx="2110664" cy="219456"/>
          </a:xfrm>
          <a:prstGeom prst="rect">
            <a:avLst/>
          </a:prstGeom>
          <a:noFill/>
          <a:ln/>
        </p:spPr>
        <p:txBody>
          <a:bodyPr wrap="square" lIns="0" tIns="0" rIns="0" bIns="0" rtlCol="0" anchor="t"/>
          <a:lstStyle/>
          <a:p>
            <a:pPr indent="0" marL="0">
              <a:buNone/>
            </a:pPr>
            <a:r>
              <a:rPr lang="en-US" sz="950" b="1" spc="100" kern="0" dirty="0">
                <a:solidFill>
                  <a:srgbClr val="0F8B99"/>
                </a:solidFill>
                <a:latin typeface="Calibri" pitchFamily="34" charset="0"/>
                <a:ea typeface="Calibri" pitchFamily="34" charset="-122"/>
                <a:cs typeface="Calibri" pitchFamily="34" charset="-120"/>
              </a:rPr>
              <a:t>SYSTEM LOCKDOWN</a:t>
            </a:r>
            <a:endParaRPr lang="en-US" sz="950" dirty="0"/>
          </a:p>
        </p:txBody>
      </p:sp>
      <p:sp>
        <p:nvSpPr>
          <p:cNvPr id="23" name="Text 17"/>
          <p:cNvSpPr txBox="1"/>
          <p:nvPr/>
        </p:nvSpPr>
        <p:spPr>
          <a:xfrm>
            <a:off x="6461608" y="2916936"/>
            <a:ext cx="2110664" cy="83210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Allows only approved applications on front-desk and critical systems.</a:t>
            </a:r>
            <a:endParaRPr lang="en-US" sz="1100" dirty="0"/>
          </a:p>
        </p:txBody>
      </p:sp>
      <p:sp>
        <p:nvSpPr>
          <p:cNvPr id="24" name="Shape 18"/>
          <p:cNvSpPr/>
          <p:nvPr/>
        </p:nvSpPr>
        <p:spPr>
          <a:xfrm>
            <a:off x="9075191" y="1828800"/>
            <a:ext cx="2567864" cy="1993392"/>
          </a:xfrm>
          <a:prstGeom prst="roundRect">
            <a:avLst>
              <a:gd name="adj" fmla="val 6422"/>
            </a:avLst>
          </a:prstGeom>
          <a:solidFill>
            <a:srgbClr val="FFFFFF"/>
          </a:solidFill>
          <a:ln w="12700">
            <a:solidFill>
              <a:srgbClr val="BFE4E8"/>
            </a:solidFill>
            <a:prstDash val="solid"/>
          </a:ln>
          <a:effectLst>
            <a:outerShdw sx="100000" sy="100000" kx="0" ky="0" algn="bl" rotWithShape="0" blurRad="101600" dist="25400" dir="5400000">
              <a:srgbClr val="000000">
                <a:alpha val="10000"/>
              </a:srgbClr>
            </a:outerShdw>
          </a:effectLst>
        </p:spPr>
      </p:sp>
      <p:sp>
        <p:nvSpPr>
          <p:cNvPr id="25" name="Shape 19"/>
          <p:cNvSpPr/>
          <p:nvPr/>
        </p:nvSpPr>
        <p:spPr>
          <a:xfrm>
            <a:off x="9303791" y="2057400"/>
            <a:ext cx="475488" cy="475488"/>
          </a:xfrm>
          <a:prstGeom prst="ellipse">
            <a:avLst/>
          </a:prstGeom>
          <a:solidFill>
            <a:srgbClr val="0F8B99"/>
          </a:solidFill>
          <a:ln w="12700">
            <a:solidFill>
              <a:srgbClr val="0F8B99"/>
            </a:solidFill>
            <a:prstDash val="solid"/>
          </a:ln>
        </p:spPr>
      </p:sp>
      <p:pic>
        <p:nvPicPr>
          <p:cNvPr id="26" name="Image 4" descr="preencoded.png">    </p:cNvPr>
          <p:cNvPicPr>
            <a:picLocks noChangeAspect="1"/>
          </p:cNvPicPr>
          <p:nvPr/>
        </p:nvPicPr>
        <p:blipFill>
          <a:blip r:embed="rId5"/>
          <a:stretch>
            <a:fillRect/>
          </a:stretch>
        </p:blipFill>
        <p:spPr>
          <a:xfrm>
            <a:off x="9432173" y="2185782"/>
            <a:ext cx="218724" cy="218724"/>
          </a:xfrm>
          <a:prstGeom prst="rect">
            <a:avLst/>
          </a:prstGeom>
        </p:spPr>
      </p:pic>
      <p:sp>
        <p:nvSpPr>
          <p:cNvPr id="27" name="Text 20"/>
          <p:cNvSpPr txBox="1"/>
          <p:nvPr/>
        </p:nvSpPr>
        <p:spPr>
          <a:xfrm>
            <a:off x="9898151" y="2011680"/>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Device Control</a:t>
            </a:r>
            <a:endParaRPr lang="en-US" sz="1300" dirty="0"/>
          </a:p>
        </p:txBody>
      </p:sp>
      <p:sp>
        <p:nvSpPr>
          <p:cNvPr id="28" name="Text 21"/>
          <p:cNvSpPr txBox="1"/>
          <p:nvPr/>
        </p:nvSpPr>
        <p:spPr>
          <a:xfrm>
            <a:off x="9303791" y="2670048"/>
            <a:ext cx="2110664" cy="219456"/>
          </a:xfrm>
          <a:prstGeom prst="rect">
            <a:avLst/>
          </a:prstGeom>
          <a:noFill/>
          <a:ln/>
        </p:spPr>
        <p:txBody>
          <a:bodyPr wrap="square" lIns="0" tIns="0" rIns="0" bIns="0" rtlCol="0" anchor="t"/>
          <a:lstStyle/>
          <a:p>
            <a:pPr indent="0" marL="0">
              <a:buNone/>
            </a:pPr>
            <a:r>
              <a:rPr lang="en-US" sz="950" b="1" spc="100" kern="0" dirty="0">
                <a:solidFill>
                  <a:srgbClr val="0F8B99"/>
                </a:solidFill>
                <a:latin typeface="Calibri" pitchFamily="34" charset="0"/>
                <a:ea typeface="Calibri" pitchFamily="34" charset="-122"/>
                <a:cs typeface="Calibri" pitchFamily="34" charset="-120"/>
              </a:rPr>
              <a:t>USB &amp; REMOVABLE MEDIA</a:t>
            </a:r>
            <a:endParaRPr lang="en-US" sz="950" dirty="0"/>
          </a:p>
        </p:txBody>
      </p:sp>
      <p:sp>
        <p:nvSpPr>
          <p:cNvPr id="29" name="Text 22"/>
          <p:cNvSpPr txBox="1"/>
          <p:nvPr/>
        </p:nvSpPr>
        <p:spPr>
          <a:xfrm>
            <a:off x="9303791" y="2916936"/>
            <a:ext cx="2110664" cy="83210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Restricts USB drives, phones and other media by user or endpoint.</a:t>
            </a:r>
            <a:endParaRPr lang="en-US" sz="1100" dirty="0"/>
          </a:p>
        </p:txBody>
      </p:sp>
      <p:sp>
        <p:nvSpPr>
          <p:cNvPr id="30" name="Text 23"/>
          <p:cNvSpPr txBox="1"/>
          <p:nvPr/>
        </p:nvSpPr>
        <p:spPr>
          <a:xfrm>
            <a:off x="548640" y="3931920"/>
            <a:ext cx="11094415" cy="256032"/>
          </a:xfrm>
          <a:prstGeom prst="rect">
            <a:avLst/>
          </a:prstGeom>
          <a:noFill/>
          <a:ln/>
        </p:spPr>
        <p:txBody>
          <a:bodyPr wrap="square" lIns="0" tIns="0" rIns="0" bIns="0" rtlCol="0" anchor="t"/>
          <a:lstStyle/>
          <a:p>
            <a:pPr indent="0" marL="0">
              <a:buNone/>
            </a:pPr>
            <a:r>
              <a:rPr lang="en-US" sz="1100" b="1" spc="200" kern="0" dirty="0">
                <a:solidFill>
                  <a:srgbClr val="5D6B7E"/>
                </a:solidFill>
                <a:latin typeface="Calibri" pitchFamily="34" charset="0"/>
                <a:ea typeface="Calibri" pitchFamily="34" charset="-122"/>
                <a:cs typeface="Calibri" pitchFamily="34" charset="-120"/>
              </a:rPr>
              <a:t>LICENSES &amp; SERVICES IN THIS PROPOSAL</a:t>
            </a:r>
            <a:endParaRPr lang="en-US" sz="1100" dirty="0"/>
          </a:p>
        </p:txBody>
      </p:sp>
      <p:sp>
        <p:nvSpPr>
          <p:cNvPr id="31" name="Shape 24"/>
          <p:cNvSpPr/>
          <p:nvPr/>
        </p:nvSpPr>
        <p:spPr>
          <a:xfrm>
            <a:off x="548640" y="4279392"/>
            <a:ext cx="2567864" cy="1719072"/>
          </a:xfrm>
          <a:prstGeom prst="roundRect">
            <a:avLst>
              <a:gd name="adj" fmla="val 7447"/>
            </a:avLst>
          </a:prstGeom>
          <a:solidFill>
            <a:srgbClr val="F4F5F7"/>
          </a:solidFill>
          <a:ln w="9525">
            <a:solidFill>
              <a:srgbClr val="DEE1E5"/>
            </a:solidFill>
            <a:prstDash val="solid"/>
          </a:ln>
        </p:spPr>
      </p:sp>
      <p:sp>
        <p:nvSpPr>
          <p:cNvPr id="32" name="Shape 25"/>
          <p:cNvSpPr/>
          <p:nvPr/>
        </p:nvSpPr>
        <p:spPr>
          <a:xfrm>
            <a:off x="777240" y="4507992"/>
            <a:ext cx="475488" cy="475488"/>
          </a:xfrm>
          <a:prstGeom prst="ellipse">
            <a:avLst/>
          </a:prstGeom>
          <a:solidFill>
            <a:srgbClr val="EAEEF3"/>
          </a:solidFill>
          <a:ln w="12700">
            <a:solidFill>
              <a:srgbClr val="EAEEF3"/>
            </a:solidFill>
            <a:prstDash val="solid"/>
          </a:ln>
        </p:spPr>
      </p:sp>
      <p:pic>
        <p:nvPicPr>
          <p:cNvPr id="33" name="Image 5" descr="preencoded.png">    </p:cNvPr>
          <p:cNvPicPr>
            <a:picLocks noChangeAspect="1"/>
          </p:cNvPicPr>
          <p:nvPr/>
        </p:nvPicPr>
        <p:blipFill>
          <a:blip r:embed="rId6"/>
          <a:stretch>
            <a:fillRect/>
          </a:stretch>
        </p:blipFill>
        <p:spPr>
          <a:xfrm>
            <a:off x="905622" y="4636374"/>
            <a:ext cx="218724" cy="218724"/>
          </a:xfrm>
          <a:prstGeom prst="rect">
            <a:avLst/>
          </a:prstGeom>
        </p:spPr>
      </p:pic>
      <p:sp>
        <p:nvSpPr>
          <p:cNvPr id="34" name="Text 26"/>
          <p:cNvSpPr txBox="1"/>
          <p:nvPr/>
        </p:nvSpPr>
        <p:spPr>
          <a:xfrm>
            <a:off x="1371600" y="4462272"/>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Standard Edition</a:t>
            </a:r>
            <a:endParaRPr lang="en-US" sz="1300" dirty="0"/>
          </a:p>
        </p:txBody>
      </p:sp>
      <p:sp>
        <p:nvSpPr>
          <p:cNvPr id="35" name="Text 27"/>
          <p:cNvSpPr txBox="1"/>
          <p:nvPr/>
        </p:nvSpPr>
        <p:spPr>
          <a:xfrm>
            <a:off x="777240" y="5120640"/>
            <a:ext cx="2110664" cy="219456"/>
          </a:xfrm>
          <a:prstGeom prst="rect">
            <a:avLst/>
          </a:prstGeom>
          <a:noFill/>
          <a:ln/>
        </p:spPr>
        <p:txBody>
          <a:bodyPr wrap="square" lIns="0" tIns="0" rIns="0" bIns="0" rtlCol="0" anchor="t"/>
          <a:lstStyle/>
          <a:p>
            <a:pPr indent="0" marL="0">
              <a:buNone/>
            </a:pPr>
            <a:r>
              <a:rPr lang="en-US" sz="950" b="1" spc="100" kern="0" dirty="0">
                <a:solidFill>
                  <a:srgbClr val="5D6B7E"/>
                </a:solidFill>
                <a:latin typeface="Calibri" pitchFamily="34" charset="0"/>
                <a:ea typeface="Calibri" pitchFamily="34" charset="-122"/>
                <a:cs typeface="Calibri" pitchFamily="34" charset="-120"/>
              </a:rPr>
              <a:t>115 ENDPOINTS</a:t>
            </a:r>
            <a:endParaRPr lang="en-US" sz="950" dirty="0"/>
          </a:p>
        </p:txBody>
      </p:sp>
      <p:sp>
        <p:nvSpPr>
          <p:cNvPr id="36" name="Text 28"/>
          <p:cNvSpPr txBox="1"/>
          <p:nvPr/>
        </p:nvSpPr>
        <p:spPr>
          <a:xfrm>
            <a:off x="777240" y="5367528"/>
            <a:ext cx="2110664" cy="55778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Apex One On-premises Standard, 1-year subscription.</a:t>
            </a:r>
            <a:endParaRPr lang="en-US" sz="1100" dirty="0"/>
          </a:p>
        </p:txBody>
      </p:sp>
      <p:sp>
        <p:nvSpPr>
          <p:cNvPr id="37" name="Shape 29"/>
          <p:cNvSpPr/>
          <p:nvPr/>
        </p:nvSpPr>
        <p:spPr>
          <a:xfrm>
            <a:off x="3390824" y="4279392"/>
            <a:ext cx="2567864" cy="1719072"/>
          </a:xfrm>
          <a:prstGeom prst="roundRect">
            <a:avLst>
              <a:gd name="adj" fmla="val 7447"/>
            </a:avLst>
          </a:prstGeom>
          <a:solidFill>
            <a:srgbClr val="F4F5F7"/>
          </a:solidFill>
          <a:ln w="9525">
            <a:solidFill>
              <a:srgbClr val="DEE1E5"/>
            </a:solidFill>
            <a:prstDash val="solid"/>
          </a:ln>
        </p:spPr>
      </p:sp>
      <p:sp>
        <p:nvSpPr>
          <p:cNvPr id="38" name="Shape 30"/>
          <p:cNvSpPr/>
          <p:nvPr/>
        </p:nvSpPr>
        <p:spPr>
          <a:xfrm>
            <a:off x="3619424" y="4507992"/>
            <a:ext cx="475488" cy="475488"/>
          </a:xfrm>
          <a:prstGeom prst="ellipse">
            <a:avLst/>
          </a:prstGeom>
          <a:solidFill>
            <a:srgbClr val="EAEEF3"/>
          </a:solidFill>
          <a:ln w="12700">
            <a:solidFill>
              <a:srgbClr val="EAEEF3"/>
            </a:solidFill>
            <a:prstDash val="solid"/>
          </a:ln>
        </p:spPr>
      </p:sp>
      <p:pic>
        <p:nvPicPr>
          <p:cNvPr id="39" name="Image 6" descr="preencoded.png">    </p:cNvPr>
          <p:cNvPicPr>
            <a:picLocks noChangeAspect="1"/>
          </p:cNvPicPr>
          <p:nvPr/>
        </p:nvPicPr>
        <p:blipFill>
          <a:blip r:embed="rId7"/>
          <a:stretch>
            <a:fillRect/>
          </a:stretch>
        </p:blipFill>
        <p:spPr>
          <a:xfrm>
            <a:off x="3747806" y="4636374"/>
            <a:ext cx="218724" cy="218724"/>
          </a:xfrm>
          <a:prstGeom prst="rect">
            <a:avLst/>
          </a:prstGeom>
        </p:spPr>
      </p:pic>
      <p:sp>
        <p:nvSpPr>
          <p:cNvPr id="40" name="Text 31"/>
          <p:cNvSpPr txBox="1"/>
          <p:nvPr/>
        </p:nvSpPr>
        <p:spPr>
          <a:xfrm>
            <a:off x="4213784" y="4462272"/>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Advanced Edition</a:t>
            </a:r>
            <a:endParaRPr lang="en-US" sz="1300" dirty="0"/>
          </a:p>
        </p:txBody>
      </p:sp>
      <p:sp>
        <p:nvSpPr>
          <p:cNvPr id="41" name="Text 32"/>
          <p:cNvSpPr txBox="1"/>
          <p:nvPr/>
        </p:nvSpPr>
        <p:spPr>
          <a:xfrm>
            <a:off x="3619424" y="5120640"/>
            <a:ext cx="2110664" cy="219456"/>
          </a:xfrm>
          <a:prstGeom prst="rect">
            <a:avLst/>
          </a:prstGeom>
          <a:noFill/>
          <a:ln/>
        </p:spPr>
        <p:txBody>
          <a:bodyPr wrap="square" lIns="0" tIns="0" rIns="0" bIns="0" rtlCol="0" anchor="t"/>
          <a:lstStyle/>
          <a:p>
            <a:pPr indent="0" marL="0">
              <a:buNone/>
            </a:pPr>
            <a:r>
              <a:rPr lang="en-US" sz="950" b="1" spc="100" kern="0" dirty="0">
                <a:solidFill>
                  <a:srgbClr val="5D6B7E"/>
                </a:solidFill>
                <a:latin typeface="Calibri" pitchFamily="34" charset="0"/>
                <a:ea typeface="Calibri" pitchFamily="34" charset="-122"/>
                <a:cs typeface="Calibri" pitchFamily="34" charset="-120"/>
              </a:rPr>
              <a:t>10 ENDPOINTS</a:t>
            </a:r>
            <a:endParaRPr lang="en-US" sz="950" dirty="0"/>
          </a:p>
        </p:txBody>
      </p:sp>
      <p:sp>
        <p:nvSpPr>
          <p:cNvPr id="42" name="Text 33"/>
          <p:cNvSpPr txBox="1"/>
          <p:nvPr/>
        </p:nvSpPr>
        <p:spPr>
          <a:xfrm>
            <a:off x="3619424" y="5367528"/>
            <a:ext cx="2110664" cy="55778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Apex One On-premises Advanced, 1-year subscription.</a:t>
            </a:r>
            <a:endParaRPr lang="en-US" sz="1100" dirty="0"/>
          </a:p>
        </p:txBody>
      </p:sp>
      <p:sp>
        <p:nvSpPr>
          <p:cNvPr id="43" name="Shape 34"/>
          <p:cNvSpPr/>
          <p:nvPr/>
        </p:nvSpPr>
        <p:spPr>
          <a:xfrm>
            <a:off x="6233008" y="4279392"/>
            <a:ext cx="2567864" cy="1719072"/>
          </a:xfrm>
          <a:prstGeom prst="roundRect">
            <a:avLst>
              <a:gd name="adj" fmla="val 7447"/>
            </a:avLst>
          </a:prstGeom>
          <a:solidFill>
            <a:srgbClr val="F4F5F7"/>
          </a:solidFill>
          <a:ln w="9525">
            <a:solidFill>
              <a:srgbClr val="DEE1E5"/>
            </a:solidFill>
            <a:prstDash val="solid"/>
          </a:ln>
        </p:spPr>
      </p:sp>
      <p:sp>
        <p:nvSpPr>
          <p:cNvPr id="44" name="Shape 35"/>
          <p:cNvSpPr/>
          <p:nvPr/>
        </p:nvSpPr>
        <p:spPr>
          <a:xfrm>
            <a:off x="6461608" y="4507992"/>
            <a:ext cx="475488" cy="475488"/>
          </a:xfrm>
          <a:prstGeom prst="ellipse">
            <a:avLst/>
          </a:prstGeom>
          <a:solidFill>
            <a:srgbClr val="EAEEF3"/>
          </a:solidFill>
          <a:ln w="12700">
            <a:solidFill>
              <a:srgbClr val="EAEEF3"/>
            </a:solidFill>
            <a:prstDash val="solid"/>
          </a:ln>
        </p:spPr>
      </p:sp>
      <p:pic>
        <p:nvPicPr>
          <p:cNvPr id="45" name="Image 7" descr="preencoded.png">    </p:cNvPr>
          <p:cNvPicPr>
            <a:picLocks noChangeAspect="1"/>
          </p:cNvPicPr>
          <p:nvPr/>
        </p:nvPicPr>
        <p:blipFill>
          <a:blip r:embed="rId8"/>
          <a:stretch>
            <a:fillRect/>
          </a:stretch>
        </p:blipFill>
        <p:spPr>
          <a:xfrm>
            <a:off x="6589989" y="4636374"/>
            <a:ext cx="218724" cy="218724"/>
          </a:xfrm>
          <a:prstGeom prst="rect">
            <a:avLst/>
          </a:prstGeom>
        </p:spPr>
      </p:pic>
      <p:sp>
        <p:nvSpPr>
          <p:cNvPr id="46" name="Text 36"/>
          <p:cNvSpPr txBox="1"/>
          <p:nvPr/>
        </p:nvSpPr>
        <p:spPr>
          <a:xfrm>
            <a:off x="7055968" y="4462272"/>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24/7 Tech Support</a:t>
            </a:r>
            <a:endParaRPr lang="en-US" sz="1300" dirty="0"/>
          </a:p>
        </p:txBody>
      </p:sp>
      <p:sp>
        <p:nvSpPr>
          <p:cNvPr id="47" name="Text 37"/>
          <p:cNvSpPr txBox="1"/>
          <p:nvPr/>
        </p:nvSpPr>
        <p:spPr>
          <a:xfrm>
            <a:off x="6461608" y="5120640"/>
            <a:ext cx="2110664" cy="219456"/>
          </a:xfrm>
          <a:prstGeom prst="rect">
            <a:avLst/>
          </a:prstGeom>
          <a:noFill/>
          <a:ln/>
        </p:spPr>
        <p:txBody>
          <a:bodyPr wrap="square" lIns="0" tIns="0" rIns="0" bIns="0" rtlCol="0" anchor="t"/>
          <a:lstStyle/>
          <a:p>
            <a:pPr indent="0" marL="0">
              <a:buNone/>
            </a:pPr>
            <a:r>
              <a:rPr lang="en-US" sz="950" b="1" spc="100" kern="0" dirty="0">
                <a:solidFill>
                  <a:srgbClr val="5D6B7E"/>
                </a:solidFill>
                <a:latin typeface="Calibri" pitchFamily="34" charset="0"/>
                <a:ea typeface="Calibri" pitchFamily="34" charset="-122"/>
                <a:cs typeface="Calibri" pitchFamily="34" charset="-120"/>
              </a:rPr>
              <a:t>SECUKOREA</a:t>
            </a:r>
            <a:endParaRPr lang="en-US" sz="950" dirty="0"/>
          </a:p>
        </p:txBody>
      </p:sp>
      <p:sp>
        <p:nvSpPr>
          <p:cNvPr id="48" name="Text 38"/>
          <p:cNvSpPr txBox="1"/>
          <p:nvPr/>
        </p:nvSpPr>
        <p:spPr>
          <a:xfrm>
            <a:off x="6461608" y="5367528"/>
            <a:ext cx="2110664" cy="55778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Round-the-clock remote support for the resort, regardless of time zone.</a:t>
            </a:r>
            <a:endParaRPr lang="en-US" sz="1100" dirty="0"/>
          </a:p>
        </p:txBody>
      </p:sp>
      <p:sp>
        <p:nvSpPr>
          <p:cNvPr id="49" name="Shape 39"/>
          <p:cNvSpPr/>
          <p:nvPr/>
        </p:nvSpPr>
        <p:spPr>
          <a:xfrm>
            <a:off x="9075191" y="4279392"/>
            <a:ext cx="2567864" cy="1719072"/>
          </a:xfrm>
          <a:prstGeom prst="roundRect">
            <a:avLst>
              <a:gd name="adj" fmla="val 7447"/>
            </a:avLst>
          </a:prstGeom>
          <a:solidFill>
            <a:srgbClr val="F4F5F7"/>
          </a:solidFill>
          <a:ln w="9525">
            <a:solidFill>
              <a:srgbClr val="DEE1E5"/>
            </a:solidFill>
            <a:prstDash val="solid"/>
          </a:ln>
        </p:spPr>
      </p:sp>
      <p:sp>
        <p:nvSpPr>
          <p:cNvPr id="50" name="Shape 40"/>
          <p:cNvSpPr/>
          <p:nvPr/>
        </p:nvSpPr>
        <p:spPr>
          <a:xfrm>
            <a:off x="9303791" y="4507992"/>
            <a:ext cx="475488" cy="475488"/>
          </a:xfrm>
          <a:prstGeom prst="ellipse">
            <a:avLst/>
          </a:prstGeom>
          <a:solidFill>
            <a:srgbClr val="EAEEF3"/>
          </a:solidFill>
          <a:ln w="12700">
            <a:solidFill>
              <a:srgbClr val="EAEEF3"/>
            </a:solidFill>
            <a:prstDash val="solid"/>
          </a:ln>
        </p:spPr>
      </p:sp>
      <p:pic>
        <p:nvPicPr>
          <p:cNvPr id="51" name="Image 8" descr="preencoded.png">    </p:cNvPr>
          <p:cNvPicPr>
            <a:picLocks noChangeAspect="1"/>
          </p:cNvPicPr>
          <p:nvPr/>
        </p:nvPicPr>
        <p:blipFill>
          <a:blip r:embed="rId9"/>
          <a:stretch>
            <a:fillRect/>
          </a:stretch>
        </p:blipFill>
        <p:spPr>
          <a:xfrm>
            <a:off x="9432173" y="4636374"/>
            <a:ext cx="218724" cy="218724"/>
          </a:xfrm>
          <a:prstGeom prst="rect">
            <a:avLst/>
          </a:prstGeom>
        </p:spPr>
      </p:pic>
      <p:sp>
        <p:nvSpPr>
          <p:cNvPr id="52" name="Text 41"/>
          <p:cNvSpPr txBox="1"/>
          <p:nvPr/>
        </p:nvSpPr>
        <p:spPr>
          <a:xfrm>
            <a:off x="9898151" y="4462272"/>
            <a:ext cx="1607744" cy="56692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Dedicated Engineer</a:t>
            </a:r>
            <a:endParaRPr lang="en-US" sz="1300" dirty="0"/>
          </a:p>
        </p:txBody>
      </p:sp>
      <p:sp>
        <p:nvSpPr>
          <p:cNvPr id="53" name="Text 42"/>
          <p:cNvSpPr txBox="1"/>
          <p:nvPr/>
        </p:nvSpPr>
        <p:spPr>
          <a:xfrm>
            <a:off x="9303791" y="5120640"/>
            <a:ext cx="2110664" cy="219456"/>
          </a:xfrm>
          <a:prstGeom prst="rect">
            <a:avLst/>
          </a:prstGeom>
          <a:noFill/>
          <a:ln/>
        </p:spPr>
        <p:txBody>
          <a:bodyPr wrap="square" lIns="0" tIns="0" rIns="0" bIns="0" rtlCol="0" anchor="t"/>
          <a:lstStyle/>
          <a:p>
            <a:pPr indent="0" marL="0">
              <a:buNone/>
            </a:pPr>
            <a:r>
              <a:rPr lang="en-US" sz="950" b="1" spc="100" kern="0" dirty="0">
                <a:solidFill>
                  <a:srgbClr val="5D6B7E"/>
                </a:solidFill>
                <a:latin typeface="Calibri" pitchFamily="34" charset="0"/>
                <a:ea typeface="Calibri" pitchFamily="34" charset="-122"/>
                <a:cs typeface="Calibri" pitchFamily="34" charset="-120"/>
              </a:rPr>
              <a:t>SECUKOREA</a:t>
            </a:r>
            <a:endParaRPr lang="en-US" sz="950" dirty="0"/>
          </a:p>
        </p:txBody>
      </p:sp>
      <p:sp>
        <p:nvSpPr>
          <p:cNvPr id="54" name="Text 43"/>
          <p:cNvSpPr txBox="1"/>
          <p:nvPr/>
        </p:nvSpPr>
        <p:spPr>
          <a:xfrm>
            <a:off x="9303791" y="5367528"/>
            <a:ext cx="2110664" cy="557784"/>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A named engineer who handles day-to-day requests.</a:t>
            </a:r>
            <a:endParaRPr lang="en-US" sz="1100" dirty="0"/>
          </a:p>
        </p:txBody>
      </p:sp>
      <p:sp>
        <p:nvSpPr>
          <p:cNvPr id="55" name="Text 44"/>
          <p:cNvSpPr txBox="1"/>
          <p:nvPr/>
        </p:nvSpPr>
        <p:spPr>
          <a:xfrm>
            <a:off x="548640" y="6108192"/>
            <a:ext cx="11094415" cy="237744"/>
          </a:xfrm>
          <a:prstGeom prst="rect">
            <a:avLst/>
          </a:prstGeom>
          <a:noFill/>
          <a:ln/>
        </p:spPr>
        <p:txBody>
          <a:bodyPr wrap="square" lIns="0" tIns="0" rIns="0" bIns="0" rtlCol="0" anchor="b"/>
          <a:lstStyle/>
          <a:p>
            <a:pPr indent="0" marL="0">
              <a:buNone/>
            </a:pPr>
            <a:r>
              <a:rPr lang="en-US" sz="800" i="1" dirty="0">
                <a:solidFill>
                  <a:srgbClr val="8A94A1"/>
                </a:solidFill>
                <a:latin typeface="Calibri" pitchFamily="34" charset="0"/>
                <a:ea typeface="Calibri" pitchFamily="34" charset="-122"/>
                <a:cs typeface="Calibri" pitchFamily="34" charset="-120"/>
              </a:rPr>
              <a:t>Licensing based on the Trend Micro quotation dated 11 September 2026 · 1-year subscription (renewable).</a:t>
            </a:r>
            <a:endParaRPr lang="en-US" sz="800" dirty="0"/>
          </a:p>
        </p:txBody>
      </p:sp>
      <p:sp>
        <p:nvSpPr>
          <p:cNvPr id="56" name="Text 45"/>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13   |   Nessus vs. Trend Micro Apex One™  ·  Proposal for The Westin Resort Guam</a:t>
            </a:r>
            <a:endParaRPr lang="en-US" sz="900" dirty="0"/>
          </a:p>
        </p:txBody>
      </p:sp>
      <p:pic>
        <p:nvPicPr>
          <p:cNvPr id="57" name="Image 9" descr="/private/tmp/claude-501/-Users-jihanvin-Desktop-NIVNAH-AI/16a96446-d9b3-40e2-af9e-a3011ae3db84/scratchpad/assets/secukorea_dark.png">    </p:cNvPr>
          <p:cNvPicPr>
            <a:picLocks noChangeAspect="1"/>
          </p:cNvPicPr>
          <p:nvPr/>
        </p:nvPicPr>
        <p:blipFill>
          <a:blip r:embed="rId10"/>
          <a:stretch>
            <a:fillRect/>
          </a:stretch>
        </p:blipFill>
        <p:spPr>
          <a:xfrm>
            <a:off x="10661904" y="6400800"/>
            <a:ext cx="978408" cy="2331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12   COMPARISON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Head-to-Head: Nessus vs. Trend Micro Apex One</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43200"/>
                <a:gridCol w="3611880"/>
                <a:gridCol w="4739335"/>
              </a:tblGrid>
              <a:tr h="41148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Criteria</a:t>
                      </a:r>
                      <a:endParaRPr lang="en-US" sz="1200" dirty="0">
                        <a:latin typeface="Arial" charset="0"/>
                        <a:ea typeface="Arial" charset="0"/>
                        <a:cs typeface="Arial"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10243A"/>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Nessus (current)</a:t>
                      </a:r>
                      <a:endParaRPr lang="en-US" sz="1200" dirty="0">
                        <a:latin typeface="Arial" charset="0"/>
                        <a:ea typeface="Arial" charset="0"/>
                        <a:cs typeface="Arial"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5D6B7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Trend Micro Apex One (proposed)</a:t>
                      </a:r>
                      <a:endParaRPr lang="en-US" sz="1200" dirty="0">
                        <a:latin typeface="Arial" charset="0"/>
                        <a:ea typeface="Arial" charset="0"/>
                        <a:cs typeface="Arial"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0F8B99"/>
                    </a:solidFill>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Primary purpose</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Vulnerability scanning and reporting</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Prevent, shield, detect and respond</a:t>
                      </a:r>
                      <a:pPr indent="0" marL="0">
                        <a:buNone/>
                      </a:pPr>
                      <a:r>
                        <a:rPr lang="en-US" sz="1150" dirty="0">
                          <a:solidFill>
                            <a:srgbClr val="0E2233"/>
                          </a:solidFill>
                          <a:latin typeface="Calibri" pitchFamily="34" charset="0"/>
                          <a:ea typeface="Calibri" pitchFamily="34" charset="-122"/>
                          <a:cs typeface="Calibri" pitchFamily="34" charset="-120"/>
                        </a:rPr>
                        <a:t>  on every endpoint</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Protection model</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Periodic, point-in-time scans</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Continuous, real-time</a:t>
                      </a:r>
                      <a:pPr indent="0" marL="0">
                        <a:buNone/>
                      </a:pPr>
                      <a:r>
                        <a:rPr lang="en-US" sz="1150" dirty="0">
                          <a:solidFill>
                            <a:srgbClr val="0E2233"/>
                          </a:solidFill>
                          <a:latin typeface="Calibri" pitchFamily="34" charset="0"/>
                          <a:ea typeface="Calibri" pitchFamily="34" charset="-122"/>
                          <a:cs typeface="Calibri" pitchFamily="34" charset="-120"/>
                        </a:rPr>
                        <a:t>  — on or off the network</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Malware &amp; ransomware (EPP)</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Not provided</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XGen anti-malware</a:t>
                      </a:r>
                      <a:pPr indent="0" marL="0">
                        <a:buNone/>
                      </a:pPr>
                      <a:r>
                        <a:rPr lang="en-US" sz="1150" dirty="0">
                          <a:solidFill>
                            <a:srgbClr val="0E2233"/>
                          </a:solidFill>
                          <a:latin typeface="Calibri" pitchFamily="34" charset="0"/>
                          <a:ea typeface="Calibri" pitchFamily="34" charset="-122"/>
                          <a:cs typeface="Calibri" pitchFamily="34" charset="-120"/>
                        </a:rPr>
                        <a:t>  — encryption blocked, files rolled back</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Known vulnerabilities</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Finds them; fixing is manual</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Assessed and shielded</a:t>
                      </a:r>
                      <a:pPr indent="0" marL="0">
                        <a:buNone/>
                      </a:pPr>
                      <a:r>
                        <a:rPr lang="en-US" sz="1150" dirty="0">
                          <a:solidFill>
                            <a:srgbClr val="0E2233"/>
                          </a:solidFill>
                          <a:latin typeface="Calibri" pitchFamily="34" charset="0"/>
                          <a:ea typeface="Calibri" pitchFamily="34" charset="-122"/>
                          <a:cs typeface="Calibri" pitchFamily="34" charset="-120"/>
                        </a:rPr>
                        <a:t>  — virtual patches before the fix is installed</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Legacy &amp; end-of-support systems</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Reports risks it cannot reduce</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Protected</a:t>
                      </a:r>
                      <a:pPr indent="0" marL="0">
                        <a:buNone/>
                      </a:pPr>
                      <a:r>
                        <a:rPr lang="en-US" sz="1150" dirty="0">
                          <a:solidFill>
                            <a:srgbClr val="0E2233"/>
                          </a:solidFill>
                          <a:latin typeface="Calibri" pitchFamily="34" charset="0"/>
                          <a:ea typeface="Calibri" pitchFamily="34" charset="-122"/>
                          <a:cs typeface="Calibri" pitchFamily="34" charset="-120"/>
                        </a:rPr>
                        <a:t>  with virtual patches and application lockdown</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24/7 expert support</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Not available</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SECUKOREA</a:t>
                      </a:r>
                      <a:pPr indent="0" marL="0">
                        <a:buNone/>
                      </a:pPr>
                      <a:r>
                        <a:rPr lang="en-US" sz="1150" dirty="0">
                          <a:solidFill>
                            <a:srgbClr val="0E2233"/>
                          </a:solidFill>
                          <a:latin typeface="Calibri" pitchFamily="34" charset="0"/>
                          <a:ea typeface="Calibri" pitchFamily="34" charset="-122"/>
                          <a:cs typeface="Calibri" pitchFamily="34" charset="-120"/>
                        </a:rPr>
                        <a:t>  — 24/7 technical support and a dedicated engineer</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Detection &amp; response</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Not provided</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Behavior-based</a:t>
                      </a:r>
                      <a:pPr indent="0" marL="0">
                        <a:buNone/>
                      </a:pPr>
                      <a:r>
                        <a:rPr lang="en-US" sz="1150" dirty="0">
                          <a:solidFill>
                            <a:srgbClr val="0E2233"/>
                          </a:solidFill>
                          <a:latin typeface="Calibri" pitchFamily="34" charset="0"/>
                          <a:ea typeface="Calibri" pitchFamily="34" charset="-122"/>
                          <a:cs typeface="Calibri" pitchFamily="34" charset="-120"/>
                        </a:rPr>
                        <a:t>  — isolation and central investigation</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Data protection</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Not provided</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Integrated DLP</a:t>
                      </a:r>
                      <a:pPr indent="0" marL="0">
                        <a:buNone/>
                      </a:pPr>
                      <a:r>
                        <a:rPr lang="en-US" sz="1150" dirty="0">
                          <a:solidFill>
                            <a:srgbClr val="0E2233"/>
                          </a:solidFill>
                          <a:latin typeface="Calibri" pitchFamily="34" charset="0"/>
                          <a:ea typeface="Calibri" pitchFamily="34" charset="-122"/>
                          <a:cs typeface="Calibri" pitchFamily="34" charset="-120"/>
                        </a:rPr>
                        <a:t>  with PCI DSS templates and device control</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Deployment</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Scanner host and scan schedules to maintain</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On-premises</a:t>
                      </a:r>
                      <a:pPr indent="0" marL="0">
                        <a:buNone/>
                      </a:pPr>
                      <a:r>
                        <a:rPr lang="en-US" sz="1150" dirty="0">
                          <a:solidFill>
                            <a:srgbClr val="0E2233"/>
                          </a:solidFill>
                          <a:latin typeface="Calibri" pitchFamily="34" charset="0"/>
                          <a:ea typeface="Calibri" pitchFamily="34" charset="-122"/>
                          <a:cs typeface="Calibri" pitchFamily="34" charset="-120"/>
                        </a:rPr>
                        <a:t>  — Apex One server and Apex Central, single agent</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r h="411480">
                <a:tc>
                  <a:txBody>
                    <a:bodyPr/>
                    <a:lstStyle/>
                    <a:p>
                      <a:pPr indent="0" marL="0">
                        <a:buNone/>
                      </a:pPr>
                      <a:r>
                        <a:rPr lang="en-US" sz="1150" b="1" dirty="0">
                          <a:solidFill>
                            <a:srgbClr val="0E2233"/>
                          </a:solidFill>
                          <a:latin typeface="Calibri" pitchFamily="34" charset="0"/>
                          <a:ea typeface="Calibri" pitchFamily="34" charset="-122"/>
                          <a:cs typeface="Calibri" pitchFamily="34" charset="-120"/>
                        </a:rPr>
                        <a:t>IT team workload</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solidFill>
                      <a:srgbClr val="F4F5F7"/>
                    </a:solidFill>
                  </a:tcPr>
                </a:tc>
                <a:tc>
                  <a:txBody>
                    <a:bodyPr/>
                    <a:lstStyle/>
                    <a:p>
                      <a:pPr indent="0" marL="0">
                        <a:buNone/>
                      </a:pPr>
                      <a:r>
                        <a:rPr lang="en-US" sz="1150" dirty="0">
                          <a:solidFill>
                            <a:srgbClr val="5D6B7E"/>
                          </a:solidFill>
                          <a:latin typeface="Calibri" pitchFamily="34" charset="0"/>
                          <a:ea typeface="Calibri" pitchFamily="34" charset="-122"/>
                          <a:cs typeface="Calibri" pitchFamily="34" charset="-120"/>
                        </a:rPr>
                        <a:t>High — analyze reports, patch and verify by hand</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c>
                  <a:txBody>
                    <a:bodyPr/>
                    <a:lstStyle/>
                    <a:p>
                      <a:pPr indent="0" marL="0">
                        <a:buNone/>
                      </a:pPr>
                      <a:r>
                        <a:rPr lang="en-US" sz="1150" b="1" dirty="0">
                          <a:solidFill>
                            <a:srgbClr val="0F8B99"/>
                          </a:solidFill>
                          <a:latin typeface="Calibri" pitchFamily="34" charset="0"/>
                          <a:ea typeface="Calibri" pitchFamily="34" charset="-122"/>
                          <a:cs typeface="Calibri" pitchFamily="34" charset="-120"/>
                        </a:rPr>
                        <a:t>Low</a:t>
                      </a:r>
                      <a:pPr indent="0" marL="0">
                        <a:buNone/>
                      </a:pPr>
                      <a:r>
                        <a:rPr lang="en-US" sz="1150" dirty="0">
                          <a:solidFill>
                            <a:srgbClr val="0E2233"/>
                          </a:solidFill>
                          <a:latin typeface="Calibri" pitchFamily="34" charset="0"/>
                          <a:ea typeface="Calibri" pitchFamily="34" charset="-122"/>
                          <a:cs typeface="Calibri" pitchFamily="34" charset="-120"/>
                        </a:rPr>
                        <a:t>  — automatic protection; patch on your own timeline</a:t>
                      </a:r>
                      <a:endParaRPr lang="en-US" sz="1150" dirty="0">
                        <a:latin typeface="Calibri" charset="0"/>
                        <a:ea typeface="Calibri" charset="0"/>
                        <a:cs typeface="Calibri" charset="0"/>
                      </a:endParaRPr>
                    </a:p>
                  </a:txBody>
                  <a:tcPr marL="109728" marR="109728" marT="27432" marB="27432" anchor="ctr">
                    <a:lnL w="9525" cap="flat" cmpd="sng" algn="ctr">
                      <a:solidFill>
                        <a:srgbClr val="DEE1E5"/>
                      </a:solidFill>
                      <a:prstDash val="solid"/>
                      <a:round/>
                      <a:headEnd type="none" w="med" len="med"/>
                      <a:tailEnd type="none" w="med" len="med"/>
                    </a:lnL>
                    <a:lnR w="9525" cap="flat" cmpd="sng" algn="ctr">
                      <a:solidFill>
                        <a:srgbClr val="DEE1E5"/>
                      </a:solidFill>
                      <a:prstDash val="solid"/>
                      <a:round/>
                      <a:headEnd type="none" w="med" len="med"/>
                      <a:tailEnd type="none" w="med" len="med"/>
                    </a:lnR>
                    <a:lnT w="9525" cap="flat" cmpd="sng" algn="ctr">
                      <a:solidFill>
                        <a:srgbClr val="DEE1E5"/>
                      </a:solidFill>
                      <a:prstDash val="solid"/>
                      <a:round/>
                      <a:headEnd type="none" w="med" len="med"/>
                      <a:tailEnd type="none" w="med" len="med"/>
                    </a:lnT>
                    <a:lnB w="9525" cap="flat" cmpd="sng" algn="ctr">
                      <a:solidFill>
                        <a:srgbClr val="DEE1E5"/>
                      </a:solidFill>
                      <a:prstDash val="solid"/>
                      <a:round/>
                      <a:headEnd type="none" w="med" len="med"/>
                      <a:tailEnd type="none" w="med" len="med"/>
                    </a:lnB>
                  </a:tcPr>
                </a:tc>
              </a:tr>
            </a:tbl>
          </a:graphicData>
        </a:graphic>
      </p:graphicFrame>
      <p:sp>
        <p:nvSpPr>
          <p:cNvPr id="6" name="Text 2"/>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14   |   Nessus vs. Trend Micro Apex One™  ·  Proposal for The Westin Resort Guam</a:t>
            </a:r>
            <a:endParaRPr lang="en-US" sz="900" dirty="0"/>
          </a:p>
        </p:txBody>
      </p:sp>
      <p:pic>
        <p:nvPicPr>
          <p:cNvPr id="7" name="Image 1" descr="/private/tmp/claude-501/-Users-jihanvin-Desktop-NIVNAH-AI/16a96446-d9b3-40e2-af9e-a3011ae3db84/scratchpad/assets/secukorea_dark.png">    </p:cNvPr>
          <p:cNvPicPr>
            <a:picLocks noChangeAspect="1"/>
          </p:cNvPicPr>
          <p:nvPr/>
        </p:nvPicPr>
        <p:blipFill>
          <a:blip r:embed="rId2"/>
          <a:stretch>
            <a:fillRect/>
          </a:stretch>
        </p:blipFill>
        <p:spPr>
          <a:xfrm>
            <a:off x="10661904" y="6400800"/>
            <a:ext cx="978408" cy="2331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43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13   PROVEN PARTNER</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 Trusted Security Partner</a:t>
            </a:r>
            <a:endParaRPr lang="en-US" sz="2800" dirty="0"/>
          </a:p>
        </p:txBody>
      </p:sp>
      <p:pic>
        <p:nvPicPr>
          <p:cNvPr id="4" name="Image 0" descr="/private/tmp/claude-501/-Users-jihanvin-Desktop-NIVNAH-AI/16a96446-d9b3-40e2-af9e-a3011ae3db84/scratchpad/assets/westin_white.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72768"/>
            <a:ext cx="2567864" cy="1783080"/>
          </a:xfrm>
          <a:prstGeom prst="roundRect">
            <a:avLst>
              <a:gd name="adj" fmla="val 7179"/>
            </a:avLst>
          </a:prstGeom>
          <a:solidFill>
            <a:srgbClr val="183247"/>
          </a:solidFill>
          <a:ln w="9525">
            <a:solidFill>
              <a:srgbClr val="284559"/>
            </a:solidFill>
            <a:prstDash val="solid"/>
          </a:ln>
        </p:spPr>
      </p:sp>
      <p:sp>
        <p:nvSpPr>
          <p:cNvPr id="6" name="Text 3"/>
          <p:cNvSpPr txBox="1"/>
          <p:nvPr/>
        </p:nvSpPr>
        <p:spPr>
          <a:xfrm>
            <a:off x="822960" y="1801368"/>
            <a:ext cx="2019224" cy="685800"/>
          </a:xfrm>
          <a:prstGeom prst="rect">
            <a:avLst/>
          </a:prstGeom>
          <a:noFill/>
          <a:ln/>
        </p:spPr>
        <p:txBody>
          <a:bodyPr wrap="square" lIns="0" tIns="0" rIns="0" bIns="0" rtlCol="0" anchor="ctr"/>
          <a:lstStyle/>
          <a:p>
            <a:pPr indent="0" marL="0">
              <a:buNone/>
            </a:pPr>
            <a:r>
              <a:rPr lang="en-US" sz="3400" b="1" dirty="0">
                <a:solidFill>
                  <a:srgbClr val="0F8B99"/>
                </a:solidFill>
                <a:latin typeface="Arial" pitchFamily="34" charset="0"/>
                <a:ea typeface="Arial" pitchFamily="34" charset="-122"/>
                <a:cs typeface="Arial" pitchFamily="34" charset="-120"/>
              </a:rPr>
              <a:t>30+ yrs</a:t>
            </a:r>
            <a:endParaRPr lang="en-US" sz="3400" dirty="0"/>
          </a:p>
        </p:txBody>
      </p:sp>
      <p:sp>
        <p:nvSpPr>
          <p:cNvPr id="7" name="Text 4"/>
          <p:cNvSpPr txBox="1"/>
          <p:nvPr/>
        </p:nvSpPr>
        <p:spPr>
          <a:xfrm>
            <a:off x="822960" y="2532888"/>
            <a:ext cx="2019224" cy="658368"/>
          </a:xfrm>
          <a:prstGeom prst="rect">
            <a:avLst/>
          </a:prstGeom>
          <a:noFill/>
          <a:ln/>
        </p:spPr>
        <p:txBody>
          <a:bodyPr wrap="square" lIns="0" tIns="0" rIns="0" bIns="0" rtlCol="0" anchor="t"/>
          <a:lstStyle/>
          <a:p>
            <a:pPr indent="0" marL="0">
              <a:buNone/>
            </a:pPr>
            <a:r>
              <a:rPr lang="en-US" sz="1200" dirty="0">
                <a:solidFill>
                  <a:srgbClr val="C8CCD2"/>
                </a:solidFill>
                <a:latin typeface="Calibri" pitchFamily="34" charset="0"/>
                <a:ea typeface="Calibri" pitchFamily="34" charset="-122"/>
                <a:cs typeface="Calibri" pitchFamily="34" charset="-120"/>
              </a:rPr>
              <a:t>Of continuous security innovation</a:t>
            </a:r>
            <a:endParaRPr lang="en-US" sz="1200" dirty="0"/>
          </a:p>
        </p:txBody>
      </p:sp>
      <p:sp>
        <p:nvSpPr>
          <p:cNvPr id="8" name="Shape 5"/>
          <p:cNvSpPr/>
          <p:nvPr/>
        </p:nvSpPr>
        <p:spPr>
          <a:xfrm>
            <a:off x="3390824" y="1572768"/>
            <a:ext cx="2567864" cy="1783080"/>
          </a:xfrm>
          <a:prstGeom prst="roundRect">
            <a:avLst>
              <a:gd name="adj" fmla="val 7179"/>
            </a:avLst>
          </a:prstGeom>
          <a:solidFill>
            <a:srgbClr val="183247"/>
          </a:solidFill>
          <a:ln w="9525">
            <a:solidFill>
              <a:srgbClr val="284559"/>
            </a:solidFill>
            <a:prstDash val="solid"/>
          </a:ln>
        </p:spPr>
      </p:sp>
      <p:sp>
        <p:nvSpPr>
          <p:cNvPr id="9" name="Text 6"/>
          <p:cNvSpPr txBox="1"/>
          <p:nvPr/>
        </p:nvSpPr>
        <p:spPr>
          <a:xfrm>
            <a:off x="3665144" y="1801368"/>
            <a:ext cx="2019224" cy="685800"/>
          </a:xfrm>
          <a:prstGeom prst="rect">
            <a:avLst/>
          </a:prstGeom>
          <a:noFill/>
          <a:ln/>
        </p:spPr>
        <p:txBody>
          <a:bodyPr wrap="square" lIns="0" tIns="0" rIns="0" bIns="0" rtlCol="0" anchor="ctr"/>
          <a:lstStyle/>
          <a:p>
            <a:pPr indent="0" marL="0">
              <a:buNone/>
            </a:pPr>
            <a:r>
              <a:rPr lang="en-US" sz="3400" b="1" dirty="0">
                <a:solidFill>
                  <a:srgbClr val="0F8B99"/>
                </a:solidFill>
                <a:latin typeface="Arial" pitchFamily="34" charset="0"/>
                <a:ea typeface="Arial" pitchFamily="34" charset="-122"/>
                <a:cs typeface="Arial" pitchFamily="34" charset="-120"/>
              </a:rPr>
              <a:t>250M+</a:t>
            </a:r>
            <a:endParaRPr lang="en-US" sz="3400" dirty="0"/>
          </a:p>
        </p:txBody>
      </p:sp>
      <p:sp>
        <p:nvSpPr>
          <p:cNvPr id="10" name="Text 7"/>
          <p:cNvSpPr txBox="1"/>
          <p:nvPr/>
        </p:nvSpPr>
        <p:spPr>
          <a:xfrm>
            <a:off x="3665144" y="2532888"/>
            <a:ext cx="2019224" cy="658368"/>
          </a:xfrm>
          <a:prstGeom prst="rect">
            <a:avLst/>
          </a:prstGeom>
          <a:noFill/>
          <a:ln/>
        </p:spPr>
        <p:txBody>
          <a:bodyPr wrap="square" lIns="0" tIns="0" rIns="0" bIns="0" rtlCol="0" anchor="t"/>
          <a:lstStyle/>
          <a:p>
            <a:pPr indent="0" marL="0">
              <a:buNone/>
            </a:pPr>
            <a:r>
              <a:rPr lang="en-US" sz="1200" dirty="0">
                <a:solidFill>
                  <a:srgbClr val="C8CCD2"/>
                </a:solidFill>
                <a:latin typeface="Calibri" pitchFamily="34" charset="0"/>
                <a:ea typeface="Calibri" pitchFamily="34" charset="-122"/>
                <a:cs typeface="Calibri" pitchFamily="34" charset="-120"/>
              </a:rPr>
              <a:t>Endpoints protected worldwide</a:t>
            </a:r>
            <a:endParaRPr lang="en-US" sz="1200" dirty="0"/>
          </a:p>
        </p:txBody>
      </p:sp>
      <p:sp>
        <p:nvSpPr>
          <p:cNvPr id="11" name="Shape 8"/>
          <p:cNvSpPr/>
          <p:nvPr/>
        </p:nvSpPr>
        <p:spPr>
          <a:xfrm>
            <a:off x="6233008" y="1572768"/>
            <a:ext cx="2567864" cy="1783080"/>
          </a:xfrm>
          <a:prstGeom prst="roundRect">
            <a:avLst>
              <a:gd name="adj" fmla="val 7179"/>
            </a:avLst>
          </a:prstGeom>
          <a:solidFill>
            <a:srgbClr val="183247"/>
          </a:solidFill>
          <a:ln w="9525">
            <a:solidFill>
              <a:srgbClr val="284559"/>
            </a:solidFill>
            <a:prstDash val="solid"/>
          </a:ln>
        </p:spPr>
      </p:sp>
      <p:sp>
        <p:nvSpPr>
          <p:cNvPr id="12" name="Text 9"/>
          <p:cNvSpPr txBox="1"/>
          <p:nvPr/>
        </p:nvSpPr>
        <p:spPr>
          <a:xfrm>
            <a:off x="6507328" y="1801368"/>
            <a:ext cx="2019224" cy="685800"/>
          </a:xfrm>
          <a:prstGeom prst="rect">
            <a:avLst/>
          </a:prstGeom>
          <a:noFill/>
          <a:ln/>
        </p:spPr>
        <p:txBody>
          <a:bodyPr wrap="square" lIns="0" tIns="0" rIns="0" bIns="0" rtlCol="0" anchor="ctr"/>
          <a:lstStyle/>
          <a:p>
            <a:pPr indent="0" marL="0">
              <a:buNone/>
            </a:pPr>
            <a:r>
              <a:rPr lang="en-US" sz="3400" b="1" dirty="0">
                <a:solidFill>
                  <a:srgbClr val="0F8B99"/>
                </a:solidFill>
                <a:latin typeface="Arial" pitchFamily="34" charset="0"/>
                <a:ea typeface="Arial" pitchFamily="34" charset="-122"/>
                <a:cs typeface="Arial" pitchFamily="34" charset="-120"/>
              </a:rPr>
              <a:t>48 of 50</a:t>
            </a:r>
            <a:endParaRPr lang="en-US" sz="3400" dirty="0"/>
          </a:p>
        </p:txBody>
      </p:sp>
      <p:sp>
        <p:nvSpPr>
          <p:cNvPr id="13" name="Text 10"/>
          <p:cNvSpPr txBox="1"/>
          <p:nvPr/>
        </p:nvSpPr>
        <p:spPr>
          <a:xfrm>
            <a:off x="6507328" y="2532888"/>
            <a:ext cx="2019224" cy="658368"/>
          </a:xfrm>
          <a:prstGeom prst="rect">
            <a:avLst/>
          </a:prstGeom>
          <a:noFill/>
          <a:ln/>
        </p:spPr>
        <p:txBody>
          <a:bodyPr wrap="square" lIns="0" tIns="0" rIns="0" bIns="0" rtlCol="0" anchor="t"/>
          <a:lstStyle/>
          <a:p>
            <a:pPr indent="0" marL="0">
              <a:buNone/>
            </a:pPr>
            <a:r>
              <a:rPr lang="en-US" sz="1200" dirty="0">
                <a:solidFill>
                  <a:srgbClr val="C8CCD2"/>
                </a:solidFill>
                <a:latin typeface="Calibri" pitchFamily="34" charset="0"/>
                <a:ea typeface="Calibri" pitchFamily="34" charset="-122"/>
                <a:cs typeface="Calibri" pitchFamily="34" charset="-120"/>
              </a:rPr>
              <a:t>Top global corporations trust Trend Micro</a:t>
            </a:r>
            <a:endParaRPr lang="en-US" sz="1200" dirty="0"/>
          </a:p>
        </p:txBody>
      </p:sp>
      <p:sp>
        <p:nvSpPr>
          <p:cNvPr id="14" name="Shape 11"/>
          <p:cNvSpPr/>
          <p:nvPr/>
        </p:nvSpPr>
        <p:spPr>
          <a:xfrm>
            <a:off x="9075191" y="1572768"/>
            <a:ext cx="2567864" cy="1783080"/>
          </a:xfrm>
          <a:prstGeom prst="roundRect">
            <a:avLst>
              <a:gd name="adj" fmla="val 7179"/>
            </a:avLst>
          </a:prstGeom>
          <a:solidFill>
            <a:srgbClr val="183247"/>
          </a:solidFill>
          <a:ln w="9525">
            <a:solidFill>
              <a:srgbClr val="284559"/>
            </a:solidFill>
            <a:prstDash val="solid"/>
          </a:ln>
        </p:spPr>
      </p:sp>
      <p:sp>
        <p:nvSpPr>
          <p:cNvPr id="15" name="Text 12"/>
          <p:cNvSpPr txBox="1"/>
          <p:nvPr/>
        </p:nvSpPr>
        <p:spPr>
          <a:xfrm>
            <a:off x="9349511" y="1801368"/>
            <a:ext cx="2019224" cy="685800"/>
          </a:xfrm>
          <a:prstGeom prst="rect">
            <a:avLst/>
          </a:prstGeom>
          <a:noFill/>
          <a:ln/>
        </p:spPr>
        <p:txBody>
          <a:bodyPr wrap="square" lIns="0" tIns="0" rIns="0" bIns="0" rtlCol="0" anchor="ctr"/>
          <a:lstStyle/>
          <a:p>
            <a:pPr indent="0" marL="0">
              <a:buNone/>
            </a:pPr>
            <a:r>
              <a:rPr lang="en-US" sz="3400" b="1" dirty="0">
                <a:solidFill>
                  <a:srgbClr val="0F8B99"/>
                </a:solidFill>
                <a:latin typeface="Arial" pitchFamily="34" charset="0"/>
                <a:ea typeface="Arial" pitchFamily="34" charset="-122"/>
                <a:cs typeface="Arial" pitchFamily="34" charset="-120"/>
              </a:rPr>
              <a:t>61%</a:t>
            </a:r>
            <a:endParaRPr lang="en-US" sz="3400" dirty="0"/>
          </a:p>
        </p:txBody>
      </p:sp>
      <p:sp>
        <p:nvSpPr>
          <p:cNvPr id="16" name="Text 13"/>
          <p:cNvSpPr txBox="1"/>
          <p:nvPr/>
        </p:nvSpPr>
        <p:spPr>
          <a:xfrm>
            <a:off x="9349511" y="2532888"/>
            <a:ext cx="2019224" cy="658368"/>
          </a:xfrm>
          <a:prstGeom prst="rect">
            <a:avLst/>
          </a:prstGeom>
          <a:noFill/>
          <a:ln/>
        </p:spPr>
        <p:txBody>
          <a:bodyPr wrap="square" lIns="0" tIns="0" rIns="0" bIns="0" rtlCol="0" anchor="t"/>
          <a:lstStyle/>
          <a:p>
            <a:pPr indent="0" marL="0">
              <a:buNone/>
            </a:pPr>
            <a:r>
              <a:rPr lang="en-US" sz="1200" dirty="0">
                <a:solidFill>
                  <a:srgbClr val="C8CCD2"/>
                </a:solidFill>
                <a:latin typeface="Calibri" pitchFamily="34" charset="0"/>
                <a:ea typeface="Calibri" pitchFamily="34" charset="-122"/>
                <a:cs typeface="Calibri" pitchFamily="34" charset="-120"/>
              </a:rPr>
              <a:t>Of disclosed zero-days in 2020 found by Trend Micro Research &amp; ZDI</a:t>
            </a:r>
            <a:endParaRPr lang="en-US" sz="1200" dirty="0"/>
          </a:p>
        </p:txBody>
      </p:sp>
      <p:sp>
        <p:nvSpPr>
          <p:cNvPr id="17" name="Shape 14"/>
          <p:cNvSpPr/>
          <p:nvPr/>
        </p:nvSpPr>
        <p:spPr>
          <a:xfrm>
            <a:off x="548640" y="3611880"/>
            <a:ext cx="4160520" cy="2377440"/>
          </a:xfrm>
          <a:prstGeom prst="roundRect">
            <a:avLst>
              <a:gd name="adj" fmla="val 5385"/>
            </a:avLst>
          </a:prstGeom>
          <a:solidFill>
            <a:srgbClr val="183247"/>
          </a:solidFill>
          <a:ln w="9525">
            <a:solidFill>
              <a:srgbClr val="284559"/>
            </a:solidFill>
            <a:prstDash val="solid"/>
          </a:ln>
        </p:spPr>
      </p:sp>
      <p:sp>
        <p:nvSpPr>
          <p:cNvPr id="18" name="Shape 15"/>
          <p:cNvSpPr/>
          <p:nvPr/>
        </p:nvSpPr>
        <p:spPr>
          <a:xfrm>
            <a:off x="822960" y="3886200"/>
            <a:ext cx="548640" cy="548640"/>
          </a:xfrm>
          <a:prstGeom prst="ellipse">
            <a:avLst/>
          </a:prstGeom>
          <a:solidFill>
            <a:srgbClr val="0F8B99"/>
          </a:solidFill>
          <a:ln w="12700">
            <a:solidFill>
              <a:srgbClr val="0F8B99"/>
            </a:solidFill>
            <a:prstDash val="solid"/>
          </a:ln>
        </p:spPr>
      </p:sp>
      <p:pic>
        <p:nvPicPr>
          <p:cNvPr id="19" name="Image 1" descr="preencoded.png">    </p:cNvPr>
          <p:cNvPicPr>
            <a:picLocks noChangeAspect="1"/>
          </p:cNvPicPr>
          <p:nvPr/>
        </p:nvPicPr>
        <p:blipFill>
          <a:blip r:embed="rId2"/>
          <a:stretch>
            <a:fillRect/>
          </a:stretch>
        </p:blipFill>
        <p:spPr>
          <a:xfrm>
            <a:off x="971093" y="4034333"/>
            <a:ext cx="252374" cy="252374"/>
          </a:xfrm>
          <a:prstGeom prst="rect">
            <a:avLst/>
          </a:prstGeom>
        </p:spPr>
      </p:pic>
      <p:sp>
        <p:nvSpPr>
          <p:cNvPr id="20" name="Text 16"/>
          <p:cNvSpPr txBox="1"/>
          <p:nvPr/>
        </p:nvSpPr>
        <p:spPr>
          <a:xfrm>
            <a:off x="1536192" y="3913632"/>
            <a:ext cx="2971800" cy="219456"/>
          </a:xfrm>
          <a:prstGeom prst="rect">
            <a:avLst/>
          </a:prstGeom>
          <a:noFill/>
          <a:ln/>
        </p:spPr>
        <p:txBody>
          <a:bodyPr wrap="square" lIns="0" tIns="0" rIns="0" bIns="0" rtlCol="0" anchor="t"/>
          <a:lstStyle/>
          <a:p>
            <a:pPr indent="0" marL="0">
              <a:buNone/>
            </a:pPr>
            <a:r>
              <a:rPr lang="en-US" sz="950" b="1" spc="120" kern="0" dirty="0">
                <a:solidFill>
                  <a:srgbClr val="0F8B99"/>
                </a:solidFill>
                <a:latin typeface="Calibri" pitchFamily="34" charset="0"/>
                <a:ea typeface="Calibri" pitchFamily="34" charset="-122"/>
                <a:cs typeface="Calibri" pitchFamily="34" charset="-120"/>
              </a:rPr>
              <a:t>QUICK-SERVICE RESTAURANTS</a:t>
            </a:r>
            <a:endParaRPr lang="en-US" sz="950" dirty="0"/>
          </a:p>
        </p:txBody>
      </p:sp>
      <p:sp>
        <p:nvSpPr>
          <p:cNvPr id="21" name="Text 17"/>
          <p:cNvSpPr txBox="1"/>
          <p:nvPr/>
        </p:nvSpPr>
        <p:spPr>
          <a:xfrm>
            <a:off x="1536192" y="4133088"/>
            <a:ext cx="2971800" cy="310896"/>
          </a:xfrm>
          <a:prstGeom prst="rect">
            <a:avLst/>
          </a:prstGeom>
          <a:noFill/>
          <a:ln/>
        </p:spPr>
        <p:txBody>
          <a:bodyPr wrap="square" lIns="0" tIns="0" rIns="0" bIns="0" rtlCol="0" anchor="t"/>
          <a:lstStyle/>
          <a:p>
            <a:pPr indent="0" marL="0">
              <a:buNone/>
            </a:pPr>
            <a:r>
              <a:rPr lang="en-US" sz="1450" b="1" dirty="0">
                <a:solidFill>
                  <a:srgbClr val="FFFFFF"/>
                </a:solidFill>
                <a:latin typeface="Arial" pitchFamily="34" charset="0"/>
                <a:ea typeface="Arial" pitchFamily="34" charset="-122"/>
                <a:cs typeface="Arial" pitchFamily="34" charset="-120"/>
              </a:rPr>
              <a:t>A&amp;W Food Services of Canada</a:t>
            </a:r>
            <a:endParaRPr lang="en-US" sz="1450" dirty="0"/>
          </a:p>
        </p:txBody>
      </p:sp>
      <p:sp>
        <p:nvSpPr>
          <p:cNvPr id="22" name="Text 18"/>
          <p:cNvSpPr txBox="1"/>
          <p:nvPr/>
        </p:nvSpPr>
        <p:spPr>
          <a:xfrm>
            <a:off x="822960" y="4636008"/>
            <a:ext cx="3611880" cy="685800"/>
          </a:xfrm>
          <a:prstGeom prst="rect">
            <a:avLst/>
          </a:prstGeom>
          <a:noFill/>
          <a:ln/>
        </p:spPr>
        <p:txBody>
          <a:bodyPr wrap="square" lIns="0" tIns="0" rIns="0" bIns="0" rtlCol="0" anchor="t"/>
          <a:lstStyle/>
          <a:p>
            <a:pPr indent="0" marL="0">
              <a:buNone/>
            </a:pPr>
            <a:r>
              <a:rPr lang="en-US" sz="1200" dirty="0">
                <a:solidFill>
                  <a:srgbClr val="C8CCD2"/>
                </a:solidFill>
                <a:latin typeface="Calibri" pitchFamily="34" charset="0"/>
                <a:ea typeface="Calibri" pitchFamily="34" charset="-122"/>
                <a:cs typeface="Calibri" pitchFamily="34" charset="-120"/>
              </a:rPr>
              <a:t>Replaced a heavy legacy endpoint product to cut system overhead and bring in security that works.</a:t>
            </a:r>
            <a:endParaRPr lang="en-US" sz="1200" dirty="0"/>
          </a:p>
        </p:txBody>
      </p:sp>
      <p:sp>
        <p:nvSpPr>
          <p:cNvPr id="23" name="Text 19"/>
          <p:cNvSpPr txBox="1"/>
          <p:nvPr/>
        </p:nvSpPr>
        <p:spPr>
          <a:xfrm>
            <a:off x="822960" y="5303520"/>
            <a:ext cx="3611880" cy="548640"/>
          </a:xfrm>
          <a:prstGeom prst="rect">
            <a:avLst/>
          </a:prstGeom>
          <a:noFill/>
          <a:ln/>
        </p:spPr>
        <p:txBody>
          <a:bodyPr wrap="square" lIns="0" tIns="0" rIns="0" bIns="0" rtlCol="0" anchor="b"/>
          <a:lstStyle/>
          <a:p>
            <a:pPr indent="0" marL="0">
              <a:buNone/>
            </a:pPr>
            <a:r>
              <a:rPr lang="en-US" sz="1150" b="1" i="1" dirty="0">
                <a:solidFill>
                  <a:srgbClr val="FFFFFF"/>
                </a:solidFill>
                <a:latin typeface="Calibri" pitchFamily="34" charset="0"/>
                <a:ea typeface="Calibri" pitchFamily="34" charset="-122"/>
                <a:cs typeface="Calibri" pitchFamily="34" charset="-120"/>
              </a:rPr>
              <a:t>“Trend Micro has stopped the infections.”</a:t>
            </a:r>
            <a:endParaRPr lang="en-US" sz="1150" dirty="0"/>
          </a:p>
          <a:p>
            <a:pPr indent="0" marL="0">
              <a:buNone/>
            </a:pPr>
            <a:r>
              <a:rPr lang="en-US" sz="1050" dirty="0">
                <a:solidFill>
                  <a:srgbClr val="9AA1AB"/>
                </a:solidFill>
                <a:latin typeface="Calibri" pitchFamily="34" charset="0"/>
                <a:ea typeface="Calibri" pitchFamily="34" charset="-122"/>
                <a:cs typeface="Calibri" pitchFamily="34" charset="-120"/>
              </a:rPr>
              <a:t>— Network Systems Manager</a:t>
            </a:r>
            <a:endParaRPr lang="en-US" sz="1150" dirty="0"/>
          </a:p>
        </p:txBody>
      </p:sp>
      <p:sp>
        <p:nvSpPr>
          <p:cNvPr id="24" name="Shape 20"/>
          <p:cNvSpPr/>
          <p:nvPr/>
        </p:nvSpPr>
        <p:spPr>
          <a:xfrm>
            <a:off x="4983480" y="3611880"/>
            <a:ext cx="4160520" cy="2377440"/>
          </a:xfrm>
          <a:prstGeom prst="roundRect">
            <a:avLst>
              <a:gd name="adj" fmla="val 5385"/>
            </a:avLst>
          </a:prstGeom>
          <a:solidFill>
            <a:srgbClr val="183247"/>
          </a:solidFill>
          <a:ln w="9525">
            <a:solidFill>
              <a:srgbClr val="284559"/>
            </a:solidFill>
            <a:prstDash val="solid"/>
          </a:ln>
        </p:spPr>
      </p:sp>
      <p:sp>
        <p:nvSpPr>
          <p:cNvPr id="25" name="Shape 21"/>
          <p:cNvSpPr/>
          <p:nvPr/>
        </p:nvSpPr>
        <p:spPr>
          <a:xfrm>
            <a:off x="5257800" y="3886200"/>
            <a:ext cx="548640" cy="548640"/>
          </a:xfrm>
          <a:prstGeom prst="ellipse">
            <a:avLst/>
          </a:prstGeom>
          <a:solidFill>
            <a:srgbClr val="0F8B99"/>
          </a:solidFill>
          <a:ln w="12700">
            <a:solidFill>
              <a:srgbClr val="0F8B99"/>
            </a:solidFill>
            <a:prstDash val="solid"/>
          </a:ln>
        </p:spPr>
      </p:sp>
      <p:pic>
        <p:nvPicPr>
          <p:cNvPr id="26" name="Image 2" descr="preencoded.png">    </p:cNvPr>
          <p:cNvPicPr>
            <a:picLocks noChangeAspect="1"/>
          </p:cNvPicPr>
          <p:nvPr/>
        </p:nvPicPr>
        <p:blipFill>
          <a:blip r:embed="rId3"/>
          <a:stretch>
            <a:fillRect/>
          </a:stretch>
        </p:blipFill>
        <p:spPr>
          <a:xfrm>
            <a:off x="5405933" y="4034333"/>
            <a:ext cx="252374" cy="252374"/>
          </a:xfrm>
          <a:prstGeom prst="rect">
            <a:avLst/>
          </a:prstGeom>
        </p:spPr>
      </p:pic>
      <p:sp>
        <p:nvSpPr>
          <p:cNvPr id="27" name="Text 22"/>
          <p:cNvSpPr txBox="1"/>
          <p:nvPr/>
        </p:nvSpPr>
        <p:spPr>
          <a:xfrm>
            <a:off x="5971032" y="3913632"/>
            <a:ext cx="2971800" cy="219456"/>
          </a:xfrm>
          <a:prstGeom prst="rect">
            <a:avLst/>
          </a:prstGeom>
          <a:noFill/>
          <a:ln/>
        </p:spPr>
        <p:txBody>
          <a:bodyPr wrap="square" lIns="0" tIns="0" rIns="0" bIns="0" rtlCol="0" anchor="t"/>
          <a:lstStyle/>
          <a:p>
            <a:pPr indent="0" marL="0">
              <a:buNone/>
            </a:pPr>
            <a:r>
              <a:rPr lang="en-US" sz="950" b="1" spc="120" kern="0" dirty="0">
                <a:solidFill>
                  <a:srgbClr val="0F8B99"/>
                </a:solidFill>
                <a:latin typeface="Calibri" pitchFamily="34" charset="0"/>
                <a:ea typeface="Calibri" pitchFamily="34" charset="-122"/>
                <a:cs typeface="Calibri" pitchFamily="34" charset="-120"/>
              </a:rPr>
              <a:t>NATIONWIDE NETWORK</a:t>
            </a:r>
            <a:endParaRPr lang="en-US" sz="950" dirty="0"/>
          </a:p>
        </p:txBody>
      </p:sp>
      <p:sp>
        <p:nvSpPr>
          <p:cNvPr id="28" name="Text 23"/>
          <p:cNvSpPr txBox="1"/>
          <p:nvPr/>
        </p:nvSpPr>
        <p:spPr>
          <a:xfrm>
            <a:off x="5971032" y="4133088"/>
            <a:ext cx="2971800" cy="310896"/>
          </a:xfrm>
          <a:prstGeom prst="rect">
            <a:avLst/>
          </a:prstGeom>
          <a:noFill/>
          <a:ln/>
        </p:spPr>
        <p:txBody>
          <a:bodyPr wrap="square" lIns="0" tIns="0" rIns="0" bIns="0" rtlCol="0" anchor="t"/>
          <a:lstStyle/>
          <a:p>
            <a:pPr indent="0" marL="0">
              <a:buNone/>
            </a:pPr>
            <a:r>
              <a:rPr lang="en-US" sz="1450" b="1" dirty="0">
                <a:solidFill>
                  <a:srgbClr val="FFFFFF"/>
                </a:solidFill>
                <a:latin typeface="Arial" pitchFamily="34" charset="0"/>
                <a:ea typeface="Arial" pitchFamily="34" charset="-122"/>
                <a:cs typeface="Arial" pitchFamily="34" charset="-120"/>
              </a:rPr>
              <a:t>DCI Donor Services</a:t>
            </a:r>
            <a:endParaRPr lang="en-US" sz="1450" dirty="0"/>
          </a:p>
        </p:txBody>
      </p:sp>
      <p:sp>
        <p:nvSpPr>
          <p:cNvPr id="29" name="Text 24"/>
          <p:cNvSpPr txBox="1"/>
          <p:nvPr/>
        </p:nvSpPr>
        <p:spPr>
          <a:xfrm>
            <a:off x="5257800" y="4636008"/>
            <a:ext cx="3611880" cy="685800"/>
          </a:xfrm>
          <a:prstGeom prst="rect">
            <a:avLst/>
          </a:prstGeom>
          <a:noFill/>
          <a:ln/>
        </p:spPr>
        <p:txBody>
          <a:bodyPr wrap="square" lIns="0" tIns="0" rIns="0" bIns="0" rtlCol="0" anchor="t"/>
          <a:lstStyle/>
          <a:p>
            <a:pPr indent="0" marL="0">
              <a:buNone/>
            </a:pPr>
            <a:r>
              <a:rPr lang="en-US" sz="1200" dirty="0">
                <a:solidFill>
                  <a:srgbClr val="C8CCD2"/>
                </a:solidFill>
                <a:latin typeface="Calibri" pitchFamily="34" charset="0"/>
                <a:ea typeface="Calibri" pitchFamily="34" charset="-122"/>
                <a:cs typeface="Calibri" pitchFamily="34" charset="-120"/>
              </a:rPr>
              <a:t>Secures mobile and desktop devices across a country-wide network under one platform, improving team productivity.</a:t>
            </a:r>
            <a:endParaRPr lang="en-US" sz="1200" dirty="0"/>
          </a:p>
        </p:txBody>
      </p:sp>
      <p:sp>
        <p:nvSpPr>
          <p:cNvPr id="30" name="Text 25"/>
          <p:cNvSpPr txBox="1"/>
          <p:nvPr/>
        </p:nvSpPr>
        <p:spPr>
          <a:xfrm>
            <a:off x="5257800" y="5303520"/>
            <a:ext cx="3611880" cy="548640"/>
          </a:xfrm>
          <a:prstGeom prst="rect">
            <a:avLst/>
          </a:prstGeom>
          <a:noFill/>
          <a:ln/>
        </p:spPr>
        <p:txBody>
          <a:bodyPr wrap="square" lIns="0" tIns="0" rIns="0" bIns="0" rtlCol="0" anchor="b"/>
          <a:lstStyle/>
          <a:p>
            <a:pPr indent="0" marL="0">
              <a:buNone/>
            </a:pPr>
            <a:r>
              <a:rPr lang="en-US" sz="1050" dirty="0">
                <a:solidFill>
                  <a:srgbClr val="9AA1AB"/>
                </a:solidFill>
                <a:latin typeface="Calibri" pitchFamily="34" charset="0"/>
                <a:ea typeface="Calibri" pitchFamily="34" charset="-122"/>
                <a:cs typeface="Calibri" pitchFamily="34" charset="-120"/>
              </a:rPr>
              <a:t>— IT Director</a:t>
            </a:r>
            <a:endParaRPr lang="en-US" sz="1150" dirty="0"/>
          </a:p>
        </p:txBody>
      </p:sp>
      <p:sp>
        <p:nvSpPr>
          <p:cNvPr id="31" name="Shape 26"/>
          <p:cNvSpPr/>
          <p:nvPr/>
        </p:nvSpPr>
        <p:spPr>
          <a:xfrm>
            <a:off x="9418320" y="3611880"/>
            <a:ext cx="2224735" cy="2377440"/>
          </a:xfrm>
          <a:prstGeom prst="roundRect">
            <a:avLst>
              <a:gd name="adj" fmla="val 5754"/>
            </a:avLst>
          </a:prstGeom>
          <a:solidFill>
            <a:srgbClr val="0F8B99"/>
          </a:solidFill>
          <a:ln w="12700">
            <a:solidFill>
              <a:srgbClr val="0F8B99"/>
            </a:solidFill>
            <a:prstDash val="solid"/>
          </a:ln>
        </p:spPr>
      </p:sp>
      <p:pic>
        <p:nvPicPr>
          <p:cNvPr id="32" name="Image 3" descr="preencoded.png">    </p:cNvPr>
          <p:cNvPicPr>
            <a:picLocks noChangeAspect="1"/>
          </p:cNvPicPr>
          <p:nvPr/>
        </p:nvPicPr>
        <p:blipFill>
          <a:blip r:embed="rId4"/>
          <a:stretch>
            <a:fillRect/>
          </a:stretch>
        </p:blipFill>
        <p:spPr>
          <a:xfrm>
            <a:off x="9692640" y="3886200"/>
            <a:ext cx="457200" cy="457200"/>
          </a:xfrm>
          <a:prstGeom prst="rect">
            <a:avLst/>
          </a:prstGeom>
        </p:spPr>
      </p:pic>
      <p:sp>
        <p:nvSpPr>
          <p:cNvPr id="33" name="Text 27"/>
          <p:cNvSpPr txBox="1"/>
          <p:nvPr/>
        </p:nvSpPr>
        <p:spPr>
          <a:xfrm>
            <a:off x="9692640" y="4480560"/>
            <a:ext cx="1676095" cy="237744"/>
          </a:xfrm>
          <a:prstGeom prst="rect">
            <a:avLst/>
          </a:prstGeom>
          <a:noFill/>
          <a:ln/>
        </p:spPr>
        <p:txBody>
          <a:bodyPr wrap="square" lIns="0" tIns="0" rIns="0" bIns="0" rtlCol="0" anchor="t"/>
          <a:lstStyle/>
          <a:p>
            <a:pPr indent="0" marL="0">
              <a:buNone/>
            </a:pPr>
            <a:r>
              <a:rPr lang="en-US" sz="1000" b="1" spc="200" kern="0" dirty="0">
                <a:solidFill>
                  <a:srgbClr val="FFFFFF"/>
                </a:solidFill>
                <a:latin typeface="Calibri" pitchFamily="34" charset="0"/>
                <a:ea typeface="Calibri" pitchFamily="34" charset="-122"/>
                <a:cs typeface="Calibri" pitchFamily="34" charset="-120"/>
              </a:rPr>
              <a:t>RECOGNITION</a:t>
            </a:r>
            <a:endParaRPr lang="en-US" sz="1000" dirty="0"/>
          </a:p>
        </p:txBody>
      </p:sp>
      <p:sp>
        <p:nvSpPr>
          <p:cNvPr id="34" name="Text 28"/>
          <p:cNvSpPr txBox="1"/>
          <p:nvPr/>
        </p:nvSpPr>
        <p:spPr>
          <a:xfrm>
            <a:off x="9692640" y="4754880"/>
            <a:ext cx="1676095" cy="100584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Named a Leader in The Forrester Wave™: Endpoint Security, Q4 2023</a:t>
            </a:r>
            <a:endParaRPr lang="en-US" sz="1250" dirty="0"/>
          </a:p>
        </p:txBody>
      </p:sp>
      <p:sp>
        <p:nvSpPr>
          <p:cNvPr id="35" name="Text 29"/>
          <p:cNvSpPr txBox="1"/>
          <p:nvPr/>
        </p:nvSpPr>
        <p:spPr>
          <a:xfrm>
            <a:off x="548640" y="6108192"/>
            <a:ext cx="11094415" cy="237744"/>
          </a:xfrm>
          <a:prstGeom prst="rect">
            <a:avLst/>
          </a:prstGeom>
          <a:noFill/>
          <a:ln/>
        </p:spPr>
        <p:txBody>
          <a:bodyPr wrap="square" lIns="0" tIns="0" rIns="0" bIns="0" rtlCol="0" anchor="b"/>
          <a:lstStyle/>
          <a:p>
            <a:pPr indent="0" marL="0">
              <a:buNone/>
            </a:pPr>
            <a:r>
              <a:rPr lang="en-US" sz="800" i="1" dirty="0">
                <a:solidFill>
                  <a:srgbClr val="858C96"/>
                </a:solidFill>
                <a:latin typeface="Calibri" pitchFamily="34" charset="0"/>
                <a:ea typeface="Calibri" pitchFamily="34" charset="-122"/>
                <a:cs typeface="Calibri" pitchFamily="34" charset="-120"/>
              </a:rPr>
              <a:t>Sources: Trend Micro Apex One™ Solution Brief and Datasheet; Trend Micro Apex One product overview; customer quotes as published by Trend Micro.</a:t>
            </a:r>
            <a:endParaRPr lang="en-US" sz="800" dirty="0"/>
          </a:p>
        </p:txBody>
      </p:sp>
      <p:sp>
        <p:nvSpPr>
          <p:cNvPr id="36" name="Text 30"/>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9AA1AB"/>
                </a:solidFill>
                <a:latin typeface="Calibri" pitchFamily="34" charset="0"/>
                <a:ea typeface="Calibri" pitchFamily="34" charset="-122"/>
                <a:cs typeface="Calibri" pitchFamily="34" charset="-120"/>
              </a:rPr>
              <a:t>15   |   Nessus vs. Trend Micro Apex One™  ·  Proposal for The Westin Resort Guam</a:t>
            </a:r>
            <a:endParaRPr lang="en-US" sz="900" dirty="0"/>
          </a:p>
        </p:txBody>
      </p:sp>
      <p:pic>
        <p:nvPicPr>
          <p:cNvPr id="37" name="Image 4" descr="/private/tmp/claude-501/-Users-jihanvin-Desktop-NIVNAH-AI/16a96446-d9b3-40e2-af9e-a3011ae3db84/scratchpad/assets/secukorea_light.png">    </p:cNvPr>
          <p:cNvPicPr>
            <a:picLocks noChangeAspect="1"/>
          </p:cNvPicPr>
          <p:nvPr/>
        </p:nvPicPr>
        <p:blipFill>
          <a:blip r:embed="rId5"/>
          <a:stretch>
            <a:fillRect/>
          </a:stretch>
        </p:blipFill>
        <p:spPr>
          <a:xfrm>
            <a:off x="10661904" y="6400800"/>
            <a:ext cx="978408" cy="2331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14   RECOMMENDATION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Recommendation: Replace Nessus with Apex One</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54480"/>
            <a:ext cx="6126480" cy="868680"/>
          </a:xfrm>
          <a:prstGeom prst="roundRect">
            <a:avLst>
              <a:gd name="adj" fmla="val 12632"/>
            </a:avLst>
          </a:prstGeom>
          <a:solidFill>
            <a:srgbClr val="10243A"/>
          </a:solidFill>
          <a:ln w="12700">
            <a:solidFill>
              <a:srgbClr val="10243A"/>
            </a:solidFill>
            <a:prstDash val="solid"/>
          </a:ln>
        </p:spPr>
      </p:sp>
      <p:sp>
        <p:nvSpPr>
          <p:cNvPr id="6" name="Shape 3"/>
          <p:cNvSpPr/>
          <p:nvPr/>
        </p:nvSpPr>
        <p:spPr>
          <a:xfrm>
            <a:off x="777240" y="1709928"/>
            <a:ext cx="548640" cy="548640"/>
          </a:xfrm>
          <a:prstGeom prst="ellipse">
            <a:avLst/>
          </a:prstGeom>
          <a:solidFill>
            <a:srgbClr val="0F8B99"/>
          </a:solidFill>
          <a:ln w="12700">
            <a:solidFill>
              <a:srgbClr val="0F8B99"/>
            </a:solidFill>
            <a:prstDash val="solid"/>
          </a:ln>
        </p:spPr>
      </p:sp>
      <p:pic>
        <p:nvPicPr>
          <p:cNvPr id="7" name="Image 1" descr="preencoded.png">    </p:cNvPr>
          <p:cNvPicPr>
            <a:picLocks noChangeAspect="1"/>
          </p:cNvPicPr>
          <p:nvPr/>
        </p:nvPicPr>
        <p:blipFill>
          <a:blip r:embed="rId2"/>
          <a:stretch>
            <a:fillRect/>
          </a:stretch>
        </p:blipFill>
        <p:spPr>
          <a:xfrm>
            <a:off x="925373" y="1858061"/>
            <a:ext cx="252374" cy="252374"/>
          </a:xfrm>
          <a:prstGeom prst="rect">
            <a:avLst/>
          </a:prstGeom>
        </p:spPr>
      </p:pic>
      <p:sp>
        <p:nvSpPr>
          <p:cNvPr id="8" name="Text 4"/>
          <p:cNvSpPr txBox="1"/>
          <p:nvPr/>
        </p:nvSpPr>
        <p:spPr>
          <a:xfrm>
            <a:off x="1508760" y="1554480"/>
            <a:ext cx="502920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Apex One on-premises server</a:t>
            </a:r>
            <a:endParaRPr lang="en-US" sz="1200" dirty="0"/>
          </a:p>
          <a:p>
            <a:pPr indent="0" marL="0">
              <a:buNone/>
            </a:pPr>
            <a:r>
              <a:rPr lang="en-US" sz="1100" dirty="0">
                <a:solidFill>
                  <a:srgbClr val="C8CCD2"/>
                </a:solidFill>
                <a:latin typeface="Calibri" pitchFamily="34" charset="0"/>
                <a:ea typeface="Calibri" pitchFamily="34" charset="-122"/>
                <a:cs typeface="Calibri" pitchFamily="34" charset="-120"/>
              </a:rPr>
              <a:t>Apex Central console · Policies · Virtual patches · Reporting</a:t>
            </a:r>
            <a:endParaRPr lang="en-US" sz="1200" dirty="0"/>
          </a:p>
        </p:txBody>
      </p:sp>
      <p:sp>
        <p:nvSpPr>
          <p:cNvPr id="9" name="Shape 5"/>
          <p:cNvSpPr/>
          <p:nvPr/>
        </p:nvSpPr>
        <p:spPr>
          <a:xfrm>
            <a:off x="1263015" y="2423160"/>
            <a:ext cx="0" cy="411480"/>
          </a:xfrm>
          <a:prstGeom prst="line">
            <a:avLst/>
          </a:prstGeom>
          <a:noFill/>
          <a:ln w="19050">
            <a:solidFill>
              <a:srgbClr val="0F8B99"/>
            </a:solidFill>
            <a:prstDash val="solid"/>
          </a:ln>
        </p:spPr>
      </p:sp>
      <p:sp>
        <p:nvSpPr>
          <p:cNvPr id="10" name="Shape 6"/>
          <p:cNvSpPr/>
          <p:nvPr/>
        </p:nvSpPr>
        <p:spPr>
          <a:xfrm>
            <a:off x="548640" y="2834640"/>
            <a:ext cx="1428750" cy="1234440"/>
          </a:xfrm>
          <a:prstGeom prst="roundRect">
            <a:avLst>
              <a:gd name="adj" fmla="val 8889"/>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pic>
        <p:nvPicPr>
          <p:cNvPr id="11" name="Image 2" descr="preencoded.png">    </p:cNvPr>
          <p:cNvPicPr>
            <a:picLocks noChangeAspect="1"/>
          </p:cNvPicPr>
          <p:nvPr/>
        </p:nvPicPr>
        <p:blipFill>
          <a:blip r:embed="rId3"/>
          <a:stretch>
            <a:fillRect/>
          </a:stretch>
        </p:blipFill>
        <p:spPr>
          <a:xfrm>
            <a:off x="1080135" y="2971800"/>
            <a:ext cx="365760" cy="365760"/>
          </a:xfrm>
          <a:prstGeom prst="rect">
            <a:avLst/>
          </a:prstGeom>
        </p:spPr>
      </p:pic>
      <p:sp>
        <p:nvSpPr>
          <p:cNvPr id="12" name="Text 7"/>
          <p:cNvSpPr txBox="1"/>
          <p:nvPr/>
        </p:nvSpPr>
        <p:spPr>
          <a:xfrm>
            <a:off x="640080" y="3383280"/>
            <a:ext cx="1245870" cy="420624"/>
          </a:xfrm>
          <a:prstGeom prst="rect">
            <a:avLst/>
          </a:prstGeom>
          <a:noFill/>
          <a:ln/>
        </p:spPr>
        <p:txBody>
          <a:bodyPr wrap="square" lIns="0" tIns="0" rIns="0" bIns="0" rtlCol="0" anchor="ctr"/>
          <a:lstStyle/>
          <a:p>
            <a:pPr algn="ctr" indent="0" marL="0">
              <a:buNone/>
            </a:pPr>
            <a:r>
              <a:rPr lang="en-US" sz="1050" b="1" dirty="0">
                <a:solidFill>
                  <a:srgbClr val="0E2233"/>
                </a:solidFill>
                <a:latin typeface="Calibri" pitchFamily="34" charset="0"/>
                <a:ea typeface="Calibri" pitchFamily="34" charset="-122"/>
                <a:cs typeface="Calibri" pitchFamily="34" charset="-120"/>
              </a:rPr>
              <a:t>Front desk &amp; PMS workstations</a:t>
            </a:r>
            <a:endParaRPr lang="en-US" sz="1050" dirty="0"/>
          </a:p>
        </p:txBody>
      </p:sp>
      <p:sp>
        <p:nvSpPr>
          <p:cNvPr id="13" name="Shape 8"/>
          <p:cNvSpPr/>
          <p:nvPr/>
        </p:nvSpPr>
        <p:spPr>
          <a:xfrm>
            <a:off x="760095" y="3840480"/>
            <a:ext cx="1005840" cy="201168"/>
          </a:xfrm>
          <a:prstGeom prst="roundRect">
            <a:avLst>
              <a:gd name="adj" fmla="val 50000"/>
            </a:avLst>
          </a:prstGeom>
          <a:solidFill>
            <a:srgbClr val="0F8B99"/>
          </a:solidFill>
          <a:ln w="12700">
            <a:solidFill>
              <a:srgbClr val="0F8B99"/>
            </a:solidFill>
            <a:prstDash val="solid"/>
          </a:ln>
        </p:spPr>
      </p:sp>
      <p:sp>
        <p:nvSpPr>
          <p:cNvPr id="14" name="Text 9"/>
          <p:cNvSpPr txBox="1"/>
          <p:nvPr/>
        </p:nvSpPr>
        <p:spPr>
          <a:xfrm>
            <a:off x="760095" y="3840480"/>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Apex One agent</a:t>
            </a:r>
            <a:endParaRPr lang="en-US" sz="800" dirty="0"/>
          </a:p>
        </p:txBody>
      </p:sp>
      <p:sp>
        <p:nvSpPr>
          <p:cNvPr id="15" name="Shape 10"/>
          <p:cNvSpPr/>
          <p:nvPr/>
        </p:nvSpPr>
        <p:spPr>
          <a:xfrm>
            <a:off x="2828925" y="2423160"/>
            <a:ext cx="0" cy="411480"/>
          </a:xfrm>
          <a:prstGeom prst="line">
            <a:avLst/>
          </a:prstGeom>
          <a:noFill/>
          <a:ln w="19050">
            <a:solidFill>
              <a:srgbClr val="0F8B99"/>
            </a:solidFill>
            <a:prstDash val="solid"/>
          </a:ln>
        </p:spPr>
      </p:sp>
      <p:sp>
        <p:nvSpPr>
          <p:cNvPr id="16" name="Shape 11"/>
          <p:cNvSpPr/>
          <p:nvPr/>
        </p:nvSpPr>
        <p:spPr>
          <a:xfrm>
            <a:off x="2114550" y="2834640"/>
            <a:ext cx="1428750" cy="1234440"/>
          </a:xfrm>
          <a:prstGeom prst="roundRect">
            <a:avLst>
              <a:gd name="adj" fmla="val 8889"/>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2646045" y="2971800"/>
            <a:ext cx="365760" cy="365760"/>
          </a:xfrm>
          <a:prstGeom prst="rect">
            <a:avLst/>
          </a:prstGeom>
        </p:spPr>
      </p:pic>
      <p:sp>
        <p:nvSpPr>
          <p:cNvPr id="18" name="Text 12"/>
          <p:cNvSpPr txBox="1"/>
          <p:nvPr/>
        </p:nvSpPr>
        <p:spPr>
          <a:xfrm>
            <a:off x="2205990" y="3383280"/>
            <a:ext cx="1245870" cy="420624"/>
          </a:xfrm>
          <a:prstGeom prst="rect">
            <a:avLst/>
          </a:prstGeom>
          <a:noFill/>
          <a:ln/>
        </p:spPr>
        <p:txBody>
          <a:bodyPr wrap="square" lIns="0" tIns="0" rIns="0" bIns="0" rtlCol="0" anchor="ctr"/>
          <a:lstStyle/>
          <a:p>
            <a:pPr algn="ctr" indent="0" marL="0">
              <a:buNone/>
            </a:pPr>
            <a:r>
              <a:rPr lang="en-US" sz="1050" b="1" dirty="0">
                <a:solidFill>
                  <a:srgbClr val="0E2233"/>
                </a:solidFill>
                <a:latin typeface="Calibri" pitchFamily="34" charset="0"/>
                <a:ea typeface="Calibri" pitchFamily="34" charset="-122"/>
                <a:cs typeface="Calibri" pitchFamily="34" charset="-120"/>
              </a:rPr>
              <a:t>Back-office &amp; admin PCs</a:t>
            </a:r>
            <a:endParaRPr lang="en-US" sz="1050" dirty="0"/>
          </a:p>
        </p:txBody>
      </p:sp>
      <p:sp>
        <p:nvSpPr>
          <p:cNvPr id="19" name="Shape 13"/>
          <p:cNvSpPr/>
          <p:nvPr/>
        </p:nvSpPr>
        <p:spPr>
          <a:xfrm>
            <a:off x="2326005" y="3840480"/>
            <a:ext cx="1005840" cy="201168"/>
          </a:xfrm>
          <a:prstGeom prst="roundRect">
            <a:avLst>
              <a:gd name="adj" fmla="val 50000"/>
            </a:avLst>
          </a:prstGeom>
          <a:solidFill>
            <a:srgbClr val="0F8B99"/>
          </a:solidFill>
          <a:ln w="12700">
            <a:solidFill>
              <a:srgbClr val="0F8B99"/>
            </a:solidFill>
            <a:prstDash val="solid"/>
          </a:ln>
        </p:spPr>
      </p:sp>
      <p:sp>
        <p:nvSpPr>
          <p:cNvPr id="20" name="Text 14"/>
          <p:cNvSpPr txBox="1"/>
          <p:nvPr/>
        </p:nvSpPr>
        <p:spPr>
          <a:xfrm>
            <a:off x="2326005" y="3840480"/>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Apex One agent</a:t>
            </a:r>
            <a:endParaRPr lang="en-US" sz="800" dirty="0"/>
          </a:p>
        </p:txBody>
      </p:sp>
      <p:sp>
        <p:nvSpPr>
          <p:cNvPr id="21" name="Shape 15"/>
          <p:cNvSpPr/>
          <p:nvPr/>
        </p:nvSpPr>
        <p:spPr>
          <a:xfrm>
            <a:off x="4394835" y="2423160"/>
            <a:ext cx="0" cy="411480"/>
          </a:xfrm>
          <a:prstGeom prst="line">
            <a:avLst/>
          </a:prstGeom>
          <a:noFill/>
          <a:ln w="19050">
            <a:solidFill>
              <a:srgbClr val="0F8B99"/>
            </a:solidFill>
            <a:prstDash val="solid"/>
          </a:ln>
        </p:spPr>
      </p:sp>
      <p:sp>
        <p:nvSpPr>
          <p:cNvPr id="22" name="Shape 16"/>
          <p:cNvSpPr/>
          <p:nvPr/>
        </p:nvSpPr>
        <p:spPr>
          <a:xfrm>
            <a:off x="3680460" y="2834640"/>
            <a:ext cx="1428750" cy="1234440"/>
          </a:xfrm>
          <a:prstGeom prst="roundRect">
            <a:avLst>
              <a:gd name="adj" fmla="val 8889"/>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pic>
        <p:nvPicPr>
          <p:cNvPr id="23" name="Image 4" descr="preencoded.png">    </p:cNvPr>
          <p:cNvPicPr>
            <a:picLocks noChangeAspect="1"/>
          </p:cNvPicPr>
          <p:nvPr/>
        </p:nvPicPr>
        <p:blipFill>
          <a:blip r:embed="rId5"/>
          <a:stretch>
            <a:fillRect/>
          </a:stretch>
        </p:blipFill>
        <p:spPr>
          <a:xfrm>
            <a:off x="4211955" y="2971800"/>
            <a:ext cx="365760" cy="365760"/>
          </a:xfrm>
          <a:prstGeom prst="rect">
            <a:avLst/>
          </a:prstGeom>
        </p:spPr>
      </p:pic>
      <p:sp>
        <p:nvSpPr>
          <p:cNvPr id="24" name="Text 17"/>
          <p:cNvSpPr txBox="1"/>
          <p:nvPr/>
        </p:nvSpPr>
        <p:spPr>
          <a:xfrm>
            <a:off x="3771900" y="3383280"/>
            <a:ext cx="1245870" cy="420624"/>
          </a:xfrm>
          <a:prstGeom prst="rect">
            <a:avLst/>
          </a:prstGeom>
          <a:noFill/>
          <a:ln/>
        </p:spPr>
        <p:txBody>
          <a:bodyPr wrap="square" lIns="0" tIns="0" rIns="0" bIns="0" rtlCol="0" anchor="ctr"/>
          <a:lstStyle/>
          <a:p>
            <a:pPr algn="ctr" indent="0" marL="0">
              <a:buNone/>
            </a:pPr>
            <a:r>
              <a:rPr lang="en-US" sz="1050" b="1" dirty="0">
                <a:solidFill>
                  <a:srgbClr val="0E2233"/>
                </a:solidFill>
                <a:latin typeface="Calibri" pitchFamily="34" charset="0"/>
                <a:ea typeface="Calibri" pitchFamily="34" charset="-122"/>
                <a:cs typeface="Calibri" pitchFamily="34" charset="-120"/>
              </a:rPr>
              <a:t>Servers</a:t>
            </a:r>
            <a:endParaRPr lang="en-US" sz="1050" dirty="0"/>
          </a:p>
        </p:txBody>
      </p:sp>
      <p:sp>
        <p:nvSpPr>
          <p:cNvPr id="25" name="Shape 18"/>
          <p:cNvSpPr/>
          <p:nvPr/>
        </p:nvSpPr>
        <p:spPr>
          <a:xfrm>
            <a:off x="3891915" y="3840480"/>
            <a:ext cx="1005840" cy="201168"/>
          </a:xfrm>
          <a:prstGeom prst="roundRect">
            <a:avLst>
              <a:gd name="adj" fmla="val 50000"/>
            </a:avLst>
          </a:prstGeom>
          <a:solidFill>
            <a:srgbClr val="0F8B99"/>
          </a:solidFill>
          <a:ln w="12700">
            <a:solidFill>
              <a:srgbClr val="0F8B99"/>
            </a:solidFill>
            <a:prstDash val="solid"/>
          </a:ln>
        </p:spPr>
      </p:sp>
      <p:sp>
        <p:nvSpPr>
          <p:cNvPr id="26" name="Text 19"/>
          <p:cNvSpPr txBox="1"/>
          <p:nvPr/>
        </p:nvSpPr>
        <p:spPr>
          <a:xfrm>
            <a:off x="3891915" y="3840480"/>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Apex One agent</a:t>
            </a:r>
            <a:endParaRPr lang="en-US" sz="800" dirty="0"/>
          </a:p>
        </p:txBody>
      </p:sp>
      <p:sp>
        <p:nvSpPr>
          <p:cNvPr id="27" name="Shape 20"/>
          <p:cNvSpPr/>
          <p:nvPr/>
        </p:nvSpPr>
        <p:spPr>
          <a:xfrm>
            <a:off x="5960745" y="2423160"/>
            <a:ext cx="0" cy="411480"/>
          </a:xfrm>
          <a:prstGeom prst="line">
            <a:avLst/>
          </a:prstGeom>
          <a:noFill/>
          <a:ln w="19050">
            <a:solidFill>
              <a:srgbClr val="0F8B99"/>
            </a:solidFill>
            <a:prstDash val="solid"/>
          </a:ln>
        </p:spPr>
      </p:sp>
      <p:sp>
        <p:nvSpPr>
          <p:cNvPr id="28" name="Shape 21"/>
          <p:cNvSpPr/>
          <p:nvPr/>
        </p:nvSpPr>
        <p:spPr>
          <a:xfrm>
            <a:off x="5246370" y="2834640"/>
            <a:ext cx="1428750" cy="1234440"/>
          </a:xfrm>
          <a:prstGeom prst="roundRect">
            <a:avLst>
              <a:gd name="adj" fmla="val 8889"/>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pic>
        <p:nvPicPr>
          <p:cNvPr id="29" name="Image 5" descr="preencoded.png">    </p:cNvPr>
          <p:cNvPicPr>
            <a:picLocks noChangeAspect="1"/>
          </p:cNvPicPr>
          <p:nvPr/>
        </p:nvPicPr>
        <p:blipFill>
          <a:blip r:embed="rId6"/>
          <a:stretch>
            <a:fillRect/>
          </a:stretch>
        </p:blipFill>
        <p:spPr>
          <a:xfrm>
            <a:off x="5777865" y="2971800"/>
            <a:ext cx="365760" cy="365760"/>
          </a:xfrm>
          <a:prstGeom prst="rect">
            <a:avLst/>
          </a:prstGeom>
        </p:spPr>
      </p:pic>
      <p:sp>
        <p:nvSpPr>
          <p:cNvPr id="30" name="Text 22"/>
          <p:cNvSpPr txBox="1"/>
          <p:nvPr/>
        </p:nvSpPr>
        <p:spPr>
          <a:xfrm>
            <a:off x="5337810" y="3383280"/>
            <a:ext cx="1245870" cy="420624"/>
          </a:xfrm>
          <a:prstGeom prst="rect">
            <a:avLst/>
          </a:prstGeom>
          <a:noFill/>
          <a:ln/>
        </p:spPr>
        <p:txBody>
          <a:bodyPr wrap="square" lIns="0" tIns="0" rIns="0" bIns="0" rtlCol="0" anchor="ctr"/>
          <a:lstStyle/>
          <a:p>
            <a:pPr algn="ctr" indent="0" marL="0">
              <a:buNone/>
            </a:pPr>
            <a:r>
              <a:rPr lang="en-US" sz="1050" b="1" dirty="0">
                <a:solidFill>
                  <a:srgbClr val="0E2233"/>
                </a:solidFill>
                <a:latin typeface="Calibri" pitchFamily="34" charset="0"/>
                <a:ea typeface="Calibri" pitchFamily="34" charset="-122"/>
                <a:cs typeface="Calibri" pitchFamily="34" charset="-120"/>
              </a:rPr>
              <a:t>Shared &amp; guest-service PCs</a:t>
            </a:r>
            <a:endParaRPr lang="en-US" sz="1050" dirty="0"/>
          </a:p>
        </p:txBody>
      </p:sp>
      <p:sp>
        <p:nvSpPr>
          <p:cNvPr id="31" name="Shape 23"/>
          <p:cNvSpPr/>
          <p:nvPr/>
        </p:nvSpPr>
        <p:spPr>
          <a:xfrm>
            <a:off x="5457825" y="3840480"/>
            <a:ext cx="1005840" cy="201168"/>
          </a:xfrm>
          <a:prstGeom prst="roundRect">
            <a:avLst>
              <a:gd name="adj" fmla="val 50000"/>
            </a:avLst>
          </a:prstGeom>
          <a:solidFill>
            <a:srgbClr val="0F8B99"/>
          </a:solidFill>
          <a:ln w="12700">
            <a:solidFill>
              <a:srgbClr val="0F8B99"/>
            </a:solidFill>
            <a:prstDash val="solid"/>
          </a:ln>
        </p:spPr>
      </p:sp>
      <p:sp>
        <p:nvSpPr>
          <p:cNvPr id="32" name="Text 24"/>
          <p:cNvSpPr txBox="1"/>
          <p:nvPr/>
        </p:nvSpPr>
        <p:spPr>
          <a:xfrm>
            <a:off x="5457825" y="3840480"/>
            <a:ext cx="10058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Apex One agent</a:t>
            </a:r>
            <a:endParaRPr lang="en-US" sz="800" dirty="0"/>
          </a:p>
        </p:txBody>
      </p:sp>
      <p:sp>
        <p:nvSpPr>
          <p:cNvPr id="33" name="Shape 25"/>
          <p:cNvSpPr/>
          <p:nvPr/>
        </p:nvSpPr>
        <p:spPr>
          <a:xfrm>
            <a:off x="548640" y="4343400"/>
            <a:ext cx="6126480" cy="713232"/>
          </a:xfrm>
          <a:prstGeom prst="roundRect">
            <a:avLst>
              <a:gd name="adj" fmla="val 15385"/>
            </a:avLst>
          </a:prstGeom>
          <a:solidFill>
            <a:srgbClr val="F4F5F7"/>
          </a:solidFill>
          <a:ln w="9525">
            <a:solidFill>
              <a:srgbClr val="DEE1E5"/>
            </a:solidFill>
            <a:prstDash val="solid"/>
          </a:ln>
        </p:spPr>
      </p:sp>
      <p:sp>
        <p:nvSpPr>
          <p:cNvPr id="34" name="Shape 26"/>
          <p:cNvSpPr/>
          <p:nvPr/>
        </p:nvSpPr>
        <p:spPr>
          <a:xfrm>
            <a:off x="713232" y="4471416"/>
            <a:ext cx="457200" cy="457200"/>
          </a:xfrm>
          <a:prstGeom prst="ellipse">
            <a:avLst/>
          </a:prstGeom>
          <a:solidFill>
            <a:srgbClr val="EAEEF3"/>
          </a:solidFill>
          <a:ln w="12700">
            <a:solidFill>
              <a:srgbClr val="EAEEF3"/>
            </a:solidFill>
            <a:prstDash val="solid"/>
          </a:ln>
        </p:spPr>
      </p:sp>
      <p:pic>
        <p:nvPicPr>
          <p:cNvPr id="35" name="Image 6" descr="preencoded.png">    </p:cNvPr>
          <p:cNvPicPr>
            <a:picLocks noChangeAspect="1"/>
          </p:cNvPicPr>
          <p:nvPr/>
        </p:nvPicPr>
        <p:blipFill>
          <a:blip r:embed="rId7"/>
          <a:stretch>
            <a:fillRect/>
          </a:stretch>
        </p:blipFill>
        <p:spPr>
          <a:xfrm>
            <a:off x="836676" y="4594860"/>
            <a:ext cx="210312" cy="210312"/>
          </a:xfrm>
          <a:prstGeom prst="rect">
            <a:avLst/>
          </a:prstGeom>
        </p:spPr>
      </p:pic>
      <p:sp>
        <p:nvSpPr>
          <p:cNvPr id="36" name="Text 27"/>
          <p:cNvSpPr txBox="1"/>
          <p:nvPr/>
        </p:nvSpPr>
        <p:spPr>
          <a:xfrm>
            <a:off x="1325880" y="4343400"/>
            <a:ext cx="5212080" cy="713232"/>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Nessus (to be retired)</a:t>
            </a:r>
            <a:endParaRPr lang="en-US" sz="1250" dirty="0"/>
          </a:p>
          <a:p>
            <a:pPr indent="0" marL="0">
              <a:buNone/>
            </a:pPr>
            <a:r>
              <a:rPr lang="en-US" sz="1100" dirty="0">
                <a:solidFill>
                  <a:srgbClr val="5F6670"/>
                </a:solidFill>
                <a:latin typeface="Calibri" pitchFamily="34" charset="0"/>
                <a:ea typeface="Calibri" pitchFamily="34" charset="-122"/>
                <a:cs typeface="Calibri" pitchFamily="34" charset="-120"/>
              </a:rPr>
              <a:t>Vulnerability assessment moves into the Apex One agent — no separate scanner or scan schedules</a:t>
            </a:r>
            <a:endParaRPr lang="en-US" sz="1250" dirty="0"/>
          </a:p>
        </p:txBody>
      </p:sp>
      <p:sp>
        <p:nvSpPr>
          <p:cNvPr id="37" name="Shape 28"/>
          <p:cNvSpPr/>
          <p:nvPr/>
        </p:nvSpPr>
        <p:spPr>
          <a:xfrm>
            <a:off x="548640" y="5166360"/>
            <a:ext cx="6126480" cy="713232"/>
          </a:xfrm>
          <a:prstGeom prst="roundRect">
            <a:avLst>
              <a:gd name="adj" fmla="val 15385"/>
            </a:avLst>
          </a:prstGeom>
          <a:solidFill>
            <a:srgbClr val="F4F5F7"/>
          </a:solidFill>
          <a:ln w="9525">
            <a:solidFill>
              <a:srgbClr val="DEE1E5"/>
            </a:solidFill>
            <a:prstDash val="solid"/>
          </a:ln>
        </p:spPr>
      </p:sp>
      <p:sp>
        <p:nvSpPr>
          <p:cNvPr id="38" name="Shape 29"/>
          <p:cNvSpPr/>
          <p:nvPr/>
        </p:nvSpPr>
        <p:spPr>
          <a:xfrm>
            <a:off x="713232" y="5294376"/>
            <a:ext cx="457200" cy="457200"/>
          </a:xfrm>
          <a:prstGeom prst="ellipse">
            <a:avLst/>
          </a:prstGeom>
          <a:solidFill>
            <a:srgbClr val="E7F5F7"/>
          </a:solidFill>
          <a:ln w="12700">
            <a:solidFill>
              <a:srgbClr val="E7F5F7"/>
            </a:solidFill>
            <a:prstDash val="solid"/>
          </a:ln>
        </p:spPr>
      </p:sp>
      <p:pic>
        <p:nvPicPr>
          <p:cNvPr id="39" name="Image 7" descr="preencoded.png">    </p:cNvPr>
          <p:cNvPicPr>
            <a:picLocks noChangeAspect="1"/>
          </p:cNvPicPr>
          <p:nvPr/>
        </p:nvPicPr>
        <p:blipFill>
          <a:blip r:embed="rId8"/>
          <a:stretch>
            <a:fillRect/>
          </a:stretch>
        </p:blipFill>
        <p:spPr>
          <a:xfrm>
            <a:off x="836676" y="5417820"/>
            <a:ext cx="210312" cy="210312"/>
          </a:xfrm>
          <a:prstGeom prst="rect">
            <a:avLst/>
          </a:prstGeom>
        </p:spPr>
      </p:pic>
      <p:sp>
        <p:nvSpPr>
          <p:cNvPr id="40" name="Text 30"/>
          <p:cNvSpPr txBox="1"/>
          <p:nvPr/>
        </p:nvSpPr>
        <p:spPr>
          <a:xfrm>
            <a:off x="1325880" y="5166360"/>
            <a:ext cx="5212080" cy="713232"/>
          </a:xfrm>
          <a:prstGeom prst="rect">
            <a:avLst/>
          </a:prstGeom>
          <a:noFill/>
          <a:ln/>
        </p:spPr>
        <p:txBody>
          <a:bodyPr wrap="square" lIns="0" tIns="0" rIns="0" bIns="0" rtlCol="0" anchor="ctr"/>
          <a:lstStyle/>
          <a:p>
            <a:pPr indent="0" marL="0">
              <a:buNone/>
            </a:pPr>
            <a:r>
              <a:rPr lang="en-US" sz="1250" b="1" dirty="0">
                <a:solidFill>
                  <a:srgbClr val="0E2233"/>
                </a:solidFill>
                <a:latin typeface="Calibri" pitchFamily="34" charset="0"/>
                <a:ea typeface="Calibri" pitchFamily="34" charset="-122"/>
                <a:cs typeface="Calibri" pitchFamily="34" charset="-120"/>
              </a:rPr>
              <a:t>SECUKOREA</a:t>
            </a:r>
            <a:endParaRPr lang="en-US" sz="1250" dirty="0"/>
          </a:p>
          <a:p>
            <a:pPr indent="0" marL="0">
              <a:buNone/>
            </a:pPr>
            <a:r>
              <a:rPr lang="en-US" sz="1100" dirty="0">
                <a:solidFill>
                  <a:srgbClr val="5F6670"/>
                </a:solidFill>
                <a:latin typeface="Calibri" pitchFamily="34" charset="0"/>
                <a:ea typeface="Calibri" pitchFamily="34" charset="-122"/>
                <a:cs typeface="Calibri" pitchFamily="34" charset="-120"/>
              </a:rPr>
              <a:t>24/7 technical support and a dedicated engineer</a:t>
            </a:r>
            <a:endParaRPr lang="en-US" sz="1250" dirty="0"/>
          </a:p>
        </p:txBody>
      </p:sp>
      <p:sp>
        <p:nvSpPr>
          <p:cNvPr id="41" name="Shape 31"/>
          <p:cNvSpPr/>
          <p:nvPr/>
        </p:nvSpPr>
        <p:spPr>
          <a:xfrm>
            <a:off x="6995160" y="1554480"/>
            <a:ext cx="4647895" cy="1874520"/>
          </a:xfrm>
          <a:prstGeom prst="roundRect">
            <a:avLst>
              <a:gd name="adj" fmla="val 6829"/>
            </a:avLst>
          </a:prstGeom>
          <a:solidFill>
            <a:srgbClr val="E7F5F7"/>
          </a:solidFill>
          <a:ln w="15875">
            <a:solidFill>
              <a:srgbClr val="0F8B99"/>
            </a:solidFill>
            <a:prstDash val="solid"/>
          </a:ln>
        </p:spPr>
      </p:sp>
      <p:sp>
        <p:nvSpPr>
          <p:cNvPr id="42" name="Text 32"/>
          <p:cNvSpPr txBox="1"/>
          <p:nvPr/>
        </p:nvSpPr>
        <p:spPr>
          <a:xfrm>
            <a:off x="7269480" y="1737360"/>
            <a:ext cx="4099255" cy="237744"/>
          </a:xfrm>
          <a:prstGeom prst="rect">
            <a:avLst/>
          </a:prstGeom>
          <a:noFill/>
          <a:ln/>
        </p:spPr>
        <p:txBody>
          <a:bodyPr wrap="square" lIns="0" tIns="0" rIns="0" bIns="0" rtlCol="0" anchor="t"/>
          <a:lstStyle/>
          <a:p>
            <a:pPr indent="0" marL="0">
              <a:buNone/>
            </a:pPr>
            <a:r>
              <a:rPr lang="en-US" sz="1000" b="1" spc="150" kern="0" dirty="0">
                <a:solidFill>
                  <a:srgbClr val="0F8B99"/>
                </a:solidFill>
                <a:latin typeface="Calibri" pitchFamily="34" charset="0"/>
                <a:ea typeface="Calibri" pitchFamily="34" charset="-122"/>
                <a:cs typeface="Calibri" pitchFamily="34" charset="-120"/>
              </a:rPr>
              <a:t>OUR RECOMMENDATION</a:t>
            </a:r>
            <a:endParaRPr lang="en-US" sz="1000" dirty="0"/>
          </a:p>
        </p:txBody>
      </p:sp>
      <p:sp>
        <p:nvSpPr>
          <p:cNvPr id="43" name="Text 33"/>
          <p:cNvSpPr txBox="1"/>
          <p:nvPr/>
        </p:nvSpPr>
        <p:spPr>
          <a:xfrm>
            <a:off x="7269480" y="1993392"/>
            <a:ext cx="4099255" cy="329184"/>
          </a:xfrm>
          <a:prstGeom prst="rect">
            <a:avLst/>
          </a:prstGeom>
          <a:noFill/>
          <a:ln/>
        </p:spPr>
        <p:txBody>
          <a:bodyPr wrap="square" lIns="0" tIns="0" rIns="0" bIns="0" rtlCol="0" anchor="t"/>
          <a:lstStyle/>
          <a:p>
            <a:pPr indent="0" marL="0">
              <a:buNone/>
            </a:pPr>
            <a:r>
              <a:rPr lang="en-US" sz="1700" b="1" dirty="0">
                <a:solidFill>
                  <a:srgbClr val="0E2233"/>
                </a:solidFill>
                <a:latin typeface="Arial" pitchFamily="34" charset="0"/>
                <a:ea typeface="Arial" pitchFamily="34" charset="-122"/>
                <a:cs typeface="Arial" pitchFamily="34" charset="-120"/>
              </a:rPr>
              <a:t>One Agent Replaces Nessus</a:t>
            </a:r>
            <a:endParaRPr lang="en-US" sz="1700" dirty="0"/>
          </a:p>
        </p:txBody>
      </p:sp>
      <p:sp>
        <p:nvSpPr>
          <p:cNvPr id="44" name="Text 34"/>
          <p:cNvSpPr txBox="1"/>
          <p:nvPr/>
        </p:nvSpPr>
        <p:spPr>
          <a:xfrm>
            <a:off x="7269480" y="2359152"/>
            <a:ext cx="4099255" cy="658368"/>
          </a:xfrm>
          <a:prstGeom prst="rect">
            <a:avLst/>
          </a:prstGeom>
          <a:noFill/>
          <a:ln/>
        </p:spPr>
        <p:txBody>
          <a:bodyPr wrap="square" lIns="0" tIns="0" rIns="0" bIns="0" rtlCol="0" anchor="t"/>
          <a:lstStyle/>
          <a:p>
            <a:pPr indent="0" marL="0">
              <a:buNone/>
            </a:pPr>
            <a:r>
              <a:rPr lang="en-US" sz="1100" dirty="0">
                <a:solidFill>
                  <a:srgbClr val="0E2233"/>
                </a:solidFill>
                <a:latin typeface="Calibri" pitchFamily="34" charset="0"/>
                <a:ea typeface="Calibri" pitchFamily="34" charset="-122"/>
                <a:cs typeface="Calibri" pitchFamily="34" charset="-120"/>
              </a:rPr>
              <a:t>Deploy Apex One on all endpoints and retire Nessus. Vulnerability assessment, protection and response run from one agent and one console.</a:t>
            </a:r>
            <a:endParaRPr lang="en-US" sz="1100" dirty="0"/>
          </a:p>
        </p:txBody>
      </p:sp>
      <p:sp>
        <p:nvSpPr>
          <p:cNvPr id="45" name="Text 35"/>
          <p:cNvSpPr txBox="1"/>
          <p:nvPr/>
        </p:nvSpPr>
        <p:spPr>
          <a:xfrm>
            <a:off x="7269480" y="3035808"/>
            <a:ext cx="4099255" cy="292608"/>
          </a:xfrm>
          <a:prstGeom prst="rect">
            <a:avLst/>
          </a:prstGeom>
          <a:noFill/>
          <a:ln/>
        </p:spPr>
        <p:txBody>
          <a:bodyPr wrap="square" lIns="0" tIns="0" rIns="0" bIns="0" rtlCol="0" anchor="t"/>
          <a:lstStyle/>
          <a:p>
            <a:pPr indent="0" marL="0">
              <a:buNone/>
            </a:pPr>
            <a:r>
              <a:rPr lang="en-US" sz="1050" b="1" dirty="0">
                <a:solidFill>
                  <a:srgbClr val="0F8B99"/>
                </a:solidFill>
                <a:latin typeface="Calibri" pitchFamily="34" charset="0"/>
                <a:ea typeface="Calibri" pitchFamily="34" charset="-122"/>
                <a:cs typeface="Calibri" pitchFamily="34" charset="-120"/>
              </a:rPr>
              <a:t>Benefit: </a:t>
            </a:r>
            <a:pPr indent="0" marL="0">
              <a:buNone/>
            </a:pPr>
            <a:r>
              <a:rPr lang="en-US" sz="1050" dirty="0">
                <a:solidFill>
                  <a:srgbClr val="5F6670"/>
                </a:solidFill>
                <a:latin typeface="Calibri" pitchFamily="34" charset="0"/>
                <a:ea typeface="Calibri" pitchFamily="34" charset="-122"/>
                <a:cs typeface="Calibri" pitchFamily="34" charset="-120"/>
              </a:rPr>
              <a:t>One tool instead of two; protection from day one.</a:t>
            </a:r>
            <a:endParaRPr lang="en-US" sz="1050" dirty="0"/>
          </a:p>
        </p:txBody>
      </p:sp>
      <p:sp>
        <p:nvSpPr>
          <p:cNvPr id="46" name="Shape 36"/>
          <p:cNvSpPr/>
          <p:nvPr/>
        </p:nvSpPr>
        <p:spPr>
          <a:xfrm>
            <a:off x="6995160" y="3566160"/>
            <a:ext cx="4647895" cy="1874520"/>
          </a:xfrm>
          <a:prstGeom prst="roundRect">
            <a:avLst>
              <a:gd name="adj" fmla="val 6829"/>
            </a:avLst>
          </a:prstGeom>
          <a:solidFill>
            <a:srgbClr val="FFFFFF"/>
          </a:solidFill>
          <a:ln w="9525">
            <a:solidFill>
              <a:srgbClr val="DEE1E5"/>
            </a:solidFill>
            <a:prstDash val="solid"/>
          </a:ln>
        </p:spPr>
      </p:sp>
      <p:sp>
        <p:nvSpPr>
          <p:cNvPr id="47" name="Text 37"/>
          <p:cNvSpPr txBox="1"/>
          <p:nvPr/>
        </p:nvSpPr>
        <p:spPr>
          <a:xfrm>
            <a:off x="7269480" y="3749040"/>
            <a:ext cx="4099255" cy="237744"/>
          </a:xfrm>
          <a:prstGeom prst="rect">
            <a:avLst/>
          </a:prstGeom>
          <a:noFill/>
          <a:ln/>
        </p:spPr>
        <p:txBody>
          <a:bodyPr wrap="square" lIns="0" tIns="0" rIns="0" bIns="0" rtlCol="0" anchor="t"/>
          <a:lstStyle/>
          <a:p>
            <a:pPr indent="0" marL="0">
              <a:buNone/>
            </a:pPr>
            <a:r>
              <a:rPr lang="en-US" sz="1000" b="1" spc="150" kern="0" dirty="0">
                <a:solidFill>
                  <a:srgbClr val="5D6B7E"/>
                </a:solidFill>
                <a:latin typeface="Calibri" pitchFamily="34" charset="0"/>
                <a:ea typeface="Calibri" pitchFamily="34" charset="-122"/>
                <a:cs typeface="Calibri" pitchFamily="34" charset="-120"/>
              </a:rPr>
              <a:t>HOW THE SWITCH WORKS</a:t>
            </a:r>
            <a:endParaRPr lang="en-US" sz="1000" dirty="0"/>
          </a:p>
        </p:txBody>
      </p:sp>
      <p:sp>
        <p:nvSpPr>
          <p:cNvPr id="48" name="Text 38"/>
          <p:cNvSpPr txBox="1"/>
          <p:nvPr/>
        </p:nvSpPr>
        <p:spPr>
          <a:xfrm>
            <a:off x="7269480" y="4005072"/>
            <a:ext cx="4099255" cy="329184"/>
          </a:xfrm>
          <a:prstGeom prst="rect">
            <a:avLst/>
          </a:prstGeom>
          <a:noFill/>
          <a:ln/>
        </p:spPr>
        <p:txBody>
          <a:bodyPr wrap="square" lIns="0" tIns="0" rIns="0" bIns="0" rtlCol="0" anchor="t"/>
          <a:lstStyle/>
          <a:p>
            <a:pPr indent="0" marL="0">
              <a:buNone/>
            </a:pPr>
            <a:r>
              <a:rPr lang="en-US" sz="1700" b="1" dirty="0">
                <a:solidFill>
                  <a:srgbClr val="0E2233"/>
                </a:solidFill>
                <a:latin typeface="Arial" pitchFamily="34" charset="0"/>
                <a:ea typeface="Arial" pitchFamily="34" charset="-122"/>
                <a:cs typeface="Arial" pitchFamily="34" charset="-120"/>
              </a:rPr>
              <a:t>A Smooth Replacement</a:t>
            </a:r>
            <a:endParaRPr lang="en-US" sz="1700" dirty="0"/>
          </a:p>
        </p:txBody>
      </p:sp>
      <p:sp>
        <p:nvSpPr>
          <p:cNvPr id="49" name="Text 39"/>
          <p:cNvSpPr txBox="1"/>
          <p:nvPr/>
        </p:nvSpPr>
        <p:spPr>
          <a:xfrm>
            <a:off x="7269480" y="4370832"/>
            <a:ext cx="4099255" cy="658368"/>
          </a:xfrm>
          <a:prstGeom prst="rect">
            <a:avLst/>
          </a:prstGeom>
          <a:noFill/>
          <a:ln/>
        </p:spPr>
        <p:txBody>
          <a:bodyPr wrap="square" lIns="0" tIns="0" rIns="0" bIns="0" rtlCol="0" anchor="t"/>
          <a:lstStyle/>
          <a:p>
            <a:pPr indent="0" marL="0">
              <a:buNone/>
            </a:pPr>
            <a:r>
              <a:rPr lang="en-US" sz="1100" dirty="0">
                <a:solidFill>
                  <a:srgbClr val="0E2233"/>
                </a:solidFill>
                <a:latin typeface="Calibri" pitchFamily="34" charset="0"/>
                <a:ea typeface="Calibri" pitchFamily="34" charset="-122"/>
                <a:cs typeface="Calibri" pitchFamily="34" charset="-120"/>
              </a:rPr>
              <a:t>Apex One is deployed and verified first. Nessus is retired once Apex One assessments cover every endpoint — no gap in visibility during the switch.</a:t>
            </a:r>
            <a:endParaRPr lang="en-US" sz="1100" dirty="0"/>
          </a:p>
        </p:txBody>
      </p:sp>
      <p:sp>
        <p:nvSpPr>
          <p:cNvPr id="50" name="Text 40"/>
          <p:cNvSpPr txBox="1"/>
          <p:nvPr/>
        </p:nvSpPr>
        <p:spPr>
          <a:xfrm>
            <a:off x="7269480" y="5047488"/>
            <a:ext cx="4099255" cy="292608"/>
          </a:xfrm>
          <a:prstGeom prst="rect">
            <a:avLst/>
          </a:prstGeom>
          <a:noFill/>
          <a:ln/>
        </p:spPr>
        <p:txBody>
          <a:bodyPr wrap="square" lIns="0" tIns="0" rIns="0" bIns="0" rtlCol="0" anchor="t"/>
          <a:lstStyle/>
          <a:p>
            <a:pPr indent="0" marL="0">
              <a:buNone/>
            </a:pPr>
            <a:r>
              <a:rPr lang="en-US" sz="1050" b="1" dirty="0">
                <a:solidFill>
                  <a:srgbClr val="5D6B7E"/>
                </a:solidFill>
                <a:latin typeface="Calibri" pitchFamily="34" charset="0"/>
                <a:ea typeface="Calibri" pitchFamily="34" charset="-122"/>
                <a:cs typeface="Calibri" pitchFamily="34" charset="-120"/>
              </a:rPr>
              <a:t>Benefit: </a:t>
            </a:r>
            <a:pPr indent="0" marL="0">
              <a:buNone/>
            </a:pPr>
            <a:r>
              <a:rPr lang="en-US" sz="1050" dirty="0">
                <a:solidFill>
                  <a:srgbClr val="5F6670"/>
                </a:solidFill>
                <a:latin typeface="Calibri" pitchFamily="34" charset="0"/>
                <a:ea typeface="Calibri" pitchFamily="34" charset="-122"/>
                <a:cs typeface="Calibri" pitchFamily="34" charset="-120"/>
              </a:rPr>
              <a:t>No scanner host, credentials or scan schedules to maintain.</a:t>
            </a:r>
            <a:endParaRPr lang="en-US" sz="1050" dirty="0"/>
          </a:p>
        </p:txBody>
      </p:sp>
      <p:sp>
        <p:nvSpPr>
          <p:cNvPr id="51" name="Text 41"/>
          <p:cNvSpPr txBox="1"/>
          <p:nvPr/>
        </p:nvSpPr>
        <p:spPr>
          <a:xfrm>
            <a:off x="6995160" y="5596128"/>
            <a:ext cx="4647895" cy="384048"/>
          </a:xfrm>
          <a:prstGeom prst="rect">
            <a:avLst/>
          </a:prstGeom>
          <a:noFill/>
          <a:ln/>
        </p:spPr>
        <p:txBody>
          <a:bodyPr wrap="square" lIns="0" tIns="0" rIns="0" bIns="0" rtlCol="0" anchor="ctr"/>
          <a:lstStyle/>
          <a:p>
            <a:pPr indent="0" marL="0">
              <a:buNone/>
            </a:pPr>
            <a:r>
              <a:rPr lang="en-US" sz="1100" b="1" i="1" dirty="0">
                <a:solidFill>
                  <a:srgbClr val="0E2233"/>
                </a:solidFill>
                <a:latin typeface="Calibri" pitchFamily="34" charset="0"/>
                <a:ea typeface="Calibri" pitchFamily="34" charset="-122"/>
                <a:cs typeface="Calibri" pitchFamily="34" charset="-120"/>
              </a:rPr>
              <a:t>Nessus only finds the gaps. Apex One finds them and closes them — in one agent.</a:t>
            </a:r>
            <a:endParaRPr lang="en-US" sz="1100" dirty="0"/>
          </a:p>
        </p:txBody>
      </p:sp>
      <p:sp>
        <p:nvSpPr>
          <p:cNvPr id="52" name="Text 42"/>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16   |   Nessus vs. Trend Micro Apex One™  ·  Proposal for The Westin Resort Guam</a:t>
            </a:r>
            <a:endParaRPr lang="en-US" sz="900" dirty="0"/>
          </a:p>
        </p:txBody>
      </p:sp>
      <p:pic>
        <p:nvPicPr>
          <p:cNvPr id="53" name="Image 8" descr="/private/tmp/claude-501/-Users-jihanvin-Desktop-NIVNAH-AI/16a96446-d9b3-40e2-af9e-a3011ae3db84/scratchpad/assets/secukorea_dark.png">    </p:cNvPr>
          <p:cNvPicPr>
            <a:picLocks noChangeAspect="1"/>
          </p:cNvPicPr>
          <p:nvPr/>
        </p:nvPicPr>
        <p:blipFill>
          <a:blip r:embed="rId9"/>
          <a:stretch>
            <a:fillRect/>
          </a:stretch>
        </p:blipFill>
        <p:spPr>
          <a:xfrm>
            <a:off x="10661904" y="6400800"/>
            <a:ext cx="978408" cy="2331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16   EXPECTED BENEFITS</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From Scan-Only to Always-On Protection</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54480"/>
            <a:ext cx="4892040" cy="2788920"/>
          </a:xfrm>
          <a:prstGeom prst="roundRect">
            <a:avLst>
              <a:gd name="adj" fmla="val 4590"/>
            </a:avLst>
          </a:prstGeom>
          <a:solidFill>
            <a:srgbClr val="EAEEF3"/>
          </a:solidFill>
          <a:ln w="12700">
            <a:solidFill>
              <a:srgbClr val="EAEEF3"/>
            </a:solidFill>
            <a:prstDash val="solid"/>
          </a:ln>
        </p:spPr>
      </p:sp>
      <p:sp>
        <p:nvSpPr>
          <p:cNvPr id="6" name="Text 3"/>
          <p:cNvSpPr txBox="1"/>
          <p:nvPr/>
        </p:nvSpPr>
        <p:spPr>
          <a:xfrm>
            <a:off x="868680" y="1783080"/>
            <a:ext cx="4251960" cy="256032"/>
          </a:xfrm>
          <a:prstGeom prst="rect">
            <a:avLst/>
          </a:prstGeom>
          <a:noFill/>
          <a:ln/>
        </p:spPr>
        <p:txBody>
          <a:bodyPr wrap="square" lIns="0" tIns="0" rIns="0" bIns="0" rtlCol="0" anchor="t"/>
          <a:lstStyle/>
          <a:p>
            <a:pPr indent="0" marL="0">
              <a:buNone/>
            </a:pPr>
            <a:r>
              <a:rPr lang="en-US" sz="1100" b="1" spc="200" kern="0" dirty="0">
                <a:solidFill>
                  <a:srgbClr val="5D6B7E"/>
                </a:solidFill>
                <a:latin typeface="Calibri" pitchFamily="34" charset="0"/>
                <a:ea typeface="Calibri" pitchFamily="34" charset="-122"/>
                <a:cs typeface="Calibri" pitchFamily="34" charset="-120"/>
              </a:rPr>
              <a:t>TODAY  ·  NESSUS ONLY</a:t>
            </a:r>
            <a:endParaRPr lang="en-US" sz="1100" dirty="0"/>
          </a:p>
        </p:txBody>
      </p:sp>
      <p:pic>
        <p:nvPicPr>
          <p:cNvPr id="7" name="Image 1" descr="preencoded.png">    </p:cNvPr>
          <p:cNvPicPr>
            <a:picLocks noChangeAspect="1"/>
          </p:cNvPicPr>
          <p:nvPr/>
        </p:nvPicPr>
        <p:blipFill>
          <a:blip r:embed="rId2"/>
          <a:stretch>
            <a:fillRect/>
          </a:stretch>
        </p:blipFill>
        <p:spPr>
          <a:xfrm>
            <a:off x="868680" y="2240280"/>
            <a:ext cx="201168" cy="201168"/>
          </a:xfrm>
          <a:prstGeom prst="rect">
            <a:avLst/>
          </a:prstGeom>
        </p:spPr>
      </p:pic>
      <p:sp>
        <p:nvSpPr>
          <p:cNvPr id="8" name="Text 4"/>
          <p:cNvSpPr txBox="1"/>
          <p:nvPr/>
        </p:nvSpPr>
        <p:spPr>
          <a:xfrm>
            <a:off x="1207008" y="2194560"/>
            <a:ext cx="3977640" cy="292608"/>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Vulnerability reports, but no protection</a:t>
            </a:r>
            <a:endParaRPr lang="en-US" sz="1250" dirty="0"/>
          </a:p>
        </p:txBody>
      </p:sp>
      <p:pic>
        <p:nvPicPr>
          <p:cNvPr id="9" name="Image 2" descr="preencoded.png">    </p:cNvPr>
          <p:cNvPicPr>
            <a:picLocks noChangeAspect="1"/>
          </p:cNvPicPr>
          <p:nvPr/>
        </p:nvPicPr>
        <p:blipFill>
          <a:blip r:embed="rId3"/>
          <a:stretch>
            <a:fillRect/>
          </a:stretch>
        </p:blipFill>
        <p:spPr>
          <a:xfrm>
            <a:off x="868680" y="2642616"/>
            <a:ext cx="201168" cy="201168"/>
          </a:xfrm>
          <a:prstGeom prst="rect">
            <a:avLst/>
          </a:prstGeom>
        </p:spPr>
      </p:pic>
      <p:sp>
        <p:nvSpPr>
          <p:cNvPr id="10" name="Text 5"/>
          <p:cNvSpPr txBox="1"/>
          <p:nvPr/>
        </p:nvSpPr>
        <p:spPr>
          <a:xfrm>
            <a:off x="1207008" y="2596896"/>
            <a:ext cx="3977640" cy="292608"/>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Weaknesses stay open until patched</a:t>
            </a:r>
            <a:endParaRPr lang="en-US" sz="1250" dirty="0"/>
          </a:p>
        </p:txBody>
      </p:sp>
      <p:pic>
        <p:nvPicPr>
          <p:cNvPr id="11" name="Image 3" descr="preencoded.png">    </p:cNvPr>
          <p:cNvPicPr>
            <a:picLocks noChangeAspect="1"/>
          </p:cNvPicPr>
          <p:nvPr/>
        </p:nvPicPr>
        <p:blipFill>
          <a:blip r:embed="rId4"/>
          <a:stretch>
            <a:fillRect/>
          </a:stretch>
        </p:blipFill>
        <p:spPr>
          <a:xfrm>
            <a:off x="868680" y="3044952"/>
            <a:ext cx="201168" cy="201168"/>
          </a:xfrm>
          <a:prstGeom prst="rect">
            <a:avLst/>
          </a:prstGeom>
        </p:spPr>
      </p:pic>
      <p:sp>
        <p:nvSpPr>
          <p:cNvPr id="12" name="Text 6"/>
          <p:cNvSpPr txBox="1"/>
          <p:nvPr/>
        </p:nvSpPr>
        <p:spPr>
          <a:xfrm>
            <a:off x="1207008" y="2999232"/>
            <a:ext cx="3977640" cy="292608"/>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Legacy systems hard to protect</a:t>
            </a:r>
            <a:endParaRPr lang="en-US" sz="1250" dirty="0"/>
          </a:p>
        </p:txBody>
      </p:sp>
      <p:pic>
        <p:nvPicPr>
          <p:cNvPr id="13" name="Image 4" descr="preencoded.png">    </p:cNvPr>
          <p:cNvPicPr>
            <a:picLocks noChangeAspect="1"/>
          </p:cNvPicPr>
          <p:nvPr/>
        </p:nvPicPr>
        <p:blipFill>
          <a:blip r:embed="rId5"/>
          <a:stretch>
            <a:fillRect/>
          </a:stretch>
        </p:blipFill>
        <p:spPr>
          <a:xfrm>
            <a:off x="868680" y="3447288"/>
            <a:ext cx="201168" cy="201168"/>
          </a:xfrm>
          <a:prstGeom prst="rect">
            <a:avLst/>
          </a:prstGeom>
        </p:spPr>
      </p:pic>
      <p:sp>
        <p:nvSpPr>
          <p:cNvPr id="14" name="Text 7"/>
          <p:cNvSpPr txBox="1"/>
          <p:nvPr/>
        </p:nvSpPr>
        <p:spPr>
          <a:xfrm>
            <a:off x="1207008" y="3401568"/>
            <a:ext cx="3977640" cy="292608"/>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No defense against ransomware in progress</a:t>
            </a:r>
            <a:endParaRPr lang="en-US" sz="1250" dirty="0"/>
          </a:p>
        </p:txBody>
      </p:sp>
      <p:pic>
        <p:nvPicPr>
          <p:cNvPr id="15" name="Image 5" descr="preencoded.png">    </p:cNvPr>
          <p:cNvPicPr>
            <a:picLocks noChangeAspect="1"/>
          </p:cNvPicPr>
          <p:nvPr/>
        </p:nvPicPr>
        <p:blipFill>
          <a:blip r:embed="rId6"/>
          <a:stretch>
            <a:fillRect/>
          </a:stretch>
        </p:blipFill>
        <p:spPr>
          <a:xfrm>
            <a:off x="868680" y="3849624"/>
            <a:ext cx="201168" cy="201168"/>
          </a:xfrm>
          <a:prstGeom prst="rect">
            <a:avLst/>
          </a:prstGeom>
        </p:spPr>
      </p:pic>
      <p:sp>
        <p:nvSpPr>
          <p:cNvPr id="16" name="Text 8"/>
          <p:cNvSpPr txBox="1"/>
          <p:nvPr/>
        </p:nvSpPr>
        <p:spPr>
          <a:xfrm>
            <a:off x="1207008" y="3803904"/>
            <a:ext cx="3977640" cy="292608"/>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Manual patching and investigation</a:t>
            </a:r>
            <a:endParaRPr lang="en-US" sz="1250" dirty="0"/>
          </a:p>
        </p:txBody>
      </p:sp>
      <p:sp>
        <p:nvSpPr>
          <p:cNvPr id="17" name="Shape 9"/>
          <p:cNvSpPr/>
          <p:nvPr/>
        </p:nvSpPr>
        <p:spPr>
          <a:xfrm>
            <a:off x="5775808" y="2628900"/>
            <a:ext cx="640080" cy="640080"/>
          </a:xfrm>
          <a:prstGeom prst="ellipse">
            <a:avLst/>
          </a:prstGeom>
          <a:solidFill>
            <a:srgbClr val="0F8B99"/>
          </a:solidFill>
          <a:ln w="12700">
            <a:solidFill>
              <a:srgbClr val="0F8B99"/>
            </a:solidFill>
            <a:prstDash val="solid"/>
          </a:ln>
        </p:spPr>
      </p:sp>
      <p:pic>
        <p:nvPicPr>
          <p:cNvPr id="18" name="Image 6" descr="preencoded.png">    </p:cNvPr>
          <p:cNvPicPr>
            <a:picLocks noChangeAspect="1"/>
          </p:cNvPicPr>
          <p:nvPr/>
        </p:nvPicPr>
        <p:blipFill>
          <a:blip r:embed="rId7"/>
          <a:stretch>
            <a:fillRect/>
          </a:stretch>
        </p:blipFill>
        <p:spPr>
          <a:xfrm>
            <a:off x="5948629" y="2801722"/>
            <a:ext cx="294437" cy="294437"/>
          </a:xfrm>
          <a:prstGeom prst="rect">
            <a:avLst/>
          </a:prstGeom>
        </p:spPr>
      </p:pic>
      <p:sp>
        <p:nvSpPr>
          <p:cNvPr id="19" name="Shape 10"/>
          <p:cNvSpPr/>
          <p:nvPr/>
        </p:nvSpPr>
        <p:spPr>
          <a:xfrm>
            <a:off x="6751015" y="1554480"/>
            <a:ext cx="4892040" cy="2788920"/>
          </a:xfrm>
          <a:prstGeom prst="roundRect">
            <a:avLst>
              <a:gd name="adj" fmla="val 4590"/>
            </a:avLst>
          </a:prstGeom>
          <a:solidFill>
            <a:srgbClr val="10243A"/>
          </a:solidFill>
          <a:ln w="12700">
            <a:solidFill>
              <a:srgbClr val="10243A"/>
            </a:solidFill>
            <a:prstDash val="solid"/>
          </a:ln>
        </p:spPr>
      </p:sp>
      <p:sp>
        <p:nvSpPr>
          <p:cNvPr id="20" name="Text 11"/>
          <p:cNvSpPr txBox="1"/>
          <p:nvPr/>
        </p:nvSpPr>
        <p:spPr>
          <a:xfrm>
            <a:off x="7071055" y="1783080"/>
            <a:ext cx="425196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Calibri" pitchFamily="34" charset="0"/>
                <a:ea typeface="Calibri" pitchFamily="34" charset="-122"/>
                <a:cs typeface="Calibri" pitchFamily="34" charset="-120"/>
              </a:rPr>
              <a:t>TOMORROW  ·  TREND MICRO APEX ONE</a:t>
            </a:r>
            <a:endParaRPr lang="en-US" sz="1100" dirty="0"/>
          </a:p>
        </p:txBody>
      </p:sp>
      <p:pic>
        <p:nvPicPr>
          <p:cNvPr id="21" name="Image 7" descr="preencoded.png">    </p:cNvPr>
          <p:cNvPicPr>
            <a:picLocks noChangeAspect="1"/>
          </p:cNvPicPr>
          <p:nvPr/>
        </p:nvPicPr>
        <p:blipFill>
          <a:blip r:embed="rId8"/>
          <a:stretch>
            <a:fillRect/>
          </a:stretch>
        </p:blipFill>
        <p:spPr>
          <a:xfrm>
            <a:off x="7071055" y="2240280"/>
            <a:ext cx="201168" cy="201168"/>
          </a:xfrm>
          <a:prstGeom prst="rect">
            <a:avLst/>
          </a:prstGeom>
        </p:spPr>
      </p:pic>
      <p:sp>
        <p:nvSpPr>
          <p:cNvPr id="22" name="Text 12"/>
          <p:cNvSpPr txBox="1"/>
          <p:nvPr/>
        </p:nvSpPr>
        <p:spPr>
          <a:xfrm>
            <a:off x="7409383" y="2194560"/>
            <a:ext cx="39776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Automatic protection on every endpoint</a:t>
            </a:r>
            <a:endParaRPr lang="en-US" sz="1250" dirty="0"/>
          </a:p>
        </p:txBody>
      </p:sp>
      <p:pic>
        <p:nvPicPr>
          <p:cNvPr id="23" name="Image 8" descr="preencoded.png">    </p:cNvPr>
          <p:cNvPicPr>
            <a:picLocks noChangeAspect="1"/>
          </p:cNvPicPr>
          <p:nvPr/>
        </p:nvPicPr>
        <p:blipFill>
          <a:blip r:embed="rId9"/>
          <a:stretch>
            <a:fillRect/>
          </a:stretch>
        </p:blipFill>
        <p:spPr>
          <a:xfrm>
            <a:off x="7071055" y="2642616"/>
            <a:ext cx="201168" cy="201168"/>
          </a:xfrm>
          <a:prstGeom prst="rect">
            <a:avLst/>
          </a:prstGeom>
        </p:spPr>
      </p:pic>
      <p:sp>
        <p:nvSpPr>
          <p:cNvPr id="24" name="Text 13"/>
          <p:cNvSpPr txBox="1"/>
          <p:nvPr/>
        </p:nvSpPr>
        <p:spPr>
          <a:xfrm>
            <a:off x="7409383" y="2596896"/>
            <a:ext cx="39776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Vulnerabilities shielded right away</a:t>
            </a:r>
            <a:endParaRPr lang="en-US" sz="1250" dirty="0"/>
          </a:p>
        </p:txBody>
      </p:sp>
      <p:pic>
        <p:nvPicPr>
          <p:cNvPr id="25" name="Image 9" descr="preencoded.png">    </p:cNvPr>
          <p:cNvPicPr>
            <a:picLocks noChangeAspect="1"/>
          </p:cNvPicPr>
          <p:nvPr/>
        </p:nvPicPr>
        <p:blipFill>
          <a:blip r:embed="rId10"/>
          <a:stretch>
            <a:fillRect/>
          </a:stretch>
        </p:blipFill>
        <p:spPr>
          <a:xfrm>
            <a:off x="7071055" y="3044952"/>
            <a:ext cx="201168" cy="201168"/>
          </a:xfrm>
          <a:prstGeom prst="rect">
            <a:avLst/>
          </a:prstGeom>
        </p:spPr>
      </p:pic>
      <p:sp>
        <p:nvSpPr>
          <p:cNvPr id="26" name="Text 14"/>
          <p:cNvSpPr txBox="1"/>
          <p:nvPr/>
        </p:nvSpPr>
        <p:spPr>
          <a:xfrm>
            <a:off x="7409383" y="2999232"/>
            <a:ext cx="39776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Legacy systems shielded and locked down</a:t>
            </a:r>
            <a:endParaRPr lang="en-US" sz="1250" dirty="0"/>
          </a:p>
        </p:txBody>
      </p:sp>
      <p:pic>
        <p:nvPicPr>
          <p:cNvPr id="27" name="Image 10" descr="preencoded.png">    </p:cNvPr>
          <p:cNvPicPr>
            <a:picLocks noChangeAspect="1"/>
          </p:cNvPicPr>
          <p:nvPr/>
        </p:nvPicPr>
        <p:blipFill>
          <a:blip r:embed="rId11"/>
          <a:stretch>
            <a:fillRect/>
          </a:stretch>
        </p:blipFill>
        <p:spPr>
          <a:xfrm>
            <a:off x="7071055" y="3447288"/>
            <a:ext cx="201168" cy="201168"/>
          </a:xfrm>
          <a:prstGeom prst="rect">
            <a:avLst/>
          </a:prstGeom>
        </p:spPr>
      </p:pic>
      <p:sp>
        <p:nvSpPr>
          <p:cNvPr id="28" name="Text 15"/>
          <p:cNvSpPr txBox="1"/>
          <p:nvPr/>
        </p:nvSpPr>
        <p:spPr>
          <a:xfrm>
            <a:off x="7409383" y="3401568"/>
            <a:ext cx="39776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Ransomware blocked and files rolled back</a:t>
            </a:r>
            <a:endParaRPr lang="en-US" sz="1250" dirty="0"/>
          </a:p>
        </p:txBody>
      </p:sp>
      <p:pic>
        <p:nvPicPr>
          <p:cNvPr id="29" name="Image 11" descr="preencoded.png">    </p:cNvPr>
          <p:cNvPicPr>
            <a:picLocks noChangeAspect="1"/>
          </p:cNvPicPr>
          <p:nvPr/>
        </p:nvPicPr>
        <p:blipFill>
          <a:blip r:embed="rId12"/>
          <a:stretch>
            <a:fillRect/>
          </a:stretch>
        </p:blipFill>
        <p:spPr>
          <a:xfrm>
            <a:off x="7071055" y="3849624"/>
            <a:ext cx="201168" cy="201168"/>
          </a:xfrm>
          <a:prstGeom prst="rect">
            <a:avLst/>
          </a:prstGeom>
        </p:spPr>
      </p:pic>
      <p:sp>
        <p:nvSpPr>
          <p:cNvPr id="30" name="Text 16"/>
          <p:cNvSpPr txBox="1"/>
          <p:nvPr/>
        </p:nvSpPr>
        <p:spPr>
          <a:xfrm>
            <a:off x="7409383" y="3803904"/>
            <a:ext cx="39776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Patching on your own timeline</a:t>
            </a:r>
            <a:endParaRPr lang="en-US" sz="1250" dirty="0"/>
          </a:p>
        </p:txBody>
      </p:sp>
      <p:sp>
        <p:nvSpPr>
          <p:cNvPr id="31" name="Shape 17"/>
          <p:cNvSpPr/>
          <p:nvPr/>
        </p:nvSpPr>
        <p:spPr>
          <a:xfrm>
            <a:off x="548640" y="4617720"/>
            <a:ext cx="2567864" cy="1371600"/>
          </a:xfrm>
          <a:prstGeom prst="roundRect">
            <a:avLst>
              <a:gd name="adj" fmla="val 9333"/>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sp>
        <p:nvSpPr>
          <p:cNvPr id="32" name="Shape 18"/>
          <p:cNvSpPr/>
          <p:nvPr/>
        </p:nvSpPr>
        <p:spPr>
          <a:xfrm>
            <a:off x="777240" y="4846320"/>
            <a:ext cx="475488" cy="475488"/>
          </a:xfrm>
          <a:prstGeom prst="ellipse">
            <a:avLst/>
          </a:prstGeom>
          <a:solidFill>
            <a:srgbClr val="E7F5F7"/>
          </a:solidFill>
          <a:ln w="12700">
            <a:solidFill>
              <a:srgbClr val="E7F5F7"/>
            </a:solidFill>
            <a:prstDash val="solid"/>
          </a:ln>
        </p:spPr>
      </p:sp>
      <p:pic>
        <p:nvPicPr>
          <p:cNvPr id="33" name="Image 12" descr="preencoded.png">    </p:cNvPr>
          <p:cNvPicPr>
            <a:picLocks noChangeAspect="1"/>
          </p:cNvPicPr>
          <p:nvPr/>
        </p:nvPicPr>
        <p:blipFill>
          <a:blip r:embed="rId13"/>
          <a:stretch>
            <a:fillRect/>
          </a:stretch>
        </p:blipFill>
        <p:spPr>
          <a:xfrm>
            <a:off x="905622" y="4974702"/>
            <a:ext cx="218724" cy="218724"/>
          </a:xfrm>
          <a:prstGeom prst="rect">
            <a:avLst/>
          </a:prstGeom>
        </p:spPr>
      </p:pic>
      <p:sp>
        <p:nvSpPr>
          <p:cNvPr id="34" name="Text 19"/>
          <p:cNvSpPr txBox="1"/>
          <p:nvPr/>
        </p:nvSpPr>
        <p:spPr>
          <a:xfrm>
            <a:off x="1371600" y="4846320"/>
            <a:ext cx="1607744" cy="47548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Protect guest trust</a:t>
            </a:r>
            <a:endParaRPr lang="en-US" sz="1300" dirty="0"/>
          </a:p>
        </p:txBody>
      </p:sp>
      <p:sp>
        <p:nvSpPr>
          <p:cNvPr id="35" name="Text 20"/>
          <p:cNvSpPr txBox="1"/>
          <p:nvPr/>
        </p:nvSpPr>
        <p:spPr>
          <a:xfrm>
            <a:off x="777240" y="5440680"/>
            <a:ext cx="2110664" cy="457200"/>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Keep guest data and payments safe</a:t>
            </a:r>
            <a:endParaRPr lang="en-US" sz="1100" dirty="0"/>
          </a:p>
        </p:txBody>
      </p:sp>
      <p:sp>
        <p:nvSpPr>
          <p:cNvPr id="36" name="Shape 21"/>
          <p:cNvSpPr/>
          <p:nvPr/>
        </p:nvSpPr>
        <p:spPr>
          <a:xfrm>
            <a:off x="3390824" y="4617720"/>
            <a:ext cx="2567864" cy="1371600"/>
          </a:xfrm>
          <a:prstGeom prst="roundRect">
            <a:avLst>
              <a:gd name="adj" fmla="val 9333"/>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sp>
        <p:nvSpPr>
          <p:cNvPr id="37" name="Shape 22"/>
          <p:cNvSpPr/>
          <p:nvPr/>
        </p:nvSpPr>
        <p:spPr>
          <a:xfrm>
            <a:off x="3619424" y="4846320"/>
            <a:ext cx="475488" cy="475488"/>
          </a:xfrm>
          <a:prstGeom prst="ellipse">
            <a:avLst/>
          </a:prstGeom>
          <a:solidFill>
            <a:srgbClr val="E7F5F7"/>
          </a:solidFill>
          <a:ln w="12700">
            <a:solidFill>
              <a:srgbClr val="E7F5F7"/>
            </a:solidFill>
            <a:prstDash val="solid"/>
          </a:ln>
        </p:spPr>
      </p:sp>
      <p:pic>
        <p:nvPicPr>
          <p:cNvPr id="38" name="Image 13" descr="preencoded.png">    </p:cNvPr>
          <p:cNvPicPr>
            <a:picLocks noChangeAspect="1"/>
          </p:cNvPicPr>
          <p:nvPr/>
        </p:nvPicPr>
        <p:blipFill>
          <a:blip r:embed="rId14"/>
          <a:stretch>
            <a:fillRect/>
          </a:stretch>
        </p:blipFill>
        <p:spPr>
          <a:xfrm>
            <a:off x="3747806" y="4974702"/>
            <a:ext cx="218724" cy="218724"/>
          </a:xfrm>
          <a:prstGeom prst="rect">
            <a:avLst/>
          </a:prstGeom>
        </p:spPr>
      </p:pic>
      <p:sp>
        <p:nvSpPr>
          <p:cNvPr id="39" name="Text 23"/>
          <p:cNvSpPr txBox="1"/>
          <p:nvPr/>
        </p:nvSpPr>
        <p:spPr>
          <a:xfrm>
            <a:off x="4213784" y="4846320"/>
            <a:ext cx="1607744" cy="47548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Business continuity</a:t>
            </a:r>
            <a:endParaRPr lang="en-US" sz="1300" dirty="0"/>
          </a:p>
        </p:txBody>
      </p:sp>
      <p:sp>
        <p:nvSpPr>
          <p:cNvPr id="40" name="Text 24"/>
          <p:cNvSpPr txBox="1"/>
          <p:nvPr/>
        </p:nvSpPr>
        <p:spPr>
          <a:xfrm>
            <a:off x="3619424" y="5440680"/>
            <a:ext cx="2110664" cy="457200"/>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No emergency patching or ransomware downtime</a:t>
            </a:r>
            <a:endParaRPr lang="en-US" sz="1100" dirty="0"/>
          </a:p>
        </p:txBody>
      </p:sp>
      <p:sp>
        <p:nvSpPr>
          <p:cNvPr id="41" name="Shape 25"/>
          <p:cNvSpPr/>
          <p:nvPr/>
        </p:nvSpPr>
        <p:spPr>
          <a:xfrm>
            <a:off x="6233008" y="4617720"/>
            <a:ext cx="2567864" cy="1371600"/>
          </a:xfrm>
          <a:prstGeom prst="roundRect">
            <a:avLst>
              <a:gd name="adj" fmla="val 9333"/>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sp>
        <p:nvSpPr>
          <p:cNvPr id="42" name="Shape 26"/>
          <p:cNvSpPr/>
          <p:nvPr/>
        </p:nvSpPr>
        <p:spPr>
          <a:xfrm>
            <a:off x="6461608" y="4846320"/>
            <a:ext cx="475488" cy="475488"/>
          </a:xfrm>
          <a:prstGeom prst="ellipse">
            <a:avLst/>
          </a:prstGeom>
          <a:solidFill>
            <a:srgbClr val="E7F5F7"/>
          </a:solidFill>
          <a:ln w="12700">
            <a:solidFill>
              <a:srgbClr val="E7F5F7"/>
            </a:solidFill>
            <a:prstDash val="solid"/>
          </a:ln>
        </p:spPr>
      </p:sp>
      <p:pic>
        <p:nvPicPr>
          <p:cNvPr id="43" name="Image 14" descr="preencoded.png">    </p:cNvPr>
          <p:cNvPicPr>
            <a:picLocks noChangeAspect="1"/>
          </p:cNvPicPr>
          <p:nvPr/>
        </p:nvPicPr>
        <p:blipFill>
          <a:blip r:embed="rId15"/>
          <a:stretch>
            <a:fillRect/>
          </a:stretch>
        </p:blipFill>
        <p:spPr>
          <a:xfrm>
            <a:off x="6589989" y="4974702"/>
            <a:ext cx="218724" cy="218724"/>
          </a:xfrm>
          <a:prstGeom prst="rect">
            <a:avLst/>
          </a:prstGeom>
        </p:spPr>
      </p:pic>
      <p:sp>
        <p:nvSpPr>
          <p:cNvPr id="44" name="Text 27"/>
          <p:cNvSpPr txBox="1"/>
          <p:nvPr/>
        </p:nvSpPr>
        <p:spPr>
          <a:xfrm>
            <a:off x="7055968" y="4846320"/>
            <a:ext cx="1607744" cy="47548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Lower IT workload</a:t>
            </a:r>
            <a:endParaRPr lang="en-US" sz="1300" dirty="0"/>
          </a:p>
        </p:txBody>
      </p:sp>
      <p:sp>
        <p:nvSpPr>
          <p:cNvPr id="45" name="Text 28"/>
          <p:cNvSpPr txBox="1"/>
          <p:nvPr/>
        </p:nvSpPr>
        <p:spPr>
          <a:xfrm>
            <a:off x="6461608" y="5440680"/>
            <a:ext cx="2110664" cy="457200"/>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Automation plus SECUKOREA 24/7 support</a:t>
            </a:r>
            <a:endParaRPr lang="en-US" sz="1100" dirty="0"/>
          </a:p>
        </p:txBody>
      </p:sp>
      <p:sp>
        <p:nvSpPr>
          <p:cNvPr id="46" name="Shape 29"/>
          <p:cNvSpPr/>
          <p:nvPr/>
        </p:nvSpPr>
        <p:spPr>
          <a:xfrm>
            <a:off x="9075191" y="4617720"/>
            <a:ext cx="2567864" cy="1371600"/>
          </a:xfrm>
          <a:prstGeom prst="roundRect">
            <a:avLst>
              <a:gd name="adj" fmla="val 9333"/>
            </a:avLst>
          </a:prstGeom>
          <a:solidFill>
            <a:srgbClr val="FFFFFF"/>
          </a:solidFill>
          <a:ln w="9525">
            <a:solidFill>
              <a:srgbClr val="DEE1E5"/>
            </a:solidFill>
            <a:prstDash val="solid"/>
          </a:ln>
          <a:effectLst>
            <a:outerShdw sx="100000" sy="100000" kx="0" ky="0" algn="bl" rotWithShape="0" blurRad="101600" dist="25400" dir="5400000">
              <a:srgbClr val="000000">
                <a:alpha val="10000"/>
              </a:srgbClr>
            </a:outerShdw>
          </a:effectLst>
        </p:spPr>
      </p:sp>
      <p:sp>
        <p:nvSpPr>
          <p:cNvPr id="47" name="Shape 30"/>
          <p:cNvSpPr/>
          <p:nvPr/>
        </p:nvSpPr>
        <p:spPr>
          <a:xfrm>
            <a:off x="9303791" y="4846320"/>
            <a:ext cx="475488" cy="475488"/>
          </a:xfrm>
          <a:prstGeom prst="ellipse">
            <a:avLst/>
          </a:prstGeom>
          <a:solidFill>
            <a:srgbClr val="E7F5F7"/>
          </a:solidFill>
          <a:ln w="12700">
            <a:solidFill>
              <a:srgbClr val="E7F5F7"/>
            </a:solidFill>
            <a:prstDash val="solid"/>
          </a:ln>
        </p:spPr>
      </p:sp>
      <p:pic>
        <p:nvPicPr>
          <p:cNvPr id="48" name="Image 15" descr="preencoded.png">    </p:cNvPr>
          <p:cNvPicPr>
            <a:picLocks noChangeAspect="1"/>
          </p:cNvPicPr>
          <p:nvPr/>
        </p:nvPicPr>
        <p:blipFill>
          <a:blip r:embed="rId16"/>
          <a:stretch>
            <a:fillRect/>
          </a:stretch>
        </p:blipFill>
        <p:spPr>
          <a:xfrm>
            <a:off x="9432173" y="4974702"/>
            <a:ext cx="218724" cy="218724"/>
          </a:xfrm>
          <a:prstGeom prst="rect">
            <a:avLst/>
          </a:prstGeom>
        </p:spPr>
      </p:pic>
      <p:sp>
        <p:nvSpPr>
          <p:cNvPr id="49" name="Text 31"/>
          <p:cNvSpPr txBox="1"/>
          <p:nvPr/>
        </p:nvSpPr>
        <p:spPr>
          <a:xfrm>
            <a:off x="9898151" y="4846320"/>
            <a:ext cx="1607744" cy="475488"/>
          </a:xfrm>
          <a:prstGeom prst="rect">
            <a:avLst/>
          </a:prstGeom>
          <a:noFill/>
          <a:ln/>
        </p:spPr>
        <p:txBody>
          <a:bodyPr wrap="square" lIns="0" tIns="0" rIns="0" bIns="0" rtlCol="0" anchor="ctr"/>
          <a:lstStyle/>
          <a:p>
            <a:pPr indent="0" marL="0">
              <a:buNone/>
            </a:pPr>
            <a:r>
              <a:rPr lang="en-US" sz="1300" b="1" dirty="0">
                <a:solidFill>
                  <a:srgbClr val="0E2233"/>
                </a:solidFill>
                <a:latin typeface="Arial" pitchFamily="34" charset="0"/>
                <a:ea typeface="Arial" pitchFamily="34" charset="-122"/>
                <a:cs typeface="Arial" pitchFamily="34" charset="-120"/>
              </a:rPr>
              <a:t>Compliance support</a:t>
            </a:r>
            <a:endParaRPr lang="en-US" sz="1300" dirty="0"/>
          </a:p>
        </p:txBody>
      </p:sp>
      <p:sp>
        <p:nvSpPr>
          <p:cNvPr id="50" name="Text 32"/>
          <p:cNvSpPr txBox="1"/>
          <p:nvPr/>
        </p:nvSpPr>
        <p:spPr>
          <a:xfrm>
            <a:off x="9303791" y="5440680"/>
            <a:ext cx="2110664" cy="457200"/>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PCI DSS templates and audit-ready reporting</a:t>
            </a:r>
            <a:endParaRPr lang="en-US" sz="1100" dirty="0"/>
          </a:p>
        </p:txBody>
      </p:sp>
      <p:sp>
        <p:nvSpPr>
          <p:cNvPr id="51" name="Text 33"/>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18   |   Nessus vs. Trend Micro Apex One™  ·  Proposal for The Westin Resort Guam</a:t>
            </a:r>
            <a:endParaRPr lang="en-US" sz="900" dirty="0"/>
          </a:p>
        </p:txBody>
      </p:sp>
      <p:pic>
        <p:nvPicPr>
          <p:cNvPr id="52" name="Image 16" descr="/private/tmp/claude-501/-Users-jihanvin-Desktop-NIVNAH-AI/16a96446-d9b3-40e2-af9e-a3011ae3db84/scratchpad/assets/secukorea_dark.png">    </p:cNvPr>
          <p:cNvPicPr>
            <a:picLocks noChangeAspect="1"/>
          </p:cNvPicPr>
          <p:nvPr/>
        </p:nvPicPr>
        <p:blipFill>
          <a:blip r:embed="rId17"/>
          <a:stretch>
            <a:fillRect/>
          </a:stretch>
        </p:blipFill>
        <p:spPr>
          <a:xfrm>
            <a:off x="10661904" y="6400800"/>
            <a:ext cx="978408" cy="2331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243A"/>
        </a:solidFill>
      </p:bgPr>
    </p:bg>
    <p:spTree>
      <p:nvGrpSpPr>
        <p:cNvPr id="1" name=""/>
        <p:cNvGrpSpPr/>
        <p:nvPr/>
      </p:nvGrpSpPr>
      <p:grpSpPr>
        <a:xfrm>
          <a:off x="0" y="0"/>
          <a:ext cx="0" cy="0"/>
          <a:chOff x="0" y="0"/>
          <a:chExt cx="0" cy="0"/>
        </a:xfrm>
      </p:grpSpPr>
      <p:sp>
        <p:nvSpPr>
          <p:cNvPr id="2" name="Shape 0"/>
          <p:cNvSpPr/>
          <p:nvPr/>
        </p:nvSpPr>
        <p:spPr>
          <a:xfrm>
            <a:off x="7223760" y="914400"/>
            <a:ext cx="4754880" cy="4754880"/>
          </a:xfrm>
          <a:prstGeom prst="ellipse">
            <a:avLst/>
          </a:prstGeom>
          <a:ln w="15875">
            <a:solidFill>
              <a:srgbClr val="0F8B99">
                <a:alpha val="15000"/>
              </a:srgbClr>
            </a:solidFill>
            <a:prstDash val="solid"/>
          </a:ln>
        </p:spPr>
      </p:sp>
      <p:sp>
        <p:nvSpPr>
          <p:cNvPr id="3" name="Shape 1"/>
          <p:cNvSpPr/>
          <p:nvPr/>
        </p:nvSpPr>
        <p:spPr>
          <a:xfrm>
            <a:off x="7680960" y="1371600"/>
            <a:ext cx="3840480" cy="3840480"/>
          </a:xfrm>
          <a:prstGeom prst="ellipse">
            <a:avLst/>
          </a:prstGeom>
          <a:ln w="15875">
            <a:solidFill>
              <a:srgbClr val="0F8B99">
                <a:alpha val="35000"/>
              </a:srgbClr>
            </a:solidFill>
            <a:prstDash val="solid"/>
          </a:ln>
        </p:spPr>
      </p:sp>
      <p:sp>
        <p:nvSpPr>
          <p:cNvPr id="4" name="Shape 2"/>
          <p:cNvSpPr/>
          <p:nvPr/>
        </p:nvSpPr>
        <p:spPr>
          <a:xfrm>
            <a:off x="8138160" y="1828800"/>
            <a:ext cx="2926080" cy="2926080"/>
          </a:xfrm>
          <a:prstGeom prst="ellipse">
            <a:avLst/>
          </a:prstGeom>
          <a:solidFill>
            <a:srgbClr val="0F8B99"/>
          </a:solidFill>
          <a:ln w="12700">
            <a:solidFill>
              <a:srgbClr val="0F8B99"/>
            </a:solidFill>
            <a:prstDash val="solid"/>
          </a:ln>
        </p:spPr>
      </p:sp>
      <p:pic>
        <p:nvPicPr>
          <p:cNvPr id="5" name="Image 0" descr="preencoded.png">    </p:cNvPr>
          <p:cNvPicPr>
            <a:picLocks noChangeAspect="1"/>
          </p:cNvPicPr>
          <p:nvPr/>
        </p:nvPicPr>
        <p:blipFill>
          <a:blip r:embed="rId1"/>
          <a:stretch>
            <a:fillRect/>
          </a:stretch>
        </p:blipFill>
        <p:spPr>
          <a:xfrm>
            <a:off x="9015984" y="2706624"/>
            <a:ext cx="1170432" cy="1170432"/>
          </a:xfrm>
          <a:prstGeom prst="rect">
            <a:avLst/>
          </a:prstGeom>
        </p:spPr>
      </p:pic>
      <p:pic>
        <p:nvPicPr>
          <p:cNvPr id="6" name="Image 1" descr="/private/tmp/claude-501/-Users-jihanvin-Desktop-NIVNAH-AI/16a96446-d9b3-40e2-af9e-a3011ae3db84/scratchpad/assets/westin_white.png">    </p:cNvPr>
          <p:cNvPicPr>
            <a:picLocks noChangeAspect="1"/>
          </p:cNvPicPr>
          <p:nvPr/>
        </p:nvPicPr>
        <p:blipFill>
          <a:blip r:embed="rId2"/>
          <a:stretch>
            <a:fillRect/>
          </a:stretch>
        </p:blipFill>
        <p:spPr>
          <a:xfrm>
            <a:off x="548640" y="502920"/>
            <a:ext cx="1371600" cy="411480"/>
          </a:xfrm>
          <a:prstGeom prst="rect">
            <a:avLst/>
          </a:prstGeom>
        </p:spPr>
      </p:pic>
      <p:sp>
        <p:nvSpPr>
          <p:cNvPr id="7" name="Text 3"/>
          <p:cNvSpPr txBox="1"/>
          <p:nvPr/>
        </p:nvSpPr>
        <p:spPr>
          <a:xfrm>
            <a:off x="548640" y="2011680"/>
            <a:ext cx="6400800" cy="365760"/>
          </a:xfrm>
          <a:prstGeom prst="rect">
            <a:avLst/>
          </a:prstGeom>
          <a:noFill/>
          <a:ln/>
        </p:spPr>
        <p:txBody>
          <a:bodyPr wrap="square" lIns="0" tIns="0" rIns="0" bIns="0" rtlCol="0" anchor="t"/>
          <a:lstStyle/>
          <a:p>
            <a:pPr indent="0" marL="0">
              <a:buNone/>
            </a:pPr>
            <a:r>
              <a:rPr lang="en-US" sz="1400" b="1" spc="300" kern="0" dirty="0">
                <a:solidFill>
                  <a:srgbClr val="0F8B99"/>
                </a:solidFill>
                <a:latin typeface="Calibri" pitchFamily="34" charset="0"/>
                <a:ea typeface="Calibri" pitchFamily="34" charset="-122"/>
                <a:cs typeface="Calibri" pitchFamily="34" charset="-120"/>
              </a:rPr>
              <a:t>Q &amp; A</a:t>
            </a:r>
            <a:endParaRPr lang="en-US" sz="1400" dirty="0"/>
          </a:p>
        </p:txBody>
      </p:sp>
      <p:sp>
        <p:nvSpPr>
          <p:cNvPr id="8" name="Text 4"/>
          <p:cNvSpPr txBox="1"/>
          <p:nvPr/>
        </p:nvSpPr>
        <p:spPr>
          <a:xfrm>
            <a:off x="548640" y="2423160"/>
            <a:ext cx="6400800"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9" name="Text 5"/>
          <p:cNvSpPr txBox="1"/>
          <p:nvPr/>
        </p:nvSpPr>
        <p:spPr>
          <a:xfrm>
            <a:off x="548640" y="3611880"/>
            <a:ext cx="6400800" cy="685800"/>
          </a:xfrm>
          <a:prstGeom prst="rect">
            <a:avLst/>
          </a:prstGeom>
          <a:noFill/>
          <a:ln/>
        </p:spPr>
        <p:txBody>
          <a:bodyPr wrap="square" lIns="0" tIns="0" rIns="0" bIns="0" rtlCol="0" anchor="t"/>
          <a:lstStyle/>
          <a:p>
            <a:pPr indent="0" marL="0">
              <a:buNone/>
            </a:pPr>
            <a:r>
              <a:rPr lang="en-US" sz="1600" dirty="0">
                <a:solidFill>
                  <a:srgbClr val="C8CCD2"/>
                </a:solidFill>
                <a:latin typeface="Calibri" pitchFamily="34" charset="0"/>
                <a:ea typeface="Calibri" pitchFamily="34" charset="-122"/>
                <a:cs typeface="Calibri" pitchFamily="34" charset="-120"/>
              </a:rPr>
              <a:t>Automatic, always-on endpoint protection for The Westin Resort Guam — powered by Trend Micro Apex One.</a:t>
            </a:r>
            <a:endParaRPr lang="en-US" sz="1600" dirty="0"/>
          </a:p>
        </p:txBody>
      </p:sp>
      <p:pic>
        <p:nvPicPr>
          <p:cNvPr id="10" name="Image 2" descr="preencoded.png">    </p:cNvPr>
          <p:cNvPicPr>
            <a:picLocks noChangeAspect="1"/>
          </p:cNvPicPr>
          <p:nvPr/>
        </p:nvPicPr>
        <p:blipFill>
          <a:blip r:embed="rId3"/>
          <a:stretch>
            <a:fillRect/>
          </a:stretch>
        </p:blipFill>
        <p:spPr>
          <a:xfrm>
            <a:off x="548640" y="4626864"/>
            <a:ext cx="219456" cy="219456"/>
          </a:xfrm>
          <a:prstGeom prst="rect">
            <a:avLst/>
          </a:prstGeom>
        </p:spPr>
      </p:pic>
      <p:sp>
        <p:nvSpPr>
          <p:cNvPr id="11" name="Text 6"/>
          <p:cNvSpPr txBox="1"/>
          <p:nvPr/>
        </p:nvSpPr>
        <p:spPr>
          <a:xfrm>
            <a:off x="932688" y="4572000"/>
            <a:ext cx="457200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secukorea@secukorea.com</a:t>
            </a:r>
            <a:endParaRPr lang="en-US" sz="1400" dirty="0"/>
          </a:p>
        </p:txBody>
      </p:sp>
      <p:pic>
        <p:nvPicPr>
          <p:cNvPr id="12" name="Image 3" descr="preencoded.png">    </p:cNvPr>
          <p:cNvPicPr>
            <a:picLocks noChangeAspect="1"/>
          </p:cNvPicPr>
          <p:nvPr/>
        </p:nvPicPr>
        <p:blipFill>
          <a:blip r:embed="rId4"/>
          <a:stretch>
            <a:fillRect/>
          </a:stretch>
        </p:blipFill>
        <p:spPr>
          <a:xfrm>
            <a:off x="548640" y="5038344"/>
            <a:ext cx="219456" cy="219456"/>
          </a:xfrm>
          <a:prstGeom prst="rect">
            <a:avLst/>
          </a:prstGeom>
        </p:spPr>
      </p:pic>
      <p:sp>
        <p:nvSpPr>
          <p:cNvPr id="13" name="Text 7"/>
          <p:cNvSpPr txBox="1"/>
          <p:nvPr/>
        </p:nvSpPr>
        <p:spPr>
          <a:xfrm>
            <a:off x="932688" y="4983480"/>
            <a:ext cx="457200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+82-2-3400-0877</a:t>
            </a:r>
            <a:endParaRPr lang="en-US" sz="1400" dirty="0"/>
          </a:p>
        </p:txBody>
      </p:sp>
      <p:pic>
        <p:nvPicPr>
          <p:cNvPr id="14" name="Image 4" descr="preencoded.png">    </p:cNvPr>
          <p:cNvPicPr>
            <a:picLocks noChangeAspect="1"/>
          </p:cNvPicPr>
          <p:nvPr/>
        </p:nvPicPr>
        <p:blipFill>
          <a:blip r:embed="rId5"/>
          <a:stretch>
            <a:fillRect/>
          </a:stretch>
        </p:blipFill>
        <p:spPr>
          <a:xfrm>
            <a:off x="548640" y="5449824"/>
            <a:ext cx="219456" cy="219456"/>
          </a:xfrm>
          <a:prstGeom prst="rect">
            <a:avLst/>
          </a:prstGeom>
        </p:spPr>
      </p:pic>
      <p:sp>
        <p:nvSpPr>
          <p:cNvPr id="15" name="Text 8"/>
          <p:cNvSpPr txBox="1"/>
          <p:nvPr/>
        </p:nvSpPr>
        <p:spPr>
          <a:xfrm>
            <a:off x="932688" y="5394960"/>
            <a:ext cx="457200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www.secukorea.com</a:t>
            </a:r>
            <a:endParaRPr lang="en-US" sz="1400" dirty="0"/>
          </a:p>
        </p:txBody>
      </p:sp>
      <p:sp>
        <p:nvSpPr>
          <p:cNvPr id="16" name="Text 9"/>
          <p:cNvSpPr txBox="1"/>
          <p:nvPr/>
        </p:nvSpPr>
        <p:spPr>
          <a:xfrm>
            <a:off x="7818120" y="6217920"/>
            <a:ext cx="731520" cy="219456"/>
          </a:xfrm>
          <a:prstGeom prst="rect">
            <a:avLst/>
          </a:prstGeom>
          <a:noFill/>
          <a:ln/>
        </p:spPr>
        <p:txBody>
          <a:bodyPr wrap="square" lIns="0" tIns="0" rIns="0" bIns="0" rtlCol="0" anchor="ctr"/>
          <a:lstStyle/>
          <a:p>
            <a:pPr indent="0" marL="0">
              <a:buNone/>
            </a:pPr>
            <a:r>
              <a:rPr lang="en-US" sz="900" dirty="0">
                <a:solidFill>
                  <a:srgbClr val="9AA1AB"/>
                </a:solidFill>
                <a:latin typeface="Calibri" pitchFamily="34" charset="0"/>
                <a:ea typeface="Calibri" pitchFamily="34" charset="-122"/>
                <a:cs typeface="Calibri" pitchFamily="34" charset="-120"/>
              </a:rPr>
              <a:t>Solution</a:t>
            </a:r>
            <a:endParaRPr lang="en-US" sz="900" dirty="0"/>
          </a:p>
        </p:txBody>
      </p:sp>
      <p:pic>
        <p:nvPicPr>
          <p:cNvPr id="17" name="Image 5" descr="/private/tmp/claude-501/-Users-jihanvin-Desktop-NIVNAH-AI/16a96446-d9b3-40e2-af9e-a3011ae3db84/scratchpad/assets/tm_logo_light.png">    </p:cNvPr>
          <p:cNvPicPr>
            <a:picLocks noChangeAspect="1"/>
          </p:cNvPicPr>
          <p:nvPr/>
        </p:nvPicPr>
        <p:blipFill>
          <a:blip r:embed="rId6"/>
          <a:stretch>
            <a:fillRect/>
          </a:stretch>
        </p:blipFill>
        <p:spPr>
          <a:xfrm>
            <a:off x="8503920" y="6089904"/>
            <a:ext cx="1340012" cy="475488"/>
          </a:xfrm>
          <a:prstGeom prst="rect">
            <a:avLst/>
          </a:prstGeom>
        </p:spPr>
      </p:pic>
      <p:pic>
        <p:nvPicPr>
          <p:cNvPr id="18" name="Image 6" descr="/private/tmp/claude-501/-Users-jihanvin-Desktop-NIVNAH-AI/16a96446-d9b3-40e2-af9e-a3011ae3db84/scratchpad/assets/secukorea_light.png">    </p:cNvPr>
          <p:cNvPicPr>
            <a:picLocks noChangeAspect="1"/>
          </p:cNvPicPr>
          <p:nvPr/>
        </p:nvPicPr>
        <p:blipFill>
          <a:blip r:embed="rId7"/>
          <a:stretch>
            <a:fillRect/>
          </a:stretch>
        </p:blipFill>
        <p:spPr>
          <a:xfrm>
            <a:off x="10314432" y="6163056"/>
            <a:ext cx="1325880" cy="3154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200" kern="0" dirty="0">
                <a:solidFill>
                  <a:srgbClr val="0F8B99"/>
                </a:solidFill>
                <a:latin typeface="Arial" pitchFamily="34" charset="0"/>
                <a:ea typeface="Arial" pitchFamily="34" charset="-122"/>
                <a:cs typeface="Arial" pitchFamily="34" charset="-120"/>
              </a:rPr>
              <a:t>15   TECHNICAL SUPPORT</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indent="0" marL="0">
              <a:buNone/>
            </a:pPr>
            <a:r>
              <a:rPr lang="en-US" sz="2800" b="1" dirty="0">
                <a:solidFill>
                  <a:srgbClr val="0E2233"/>
                </a:solidFill>
                <a:latin typeface="Arial" pitchFamily="34" charset="0"/>
                <a:ea typeface="Arial" pitchFamily="34" charset="-122"/>
                <a:cs typeface="Arial" pitchFamily="34" charset="-120"/>
              </a:rPr>
              <a:t>SECUKOREA Technical Support</a:t>
            </a:r>
            <a:endParaRPr lang="en-US" sz="2800" dirty="0"/>
          </a:p>
        </p:txBody>
      </p:sp>
      <p:pic>
        <p:nvPicPr>
          <p:cNvPr id="4" name="Image 0" descr="/private/tmp/claude-501/-Users-jihanvin-Desktop-NIVNAH-AI/16a96446-d9b3-40e2-af9e-a3011ae3db84/scratchpad/assets/westin_grey.png">    </p:cNvPr>
          <p:cNvPicPr>
            <a:picLocks noChangeAspect="1"/>
          </p:cNvPicPr>
          <p:nvPr/>
        </p:nvPicPr>
        <p:blipFill>
          <a:blip r:embed="rId1"/>
          <a:stretch>
            <a:fillRect/>
          </a:stretch>
        </p:blipFill>
        <p:spPr>
          <a:xfrm>
            <a:off x="10634472" y="402336"/>
            <a:ext cx="1005840" cy="301752"/>
          </a:xfrm>
          <a:prstGeom prst="rect">
            <a:avLst/>
          </a:prstGeom>
        </p:spPr>
      </p:pic>
      <p:sp>
        <p:nvSpPr>
          <p:cNvPr id="5" name="Shape 2"/>
          <p:cNvSpPr/>
          <p:nvPr/>
        </p:nvSpPr>
        <p:spPr>
          <a:xfrm>
            <a:off x="548640" y="1554480"/>
            <a:ext cx="5394960" cy="4434840"/>
          </a:xfrm>
          <a:prstGeom prst="roundRect">
            <a:avLst>
              <a:gd name="adj" fmla="val 2887"/>
            </a:avLst>
          </a:prstGeom>
          <a:solidFill>
            <a:srgbClr val="10243A"/>
          </a:solidFill>
          <a:ln w="12700">
            <a:solidFill>
              <a:srgbClr val="10243A"/>
            </a:solidFill>
            <a:prstDash val="solid"/>
          </a:ln>
        </p:spPr>
      </p:sp>
      <p:sp>
        <p:nvSpPr>
          <p:cNvPr id="6" name="Text 3"/>
          <p:cNvSpPr txBox="1"/>
          <p:nvPr/>
        </p:nvSpPr>
        <p:spPr>
          <a:xfrm>
            <a:off x="868680" y="1828800"/>
            <a:ext cx="4754880" cy="237744"/>
          </a:xfrm>
          <a:prstGeom prst="rect">
            <a:avLst/>
          </a:prstGeom>
          <a:noFill/>
          <a:ln/>
        </p:spPr>
        <p:txBody>
          <a:bodyPr wrap="square" lIns="0" tIns="0" rIns="0" bIns="0" rtlCol="0" anchor="t"/>
          <a:lstStyle/>
          <a:p>
            <a:pPr indent="0" marL="0">
              <a:buNone/>
            </a:pPr>
            <a:r>
              <a:rPr lang="en-US" sz="1050" b="1" spc="150" kern="0" dirty="0">
                <a:solidFill>
                  <a:srgbClr val="0F8B99"/>
                </a:solidFill>
                <a:latin typeface="Calibri" pitchFamily="34" charset="0"/>
                <a:ea typeface="Calibri" pitchFamily="34" charset="-122"/>
                <a:cs typeface="Calibri" pitchFamily="34" charset="-120"/>
              </a:rPr>
              <a:t>24/7 TECHNICAL SUPPORT</a:t>
            </a:r>
            <a:endParaRPr lang="en-US" sz="1050" dirty="0"/>
          </a:p>
        </p:txBody>
      </p:sp>
      <p:sp>
        <p:nvSpPr>
          <p:cNvPr id="7" name="Text 4"/>
          <p:cNvSpPr txBox="1"/>
          <p:nvPr/>
        </p:nvSpPr>
        <p:spPr>
          <a:xfrm>
            <a:off x="868680" y="2103120"/>
            <a:ext cx="475488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Help whenever the resort needs it</a:t>
            </a:r>
            <a:endParaRPr lang="en-US" sz="2000" dirty="0"/>
          </a:p>
        </p:txBody>
      </p:sp>
      <p:sp>
        <p:nvSpPr>
          <p:cNvPr id="8" name="Shape 5"/>
          <p:cNvSpPr/>
          <p:nvPr/>
        </p:nvSpPr>
        <p:spPr>
          <a:xfrm>
            <a:off x="868680" y="2788920"/>
            <a:ext cx="640080" cy="640080"/>
          </a:xfrm>
          <a:prstGeom prst="ellipse">
            <a:avLst/>
          </a:prstGeom>
          <a:solidFill>
            <a:srgbClr val="0F8B99"/>
          </a:solidFill>
          <a:ln w="12700">
            <a:solidFill>
              <a:srgbClr val="0F8B99"/>
            </a:solidFill>
            <a:prstDash val="solid"/>
          </a:ln>
        </p:spPr>
      </p:sp>
      <p:pic>
        <p:nvPicPr>
          <p:cNvPr id="9" name="Image 1" descr="preencoded.png">    </p:cNvPr>
          <p:cNvPicPr>
            <a:picLocks noChangeAspect="1"/>
          </p:cNvPicPr>
          <p:nvPr/>
        </p:nvPicPr>
        <p:blipFill>
          <a:blip r:embed="rId2"/>
          <a:stretch>
            <a:fillRect/>
          </a:stretch>
        </p:blipFill>
        <p:spPr>
          <a:xfrm>
            <a:off x="1041502" y="2961742"/>
            <a:ext cx="294437" cy="294437"/>
          </a:xfrm>
          <a:prstGeom prst="rect">
            <a:avLst/>
          </a:prstGeom>
        </p:spPr>
      </p:pic>
      <p:sp>
        <p:nvSpPr>
          <p:cNvPr id="10" name="Text 6"/>
          <p:cNvSpPr txBox="1"/>
          <p:nvPr/>
        </p:nvSpPr>
        <p:spPr>
          <a:xfrm>
            <a:off x="1691640" y="2807208"/>
            <a:ext cx="3931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1. Contact</a:t>
            </a:r>
            <a:endParaRPr lang="en-US" sz="1400" dirty="0"/>
          </a:p>
        </p:txBody>
      </p:sp>
      <p:sp>
        <p:nvSpPr>
          <p:cNvPr id="11" name="Text 7"/>
          <p:cNvSpPr txBox="1"/>
          <p:nvPr/>
        </p:nvSpPr>
        <p:spPr>
          <a:xfrm>
            <a:off x="1691640" y="3108960"/>
            <a:ext cx="3931920" cy="457200"/>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Reach SECUKOREA by phone or email at any hour — no time-zone gaps</a:t>
            </a:r>
            <a:endParaRPr lang="en-US" sz="1150" dirty="0"/>
          </a:p>
        </p:txBody>
      </p:sp>
      <p:sp>
        <p:nvSpPr>
          <p:cNvPr id="12" name="Shape 8"/>
          <p:cNvSpPr/>
          <p:nvPr/>
        </p:nvSpPr>
        <p:spPr>
          <a:xfrm>
            <a:off x="1188720" y="3447288"/>
            <a:ext cx="0" cy="329184"/>
          </a:xfrm>
          <a:prstGeom prst="line">
            <a:avLst/>
          </a:prstGeom>
          <a:noFill/>
          <a:ln w="19050">
            <a:solidFill>
              <a:srgbClr val="5A6069"/>
            </a:solidFill>
            <a:prstDash val="solid"/>
          </a:ln>
        </p:spPr>
      </p:sp>
      <p:sp>
        <p:nvSpPr>
          <p:cNvPr id="13" name="Shape 9"/>
          <p:cNvSpPr/>
          <p:nvPr/>
        </p:nvSpPr>
        <p:spPr>
          <a:xfrm>
            <a:off x="868680" y="3794760"/>
            <a:ext cx="640080" cy="640080"/>
          </a:xfrm>
          <a:prstGeom prst="ellipse">
            <a:avLst/>
          </a:prstGeom>
          <a:solidFill>
            <a:srgbClr val="0F8B99"/>
          </a:solidFill>
          <a:ln w="12700">
            <a:solidFill>
              <a:srgbClr val="0F8B99"/>
            </a:solidFill>
            <a:prstDash val="solid"/>
          </a:ln>
        </p:spPr>
      </p:sp>
      <p:pic>
        <p:nvPicPr>
          <p:cNvPr id="14" name="Image 2" descr="preencoded.png">    </p:cNvPr>
          <p:cNvPicPr>
            <a:picLocks noChangeAspect="1"/>
          </p:cNvPicPr>
          <p:nvPr/>
        </p:nvPicPr>
        <p:blipFill>
          <a:blip r:embed="rId3"/>
          <a:stretch>
            <a:fillRect/>
          </a:stretch>
        </p:blipFill>
        <p:spPr>
          <a:xfrm>
            <a:off x="1041502" y="3967582"/>
            <a:ext cx="294437" cy="294437"/>
          </a:xfrm>
          <a:prstGeom prst="rect">
            <a:avLst/>
          </a:prstGeom>
        </p:spPr>
      </p:pic>
      <p:sp>
        <p:nvSpPr>
          <p:cNvPr id="15" name="Text 10"/>
          <p:cNvSpPr txBox="1"/>
          <p:nvPr/>
        </p:nvSpPr>
        <p:spPr>
          <a:xfrm>
            <a:off x="1691640" y="3813048"/>
            <a:ext cx="3931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2. Diagnose</a:t>
            </a:r>
            <a:endParaRPr lang="en-US" sz="1400" dirty="0"/>
          </a:p>
        </p:txBody>
      </p:sp>
      <p:sp>
        <p:nvSpPr>
          <p:cNvPr id="16" name="Text 11"/>
          <p:cNvSpPr txBox="1"/>
          <p:nvPr/>
        </p:nvSpPr>
        <p:spPr>
          <a:xfrm>
            <a:off x="1691640" y="4114800"/>
            <a:ext cx="3931920" cy="457200"/>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Engineers connect remotely to review alerts, logs and agent status</a:t>
            </a:r>
            <a:endParaRPr lang="en-US" sz="1150" dirty="0"/>
          </a:p>
        </p:txBody>
      </p:sp>
      <p:sp>
        <p:nvSpPr>
          <p:cNvPr id="17" name="Shape 12"/>
          <p:cNvSpPr/>
          <p:nvPr/>
        </p:nvSpPr>
        <p:spPr>
          <a:xfrm>
            <a:off x="1188720" y="4453128"/>
            <a:ext cx="0" cy="329184"/>
          </a:xfrm>
          <a:prstGeom prst="line">
            <a:avLst/>
          </a:prstGeom>
          <a:noFill/>
          <a:ln w="19050">
            <a:solidFill>
              <a:srgbClr val="5A6069"/>
            </a:solidFill>
            <a:prstDash val="solid"/>
          </a:ln>
        </p:spPr>
      </p:sp>
      <p:sp>
        <p:nvSpPr>
          <p:cNvPr id="18" name="Shape 13"/>
          <p:cNvSpPr/>
          <p:nvPr/>
        </p:nvSpPr>
        <p:spPr>
          <a:xfrm>
            <a:off x="868680" y="4800600"/>
            <a:ext cx="640080" cy="640080"/>
          </a:xfrm>
          <a:prstGeom prst="ellipse">
            <a:avLst/>
          </a:prstGeom>
          <a:solidFill>
            <a:srgbClr val="0F8B99"/>
          </a:solidFill>
          <a:ln w="12700">
            <a:solidFill>
              <a:srgbClr val="0F8B99"/>
            </a:solidFill>
            <a:prstDash val="solid"/>
          </a:ln>
        </p:spPr>
      </p:sp>
      <p:pic>
        <p:nvPicPr>
          <p:cNvPr id="19" name="Image 3" descr="preencoded.png">    </p:cNvPr>
          <p:cNvPicPr>
            <a:picLocks noChangeAspect="1"/>
          </p:cNvPicPr>
          <p:nvPr/>
        </p:nvPicPr>
        <p:blipFill>
          <a:blip r:embed="rId4"/>
          <a:stretch>
            <a:fillRect/>
          </a:stretch>
        </p:blipFill>
        <p:spPr>
          <a:xfrm>
            <a:off x="1041502" y="4973422"/>
            <a:ext cx="294437" cy="294437"/>
          </a:xfrm>
          <a:prstGeom prst="rect">
            <a:avLst/>
          </a:prstGeom>
        </p:spPr>
      </p:pic>
      <p:sp>
        <p:nvSpPr>
          <p:cNvPr id="20" name="Text 14"/>
          <p:cNvSpPr txBox="1"/>
          <p:nvPr/>
        </p:nvSpPr>
        <p:spPr>
          <a:xfrm>
            <a:off x="1691640" y="4818888"/>
            <a:ext cx="393192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3. Resolve</a:t>
            </a:r>
            <a:endParaRPr lang="en-US" sz="1400" dirty="0"/>
          </a:p>
        </p:txBody>
      </p:sp>
      <p:sp>
        <p:nvSpPr>
          <p:cNvPr id="21" name="Text 15"/>
          <p:cNvSpPr txBox="1"/>
          <p:nvPr/>
        </p:nvSpPr>
        <p:spPr>
          <a:xfrm>
            <a:off x="1691640" y="5120640"/>
            <a:ext cx="3931920" cy="457200"/>
          </a:xfrm>
          <a:prstGeom prst="rect">
            <a:avLst/>
          </a:prstGeom>
          <a:noFill/>
          <a:ln/>
        </p:spPr>
        <p:txBody>
          <a:bodyPr wrap="square" lIns="0" tIns="0" rIns="0" bIns="0" rtlCol="0" anchor="t"/>
          <a:lstStyle/>
          <a:p>
            <a:pPr indent="0" marL="0">
              <a:buNone/>
            </a:pPr>
            <a:r>
              <a:rPr lang="en-US" sz="1150" dirty="0">
                <a:solidFill>
                  <a:srgbClr val="C8CCD2"/>
                </a:solidFill>
                <a:latin typeface="Calibri" pitchFamily="34" charset="0"/>
                <a:ea typeface="Calibri" pitchFamily="34" charset="-122"/>
                <a:cs typeface="Calibri" pitchFamily="34" charset="-120"/>
              </a:rPr>
              <a:t>Issues are fixed remotely, with follow-up until systems are stable</a:t>
            </a:r>
            <a:endParaRPr lang="en-US" sz="1150" dirty="0"/>
          </a:p>
        </p:txBody>
      </p:sp>
      <p:sp>
        <p:nvSpPr>
          <p:cNvPr id="22" name="Shape 16"/>
          <p:cNvSpPr/>
          <p:nvPr/>
        </p:nvSpPr>
        <p:spPr>
          <a:xfrm>
            <a:off x="6217920" y="1554480"/>
            <a:ext cx="5425135" cy="4434840"/>
          </a:xfrm>
          <a:prstGeom prst="roundRect">
            <a:avLst>
              <a:gd name="adj" fmla="val 2887"/>
            </a:avLst>
          </a:prstGeom>
          <a:solidFill>
            <a:srgbClr val="F4F5F7"/>
          </a:solidFill>
          <a:ln w="9525">
            <a:solidFill>
              <a:srgbClr val="DEE1E5"/>
            </a:solidFill>
            <a:prstDash val="solid"/>
          </a:ln>
        </p:spPr>
      </p:sp>
      <p:sp>
        <p:nvSpPr>
          <p:cNvPr id="23" name="Text 17"/>
          <p:cNvSpPr txBox="1"/>
          <p:nvPr/>
        </p:nvSpPr>
        <p:spPr>
          <a:xfrm>
            <a:off x="6537960" y="1828800"/>
            <a:ext cx="4785055" cy="237744"/>
          </a:xfrm>
          <a:prstGeom prst="rect">
            <a:avLst/>
          </a:prstGeom>
          <a:noFill/>
          <a:ln/>
        </p:spPr>
        <p:txBody>
          <a:bodyPr wrap="square" lIns="0" tIns="0" rIns="0" bIns="0" rtlCol="0" anchor="t"/>
          <a:lstStyle/>
          <a:p>
            <a:pPr indent="0" marL="0">
              <a:buNone/>
            </a:pPr>
            <a:r>
              <a:rPr lang="en-US" sz="1050" b="1" spc="150" kern="0" dirty="0">
                <a:solidFill>
                  <a:srgbClr val="0F8B99"/>
                </a:solidFill>
                <a:latin typeface="Calibri" pitchFamily="34" charset="0"/>
                <a:ea typeface="Calibri" pitchFamily="34" charset="-122"/>
                <a:cs typeface="Calibri" pitchFamily="34" charset="-120"/>
              </a:rPr>
              <a:t>DEDICATED ENGINEER ASSIGNMENT</a:t>
            </a:r>
            <a:endParaRPr lang="en-US" sz="1050" dirty="0"/>
          </a:p>
        </p:txBody>
      </p:sp>
      <p:sp>
        <p:nvSpPr>
          <p:cNvPr id="24" name="Text 18"/>
          <p:cNvSpPr txBox="1"/>
          <p:nvPr/>
        </p:nvSpPr>
        <p:spPr>
          <a:xfrm>
            <a:off x="6537960" y="2103120"/>
            <a:ext cx="4785055" cy="411480"/>
          </a:xfrm>
          <a:prstGeom prst="rect">
            <a:avLst/>
          </a:prstGeom>
          <a:noFill/>
          <a:ln/>
        </p:spPr>
        <p:txBody>
          <a:bodyPr wrap="square" lIns="0" tIns="0" rIns="0" bIns="0" rtlCol="0" anchor="t"/>
          <a:lstStyle/>
          <a:p>
            <a:pPr indent="0" marL="0">
              <a:buNone/>
            </a:pPr>
            <a:r>
              <a:rPr lang="en-US" sz="2000" b="1" dirty="0">
                <a:solidFill>
                  <a:srgbClr val="0E2233"/>
                </a:solidFill>
                <a:latin typeface="Arial" pitchFamily="34" charset="0"/>
                <a:ea typeface="Arial" pitchFamily="34" charset="-122"/>
                <a:cs typeface="Arial" pitchFamily="34" charset="-120"/>
              </a:rPr>
              <a:t>Your Own Dedicated Engineer</a:t>
            </a:r>
            <a:endParaRPr lang="en-US" sz="2000" dirty="0"/>
          </a:p>
        </p:txBody>
      </p:sp>
      <p:sp>
        <p:nvSpPr>
          <p:cNvPr id="25" name="Text 19"/>
          <p:cNvSpPr txBox="1"/>
          <p:nvPr/>
        </p:nvSpPr>
        <p:spPr>
          <a:xfrm>
            <a:off x="6537960" y="2542032"/>
            <a:ext cx="4785055" cy="274320"/>
          </a:xfrm>
          <a:prstGeom prst="rect">
            <a:avLst/>
          </a:prstGeom>
          <a:noFill/>
          <a:ln/>
        </p:spPr>
        <p:txBody>
          <a:bodyPr wrap="square" lIns="0" tIns="0" rIns="0" bIns="0" rtlCol="0" anchor="t"/>
          <a:lstStyle/>
          <a:p>
            <a:pPr indent="0" marL="0">
              <a:buNone/>
            </a:pPr>
            <a:r>
              <a:rPr lang="en-US" sz="1200" i="1" dirty="0">
                <a:solidFill>
                  <a:srgbClr val="5F6670"/>
                </a:solidFill>
                <a:latin typeface="Calibri" pitchFamily="34" charset="0"/>
                <a:ea typeface="Calibri" pitchFamily="34" charset="-122"/>
                <a:cs typeface="Calibri" pitchFamily="34" charset="-120"/>
              </a:rPr>
              <a:t>SECUKOREA will assign a dedicated engineer to The Westin Resort Guam.</a:t>
            </a:r>
            <a:endParaRPr lang="en-US" sz="1200" dirty="0"/>
          </a:p>
        </p:txBody>
      </p:sp>
      <p:sp>
        <p:nvSpPr>
          <p:cNvPr id="26" name="Shape 20"/>
          <p:cNvSpPr/>
          <p:nvPr/>
        </p:nvSpPr>
        <p:spPr>
          <a:xfrm>
            <a:off x="6537960" y="3017520"/>
            <a:ext cx="329184" cy="329184"/>
          </a:xfrm>
          <a:prstGeom prst="ellipse">
            <a:avLst/>
          </a:prstGeom>
          <a:solidFill>
            <a:srgbClr val="0F8B99"/>
          </a:solidFill>
          <a:ln w="12700">
            <a:solidFill>
              <a:srgbClr val="0F8B99"/>
            </a:solidFill>
            <a:prstDash val="solid"/>
          </a:ln>
        </p:spPr>
      </p:sp>
      <p:pic>
        <p:nvPicPr>
          <p:cNvPr id="27" name="Image 4" descr="preencoded.png">    </p:cNvPr>
          <p:cNvPicPr>
            <a:picLocks noChangeAspect="1"/>
          </p:cNvPicPr>
          <p:nvPr/>
        </p:nvPicPr>
        <p:blipFill>
          <a:blip r:embed="rId5"/>
          <a:stretch>
            <a:fillRect/>
          </a:stretch>
        </p:blipFill>
        <p:spPr>
          <a:xfrm>
            <a:off x="6626840" y="3106400"/>
            <a:ext cx="151425" cy="151425"/>
          </a:xfrm>
          <a:prstGeom prst="rect">
            <a:avLst/>
          </a:prstGeom>
        </p:spPr>
      </p:pic>
      <p:sp>
        <p:nvSpPr>
          <p:cNvPr id="28" name="Text 21"/>
          <p:cNvSpPr txBox="1"/>
          <p:nvPr/>
        </p:nvSpPr>
        <p:spPr>
          <a:xfrm>
            <a:off x="7040880" y="298094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Single point of contact for day-to-day requests</a:t>
            </a:r>
            <a:endParaRPr lang="en-US" sz="1250" dirty="0"/>
          </a:p>
        </p:txBody>
      </p:sp>
      <p:sp>
        <p:nvSpPr>
          <p:cNvPr id="29" name="Shape 22"/>
          <p:cNvSpPr/>
          <p:nvPr/>
        </p:nvSpPr>
        <p:spPr>
          <a:xfrm>
            <a:off x="6537960" y="3566160"/>
            <a:ext cx="329184" cy="329184"/>
          </a:xfrm>
          <a:prstGeom prst="ellipse">
            <a:avLst/>
          </a:prstGeom>
          <a:solidFill>
            <a:srgbClr val="0F8B99"/>
          </a:solidFill>
          <a:ln w="12700">
            <a:solidFill>
              <a:srgbClr val="0F8B99"/>
            </a:solidFill>
            <a:prstDash val="solid"/>
          </a:ln>
        </p:spPr>
      </p:sp>
      <p:pic>
        <p:nvPicPr>
          <p:cNvPr id="30" name="Image 5" descr="preencoded.png">    </p:cNvPr>
          <p:cNvPicPr>
            <a:picLocks noChangeAspect="1"/>
          </p:cNvPicPr>
          <p:nvPr/>
        </p:nvPicPr>
        <p:blipFill>
          <a:blip r:embed="rId6"/>
          <a:stretch>
            <a:fillRect/>
          </a:stretch>
        </p:blipFill>
        <p:spPr>
          <a:xfrm>
            <a:off x="6626840" y="3655040"/>
            <a:ext cx="151425" cy="151425"/>
          </a:xfrm>
          <a:prstGeom prst="rect">
            <a:avLst/>
          </a:prstGeom>
        </p:spPr>
      </p:pic>
      <p:sp>
        <p:nvSpPr>
          <p:cNvPr id="31" name="Text 23"/>
          <p:cNvSpPr txBox="1"/>
          <p:nvPr/>
        </p:nvSpPr>
        <p:spPr>
          <a:xfrm>
            <a:off x="7040880" y="352958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Fast escalation to Trend Micro when needed</a:t>
            </a:r>
            <a:endParaRPr lang="en-US" sz="1250" dirty="0"/>
          </a:p>
        </p:txBody>
      </p:sp>
      <p:sp>
        <p:nvSpPr>
          <p:cNvPr id="32" name="Shape 24"/>
          <p:cNvSpPr/>
          <p:nvPr/>
        </p:nvSpPr>
        <p:spPr>
          <a:xfrm>
            <a:off x="6537960" y="4114800"/>
            <a:ext cx="329184" cy="329184"/>
          </a:xfrm>
          <a:prstGeom prst="ellipse">
            <a:avLst/>
          </a:prstGeom>
          <a:solidFill>
            <a:srgbClr val="0F8B99"/>
          </a:solidFill>
          <a:ln w="12700">
            <a:solidFill>
              <a:srgbClr val="0F8B99"/>
            </a:solidFill>
            <a:prstDash val="solid"/>
          </a:ln>
        </p:spPr>
      </p:sp>
      <p:pic>
        <p:nvPicPr>
          <p:cNvPr id="33" name="Image 6" descr="preencoded.png">    </p:cNvPr>
          <p:cNvPicPr>
            <a:picLocks noChangeAspect="1"/>
          </p:cNvPicPr>
          <p:nvPr/>
        </p:nvPicPr>
        <p:blipFill>
          <a:blip r:embed="rId7"/>
          <a:stretch>
            <a:fillRect/>
          </a:stretch>
        </p:blipFill>
        <p:spPr>
          <a:xfrm>
            <a:off x="6626840" y="4203680"/>
            <a:ext cx="151425" cy="151425"/>
          </a:xfrm>
          <a:prstGeom prst="rect">
            <a:avLst/>
          </a:prstGeom>
        </p:spPr>
      </p:pic>
      <p:sp>
        <p:nvSpPr>
          <p:cNvPr id="34" name="Text 25"/>
          <p:cNvSpPr txBox="1"/>
          <p:nvPr/>
        </p:nvSpPr>
        <p:spPr>
          <a:xfrm>
            <a:off x="7040880" y="407822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Committed to stable, uninterrupted security</a:t>
            </a:r>
            <a:endParaRPr lang="en-US" sz="1250" dirty="0"/>
          </a:p>
        </p:txBody>
      </p:sp>
      <p:sp>
        <p:nvSpPr>
          <p:cNvPr id="35" name="Shape 26"/>
          <p:cNvSpPr/>
          <p:nvPr/>
        </p:nvSpPr>
        <p:spPr>
          <a:xfrm>
            <a:off x="6537960" y="4663440"/>
            <a:ext cx="329184" cy="329184"/>
          </a:xfrm>
          <a:prstGeom prst="ellipse">
            <a:avLst/>
          </a:prstGeom>
          <a:solidFill>
            <a:srgbClr val="0F8B99"/>
          </a:solidFill>
          <a:ln w="12700">
            <a:solidFill>
              <a:srgbClr val="0F8B99"/>
            </a:solidFill>
            <a:prstDash val="solid"/>
          </a:ln>
        </p:spPr>
      </p:sp>
      <p:pic>
        <p:nvPicPr>
          <p:cNvPr id="36" name="Image 7" descr="preencoded.png">    </p:cNvPr>
          <p:cNvPicPr>
            <a:picLocks noChangeAspect="1"/>
          </p:cNvPicPr>
          <p:nvPr/>
        </p:nvPicPr>
        <p:blipFill>
          <a:blip r:embed="rId8"/>
          <a:stretch>
            <a:fillRect/>
          </a:stretch>
        </p:blipFill>
        <p:spPr>
          <a:xfrm>
            <a:off x="6626840" y="4752320"/>
            <a:ext cx="151425" cy="151425"/>
          </a:xfrm>
          <a:prstGeom prst="rect">
            <a:avLst/>
          </a:prstGeom>
        </p:spPr>
      </p:pic>
      <p:sp>
        <p:nvSpPr>
          <p:cNvPr id="37" name="Text 27"/>
          <p:cNvSpPr txBox="1"/>
          <p:nvPr/>
        </p:nvSpPr>
        <p:spPr>
          <a:xfrm>
            <a:off x="7040880" y="462686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Complete peace of mind for the resort</a:t>
            </a:r>
            <a:endParaRPr lang="en-US" sz="1250" dirty="0"/>
          </a:p>
        </p:txBody>
      </p:sp>
      <p:sp>
        <p:nvSpPr>
          <p:cNvPr id="38" name="Shape 28"/>
          <p:cNvSpPr/>
          <p:nvPr/>
        </p:nvSpPr>
        <p:spPr>
          <a:xfrm>
            <a:off x="6537960" y="5212080"/>
            <a:ext cx="329184" cy="329184"/>
          </a:xfrm>
          <a:prstGeom prst="ellipse">
            <a:avLst/>
          </a:prstGeom>
          <a:solidFill>
            <a:srgbClr val="0F8B99"/>
          </a:solidFill>
          <a:ln w="12700">
            <a:solidFill>
              <a:srgbClr val="0F8B99"/>
            </a:solidFill>
            <a:prstDash val="solid"/>
          </a:ln>
        </p:spPr>
      </p:sp>
      <p:pic>
        <p:nvPicPr>
          <p:cNvPr id="39" name="Image 8" descr="preencoded.png">    </p:cNvPr>
          <p:cNvPicPr>
            <a:picLocks noChangeAspect="1"/>
          </p:cNvPicPr>
          <p:nvPr/>
        </p:nvPicPr>
        <p:blipFill>
          <a:blip r:embed="rId9"/>
          <a:stretch>
            <a:fillRect/>
          </a:stretch>
        </p:blipFill>
        <p:spPr>
          <a:xfrm>
            <a:off x="6626840" y="5300960"/>
            <a:ext cx="151425" cy="151425"/>
          </a:xfrm>
          <a:prstGeom prst="rect">
            <a:avLst/>
          </a:prstGeom>
        </p:spPr>
      </p:pic>
      <p:sp>
        <p:nvSpPr>
          <p:cNvPr id="40" name="Text 29"/>
          <p:cNvSpPr txBox="1"/>
          <p:nvPr/>
        </p:nvSpPr>
        <p:spPr>
          <a:xfrm>
            <a:off x="7040880" y="5175504"/>
            <a:ext cx="4327855" cy="402336"/>
          </a:xfrm>
          <a:prstGeom prst="rect">
            <a:avLst/>
          </a:prstGeom>
          <a:noFill/>
          <a:ln/>
        </p:spPr>
        <p:txBody>
          <a:bodyPr wrap="square" lIns="0" tIns="0" rIns="0" bIns="0" rtlCol="0" anchor="ctr"/>
          <a:lstStyle/>
          <a:p>
            <a:pPr indent="0" marL="0">
              <a:buNone/>
            </a:pPr>
            <a:r>
              <a:rPr lang="en-US" sz="1250" dirty="0">
                <a:solidFill>
                  <a:srgbClr val="0E2233"/>
                </a:solidFill>
                <a:latin typeface="Calibri" pitchFamily="34" charset="0"/>
                <a:ea typeface="Calibri" pitchFamily="34" charset="-122"/>
                <a:cs typeface="Calibri" pitchFamily="34" charset="-120"/>
              </a:rPr>
              <a:t>A long-term partner in keeping guests safe</a:t>
            </a:r>
            <a:endParaRPr lang="en-US" sz="1250" dirty="0"/>
          </a:p>
        </p:txBody>
      </p:sp>
      <p:sp>
        <p:nvSpPr>
          <p:cNvPr id="41" name="Text 30"/>
          <p:cNvSpPr txBox="1"/>
          <p:nvPr/>
        </p:nvSpPr>
        <p:spPr>
          <a:xfrm>
            <a:off x="548640" y="6446520"/>
            <a:ext cx="7315200" cy="219456"/>
          </a:xfrm>
          <a:prstGeom prst="rect">
            <a:avLst/>
          </a:prstGeom>
          <a:noFill/>
          <a:ln/>
        </p:spPr>
        <p:txBody>
          <a:bodyPr wrap="square" lIns="0" tIns="0" rIns="0" bIns="0" rtlCol="0" anchor="ctr"/>
          <a:lstStyle/>
          <a:p>
            <a:pPr indent="0" marL="0">
              <a:buNone/>
            </a:pPr>
            <a:r>
              <a:rPr lang="en-US" sz="900" dirty="0">
                <a:solidFill>
                  <a:srgbClr val="5F6670"/>
                </a:solidFill>
                <a:latin typeface="Calibri" pitchFamily="34" charset="0"/>
                <a:ea typeface="Calibri" pitchFamily="34" charset="-122"/>
                <a:cs typeface="Calibri" pitchFamily="34" charset="-120"/>
              </a:rPr>
              <a:t>17   |   Nessus vs. Trend Micro Apex One™  ·  Proposal for The Westin Resort Guam</a:t>
            </a:r>
            <a:endParaRPr lang="en-US" sz="900" dirty="0"/>
          </a:p>
        </p:txBody>
      </p:sp>
      <p:pic>
        <p:nvPicPr>
          <p:cNvPr id="42" name="Image 9" descr="/private/tmp/claude-501/-Users-jihanvin-Desktop-NIVNAH-AI/16a96446-d9b3-40e2-af9e-a3011ae3db84/scratchpad/assets/secukorea_dark.png">    </p:cNvPr>
          <p:cNvPicPr>
            <a:picLocks noChangeAspect="1"/>
          </p:cNvPicPr>
          <p:nvPr/>
        </p:nvPicPr>
        <p:blipFill>
          <a:blip r:embed="rId10"/>
          <a:stretch>
            <a:fillRect/>
          </a:stretch>
        </p:blipFill>
        <p:spPr>
          <a:xfrm>
            <a:off x="10661904" y="6400800"/>
            <a:ext cx="978408" cy="2331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SECUKOREA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Nessus vs. Trend Micro Apex One — Proposal for The Westin Resort Guam</dc:title>
  <dc:subject>PptxGenJS Presentation</dc:subject>
  <dc:creator>SECUKOREA Inc.</dc:creator>
  <cp:lastModifiedBy>SECUKOREA Inc.</cp:lastModifiedBy>
  <cp:revision>1</cp:revision>
  <dcterms:created xsi:type="dcterms:W3CDTF">2026-09-23T08:02:01Z</dcterms:created>
  <dcterms:modified xsi:type="dcterms:W3CDTF">2026-09-23T08:02:01Z</dcterms:modified>
</cp:coreProperties>
</file>