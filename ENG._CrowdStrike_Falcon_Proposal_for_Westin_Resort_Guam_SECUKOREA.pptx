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1" r:id="rId7"/>
    <p:sldId id="263" r:id="rId9"/>
    <p:sldId id="265" r:id="rId11"/>
    <p:sldId id="267" r:id="rId12"/>
    <p:sldId id="268" r:id="rId13"/>
    <p:sldId id="269" r:id="rId14"/>
    <p:sldId id="270" r:id="rId15"/>
    <p:sldId id="271" r:id="rId16"/>
    <p:sldId id="276" r:id="rId17"/>
    <p:sldId id="273" r:id="rId18"/>
    <p:sldId id="275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1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663587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The resort has no endpoint protection today. This proposal compares a vulnerability-scanning approach (Nessus) with the CrowdStrike Falcon platform and recommends real-time endpoint protection with Falcon.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message: the resort is unprotected today, and a scanner would only report weaknesses. Falcon stops attacks in real time. Walk through the situation, the gap and the proposal at a glance.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scene: a 24/7 resort with a small IT team and no endpoint protection. The resort needs protection that acts on its own, not just a list of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threat has changed. Breakout time is measured in seconds, zero-days are exploited before any fix exists, and ransomware hits most organizations. Protection must be real-time and automatic.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Analogy for non-technical stakeholders: a scanner such as Nessus is the scheduled fire-safety inspection. Falcon is the smoke detectors, sprinklers and security team that act when a fire actually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Falcon is one lightweight sensor and one cloud console. There is no on-site server to install or maintain. The same sensor protects the resort’s workstations, laptops and servers.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proposal covers two Falcon licenses: Falcon Prevent (next-gen antivirus) and Falcon Insight (EDR), both on the same single sensor. They are backed by SECUKOREA’s 24/7 remote technical support and a dedicated engineer.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real intrusion documented by CrowdStrike. The first step used a device without a Falcon sensor; from lateral movement onward, Falcon detected or blocked every step, and the ransomware never encrypted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summary of the two approaches. Nessus is strong at periodic vulnerability discovery, but it cannot stop an attack. Falcon prevents, detects and responds in real time, with lower day-to-day workload.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Independent evidence: perfect MITRE ATT&amp;CK 2025 result, Gartner Magic Quadrant leadership, SE Labs ransomware testing, Forrester ROI and Gartner Peer Insights customer ratings.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customer outcomes: speed of deployment in hospitality, much faster incident resolution in education, and far fewer, more accurate alerts in a distributed multi-brand organization.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Recommendation: deploy CrowdStrike Falcon on every endpoint. A scanner alone would only report weaknesses; Falcon protects from day one, with SECUKOREA supporting the resort 24/7.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SECUKOREA is the first line of support: 24/7 remote technical support tailored to overseas sites, and a dedicated engineer matched to the resort for stable day-to-day operation. When deeper help is needed, CrowdStrike partner SK shieldus provides escalation support: 24/7 incident response specialists, a 30-minute call and 2-hour initial response SLA for critical events, investigation across network devices and servers, correlation with other security logs, and malware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before and after, then the four business outcomes that matter to hotel management: guest trust, continuity, IT workload and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 audience and open the floor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5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13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34.png"/><Relationship Id="rId12" Type="http://schemas.openxmlformats.org/officeDocument/2006/relationships/image" Target="../media/image3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38.png"/><Relationship Id="rId5" Type="http://schemas.openxmlformats.org/officeDocument/2006/relationships/image" Target="../media/image32.png"/><Relationship Id="rId10" Type="http://schemas.openxmlformats.org/officeDocument/2006/relationships/image" Target="../media/image37.png"/><Relationship Id="rId4" Type="http://schemas.openxmlformats.org/officeDocument/2006/relationships/image" Target="../media/image31.png"/><Relationship Id="rId9" Type="http://schemas.openxmlformats.org/officeDocument/2006/relationships/image" Target="../media/image36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png"/><Relationship Id="rId3" Type="http://schemas.openxmlformats.org/officeDocument/2006/relationships/image" Target="../media/image5.png"/><Relationship Id="rId7" Type="http://schemas.openxmlformats.org/officeDocument/2006/relationships/image" Target="../media/image4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10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5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5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5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5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9.png"/><Relationship Id="rId5" Type="http://schemas.openxmlformats.org/officeDocument/2006/relationships/image" Target="../media/image37.png"/><Relationship Id="rId10" Type="http://schemas.openxmlformats.org/officeDocument/2006/relationships/image" Target="../media/image58.png"/><Relationship Id="rId4" Type="http://schemas.openxmlformats.org/officeDocument/2006/relationships/image" Target="../media/image35.png"/><Relationship Id="rId9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.png"/><Relationship Id="rId7" Type="http://schemas.openxmlformats.org/officeDocument/2006/relationships/image" Target="../media/image6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9.png"/><Relationship Id="rId5" Type="http://schemas.openxmlformats.org/officeDocument/2006/relationships/image" Target="../media/image61.png"/><Relationship Id="rId10" Type="http://schemas.openxmlformats.org/officeDocument/2006/relationships/image" Target="../media/image65.png"/><Relationship Id="rId4" Type="http://schemas.openxmlformats.org/officeDocument/2006/relationships/image" Target="../media/image60.png"/><Relationship Id="rId9" Type="http://schemas.openxmlformats.org/officeDocument/2006/relationships/image" Target="../media/image64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jpg"/><Relationship Id="rId7" Type="http://schemas.openxmlformats.org/officeDocument/2006/relationships/image" Target="../media/image6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783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PROPOSAL   |   ENDPOINT SECURITY</a:t>
            </a:r>
            <a:endParaRPr lang="en-US" sz="12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148840"/>
            <a:ext cx="87782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Vulnerability Scanning: Real-Time Endpoint Protection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794760"/>
            <a:ext cx="8778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 vs. CrowdStrike Falcon® Platform (EPP / EDR)</a:t>
            </a:r>
            <a:endParaRPr lang="en-US" sz="18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8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comparative proposal for The Westin Resort Guam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PROPOSER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 Inc.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32918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2918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Westin Resort Guam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035040" y="49834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6035040" y="523036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2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3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Nessus Finds Weaknesses. Falcon Stops Attacks.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17320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Westin Resort Guam has no endpoint protection today. A vulnerability scanner such as Nessus would report weaknesses, but it cannot stop an attack. Falcon delivers real-time prevention, detection and response on every endpoint — from the cloud, backed by 24/7 experts.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2148840"/>
            <a:ext cx="3515258" cy="2487168"/>
          </a:xfrm>
          <a:prstGeom prst="roundRect">
            <a:avLst>
              <a:gd name="adj" fmla="val 294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22960" y="2423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" y="2533802"/>
            <a:ext cx="281635" cy="28163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63040" y="2532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resort, small IT team, no endpoint protection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65760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data, payments and front-desk systems must stay protected around the clock. Today there is no antivirus or EDR, and every incident depends on staff effort.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38218" y="2148840"/>
            <a:ext cx="3515258" cy="2487168"/>
          </a:xfrm>
          <a:prstGeom prst="roundRect">
            <a:avLst>
              <a:gd name="adj" fmla="val 294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612538" y="2423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3181" y="2533802"/>
            <a:ext cx="281635" cy="281635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5252618" y="2532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050" dirty="0"/>
          </a:p>
        </p:txBody>
      </p:sp>
      <p:sp>
        <p:nvSpPr>
          <p:cNvPr id="16" name="Text 11"/>
          <p:cNvSpPr txBox="1"/>
          <p:nvPr/>
        </p:nvSpPr>
        <p:spPr>
          <a:xfrm>
            <a:off x="4612538" y="3063240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Scanning alone is not protection</a:t>
            </a:r>
            <a:endParaRPr lang="en-US" sz="1500" dirty="0"/>
          </a:p>
        </p:txBody>
      </p:sp>
      <p:sp>
        <p:nvSpPr>
          <p:cNvPr id="17" name="Text 12"/>
          <p:cNvSpPr txBox="1"/>
          <p:nvPr/>
        </p:nvSpPr>
        <p:spPr>
          <a:xfrm>
            <a:off x="4612538" y="365760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scanner lists weaknesses on the day it runs. It cannot block malware, stop ransomware or respond to an attack in progress.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8127797" y="2148840"/>
            <a:ext cx="3515258" cy="2487168"/>
          </a:xfrm>
          <a:prstGeom prst="roundRect">
            <a:avLst>
              <a:gd name="adj" fmla="val 2941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8402117" y="24231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2759" y="2533802"/>
            <a:ext cx="281635" cy="28163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9042197" y="2532888"/>
            <a:ext cx="24179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PROPOSAL</a:t>
            </a:r>
            <a:endParaRPr lang="en-US" sz="1050" dirty="0"/>
          </a:p>
        </p:txBody>
      </p:sp>
      <p:sp>
        <p:nvSpPr>
          <p:cNvPr id="22" name="Text 16"/>
          <p:cNvSpPr txBox="1"/>
          <p:nvPr/>
        </p:nvSpPr>
        <p:spPr>
          <a:xfrm>
            <a:off x="8402117" y="3063240"/>
            <a:ext cx="2966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CrowdStrike Falcon on every endpoint</a:t>
            </a:r>
            <a:endParaRPr lang="en-US" sz="1500" dirty="0"/>
          </a:p>
        </p:txBody>
      </p:sp>
      <p:sp>
        <p:nvSpPr>
          <p:cNvPr id="23" name="Text 17"/>
          <p:cNvSpPr txBox="1"/>
          <p:nvPr/>
        </p:nvSpPr>
        <p:spPr>
          <a:xfrm>
            <a:off x="8402117" y="3657600"/>
            <a:ext cx="296661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lightweight sensor delivers EPP and EDR from the cloud — no on-site servers. SECUKOREA’s 24/7 support covers the staffing gap.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548640" y="4846320"/>
            <a:ext cx="11094415" cy="1115568"/>
          </a:xfrm>
          <a:prstGeom prst="roundRect">
            <a:avLst>
              <a:gd name="adj" fmla="val 6557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868680" y="4974336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26" name="Text 20"/>
          <p:cNvSpPr txBox="1"/>
          <p:nvPr/>
        </p:nvSpPr>
        <p:spPr>
          <a:xfrm>
            <a:off x="868680" y="5449824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 sensor for both EPP and EDR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3642284" y="4974336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2"/>
          <p:cNvSpPr txBox="1"/>
          <p:nvPr/>
        </p:nvSpPr>
        <p:spPr>
          <a:xfrm>
            <a:off x="3642284" y="5449824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On-site servers to install or maintain</a:t>
            </a:r>
            <a:endParaRPr lang="en-US" sz="1050" dirty="0"/>
          </a:p>
        </p:txBody>
      </p:sp>
      <p:sp>
        <p:nvSpPr>
          <p:cNvPr id="29" name="Text 23"/>
          <p:cNvSpPr txBox="1"/>
          <p:nvPr/>
        </p:nvSpPr>
        <p:spPr>
          <a:xfrm>
            <a:off x="6415888" y="4974336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2400" dirty="0"/>
          </a:p>
        </p:txBody>
      </p:sp>
      <p:sp>
        <p:nvSpPr>
          <p:cNvPr id="30" name="Text 24"/>
          <p:cNvSpPr txBox="1"/>
          <p:nvPr/>
        </p:nvSpPr>
        <p:spPr>
          <a:xfrm>
            <a:off x="6415888" y="5449824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 remote technical support</a:t>
            </a:r>
            <a:endParaRPr lang="en-US" sz="1050" dirty="0"/>
          </a:p>
        </p:txBody>
      </p:sp>
      <p:sp>
        <p:nvSpPr>
          <p:cNvPr id="31" name="Text 25"/>
          <p:cNvSpPr txBox="1"/>
          <p:nvPr/>
        </p:nvSpPr>
        <p:spPr>
          <a:xfrm>
            <a:off x="9189491" y="4974336"/>
            <a:ext cx="22249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32" name="Text 26"/>
          <p:cNvSpPr txBox="1"/>
          <p:nvPr/>
        </p:nvSpPr>
        <p:spPr>
          <a:xfrm>
            <a:off x="9189491" y="5449824"/>
            <a:ext cx="22249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SECUKOREA engineer for the resort</a:t>
            </a:r>
            <a:endParaRPr lang="en-US" sz="1050" dirty="0"/>
          </a:p>
        </p:txBody>
      </p:sp>
      <p:sp>
        <p:nvSpPr>
          <p:cNvPr id="33" name="Text 27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8A94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scope: Falcon Prevent + Falcon Insight, with SECUKOREA 24/7 technical support. Independent test results are on page 10.</a:t>
            </a:r>
            <a:endParaRPr lang="en-US" sz="80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35" name="Image 4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CURRENT STATE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Environment &amp; Security Challenges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1724924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25880" y="158191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Non-Stop Hospitality Operations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325880" y="192938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personal data, payment processing, and front-desk and back-office systems must stay available and protected around the clock.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69748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2822204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267919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On-Site Security Staffing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325880" y="302666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dedicated security operations team, manual patching and case-by-case incident investigation are hard to sustain.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48640" y="379476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364" y="3919484"/>
            <a:ext cx="317480" cy="3174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325880" y="377647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Endpoint Protection Today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1325880" y="412394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antivirus or EDR on the resort’s endpoints. Malware, ransomware and intrusions can go unnoticed and unstopped.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4892040"/>
            <a:ext cx="56692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3364" y="5016764"/>
            <a:ext cx="317480" cy="3174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25880" y="4873752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High-Value Target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325880" y="5221224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Hotels hold payment card data and guest identities — a frequent target for ransomware and data theft, with direct impact on brand trust.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RESORT NEEDS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prevention of malware and ransomware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detection and containment of attacks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day-to-day workload for the IT team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help available 24/7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reporting for management and audits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not more reports — it is fewer incidents.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THREAT LANDSCAPE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Attacks Now Move in Seconds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sec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eCrime breakout time on record — from first foothold to other systems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90824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665144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3665144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attacks by AI-enabled adversaries in 2025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33008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07328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42%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6507328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zero-day vulnerabilities exploited before public disclosure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75191" y="1600200"/>
            <a:ext cx="2567864" cy="2148840"/>
          </a:xfrm>
          <a:prstGeom prst="roundRect">
            <a:avLst>
              <a:gd name="adj" fmla="val 3404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349511" y="1874520"/>
            <a:ext cx="201922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9349511" y="2715768"/>
            <a:ext cx="2019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surveyed organizations were hit by ransomware in the past year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4114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MEANS FOR THE RESORT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4682642"/>
            <a:ext cx="281635" cy="281635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1234440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Unknown threats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234440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Zero-days are exploited before any patch or signature exists — only behavior-based protection can stop them.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4338218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861" y="4682642"/>
            <a:ext cx="281635" cy="281635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5024018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Seconds, not weeks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5024018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unprotected endpoint can be compromised and spread the attack to other systems within seconds.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8127797" y="457200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439" y="4682642"/>
            <a:ext cx="281635" cy="281635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813597" y="4553712"/>
            <a:ext cx="278373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Paying is no safety net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813597" y="4882896"/>
            <a:ext cx="27837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 of victims who paid a ransom were attacked again, and 93% had data stolen anyway.</a:t>
            </a:r>
            <a:endParaRPr lang="en-US" sz="1200" dirty="0"/>
          </a:p>
        </p:txBody>
      </p:sp>
      <p:sp>
        <p:nvSpPr>
          <p:cNvPr id="30" name="Text 24"/>
          <p:cNvSpPr txBox="1"/>
          <p:nvPr/>
        </p:nvSpPr>
        <p:spPr>
          <a:xfrm>
            <a:off x="548640" y="6108192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CrowdStrike 2026 Global Threat Report; CrowdStrike State of Ransomware Survey.</a:t>
            </a:r>
            <a:endParaRPr lang="en-US" sz="800" dirty="0"/>
          </a:p>
        </p:txBody>
      </p:sp>
      <p:sp>
        <p:nvSpPr>
          <p:cNvPr id="31" name="Text 2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32" name="Image 4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A SIMPLE WAY TO SEE IT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Safety Inspection vs. a 24/7 Security Team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498" y="2015338"/>
            <a:ext cx="358445" cy="358445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1691640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Fire-Safety Inspection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inspector walks the building on a schedule, lists what needs fixing, and hands over a report. Valuable — but the inspector is gone when a fire actually starts.</a:t>
            </a:r>
            <a:endParaRPr lang="en-US" sz="125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023360"/>
            <a:ext cx="182880" cy="1828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188720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known issues</a:t>
            </a:r>
            <a:endParaRPr lang="en-US" sz="1250" dirty="0"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4389120"/>
            <a:ext cx="182880" cy="1828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188720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on a schedule</a:t>
            </a:r>
            <a:endParaRPr lang="en-US" sz="125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8680" y="4754880"/>
            <a:ext cx="182880" cy="182880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1188720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the fixing to you</a:t>
            </a:r>
            <a:endParaRPr lang="en-US" sz="1250" dirty="0"/>
          </a:p>
        </p:txBody>
      </p:sp>
      <p:sp>
        <p:nvSpPr>
          <p:cNvPr id="17" name="Shape 10"/>
          <p:cNvSpPr/>
          <p:nvPr/>
        </p:nvSpPr>
        <p:spPr>
          <a:xfrm>
            <a:off x="6568135" y="1554480"/>
            <a:ext cx="5074920" cy="3611880"/>
          </a:xfrm>
          <a:prstGeom prst="roundRect">
            <a:avLst>
              <a:gd name="adj" fmla="val 2532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6888175" y="18745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28993" y="2015338"/>
            <a:ext cx="358445" cy="35844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7711135" y="190195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</a:t>
            </a:r>
            <a:endParaRPr lang="en-US" sz="1100" dirty="0"/>
          </a:p>
        </p:txBody>
      </p:sp>
      <p:sp>
        <p:nvSpPr>
          <p:cNvPr id="21" name="Text 13"/>
          <p:cNvSpPr txBox="1"/>
          <p:nvPr/>
        </p:nvSpPr>
        <p:spPr>
          <a:xfrm>
            <a:off x="7711135" y="2157984"/>
            <a:ext cx="3703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Smoke Detectors, Sprinklers &amp; a 24/7 Security Team</a:t>
            </a:r>
            <a:endParaRPr lang="en-US" sz="1700" dirty="0"/>
          </a:p>
        </p:txBody>
      </p:sp>
      <p:sp>
        <p:nvSpPr>
          <p:cNvPr id="22" name="Text 14"/>
          <p:cNvSpPr txBox="1"/>
          <p:nvPr/>
        </p:nvSpPr>
        <p:spPr>
          <a:xfrm>
            <a:off x="6888175" y="2880360"/>
            <a:ext cx="4434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Sensors on every endpoint spot danger the moment it appears, stop it automatically, and escalate to experts who are on duty around the clock.</a:t>
            </a:r>
            <a:endParaRPr lang="en-US" sz="12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02336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7208215" y="397764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threats instantly</a:t>
            </a:r>
            <a:endParaRPr lang="en-US" sz="125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38912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7208215" y="434340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attacks automatically</a:t>
            </a:r>
            <a:endParaRPr lang="en-US" sz="12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88175" y="475488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7208215" y="470916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Experts respond 24/7</a:t>
            </a:r>
            <a:endParaRPr lang="en-US" sz="1250" dirty="0"/>
          </a:p>
        </p:txBody>
      </p:sp>
      <p:sp>
        <p:nvSpPr>
          <p:cNvPr id="29" name="Shape 18"/>
          <p:cNvSpPr/>
          <p:nvPr/>
        </p:nvSpPr>
        <p:spPr>
          <a:xfrm>
            <a:off x="5775808" y="3040380"/>
            <a:ext cx="640080" cy="640080"/>
          </a:xfrm>
          <a:prstGeom prst="ellipse">
            <a:avLst/>
          </a:prstGeom>
          <a:solidFill>
            <a:srgbClr val="0B0D12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30" name="Text 19"/>
          <p:cNvSpPr txBox="1"/>
          <p:nvPr/>
        </p:nvSpPr>
        <p:spPr>
          <a:xfrm>
            <a:off x="5775808" y="30403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500" dirty="0"/>
          </a:p>
        </p:txBody>
      </p:sp>
      <p:sp>
        <p:nvSpPr>
          <p:cNvPr id="31" name="Text 20"/>
          <p:cNvSpPr txBox="1"/>
          <p:nvPr/>
        </p:nvSpPr>
        <p:spPr>
          <a:xfrm>
            <a:off x="548640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LIFECYCLE</a:t>
            </a:r>
            <a:endParaRPr lang="en-US" sz="1000" dirty="0"/>
          </a:p>
        </p:txBody>
      </p:sp>
      <p:sp>
        <p:nvSpPr>
          <p:cNvPr id="32" name="Shape 21"/>
          <p:cNvSpPr/>
          <p:nvPr/>
        </p:nvSpPr>
        <p:spPr>
          <a:xfrm>
            <a:off x="2468880" y="5440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5D6B7E"/>
          </a:solidFill>
          <a:ln w="12700">
            <a:solidFill>
              <a:srgbClr val="5D6B7E"/>
            </a:solidFill>
            <a:prstDash val="solid"/>
          </a:ln>
        </p:spPr>
      </p:sp>
      <p:sp>
        <p:nvSpPr>
          <p:cNvPr id="33" name="Text 22"/>
          <p:cNvSpPr txBox="1"/>
          <p:nvPr/>
        </p:nvSpPr>
        <p:spPr>
          <a:xfrm>
            <a:off x="2468880" y="5440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</a:t>
            </a:r>
            <a:endParaRPr lang="en-US" sz="1250" dirty="0"/>
          </a:p>
        </p:txBody>
      </p:sp>
      <p:sp>
        <p:nvSpPr>
          <p:cNvPr id="34" name="Shape 23"/>
          <p:cNvSpPr/>
          <p:nvPr/>
        </p:nvSpPr>
        <p:spPr>
          <a:xfrm>
            <a:off x="3867912" y="5440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3867912" y="5440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</a:t>
            </a:r>
            <a:endParaRPr lang="en-US" sz="1250" dirty="0"/>
          </a:p>
        </p:txBody>
      </p:sp>
      <p:sp>
        <p:nvSpPr>
          <p:cNvPr id="36" name="Shape 25"/>
          <p:cNvSpPr/>
          <p:nvPr/>
        </p:nvSpPr>
        <p:spPr>
          <a:xfrm>
            <a:off x="5266944" y="5440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5266944" y="5440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250" dirty="0"/>
          </a:p>
        </p:txBody>
      </p:sp>
      <p:sp>
        <p:nvSpPr>
          <p:cNvPr id="38" name="Shape 27"/>
          <p:cNvSpPr/>
          <p:nvPr/>
        </p:nvSpPr>
        <p:spPr>
          <a:xfrm>
            <a:off x="6665976" y="5440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6665976" y="5440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</a:t>
            </a:r>
            <a:endParaRPr lang="en-US" sz="1250" dirty="0"/>
          </a:p>
        </p:txBody>
      </p:sp>
      <p:sp>
        <p:nvSpPr>
          <p:cNvPr id="40" name="Shape 29"/>
          <p:cNvSpPr/>
          <p:nvPr/>
        </p:nvSpPr>
        <p:spPr>
          <a:xfrm>
            <a:off x="8065008" y="5440680"/>
            <a:ext cx="1234440" cy="457200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41" name="Text 30"/>
          <p:cNvSpPr txBox="1"/>
          <p:nvPr/>
        </p:nvSpPr>
        <p:spPr>
          <a:xfrm>
            <a:off x="8065008" y="5440680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</a:t>
            </a:r>
            <a:endParaRPr lang="en-US" sz="1250" dirty="0"/>
          </a:p>
        </p:txBody>
      </p:sp>
      <p:sp>
        <p:nvSpPr>
          <p:cNvPr id="42" name="Text 31"/>
          <p:cNvSpPr txBox="1"/>
          <p:nvPr/>
        </p:nvSpPr>
        <p:spPr>
          <a:xfrm>
            <a:off x="9555480" y="5440680"/>
            <a:ext cx="20875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Nessus</a:t>
            </a: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covers Discover.  </a:t>
            </a:r>
            <a:r>
              <a:rPr lang="en-US" sz="115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</a:t>
            </a: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covers the rest.</a:t>
            </a:r>
            <a:endParaRPr lang="en-US" sz="1150" dirty="0"/>
          </a:p>
        </p:txBody>
      </p:sp>
      <p:sp>
        <p:nvSpPr>
          <p:cNvPr id="43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44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 THE SOLUTION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CrowdStrike Falcon: One Sensor. One Platform.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282" y="1665122"/>
            <a:ext cx="281635" cy="281635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261872" y="1527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Lightweight single sensor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1261872" y="1828800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in minutes with no complex tuning; covers all major operating systems, online or offline.</a:t>
            </a:r>
            <a:endParaRPr lang="en-US" sz="1150" dirty="0"/>
          </a:p>
        </p:txBody>
      </p:sp>
      <p:sp>
        <p:nvSpPr>
          <p:cNvPr id="9" name="Shape 5"/>
          <p:cNvSpPr/>
          <p:nvPr/>
        </p:nvSpPr>
        <p:spPr>
          <a:xfrm>
            <a:off x="548640" y="2441448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282" y="2552090"/>
            <a:ext cx="281635" cy="28163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261872" y="241401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AI-native protection</a:t>
            </a:r>
            <a:endParaRPr lang="en-US" sz="1400" dirty="0"/>
          </a:p>
        </p:txBody>
      </p:sp>
      <p:sp>
        <p:nvSpPr>
          <p:cNvPr id="12" name="Text 7"/>
          <p:cNvSpPr txBox="1"/>
          <p:nvPr/>
        </p:nvSpPr>
        <p:spPr>
          <a:xfrm>
            <a:off x="1261872" y="2715768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on the sensor and in the cloud stops malware, fileless and zero-day attacks.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548640" y="3328416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9282" y="3439058"/>
            <a:ext cx="281635" cy="28163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61872" y="33009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Intelligence-fueled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1261872" y="3602736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 of 281 adversary groups worldwide adds context to every detection.</a:t>
            </a:r>
            <a:endParaRPr lang="en-US" sz="1150" dirty="0"/>
          </a:p>
        </p:txBody>
      </p:sp>
      <p:sp>
        <p:nvSpPr>
          <p:cNvPr id="17" name="Shape 11"/>
          <p:cNvSpPr/>
          <p:nvPr/>
        </p:nvSpPr>
        <p:spPr>
          <a:xfrm>
            <a:off x="548640" y="4215384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9282" y="4326026"/>
            <a:ext cx="281635" cy="281635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261872" y="4187952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response</a:t>
            </a:r>
            <a:endParaRPr lang="en-US" sz="1400" dirty="0"/>
          </a:p>
        </p:txBody>
      </p:sp>
      <p:sp>
        <p:nvSpPr>
          <p:cNvPr id="20" name="Text 13"/>
          <p:cNvSpPr txBox="1"/>
          <p:nvPr/>
        </p:nvSpPr>
        <p:spPr>
          <a:xfrm>
            <a:off x="1261872" y="4489704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malicious processes, quarantines files and isolates hosts — automatically or in one click.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548640" y="5102352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2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9282" y="5212994"/>
            <a:ext cx="281635" cy="281635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261872" y="50749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Cloud-native console</a:t>
            </a:r>
            <a:endParaRPr lang="en-US" sz="1400" dirty="0"/>
          </a:p>
        </p:txBody>
      </p:sp>
      <p:sp>
        <p:nvSpPr>
          <p:cNvPr id="24" name="Text 16"/>
          <p:cNvSpPr txBox="1"/>
          <p:nvPr/>
        </p:nvSpPr>
        <p:spPr>
          <a:xfrm>
            <a:off x="1261872" y="5376672"/>
            <a:ext cx="4572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management server to install or maintain on site — manage everything from one web console.</a:t>
            </a:r>
            <a:endParaRPr lang="en-US" sz="1150" dirty="0"/>
          </a:p>
        </p:txBody>
      </p:sp>
      <p:sp>
        <p:nvSpPr>
          <p:cNvPr id="25" name="Shape 17"/>
          <p:cNvSpPr/>
          <p:nvPr/>
        </p:nvSpPr>
        <p:spPr>
          <a:xfrm>
            <a:off x="6117336" y="1499616"/>
            <a:ext cx="5580583" cy="3293937"/>
          </a:xfrm>
          <a:prstGeom prst="roundRect">
            <a:avLst>
              <a:gd name="adj" fmla="val 1666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6" name="Image 6" descr="/private/tmp/claude-501/-Users-jihanvin-Desktop-NIVNAH-AI/16a96446-d9b3-40e2-af9e-a3011ae3db84/scratchpad/assets/console_graph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200" y="1554480"/>
            <a:ext cx="5470855" cy="3184209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6172200" y="4848417"/>
            <a:ext cx="5470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console — investigation graph showing a detection's full attack path (illustrative)</a:t>
            </a:r>
            <a:endParaRPr lang="en-US" sz="900" dirty="0"/>
          </a:p>
        </p:txBody>
      </p:sp>
      <p:sp>
        <p:nvSpPr>
          <p:cNvPr id="28" name="Text 19"/>
          <p:cNvSpPr txBox="1"/>
          <p:nvPr/>
        </p:nvSpPr>
        <p:spPr>
          <a:xfrm>
            <a:off x="6172200" y="5120640"/>
            <a:ext cx="5470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SENSOR PROTECTS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6172200" y="5431536"/>
            <a:ext cx="1762658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3801" y="5504688"/>
            <a:ext cx="219456" cy="219456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6208776" y="5779008"/>
            <a:ext cx="1689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9880396" y="5431536"/>
            <a:ext cx="1762658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51997" y="5504688"/>
            <a:ext cx="219456" cy="219456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9916972" y="5779008"/>
            <a:ext cx="1689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000" dirty="0"/>
          </a:p>
        </p:txBody>
      </p:sp>
      <p:sp>
        <p:nvSpPr>
          <p:cNvPr id="35" name="Shape 24"/>
          <p:cNvSpPr/>
          <p:nvPr/>
        </p:nvSpPr>
        <p:spPr>
          <a:xfrm>
            <a:off x="8026298" y="5431536"/>
            <a:ext cx="1762658" cy="658368"/>
          </a:xfrm>
          <a:prstGeom prst="roundRect">
            <a:avLst>
              <a:gd name="adj" fmla="val 1111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97899" y="5504688"/>
            <a:ext cx="219456" cy="219456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8062874" y="5779008"/>
            <a:ext cx="1689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Laptops</a:t>
            </a:r>
            <a:endParaRPr lang="en-US" sz="1000" dirty="0"/>
          </a:p>
        </p:txBody>
      </p:sp>
      <p:sp>
        <p:nvSpPr>
          <p:cNvPr id="44" name="Text 30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45" name="Image 12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 PROPOSED 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Falcon Modules Proposed for The Westin Resort Guam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48132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LICENSES IN THIS PROPOSAL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10048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B8B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77240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2157984"/>
            <a:ext cx="256032" cy="25603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0116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Falcon Prevent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651760"/>
            <a:ext cx="495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NEXT-GEN ANTIVIRUS (EPP)</a:t>
            </a:r>
            <a:endParaRPr lang="en-US" sz="95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898648"/>
            <a:ext cx="495284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AI/ML-based next-gen antivirus that stops malware, ransomware, fileless and zero-day attacks — online or offline. 100% ransomware prevention in SE Labs testing.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233008" y="1828800"/>
            <a:ext cx="5410048" cy="1901952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B8BB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461608" y="20574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2192" y="2157984"/>
            <a:ext cx="256032" cy="25603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7055968" y="2011680"/>
            <a:ext cx="43584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Falcon Insight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6461608" y="2651760"/>
            <a:ext cx="49528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DETECTION &amp; RESPONSE (EDR)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6461608" y="2898648"/>
            <a:ext cx="495284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endpoint monitoring with full attack visibility, one-click host containment and remote response — 95% faster mean time to respond.</a:t>
            </a:r>
            <a:endParaRPr lang="en-US" sz="1100" dirty="0"/>
          </a:p>
        </p:txBody>
      </p:sp>
      <p:sp>
        <p:nvSpPr>
          <p:cNvPr id="30" name="Text 23"/>
          <p:cNvSpPr txBox="1"/>
          <p:nvPr/>
        </p:nvSpPr>
        <p:spPr>
          <a:xfrm>
            <a:off x="548640" y="3858768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— SECUKOREA TECHNICAL SUPPORT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548640" y="4206240"/>
            <a:ext cx="11094415" cy="1828800"/>
          </a:xfrm>
          <a:prstGeom prst="roundRect">
            <a:avLst>
              <a:gd name="adj" fmla="val 4000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777240" y="44348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824" y="4535424"/>
            <a:ext cx="256032" cy="25603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1371600" y="4389120"/>
            <a:ext cx="100428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SECUKOREA Technical Support</a:t>
            </a:r>
            <a:endParaRPr lang="en-US" sz="1300" dirty="0"/>
          </a:p>
        </p:txBody>
      </p:sp>
      <p:sp>
        <p:nvSpPr>
          <p:cNvPr id="35" name="Text 27"/>
          <p:cNvSpPr txBox="1"/>
          <p:nvPr/>
        </p:nvSpPr>
        <p:spPr>
          <a:xfrm>
            <a:off x="777240" y="5029200"/>
            <a:ext cx="106372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REMOTE SUPPORT  ·  DEDICATED ENGINEER  ·  SK SHIELDUS ESCALATION</a:t>
            </a:r>
            <a:endParaRPr lang="en-US" sz="950" dirty="0"/>
          </a:p>
        </p:txBody>
      </p:sp>
      <p:sp>
        <p:nvSpPr>
          <p:cNvPr id="36" name="Text 28"/>
          <p:cNvSpPr txBox="1"/>
          <p:nvPr/>
        </p:nvSpPr>
        <p:spPr>
          <a:xfrm>
            <a:off x="777240" y="5276088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Round-the-clock remote support built for overseas sites, a dedicated engineer as a single point of contact, and escalation to CrowdStrike partner SK shieldus when needed. Details on page 13.</a:t>
            </a:r>
            <a:endParaRPr lang="en-US" sz="1100" dirty="0"/>
          </a:p>
        </p:txBody>
      </p:sp>
      <p:sp>
        <p:nvSpPr>
          <p:cNvPr id="55" name="Text 44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56" name="Image 9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 REAL-WORLD CASE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Real Attack, Step by Step: How Falcon Stopped It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71600"/>
            <a:ext cx="1109441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PUNK SPIDER </a:t>
            </a:r>
            <a:r>
              <a:rPr lang="en-US" sz="12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(eCrime group) targeting a North American company — attempted data theft and Akira ransomware.  </a:t>
            </a:r>
            <a:r>
              <a:rPr lang="en-US" sz="125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fully blocked by Falcon.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6808470"/>
              </p:ext>
            </p:extLst>
          </p:nvPr>
        </p:nvGraphicFramePr>
        <p:xfrm>
          <a:off x="548640" y="1828800"/>
          <a:ext cx="11094415" cy="363016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640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421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Attack stage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 attacker did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CrowdStrike Falcon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access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Exploited a known VPN flaw (CVE-2024-3400) with stolen credentials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i="1" dirty="0">
                          <a:solidFill>
                            <a:srgbClr val="5E697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Unmanaged VPN appliance — no Falcon sensor installed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Lateral movement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Used Remote Desktop with a service account to reach an internal system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Detected.</a:t>
                      </a: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First Falcon alert, confirmed by OverWatch threat hunters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Credential access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Tried to dump credentials and add users to admin groups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Blocked.</a:t>
                      </a: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Privilege escalation attempts stopped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Persistence &amp; evasion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Tried to install tunneling and remote-access tools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Blocked.</a:t>
                      </a: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Tools prevented from executing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Reconnaissance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 tools to map network file shares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Blocked.</a:t>
                      </a: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Both tools prevented from running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</a:t>
                      </a:r>
                      <a:r>
                        <a:rPr lang="en-US" sz="10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 &amp; impact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Archived data, tried to exfiltrate it, then launched Akira ransomware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Contained &amp; blocked.</a:t>
                      </a:r>
                      <a:r>
                        <a:rPr lang="en-US" sz="10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Exfiltration detected and host isolated; ransomware stopped before any encryption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36576" marB="36576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596128"/>
            <a:ext cx="11094415" cy="457200"/>
          </a:xfrm>
          <a:prstGeom prst="roundRect">
            <a:avLst>
              <a:gd name="adj" fmla="val 16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5705856"/>
            <a:ext cx="237744" cy="237744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0" y="5596128"/>
            <a:ext cx="103628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Lesson: </a:t>
            </a:r>
            <a:r>
              <a:rPr lang="en-US" sz="120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lateral movement onward, Falcon detected or blocked every step. The only gap was a device without a sensor — every endpoint should run one.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11" name="Image 2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 COMPARISON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Head-to-Head: Nessus vs. CrowdStrike Falcon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4415" cy="45262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1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933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Criteria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0D1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Nessus (alternative)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6B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CrowdStrike Falcon (proposed)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20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 scanning and reporting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Prevent, detect and respond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to attacks on every 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 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Periodic, point-in-time scans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Continuous, real-time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24/7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Malware &amp; ransomware prevention (EPP)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provided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AI/ML next-gen antivirus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100% ransomware prevention (SE Labs)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Attack detection &amp; response (EDR)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provided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Behavioral detection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with full attack visibility and host containment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Zero-day &amp; fileless attacks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Only once a check for the flaw is published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Behavior-based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no prior signature needed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— guidance only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Automated response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actions and workflows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24/7 expert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available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Included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SECUKOREA 24/7 support, SK shieldus escalation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Scanner host, credentials and scan schedules to maintain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Cloud-native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one lightweight sensor, no on-site server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team workload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analyze reports, patch and verify by hand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automated prevention and response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 visibility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5D6B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strength (periodic)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E320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Protection first</a:t>
                      </a:r>
                      <a:r>
                        <a:rPr lang="en-US" sz="1150" dirty="0">
                          <a:solidFill>
                            <a:srgbClr val="151A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— blocks exploits and attacks even on unpatched systems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27432" marB="27432" anchor="ctr">
                    <a:lnL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1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7" name="Image 1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 INDEPENDENT VALIDATION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by Independent Testing and Customers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72768"/>
            <a:ext cx="3977640" cy="4343400"/>
          </a:xfrm>
          <a:prstGeom prst="roundRect">
            <a:avLst>
              <a:gd name="adj" fmla="val 2299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pic>
        <p:nvPicPr>
          <p:cNvPr id="6" name="Image 1" descr="/private/tmp/claude-501/-Users-jihanvin-Desktop-NIVNAH-AI/16a96446-d9b3-40e2-af9e-a3011ae3db84/scratchpad/assets/mitre_bad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44308" y="1847088"/>
            <a:ext cx="1586304" cy="1874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22960" y="3858768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Detection</a:t>
            </a:r>
            <a:endParaRPr lang="en-US" sz="20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Protection</a:t>
            </a:r>
            <a:endParaRPr lang="en-US" sz="2000" dirty="0"/>
          </a:p>
          <a:p>
            <a:pPr marL="0" indent="0" algn="ctr">
              <a:spcAft>
                <a:spcPts val="2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False Positives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822960" y="5138928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A9B1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MITRE ATT&amp;CK® Enterprise Evaluations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800600" y="1572768"/>
            <a:ext cx="3284068" cy="2034540"/>
          </a:xfrm>
          <a:prstGeom prst="roundRect">
            <a:avLst>
              <a:gd name="adj" fmla="val 3596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120640" y="184708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</a:t>
            </a:r>
            <a:endParaRPr lang="en-US" sz="3600" dirty="0"/>
          </a:p>
        </p:txBody>
      </p:sp>
      <p:sp>
        <p:nvSpPr>
          <p:cNvPr id="11" name="Text 7"/>
          <p:cNvSpPr txBox="1"/>
          <p:nvPr/>
        </p:nvSpPr>
        <p:spPr>
          <a:xfrm>
            <a:off x="5120640" y="262432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 Leader seven consecutive times, including the 2026 Gartner® Magic Quadrant™ for Endpoint Protection Platforms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8358988" y="1572768"/>
            <a:ext cx="3284068" cy="2034540"/>
          </a:xfrm>
          <a:prstGeom prst="roundRect">
            <a:avLst>
              <a:gd name="adj" fmla="val 3596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79028" y="184708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600" dirty="0"/>
          </a:p>
        </p:txBody>
      </p:sp>
      <p:sp>
        <p:nvSpPr>
          <p:cNvPr id="14" name="Text 10"/>
          <p:cNvSpPr txBox="1"/>
          <p:nvPr/>
        </p:nvSpPr>
        <p:spPr>
          <a:xfrm>
            <a:off x="8679028" y="262432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Ransomware protection and total accuracy — SE Labs Enterprise Advanced Security EDR Ransomware Test (2024)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800600" y="3881628"/>
            <a:ext cx="3284068" cy="2034540"/>
          </a:xfrm>
          <a:prstGeom prst="roundRect">
            <a:avLst>
              <a:gd name="adj" fmla="val 3596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5120640" y="415594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273%</a:t>
            </a:r>
            <a:endParaRPr lang="en-US" sz="3600" dirty="0"/>
          </a:p>
        </p:txBody>
      </p:sp>
      <p:sp>
        <p:nvSpPr>
          <p:cNvPr id="17" name="Text 13"/>
          <p:cNvSpPr txBox="1"/>
          <p:nvPr/>
        </p:nvSpPr>
        <p:spPr>
          <a:xfrm>
            <a:off x="5120640" y="493318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Three-year ROI — Forrester Consulting Total Economic Impact™ study, commissioned by CrowdStrike (2025)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358988" y="3881628"/>
            <a:ext cx="3284068" cy="2034540"/>
          </a:xfrm>
          <a:prstGeom prst="roundRect">
            <a:avLst>
              <a:gd name="adj" fmla="val 3596"/>
            </a:avLst>
          </a:prstGeom>
          <a:solidFill>
            <a:srgbClr val="171B22"/>
          </a:solidFill>
          <a:ln w="9525">
            <a:solidFill>
              <a:srgbClr val="2A303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679028" y="415594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97%</a:t>
            </a:r>
            <a:endParaRPr lang="en-US" sz="3600" dirty="0"/>
          </a:p>
        </p:txBody>
      </p:sp>
      <p:sp>
        <p:nvSpPr>
          <p:cNvPr id="20" name="Text 16"/>
          <p:cNvSpPr txBox="1"/>
          <p:nvPr/>
        </p:nvSpPr>
        <p:spPr>
          <a:xfrm>
            <a:off x="8679028" y="4933188"/>
            <a:ext cx="264398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 to recommend — 2026 Gartner® Peer Insights™ Customers' Choice for EPP (800 reviews)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6053328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800" i="1" dirty="0">
                <a:solidFill>
                  <a:srgbClr val="7D87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Gartner does not endorse any vendor, product or service depicted in its research publications. GARTNER, MAGIC QUADRANT and PEER INSIGHTS are trademarks of Gartner, Inc. and/or its affiliates. Also trusted by 74,000+ direct and MSSP end customers worldwide.</a:t>
            </a:r>
            <a:endParaRPr lang="en-US" sz="800" dirty="0"/>
          </a:p>
        </p:txBody>
      </p:sp>
      <p:sp>
        <p:nvSpPr>
          <p:cNvPr id="22" name="Text 18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23" name="Image 2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 CUSTOMER RESULTS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Customers Have Achieved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3515258" cy="3703320"/>
          </a:xfrm>
          <a:prstGeom prst="roundRect">
            <a:avLst>
              <a:gd name="adj" fmla="val 2601"/>
            </a:avLst>
          </a:prstGeom>
          <a:solidFill>
            <a:srgbClr val="FDECEC"/>
          </a:solidFill>
          <a:ln w="9525">
            <a:solidFill>
              <a:srgbClr val="F6C9CB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68680" y="1874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9381" y="1995221"/>
            <a:ext cx="307238" cy="30723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883664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HOSPITALITY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1600200" y="2130552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Hospitality chain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868680" y="26974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</a:t>
            </a:r>
            <a:endParaRPr lang="en-US" sz="4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356616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deployed in one day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39776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During a CrowdStrike incident response engagement with a hospitality chain, 100,000 Falcon agents were rolled out in a single day.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4338218" y="1554480"/>
            <a:ext cx="3515258" cy="3703320"/>
          </a:xfrm>
          <a:prstGeom prst="roundRect">
            <a:avLst>
              <a:gd name="adj" fmla="val 260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658258" y="1874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8959" y="1995221"/>
            <a:ext cx="307238" cy="30723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5389778" y="1883664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</a:t>
            </a:r>
            <a:endParaRPr lang="en-US" sz="950" dirty="0"/>
          </a:p>
        </p:txBody>
      </p:sp>
      <p:sp>
        <p:nvSpPr>
          <p:cNvPr id="17" name="Text 12"/>
          <p:cNvSpPr txBox="1"/>
          <p:nvPr/>
        </p:nvSpPr>
        <p:spPr>
          <a:xfrm>
            <a:off x="5389778" y="2130552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Coventry University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4658258" y="26974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4800" dirty="0"/>
          </a:p>
        </p:txBody>
      </p:sp>
      <p:sp>
        <p:nvSpPr>
          <p:cNvPr id="19" name="Text 14"/>
          <p:cNvSpPr txBox="1"/>
          <p:nvPr/>
        </p:nvSpPr>
        <p:spPr>
          <a:xfrm>
            <a:off x="4658258" y="356616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time spent resolving threats</a:t>
            </a:r>
            <a:endParaRPr lang="en-US" sz="1300" dirty="0"/>
          </a:p>
        </p:txBody>
      </p:sp>
      <p:sp>
        <p:nvSpPr>
          <p:cNvPr id="20" name="Text 15"/>
          <p:cNvSpPr txBox="1"/>
          <p:nvPr/>
        </p:nvSpPr>
        <p:spPr>
          <a:xfrm>
            <a:off x="4658258" y="39776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Consolidated endpoint protection and response on one cloud-native Falcon agent. Average incident resolution fell from 2–3 days to under 1 hour.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8127797" y="1554480"/>
            <a:ext cx="3515258" cy="3703320"/>
          </a:xfrm>
          <a:prstGeom prst="roundRect">
            <a:avLst>
              <a:gd name="adj" fmla="val 2601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8447837" y="1874520"/>
            <a:ext cx="548640" cy="548640"/>
          </a:xfrm>
          <a:prstGeom prst="roundRect">
            <a:avLst>
              <a:gd name="adj" fmla="val 16667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8538" y="1995221"/>
            <a:ext cx="307238" cy="307238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179357" y="1883664"/>
            <a:ext cx="223509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MULTI-BRAND ENTERPRISE</a:t>
            </a:r>
            <a:endParaRPr lang="en-US" sz="950" dirty="0"/>
          </a:p>
        </p:txBody>
      </p:sp>
      <p:sp>
        <p:nvSpPr>
          <p:cNvPr id="25" name="Text 19"/>
          <p:cNvSpPr txBox="1"/>
          <p:nvPr/>
        </p:nvSpPr>
        <p:spPr>
          <a:xfrm>
            <a:off x="9179357" y="2130552"/>
            <a:ext cx="223509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Anywhere Real Estate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8447837" y="2697480"/>
            <a:ext cx="287517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500×</a:t>
            </a:r>
            <a:endParaRPr lang="en-US" sz="4800" dirty="0"/>
          </a:p>
        </p:txBody>
      </p:sp>
      <p:sp>
        <p:nvSpPr>
          <p:cNvPr id="27" name="Text 21"/>
          <p:cNvSpPr txBox="1"/>
          <p:nvPr/>
        </p:nvSpPr>
        <p:spPr>
          <a:xfrm>
            <a:off x="8447837" y="3566160"/>
            <a:ext cx="287517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alerts</a:t>
            </a:r>
            <a:endParaRPr lang="en-US" sz="1300" dirty="0"/>
          </a:p>
        </p:txBody>
      </p:sp>
      <p:sp>
        <p:nvSpPr>
          <p:cNvPr id="28" name="Text 22"/>
          <p:cNvSpPr txBox="1"/>
          <p:nvPr/>
        </p:nvSpPr>
        <p:spPr>
          <a:xfrm>
            <a:off x="8447837" y="3977640"/>
            <a:ext cx="287517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decentralized, multi-brand organization unified endpoint and identity protection on Falcon — 98% of remaining alerts are true positives.</a:t>
            </a:r>
            <a:endParaRPr lang="en-US" sz="1150" dirty="0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550408"/>
            <a:ext cx="274320" cy="274320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960120" y="5513832"/>
            <a:ext cx="1068293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“Ever present… always protecting you… you almost forget it’s there.”</a:t>
            </a: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Director of Cyberdefense, healthcare company (Forrester TEI study)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32" name="Image 5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 RECOMMENDATION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Recommendation: Falcon on Every Endpoint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6126480" cy="868680"/>
          </a:xfrm>
          <a:prstGeom prst="roundRect">
            <a:avLst>
              <a:gd name="adj" fmla="val 8421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1737360"/>
            <a:ext cx="457200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3040" y="155448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Falcon cloud console</a:t>
            </a:r>
            <a:endParaRPr lang="en-US" sz="1200" dirty="0"/>
          </a:p>
          <a:p>
            <a:pPr marL="0" indent="0">
              <a:buNone/>
            </a:pPr>
            <a:r>
              <a:rPr lang="en-US" sz="11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· Detection · Response · Reporting — no on-site server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1263015" y="2423160"/>
            <a:ext cx="0" cy="411480"/>
          </a:xfrm>
          <a:prstGeom prst="line">
            <a:avLst/>
          </a:prstGeom>
          <a:noFill/>
          <a:ln w="19050">
            <a:solidFill>
              <a:srgbClr val="E3202A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548640" y="2834640"/>
            <a:ext cx="142875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135" y="2971800"/>
            <a:ext cx="365760" cy="36576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40080" y="3383280"/>
            <a:ext cx="12458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desk &amp; PMS workstations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805815" y="3840480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05815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</a:t>
            </a:r>
            <a:endParaRPr lang="en-US" sz="800" dirty="0"/>
          </a:p>
        </p:txBody>
      </p:sp>
      <p:sp>
        <p:nvSpPr>
          <p:cNvPr id="14" name="Shape 9"/>
          <p:cNvSpPr/>
          <p:nvPr/>
        </p:nvSpPr>
        <p:spPr>
          <a:xfrm>
            <a:off x="2828925" y="2423160"/>
            <a:ext cx="0" cy="411480"/>
          </a:xfrm>
          <a:prstGeom prst="line">
            <a:avLst/>
          </a:prstGeom>
          <a:noFill/>
          <a:ln w="19050">
            <a:solidFill>
              <a:srgbClr val="E3202A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114550" y="2834640"/>
            <a:ext cx="142875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46045" y="297180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205990" y="3383280"/>
            <a:ext cx="12458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Back-office &amp; admin PCs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2371725" y="3840480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371725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</a:t>
            </a:r>
            <a:endParaRPr lang="en-US" sz="800" dirty="0"/>
          </a:p>
        </p:txBody>
      </p:sp>
      <p:sp>
        <p:nvSpPr>
          <p:cNvPr id="20" name="Shape 14"/>
          <p:cNvSpPr/>
          <p:nvPr/>
        </p:nvSpPr>
        <p:spPr>
          <a:xfrm>
            <a:off x="4394835" y="2423160"/>
            <a:ext cx="0" cy="411480"/>
          </a:xfrm>
          <a:prstGeom prst="line">
            <a:avLst/>
          </a:prstGeom>
          <a:noFill/>
          <a:ln w="19050">
            <a:solidFill>
              <a:srgbClr val="E3202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3680460" y="2834640"/>
            <a:ext cx="142875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11955" y="2971800"/>
            <a:ext cx="365760" cy="365760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3771900" y="3383280"/>
            <a:ext cx="12458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Servers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3937635" y="3840480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3937635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</a:t>
            </a:r>
            <a:endParaRPr lang="en-US" sz="800" dirty="0"/>
          </a:p>
        </p:txBody>
      </p:sp>
      <p:sp>
        <p:nvSpPr>
          <p:cNvPr id="26" name="Shape 19"/>
          <p:cNvSpPr/>
          <p:nvPr/>
        </p:nvSpPr>
        <p:spPr>
          <a:xfrm>
            <a:off x="5960745" y="2423160"/>
            <a:ext cx="0" cy="411480"/>
          </a:xfrm>
          <a:prstGeom prst="line">
            <a:avLst/>
          </a:prstGeom>
          <a:noFill/>
          <a:ln w="19050">
            <a:solidFill>
              <a:srgbClr val="E3202A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5246370" y="2834640"/>
            <a:ext cx="142875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77865" y="2971800"/>
            <a:ext cx="365760" cy="365760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5337810" y="3383280"/>
            <a:ext cx="124587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 &amp; payment terminals</a:t>
            </a:r>
            <a:endParaRPr lang="en-US" sz="1050" dirty="0"/>
          </a:p>
        </p:txBody>
      </p:sp>
      <p:sp>
        <p:nvSpPr>
          <p:cNvPr id="30" name="Shape 22"/>
          <p:cNvSpPr/>
          <p:nvPr/>
        </p:nvSpPr>
        <p:spPr>
          <a:xfrm>
            <a:off x="5503545" y="3840480"/>
            <a:ext cx="914400" cy="201168"/>
          </a:xfrm>
          <a:prstGeom prst="roundRect">
            <a:avLst>
              <a:gd name="adj" fmla="val 50000"/>
            </a:avLst>
          </a:prstGeom>
          <a:solidFill>
            <a:srgbClr val="E3202A"/>
          </a:solidFill>
          <a:ln w="12700">
            <a:solidFill>
              <a:srgbClr val="E3202A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5503545" y="38404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Falcon sensor</a:t>
            </a:r>
            <a:endParaRPr lang="en-US" sz="800" dirty="0"/>
          </a:p>
        </p:txBody>
      </p:sp>
      <p:sp>
        <p:nvSpPr>
          <p:cNvPr id="32" name="Shape 24"/>
          <p:cNvSpPr/>
          <p:nvPr/>
        </p:nvSpPr>
        <p:spPr>
          <a:xfrm>
            <a:off x="548640" y="4343400"/>
            <a:ext cx="61264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13232" y="447141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3816" y="4572000"/>
            <a:ext cx="256032" cy="256032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325880" y="43434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reporting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Detections, host status and executive reports in one console</a:t>
            </a:r>
            <a:endParaRPr lang="en-US" sz="1250" dirty="0"/>
          </a:p>
        </p:txBody>
      </p:sp>
      <p:sp>
        <p:nvSpPr>
          <p:cNvPr id="36" name="Shape 27"/>
          <p:cNvSpPr/>
          <p:nvPr/>
        </p:nvSpPr>
        <p:spPr>
          <a:xfrm>
            <a:off x="548640" y="5166360"/>
            <a:ext cx="6126480" cy="713232"/>
          </a:xfrm>
          <a:prstGeom prst="roundRect">
            <a:avLst>
              <a:gd name="adj" fmla="val 10256"/>
            </a:avLst>
          </a:prstGeom>
          <a:solidFill>
            <a:srgbClr val="F3F5F8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37" name="Shape 28"/>
          <p:cNvSpPr/>
          <p:nvPr/>
        </p:nvSpPr>
        <p:spPr>
          <a:xfrm>
            <a:off x="713232" y="5294376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3816" y="5394960"/>
            <a:ext cx="256032" cy="256032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1325880" y="51663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</a:t>
            </a:r>
            <a:endParaRPr lang="en-US" sz="1250" dirty="0"/>
          </a:p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24/7 remote support, dedicated engineer and regular reporting</a:t>
            </a:r>
            <a:endParaRPr lang="en-US" sz="1250" dirty="0"/>
          </a:p>
        </p:txBody>
      </p:sp>
      <p:sp>
        <p:nvSpPr>
          <p:cNvPr id="40" name="Shape 30"/>
          <p:cNvSpPr/>
          <p:nvPr/>
        </p:nvSpPr>
        <p:spPr>
          <a:xfrm>
            <a:off x="6995160" y="1554480"/>
            <a:ext cx="4647895" cy="1874520"/>
          </a:xfrm>
          <a:prstGeom prst="roundRect">
            <a:avLst>
              <a:gd name="adj" fmla="val 4878"/>
            </a:avLst>
          </a:prstGeom>
          <a:solidFill>
            <a:srgbClr val="FDECEC"/>
          </a:solidFill>
          <a:ln w="15875">
            <a:solidFill>
              <a:srgbClr val="E3202A"/>
            </a:solidFill>
            <a:prstDash val="solid"/>
          </a:ln>
        </p:spPr>
      </p:sp>
      <p:sp>
        <p:nvSpPr>
          <p:cNvPr id="41" name="Text 31"/>
          <p:cNvSpPr txBox="1"/>
          <p:nvPr/>
        </p:nvSpPr>
        <p:spPr>
          <a:xfrm>
            <a:off x="7269480" y="1737360"/>
            <a:ext cx="4099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RECOMMENDATION</a:t>
            </a:r>
            <a:endParaRPr lang="en-US" sz="1000" dirty="0"/>
          </a:p>
        </p:txBody>
      </p:sp>
      <p:sp>
        <p:nvSpPr>
          <p:cNvPr id="42" name="Text 32"/>
          <p:cNvSpPr txBox="1"/>
          <p:nvPr/>
        </p:nvSpPr>
        <p:spPr>
          <a:xfrm>
            <a:off x="7269480" y="1993392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 from Day One</a:t>
            </a:r>
            <a:endParaRPr lang="en-US" sz="1700" dirty="0"/>
          </a:p>
        </p:txBody>
      </p:sp>
      <p:sp>
        <p:nvSpPr>
          <p:cNvPr id="43" name="Text 33"/>
          <p:cNvSpPr txBox="1"/>
          <p:nvPr/>
        </p:nvSpPr>
        <p:spPr>
          <a:xfrm>
            <a:off x="7269480" y="2359152"/>
            <a:ext cx="4099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Falcon on all endpoints for real-time protection, managed from one cloud console with no on-site server.</a:t>
            </a:r>
            <a:endParaRPr lang="en-US" sz="1100" dirty="0"/>
          </a:p>
        </p:txBody>
      </p:sp>
      <p:sp>
        <p:nvSpPr>
          <p:cNvPr id="44" name="Text 34"/>
          <p:cNvSpPr txBox="1"/>
          <p:nvPr/>
        </p:nvSpPr>
        <p:spPr>
          <a:xfrm>
            <a:off x="7269480" y="3035808"/>
            <a:ext cx="4099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r>
              <a:rPr lang="en-US" sz="10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path to protection; minimal on-site work.</a:t>
            </a:r>
            <a:endParaRPr lang="en-US" sz="1050" dirty="0"/>
          </a:p>
        </p:txBody>
      </p:sp>
      <p:sp>
        <p:nvSpPr>
          <p:cNvPr id="45" name="Shape 35"/>
          <p:cNvSpPr/>
          <p:nvPr/>
        </p:nvSpPr>
        <p:spPr>
          <a:xfrm>
            <a:off x="6995160" y="3566160"/>
            <a:ext cx="4647895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</p:spPr>
      </p:sp>
      <p:sp>
        <p:nvSpPr>
          <p:cNvPr id="46" name="Text 36"/>
          <p:cNvSpPr txBox="1"/>
          <p:nvPr/>
        </p:nvSpPr>
        <p:spPr>
          <a:xfrm>
            <a:off x="7269480" y="3749040"/>
            <a:ext cx="40992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A SCANNER ALONE</a:t>
            </a:r>
            <a:endParaRPr lang="en-US" sz="1000" dirty="0"/>
          </a:p>
        </p:txBody>
      </p:sp>
      <p:sp>
        <p:nvSpPr>
          <p:cNvPr id="47" name="Text 37"/>
          <p:cNvSpPr txBox="1"/>
          <p:nvPr/>
        </p:nvSpPr>
        <p:spPr>
          <a:xfrm>
            <a:off x="7269480" y="4005072"/>
            <a:ext cx="40992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Is Not Stopping</a:t>
            </a:r>
            <a:endParaRPr lang="en-US" sz="1700" dirty="0"/>
          </a:p>
        </p:txBody>
      </p:sp>
      <p:sp>
        <p:nvSpPr>
          <p:cNvPr id="48" name="Text 38"/>
          <p:cNvSpPr txBox="1"/>
          <p:nvPr/>
        </p:nvSpPr>
        <p:spPr>
          <a:xfrm>
            <a:off x="7269480" y="4370832"/>
            <a:ext cx="40992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vulnerability scanner reports weaknesses on the day it runs. It cannot block malware, contain an intrusion or stop ransomware — Falcon does all three, 24/7.</a:t>
            </a:r>
            <a:endParaRPr lang="en-US" sz="1100" dirty="0"/>
          </a:p>
        </p:txBody>
      </p:sp>
      <p:sp>
        <p:nvSpPr>
          <p:cNvPr id="49" name="Text 39"/>
          <p:cNvSpPr txBox="1"/>
          <p:nvPr/>
        </p:nvSpPr>
        <p:spPr>
          <a:xfrm>
            <a:off x="7269480" y="5047488"/>
            <a:ext cx="4099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Benefit: </a:t>
            </a:r>
            <a:r>
              <a:rPr lang="en-US" sz="105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solution that protects, not just reports.</a:t>
            </a:r>
            <a:endParaRPr lang="en-US" sz="1050" dirty="0"/>
          </a:p>
        </p:txBody>
      </p:sp>
      <p:sp>
        <p:nvSpPr>
          <p:cNvPr id="50" name="Text 40"/>
          <p:cNvSpPr txBox="1"/>
          <p:nvPr/>
        </p:nvSpPr>
        <p:spPr>
          <a:xfrm>
            <a:off x="6995160" y="5596128"/>
            <a:ext cx="4647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protection on every endpoint, backed by SECUKOREA 24/7.</a:t>
            </a:r>
            <a:endParaRPr lang="en-US" sz="1100" dirty="0"/>
          </a:p>
        </p:txBody>
      </p:sp>
      <p:sp>
        <p:nvSpPr>
          <p:cNvPr id="51" name="Text 41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52" name="Image 8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  TECHNICAL SUPPORT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SECUKOREA 24/7 Technical Support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73380" y="224942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364" y="2374148"/>
            <a:ext cx="317480" cy="3174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65843" y="223113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Remote Support for Overseas Sites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465843" y="257860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Round-the-clock remote support built for overseas operations — help is available regardless of time zone or local business hours.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373380" y="3346704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364" y="3471428"/>
            <a:ext cx="317480" cy="3174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65843" y="3328416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Engineer Matching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1465843" y="3675888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SECUKOREA engineer works as an extension of your IT team — learning the resort's systems in depth and handling day-to-day requests quickly and consistently.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373380" y="4440936"/>
            <a:ext cx="917448" cy="566928"/>
          </a:xfrm>
          <a:prstGeom prst="roundRect">
            <a:avLst>
              <a:gd name="adj" fmla="val 1612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1465843" y="4422648"/>
            <a:ext cx="5760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Point of Contact</a:t>
            </a:r>
            <a:endParaRPr lang="en-US" sz="1500" dirty="0"/>
          </a:p>
        </p:txBody>
      </p:sp>
      <p:sp>
        <p:nvSpPr>
          <p:cNvPr id="20" name="Text 13"/>
          <p:cNvSpPr txBox="1"/>
          <p:nvPr/>
        </p:nvSpPr>
        <p:spPr>
          <a:xfrm>
            <a:off x="1465843" y="4770120"/>
            <a:ext cx="5760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Support, licensing and renewals through one partner, with escalation to SK shieldus and CrowdStrike when needed.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7452360" y="1554480"/>
            <a:ext cx="4190695" cy="4434840"/>
          </a:xfrm>
          <a:prstGeom prst="roundRect">
            <a:avLst>
              <a:gd name="adj" fmla="val 2182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7818120" y="1828800"/>
            <a:ext cx="3459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ESCALATION  ·  SK SHIELDUS</a:t>
            </a:r>
            <a:endParaRPr lang="en-US" sz="1100" dirty="0"/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322576"/>
            <a:ext cx="237744" cy="23774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8183880" y="2286000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response specialists on duty 24/7</a:t>
            </a:r>
            <a:endParaRPr lang="en-US" sz="1300" dirty="0"/>
          </a:p>
        </p:txBody>
      </p:sp>
      <p:pic>
        <p:nvPicPr>
          <p:cNvPr id="2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2852928"/>
            <a:ext cx="237744" cy="237744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8183880" y="2816352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alerts: call within 30 min, first action within 2 hrs (SLA)</a:t>
            </a:r>
            <a:endParaRPr lang="en-US" sz="1300" dirty="0"/>
          </a:p>
        </p:txBody>
      </p:sp>
      <p:pic>
        <p:nvPicPr>
          <p:cNvPr id="27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383280"/>
            <a:ext cx="237744" cy="237744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8183880" y="3346704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across network devices and servers</a:t>
            </a:r>
            <a:endParaRPr lang="en-US" sz="1300" dirty="0"/>
          </a:p>
        </p:txBody>
      </p:sp>
      <p:pic>
        <p:nvPicPr>
          <p:cNvPr id="29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3913632"/>
            <a:ext cx="237744" cy="237744"/>
          </a:xfrm>
          <a:prstGeom prst="rect">
            <a:avLst/>
          </a:prstGeom>
        </p:spPr>
      </p:pic>
      <p:sp>
        <p:nvSpPr>
          <p:cNvPr id="30" name="Text 19"/>
          <p:cNvSpPr txBox="1"/>
          <p:nvPr/>
        </p:nvSpPr>
        <p:spPr>
          <a:xfrm>
            <a:off x="8183880" y="3877056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EDR events correlated with other security logs</a:t>
            </a:r>
            <a:endParaRPr lang="en-US" sz="130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8120" y="4443984"/>
            <a:ext cx="237744" cy="237744"/>
          </a:xfrm>
          <a:prstGeom prst="rect">
            <a:avLst/>
          </a:prstGeom>
        </p:spPr>
      </p:pic>
      <p:sp>
        <p:nvSpPr>
          <p:cNvPr id="32" name="Text 20"/>
          <p:cNvSpPr txBox="1"/>
          <p:nvPr/>
        </p:nvSpPr>
        <p:spPr>
          <a:xfrm>
            <a:off x="8183880" y="4407408"/>
            <a:ext cx="30934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analysis by experienced IR analysts</a:t>
            </a:r>
            <a:endParaRPr lang="en-US" sz="1300" dirty="0"/>
          </a:p>
        </p:txBody>
      </p:sp>
      <p:sp>
        <p:nvSpPr>
          <p:cNvPr id="33" name="Text 21"/>
          <p:cNvSpPr txBox="1"/>
          <p:nvPr/>
        </p:nvSpPr>
        <p:spPr>
          <a:xfrm>
            <a:off x="7818120" y="5120640"/>
            <a:ext cx="34591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needed, CrowdStrike partner SK shieldus steps in.</a:t>
            </a:r>
            <a:endParaRPr lang="en-US" sz="1400" dirty="0"/>
          </a:p>
        </p:txBody>
      </p:sp>
      <p:sp>
        <p:nvSpPr>
          <p:cNvPr id="34" name="Text 2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35" name="Image 10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150FC934-B7A6-0355-1CEF-264D1BC68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4065" y="4555236"/>
            <a:ext cx="816077" cy="310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  EXPECTED BENEFITS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9692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Unprotected to Always-On Protection</a:t>
            </a:r>
            <a:endParaRPr lang="en-US" sz="2800" dirty="0"/>
          </a:p>
        </p:txBody>
      </p:sp>
      <p:pic>
        <p:nvPicPr>
          <p:cNvPr id="4" name="Image 0" descr="/private/tmp/claude-501/-Users-jihanvin-Desktop-NIVNAH-AI/16a96446-d9b3-40e2-af9e-a3011ae3db84/scratchpad/assets/westin_gr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34472" y="402336"/>
            <a:ext cx="1005840" cy="30175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EAEEF3"/>
          </a:solidFill>
          <a:ln w="12700">
            <a:solidFill>
              <a:srgbClr val="EAEEF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5D6B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 ·  NO ENDPOINT PROTECTION</a:t>
            </a:r>
            <a:endParaRPr lang="en-US" sz="11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240280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207008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malware or ransomware protection</a:t>
            </a:r>
            <a:endParaRPr lang="en-US" sz="125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26426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207008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into endpoint activity</a:t>
            </a:r>
            <a:endParaRPr lang="en-US" sz="12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044952"/>
            <a:ext cx="201168" cy="20116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1207008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Manual, case-by-case incident handling</a:t>
            </a:r>
            <a:endParaRPr lang="en-US" sz="1250" dirty="0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447288"/>
            <a:ext cx="201168" cy="20116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1207008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stop an attack in progress</a:t>
            </a:r>
            <a:endParaRPr lang="en-US" sz="12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3849624"/>
            <a:ext cx="201168" cy="201168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1207008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51A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insight for management</a:t>
            </a:r>
            <a:endParaRPr lang="en-US" sz="125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1528" y="2674620"/>
            <a:ext cx="548640" cy="548640"/>
          </a:xfrm>
          <a:prstGeom prst="rect">
            <a:avLst/>
          </a:prstGeom>
        </p:spPr>
      </p:pic>
      <p:sp>
        <p:nvSpPr>
          <p:cNvPr id="18" name="Shape 9"/>
          <p:cNvSpPr/>
          <p:nvPr/>
        </p:nvSpPr>
        <p:spPr>
          <a:xfrm>
            <a:off x="6751015" y="1554480"/>
            <a:ext cx="4892040" cy="2788920"/>
          </a:xfrm>
          <a:prstGeom prst="roundRect">
            <a:avLst>
              <a:gd name="adj" fmla="val 3279"/>
            </a:avLst>
          </a:prstGeom>
          <a:solidFill>
            <a:srgbClr val="0B0D12"/>
          </a:solidFill>
          <a:ln w="12700">
            <a:solidFill>
              <a:srgbClr val="0B0D12"/>
            </a:solidFill>
            <a:prstDash val="solid"/>
          </a:ln>
        </p:spPr>
      </p:sp>
      <p:sp>
        <p:nvSpPr>
          <p:cNvPr id="19" name="Text 10"/>
          <p:cNvSpPr txBox="1"/>
          <p:nvPr/>
        </p:nvSpPr>
        <p:spPr>
          <a:xfrm>
            <a:off x="7071055" y="1783080"/>
            <a:ext cx="4251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  ·  CROWDSTRIKE FALCON</a:t>
            </a:r>
            <a:endParaRPr lang="en-US" sz="110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240280"/>
            <a:ext cx="201168" cy="20116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7409383" y="21945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prevention on every endpoint</a:t>
            </a:r>
            <a:endParaRPr lang="en-US" sz="1250" dirty="0"/>
          </a:p>
        </p:txBody>
      </p:sp>
      <p:pic>
        <p:nvPicPr>
          <p:cNvPr id="22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2642616"/>
            <a:ext cx="201168" cy="201168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7409383" y="2596896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 monitoring, 24/7</a:t>
            </a:r>
            <a:endParaRPr lang="en-US" sz="1250" dirty="0"/>
          </a:p>
        </p:txBody>
      </p:sp>
      <p:pic>
        <p:nvPicPr>
          <p:cNvPr id="24" name="Image 9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044952"/>
            <a:ext cx="201168" cy="201168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7409383" y="2999232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containment and response</a:t>
            </a:r>
            <a:endParaRPr lang="en-US" sz="1250" dirty="0"/>
          </a:p>
        </p:txBody>
      </p:sp>
      <p:pic>
        <p:nvPicPr>
          <p:cNvPr id="26" name="Image 1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447288"/>
            <a:ext cx="201168" cy="201168"/>
          </a:xfrm>
          <a:prstGeom prst="rect">
            <a:avLst/>
          </a:prstGeom>
        </p:spPr>
      </p:pic>
      <p:sp>
        <p:nvSpPr>
          <p:cNvPr id="27" name="Text 14"/>
          <p:cNvSpPr txBox="1"/>
          <p:nvPr/>
        </p:nvSpPr>
        <p:spPr>
          <a:xfrm>
            <a:off x="7409383" y="3401568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ransomware protection</a:t>
            </a:r>
            <a:endParaRPr lang="en-US" sz="1250" dirty="0"/>
          </a:p>
        </p:txBody>
      </p:sp>
      <p:pic>
        <p:nvPicPr>
          <p:cNvPr id="28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1055" y="3849624"/>
            <a:ext cx="201168" cy="201168"/>
          </a:xfrm>
          <a:prstGeom prst="rect">
            <a:avLst/>
          </a:prstGeom>
        </p:spPr>
      </p:pic>
      <p:sp>
        <p:nvSpPr>
          <p:cNvPr id="29" name="Text 15"/>
          <p:cNvSpPr txBox="1"/>
          <p:nvPr/>
        </p:nvSpPr>
        <p:spPr>
          <a:xfrm>
            <a:off x="7409383" y="3803904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dashboards and executive reports</a:t>
            </a:r>
            <a:endParaRPr lang="en-US" sz="1250" dirty="0"/>
          </a:p>
        </p:txBody>
      </p:sp>
      <p:sp>
        <p:nvSpPr>
          <p:cNvPr id="30" name="Shape 16"/>
          <p:cNvSpPr/>
          <p:nvPr/>
        </p:nvSpPr>
        <p:spPr>
          <a:xfrm>
            <a:off x="548640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Shape 17"/>
          <p:cNvSpPr/>
          <p:nvPr/>
        </p:nvSpPr>
        <p:spPr>
          <a:xfrm>
            <a:off x="777240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7824" y="4946904"/>
            <a:ext cx="256032" cy="256032"/>
          </a:xfrm>
          <a:prstGeom prst="rect">
            <a:avLst/>
          </a:prstGeom>
        </p:spPr>
      </p:pic>
      <p:sp>
        <p:nvSpPr>
          <p:cNvPr id="33" name="Text 18"/>
          <p:cNvSpPr txBox="1"/>
          <p:nvPr/>
        </p:nvSpPr>
        <p:spPr>
          <a:xfrm>
            <a:off x="1371600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guest trust</a:t>
            </a:r>
            <a:endParaRPr lang="en-US" sz="1300" dirty="0"/>
          </a:p>
        </p:txBody>
      </p:sp>
      <p:sp>
        <p:nvSpPr>
          <p:cNvPr id="34" name="Text 19"/>
          <p:cNvSpPr txBox="1"/>
          <p:nvPr/>
        </p:nvSpPr>
        <p:spPr>
          <a:xfrm>
            <a:off x="777240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guest data and payments safe</a:t>
            </a:r>
            <a:endParaRPr lang="en-US" sz="1100" dirty="0"/>
          </a:p>
        </p:txBody>
      </p:sp>
      <p:sp>
        <p:nvSpPr>
          <p:cNvPr id="35" name="Shape 20"/>
          <p:cNvSpPr/>
          <p:nvPr/>
        </p:nvSpPr>
        <p:spPr>
          <a:xfrm>
            <a:off x="3390824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6" name="Shape 21"/>
          <p:cNvSpPr/>
          <p:nvPr/>
        </p:nvSpPr>
        <p:spPr>
          <a:xfrm>
            <a:off x="3619424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37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20008" y="4946904"/>
            <a:ext cx="256032" cy="256032"/>
          </a:xfrm>
          <a:prstGeom prst="rect">
            <a:avLst/>
          </a:prstGeom>
        </p:spPr>
      </p:pic>
      <p:sp>
        <p:nvSpPr>
          <p:cNvPr id="38" name="Text 22"/>
          <p:cNvSpPr txBox="1"/>
          <p:nvPr/>
        </p:nvSpPr>
        <p:spPr>
          <a:xfrm>
            <a:off x="4213784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continuity</a:t>
            </a:r>
            <a:endParaRPr lang="en-US" sz="1300" dirty="0"/>
          </a:p>
        </p:txBody>
      </p:sp>
      <p:sp>
        <p:nvSpPr>
          <p:cNvPr id="39" name="Text 23"/>
          <p:cNvSpPr txBox="1"/>
          <p:nvPr/>
        </p:nvSpPr>
        <p:spPr>
          <a:xfrm>
            <a:off x="3619424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downtime at the front desk and back office</a:t>
            </a:r>
            <a:endParaRPr lang="en-US" sz="1100" dirty="0"/>
          </a:p>
        </p:txBody>
      </p:sp>
      <p:sp>
        <p:nvSpPr>
          <p:cNvPr id="40" name="Shape 24"/>
          <p:cNvSpPr/>
          <p:nvPr/>
        </p:nvSpPr>
        <p:spPr>
          <a:xfrm>
            <a:off x="6233008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1" name="Shape 25"/>
          <p:cNvSpPr/>
          <p:nvPr/>
        </p:nvSpPr>
        <p:spPr>
          <a:xfrm>
            <a:off x="6461608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2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62192" y="4946904"/>
            <a:ext cx="256032" cy="256032"/>
          </a:xfrm>
          <a:prstGeom prst="rect">
            <a:avLst/>
          </a:prstGeom>
        </p:spPr>
      </p:pic>
      <p:sp>
        <p:nvSpPr>
          <p:cNvPr id="43" name="Text 26"/>
          <p:cNvSpPr txBox="1"/>
          <p:nvPr/>
        </p:nvSpPr>
        <p:spPr>
          <a:xfrm>
            <a:off x="7055968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IT workload</a:t>
            </a:r>
            <a:endParaRPr lang="en-US" sz="1300" dirty="0"/>
          </a:p>
        </p:txBody>
      </p:sp>
      <p:sp>
        <p:nvSpPr>
          <p:cNvPr id="44" name="Text 27"/>
          <p:cNvSpPr txBox="1"/>
          <p:nvPr/>
        </p:nvSpPr>
        <p:spPr>
          <a:xfrm>
            <a:off x="6461608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 plus SECUKOREA 24/7 support</a:t>
            </a:r>
            <a:endParaRPr lang="en-US" sz="1100" dirty="0"/>
          </a:p>
        </p:txBody>
      </p:sp>
      <p:sp>
        <p:nvSpPr>
          <p:cNvPr id="45" name="Shape 28"/>
          <p:cNvSpPr/>
          <p:nvPr/>
        </p:nvSpPr>
        <p:spPr>
          <a:xfrm>
            <a:off x="9075191" y="4617720"/>
            <a:ext cx="256786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CE1E7"/>
            </a:solidFill>
            <a:prstDash val="solid"/>
          </a:ln>
          <a:effectLst>
            <a:outerShdw blurRad="1016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6" name="Shape 29"/>
          <p:cNvSpPr/>
          <p:nvPr/>
        </p:nvSpPr>
        <p:spPr>
          <a:xfrm>
            <a:off x="9303791" y="484632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FDECEC"/>
          </a:solidFill>
          <a:ln w="12700">
            <a:solidFill>
              <a:srgbClr val="FDECEC"/>
            </a:solidFill>
            <a:prstDash val="solid"/>
          </a:ln>
        </p:spPr>
      </p:sp>
      <p:pic>
        <p:nvPicPr>
          <p:cNvPr id="47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404375" y="4946904"/>
            <a:ext cx="256032" cy="256032"/>
          </a:xfrm>
          <a:prstGeom prst="rect">
            <a:avLst/>
          </a:prstGeom>
        </p:spPr>
      </p:pic>
      <p:sp>
        <p:nvSpPr>
          <p:cNvPr id="48" name="Text 30"/>
          <p:cNvSpPr txBox="1"/>
          <p:nvPr/>
        </p:nvSpPr>
        <p:spPr>
          <a:xfrm>
            <a:off x="9898151" y="4846320"/>
            <a:ext cx="160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51A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support</a:t>
            </a:r>
            <a:endParaRPr lang="en-US" sz="1300" dirty="0"/>
          </a:p>
        </p:txBody>
      </p:sp>
      <p:sp>
        <p:nvSpPr>
          <p:cNvPr id="49" name="Text 31"/>
          <p:cNvSpPr txBox="1"/>
          <p:nvPr/>
        </p:nvSpPr>
        <p:spPr>
          <a:xfrm>
            <a:off x="9303791" y="5422392"/>
            <a:ext cx="2110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PCI DSS and data-protection requirements</a:t>
            </a:r>
            <a:endParaRPr lang="en-US" sz="1100" dirty="0"/>
          </a:p>
        </p:txBody>
      </p:sp>
      <p:sp>
        <p:nvSpPr>
          <p:cNvPr id="50" name="Text 32"/>
          <p:cNvSpPr txBox="1"/>
          <p:nvPr/>
        </p:nvSpPr>
        <p:spPr>
          <a:xfrm>
            <a:off x="548640" y="6446520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E69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  |   Nessus vs. CrowdStrike Falcon Platform  ·  Proposal for The Westin Resort Guam</a:t>
            </a:r>
            <a:endParaRPr lang="en-US" sz="900" dirty="0"/>
          </a:p>
        </p:txBody>
      </p:sp>
      <p:pic>
        <p:nvPicPr>
          <p:cNvPr id="51" name="Image 16" descr="/private/tmp/claude-501/-Users-jihanvin-Desktop-NIVNAH-AI/16a96446-d9b3-40e2-af9e-a3011ae3db84/scratchpad/assets/secukorea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61904" y="6400800"/>
            <a:ext cx="978408" cy="2331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jihanvin-Desktop-NIVNAH-AI/16a96446-d9b3-40e2-af9e-a3011ae3db84/scratchpad/assets/bg_line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8439" y="0"/>
            <a:ext cx="7763256" cy="6858000"/>
          </a:xfrm>
          <a:prstGeom prst="rect">
            <a:avLst/>
          </a:prstGeom>
        </p:spPr>
      </p:pic>
      <p:pic>
        <p:nvPicPr>
          <p:cNvPr id="3" name="Image 1" descr="/private/tmp/claude-501/-Users-jihanvin-Desktop-NIVNAH-AI/16a96446-d9b3-40e2-af9e-a3011ae3db84/scratchpad/assets/west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02920"/>
            <a:ext cx="1371600" cy="41148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2011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E320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&amp; A</a:t>
            </a:r>
            <a:endParaRPr lang="en-US" sz="1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24231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3611880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C9CE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endpoint protection for The Westin Resort Guam — powered by CrowdStrike Falcon.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626864"/>
            <a:ext cx="219456" cy="219456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932688" y="457200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secukorea@secukorea.com</a:t>
            </a:r>
            <a:endParaRPr lang="en-US" sz="14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38344"/>
            <a:ext cx="219456" cy="219456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932688" y="49834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+82-2-3400-0877</a:t>
            </a:r>
            <a:endParaRPr lang="en-US" sz="140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49824"/>
            <a:ext cx="219456" cy="219456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932688" y="539496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www.secukorea.com</a:t>
            </a:r>
            <a:endParaRPr lang="en-US" sz="1400" dirty="0"/>
          </a:p>
        </p:txBody>
      </p:sp>
      <p:sp>
        <p:nvSpPr>
          <p:cNvPr id="13" name="Text 6"/>
          <p:cNvSpPr txBox="1"/>
          <p:nvPr/>
        </p:nvSpPr>
        <p:spPr>
          <a:xfrm>
            <a:off x="7589520" y="6217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A93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900" dirty="0"/>
          </a:p>
        </p:txBody>
      </p:sp>
      <p:pic>
        <p:nvPicPr>
          <p:cNvPr id="14" name="Image 5" descr="/private/tmp/claude-501/-Users-jihanvin-Desktop-NIVNAH-AI/16a96446-d9b3-40e2-af9e-a3011ae3db84/scratchpad/assets/cs_logo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5320" y="6236208"/>
            <a:ext cx="1600200" cy="182880"/>
          </a:xfrm>
          <a:prstGeom prst="rect">
            <a:avLst/>
          </a:prstGeom>
        </p:spPr>
      </p:pic>
      <p:pic>
        <p:nvPicPr>
          <p:cNvPr id="15" name="Image 6" descr="/private/tmp/claude-501/-Users-jihanvin-Desktop-NIVNAH-AI/16a96446-d9b3-40e2-af9e-a3011ae3db84/scratchpad/assets/secukorea_ligh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14432" y="6163056"/>
            <a:ext cx="1325880" cy="31546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3425</Words>
  <Application>Microsoft Office PowerPoint</Application>
  <PresentationFormat>와이드스크린</PresentationFormat>
  <Paragraphs>422</Paragraphs>
  <Slides>18</Slides>
  <Notes>18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SECUKOREA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Nessus vs. CrowdStrike Falcon Platform — Proposal for The Westin Resort Guam</dc:title>
  <dc:subject>PptxGenJS Presentation</dc:subject>
  <dc:creator>SECUKOREA Inc.</dc:creator>
  <cp:lastModifiedBy>MyPC_Lenovo 03</cp:lastModifiedBy>
  <cp:revision>6</cp:revision>
  <dcterms:created xsi:type="dcterms:W3CDTF">2026-09-23T07:33:43Z</dcterms:created>
  <dcterms:modified xsi:type="dcterms:W3CDTF">2026-09-24T06:40:52Z</dcterms:modified>
</cp:coreProperties>
</file>