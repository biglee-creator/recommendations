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8" r:id="rId3"/>
    <p:sldId id="259" r:id="rId4"/>
    <p:sldId id="261" r:id="rId5"/>
    <p:sldId id="268" r:id="rId6"/>
    <p:sldId id="273" r:id="rId7"/>
    <p:sldId id="276" r:id="rId8"/>
    <p:sldId id="275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6" d="100"/>
          <a:sy n="66" d="100"/>
        </p:scale>
        <p:origin x="84" y="2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663587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The resort has no endpoint protection today. This short proposal explains why real-time protection matters, how CrowdStrike Falcon compares with a vulnerability scanner such as Nessus, and how SECUKOREA will support the resort.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the scene: a 24/7 resort with a small IT team and no endpoint protection. A scan-centric approach only produces findings and leaves gaps between scans; the resort needs protection that acts on its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this matters now: the fastest recorded breakout took 27 seconds, attacks by AI-enabled hackers rose 89% year over year, zero-days exploited before disclosure rose 42%, and 78% of surveyed organizations were hit by ransomware last year.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Analogy for non-technical stakeholders: a scanner such as Nessus is the scheduled fire-safety inspection. Falcon is the smoke detectors, sprinklers and security team that act when a fire actually starts.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simple side-by-side view. A scanner such as Nessus finds and reports weaknesses. CrowdStrike Falcon stops attacks automatically, every second, and comes with SECUKOREA 24/7 support.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before and after in plain terms, and the four outcomes that matter to hotel management: guest trust, business continuity, less work for the IT team, and compliance support.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After deployment, SECUKOREA supports the resort 24/7 remotely, with a dedicated engineer and direct, accountable support from first call to resolution. For serious incidents, CrowdStrike partner SK shieldus steps in with its incident response team.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the audience and open the floor for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5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Relationship Id="rId9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5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11" Type="http://schemas.openxmlformats.org/officeDocument/2006/relationships/image" Target="../media/image11.png"/><Relationship Id="rId5" Type="http://schemas.openxmlformats.org/officeDocument/2006/relationships/image" Target="../media/image21.png"/><Relationship Id="rId10" Type="http://schemas.openxmlformats.org/officeDocument/2006/relationships/image" Target="../media/image25.png"/><Relationship Id="rId4" Type="http://schemas.openxmlformats.org/officeDocument/2006/relationships/image" Target="../media/image20.png"/><Relationship Id="rId9" Type="http://schemas.openxmlformats.org/officeDocument/2006/relationships/image" Target="../media/image24.png"/></Relationships>
</file>

<file path=ppt/slides/_rels/slide7.xml.rels><?xml version="1.0" encoding="UTF-8" standalone="yes"?>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5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1.jp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.png"/><Relationship Id="rId9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jihanvin-Desktop-NIVNAH-AI/16a96446-d9b3-40e2-af9e-a3011ae3db84/scratchpad/assets/bg_lin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8439" y="0"/>
            <a:ext cx="7763256" cy="6858000"/>
          </a:xfrm>
          <a:prstGeom prst="rect">
            <a:avLst/>
          </a:prstGeom>
        </p:spPr>
      </p:pic>
      <p:pic>
        <p:nvPicPr>
          <p:cNvPr id="3" name="Image 1" descr="/private/tmp/claude-501/-Users-jihanvin-Desktop-NIVNAH-AI/16a96446-d9b3-40e2-af9e-a3011ae3db84/scratchpad/assets/westin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502920"/>
            <a:ext cx="1371600" cy="41148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178308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E3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PROPOSAL   |   ENDPOINT SECURITY</a:t>
            </a:r>
            <a:endParaRPr lang="en-US" sz="12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2148840"/>
            <a:ext cx="87782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Endpoint Protection for The Westin Resort Guam</a:t>
            </a:r>
            <a:endParaRPr lang="en-US" sz="40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379476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Powered by CrowdStrike Falcon® (EPP / EDR)</a:t>
            </a:r>
            <a:endParaRPr lang="en-US" sz="18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8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security proposal from SECUKOREA</a:t>
            </a:r>
            <a:endParaRPr lang="en-US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4983480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E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PROPOSER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5230368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SECUKOREA Inc.</a:t>
            </a:r>
            <a:r>
              <a:rPr lang="ko-KR" alt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3291840" y="4983480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E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3291840" y="5230368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Westin Resort Guam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6035040" y="4983480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E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6035040" y="5230368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589520" y="6217920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900" dirty="0"/>
          </a:p>
        </p:txBody>
      </p:sp>
      <p:pic>
        <p:nvPicPr>
          <p:cNvPr id="14" name="Image 2" descr="/private/tmp/claude-501/-Users-jihanvin-Desktop-NIVNAH-AI/16a96446-d9b3-40e2-af9e-a3011ae3db84/scratchpad/assets/cs_logo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5320" y="6236208"/>
            <a:ext cx="1600200" cy="182880"/>
          </a:xfrm>
          <a:prstGeom prst="rect">
            <a:avLst/>
          </a:prstGeom>
        </p:spPr>
      </p:pic>
      <p:pic>
        <p:nvPicPr>
          <p:cNvPr id="15" name="Image 3" descr="/private/tmp/claude-501/-Users-jihanvin-Desktop-NIVNAH-AI/16a96446-d9b3-40e2-af9e-a3011ae3db84/scratchpad/assets/secukorea_ligh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14432" y="6163056"/>
            <a:ext cx="1325880" cy="31546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sz="1100" b="1" kern="0" spc="200" dirty="0">
                <a:solidFill>
                  <a:srgbClr val="E3202A"/>
                </a:solidFill>
                <a:latin typeface="Arial" pitchFamily="34" charset="0"/>
                <a:ea typeface="맑은 고딕" pitchFamily="34" charset="-122"/>
                <a:cs typeface="Arial" pitchFamily="34" charset="-120"/>
              </a:rPr>
              <a:t>01   CURRENT STATE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sz="2800" b="1" dirty="0">
                <a:solidFill>
                  <a:srgbClr val="151A21"/>
                </a:solidFill>
                <a:latin typeface="Arial" pitchFamily="34" charset="0"/>
                <a:ea typeface="맑은 고딕" pitchFamily="34" charset="-122"/>
                <a:cs typeface="Arial" pitchFamily="34" charset="-120"/>
              </a:rPr>
              <a:t>Current Environment &amp; Security Challenges</a:t>
            </a:r>
            <a:endParaRPr lang="en-US" sz="2800" dirty="0"/>
          </a:p>
        </p:txBody>
      </p:sp>
      <p:pic>
        <p:nvPicPr>
          <p:cNvPr id="4" name="Image 0" descr="/private/tmp/claude-501/-Users-jihanvin-Desktop-NIVNAH-AI/16a96446-d9b3-40e2-af9e-a3011ae3db84/scratchpad/assets/westin_gr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4472" y="402336"/>
            <a:ext cx="1005840" cy="30175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600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EAEEF3"/>
          </a:solidFill>
          <a:ln w="12700">
            <a:solidFill>
              <a:srgbClr val="EAEEF3"/>
            </a:solidFill>
            <a:prstDash val="solid"/>
          </a:ln>
        </p:spPr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364" y="1724924"/>
            <a:ext cx="317480" cy="317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325880" y="1581912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sz="1500" b="1" dirty="0">
                <a:solidFill>
                  <a:srgbClr val="151A21"/>
                </a:solidFill>
                <a:latin typeface="Arial" pitchFamily="34" charset="0"/>
                <a:ea typeface="맑은 고딕" pitchFamily="34" charset="-122"/>
                <a:cs typeface="Arial" pitchFamily="34" charset="-120"/>
              </a:rPr>
              <a:t>24/7 Non-Stop Hospitality Operations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1325880" y="1929384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sz="1200" dirty="0">
                <a:solidFill>
                  <a:srgbClr val="5E6978"/>
                </a:solidFill>
                <a:latin typeface="Calibri" pitchFamily="34" charset="0"/>
                <a:ea typeface="맑은 고딕" pitchFamily="34" charset="-122"/>
                <a:cs typeface="Calibri" pitchFamily="34" charset="-120"/>
              </a:rPr>
              <a:t>Guest personal data, payment processing, and front-desk and back-office systems must stay available and protected around the clock.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548640" y="269748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EAEEF3"/>
          </a:solidFill>
          <a:ln w="12700">
            <a:solidFill>
              <a:srgbClr val="EAEEF3"/>
            </a:solidFill>
            <a:prstDash val="solid"/>
          </a:ln>
        </p:spPr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364" y="2822204"/>
            <a:ext cx="317480" cy="31748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2679192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sz="1500" b="1" dirty="0">
                <a:solidFill>
                  <a:srgbClr val="151A21"/>
                </a:solidFill>
                <a:latin typeface="Arial" pitchFamily="34" charset="0"/>
                <a:ea typeface="맑은 고딕" pitchFamily="34" charset="-122"/>
                <a:cs typeface="Arial" pitchFamily="34" charset="-120"/>
              </a:rPr>
              <a:t>Limited On-Site Security Staffing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1325880" y="3026664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sz="1200" dirty="0">
                <a:solidFill>
                  <a:srgbClr val="5E6978"/>
                </a:solidFill>
                <a:latin typeface="Calibri" pitchFamily="34" charset="0"/>
                <a:ea typeface="맑은 고딕" pitchFamily="34" charset="-122"/>
                <a:cs typeface="Calibri" pitchFamily="34" charset="-120"/>
              </a:rPr>
              <a:t>Without a dedicated security operations team, manual patching and case-by-case incident investigation are hard to sustain.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548640" y="379476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EAEEF3"/>
          </a:solidFill>
          <a:ln w="12700">
            <a:solidFill>
              <a:srgbClr val="EAEEF3"/>
            </a:solidFill>
            <a:prstDash val="solid"/>
          </a:ln>
        </p:spPr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364" y="3919484"/>
            <a:ext cx="317480" cy="31748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325880" y="3776472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sz="1500" b="1" dirty="0">
                <a:solidFill>
                  <a:srgbClr val="151A21"/>
                </a:solidFill>
                <a:latin typeface="Arial" pitchFamily="34" charset="0"/>
                <a:ea typeface="맑은 고딕" pitchFamily="34" charset="-122"/>
                <a:cs typeface="Arial" pitchFamily="34" charset="-120"/>
              </a:rPr>
              <a:t>Scan-Centric Protection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1325880" y="4123944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sz="1200" dirty="0">
                <a:solidFill>
                  <a:srgbClr val="5E6978"/>
                </a:solidFill>
                <a:latin typeface="Calibri" pitchFamily="34" charset="0"/>
                <a:ea typeface="맑은 고딕" pitchFamily="34" charset="-122"/>
                <a:cs typeface="Calibri" pitchFamily="34" charset="-120"/>
              </a:rPr>
              <a:t>Nessus identifies vulnerabilities, but it does not block malware or stop an attack in progress. Every follow-up action is manual — and endpoints are left unprotected between scans.</a:t>
            </a:r>
            <a:r>
              <a:rPr lang="en-US" altLang="ko-KR" sz="1200" dirty="0">
                <a:solidFill>
                  <a:srgbClr val="5E6978"/>
                </a:solidFill>
                <a:latin typeface="Calibri" pitchFamily="34" charset="0"/>
                <a:ea typeface="맑은 고딕" pitchFamily="34" charset="-122"/>
                <a:cs typeface="Calibri" pitchFamily="34" charset="-120"/>
              </a:rPr>
              <a:t/>
            </a:r>
            <a:r>
              <a:rPr lang="ko-KR" altLang="en-US" sz="1200" dirty="0">
                <a:solidFill>
                  <a:srgbClr val="5E6978"/>
                </a:solidFill>
                <a:latin typeface="Calibri" pitchFamily="34" charset="0"/>
                <a:ea typeface="맑은 고딕" pitchFamily="34" charset="-122"/>
                <a:cs typeface="Calibri" pitchFamily="34" charset="-120"/>
              </a:rPr>
              <a:t/>
            </a:r>
            <a:r>
              <a:rPr lang="en-US" altLang="ko-KR" sz="1200" dirty="0">
                <a:solidFill>
                  <a:srgbClr val="5E6978"/>
                </a:solidFill>
                <a:latin typeface="Calibri" pitchFamily="34" charset="0"/>
                <a:ea typeface="맑은 고딕" pitchFamily="34" charset="-122"/>
                <a:cs typeface="Calibri" pitchFamily="34" charset="-120"/>
              </a:rPr>
              <a:t/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548640" y="489204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EAEEF3"/>
          </a:solidFill>
          <a:ln w="12700">
            <a:solidFill>
              <a:srgbClr val="EAEEF3"/>
            </a:solidFill>
            <a:prstDash val="solid"/>
          </a:ln>
        </p:spPr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3364" y="5016764"/>
            <a:ext cx="317480" cy="31748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325880" y="4873752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sz="1500" b="1" dirty="0">
                <a:solidFill>
                  <a:srgbClr val="151A21"/>
                </a:solidFill>
                <a:latin typeface="Arial" pitchFamily="34" charset="0"/>
                <a:ea typeface="맑은 고딕" pitchFamily="34" charset="-122"/>
                <a:cs typeface="Arial" pitchFamily="34" charset="-120"/>
              </a:rPr>
              <a:t>A High-Value Target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1325880" y="5221224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sz="1200" dirty="0">
                <a:solidFill>
                  <a:srgbClr val="5E6978"/>
                </a:solidFill>
                <a:latin typeface="Calibri" pitchFamily="34" charset="0"/>
                <a:ea typeface="맑은 고딕" pitchFamily="34" charset="-122"/>
                <a:cs typeface="Calibri" pitchFamily="34" charset="-120"/>
              </a:rPr>
              <a:t>Hotels hold payment card data and guest identities — a frequent target for ransomware and data theft, with direct impact on brand trust.</a:t>
            </a:r>
            <a:endParaRPr lang="en-US" sz="1200" dirty="0"/>
          </a:p>
        </p:txBody>
      </p:sp>
      <p:sp>
        <p:nvSpPr>
          <p:cNvPr id="21" name="Shape 14"/>
          <p:cNvSpPr/>
          <p:nvPr/>
        </p:nvSpPr>
        <p:spPr>
          <a:xfrm>
            <a:off x="7452360" y="1554480"/>
            <a:ext cx="4190695" cy="4434840"/>
          </a:xfrm>
          <a:prstGeom prst="roundRect">
            <a:avLst>
              <a:gd name="adj" fmla="val 2182"/>
            </a:avLst>
          </a:prstGeom>
          <a:solidFill>
            <a:srgbClr val="0B0D12"/>
          </a:solidFill>
          <a:ln w="12700">
            <a:solidFill>
              <a:srgbClr val="0B0D12"/>
            </a:solidFill>
            <a:prstDash val="solid"/>
          </a:ln>
        </p:spPr>
      </p:sp>
      <p:sp>
        <p:nvSpPr>
          <p:cNvPr id="22" name="Text 15"/>
          <p:cNvSpPr txBox="1"/>
          <p:nvPr/>
        </p:nvSpPr>
        <p:spPr>
          <a:xfrm>
            <a:off x="7818120" y="1828800"/>
            <a:ext cx="34591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sz="1100" b="1" kern="0" spc="200" dirty="0">
                <a:solidFill>
                  <a:srgbClr val="E3202A"/>
                </a:solidFill>
                <a:latin typeface="Calibri" pitchFamily="34" charset="0"/>
                <a:ea typeface="맑은 고딕" pitchFamily="34" charset="-122"/>
                <a:cs typeface="Calibri" pitchFamily="34" charset="-120"/>
              </a:rPr>
              <a:t>WHAT THE RESORT NEEDS</a:t>
            </a:r>
            <a:endParaRPr lang="en-US" sz="1100" dirty="0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18120" y="2322576"/>
            <a:ext cx="237744" cy="237744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8183880" y="2286000"/>
            <a:ext cx="3093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sz="1300" dirty="0">
                <a:solidFill>
                  <a:srgbClr val="FFFFFF"/>
                </a:solidFill>
                <a:latin typeface="Calibri" pitchFamily="34" charset="0"/>
                <a:ea typeface="맑은 고딕" pitchFamily="34" charset="-122"/>
                <a:cs typeface="Calibri" pitchFamily="34" charset="-120"/>
              </a:rPr>
              <a:t>Automatic prevention of malware and ransomware</a:t>
            </a:r>
            <a:endParaRPr lang="en-US" sz="1300" dirty="0"/>
          </a:p>
        </p:txBody>
      </p:sp>
      <p:pic>
        <p:nvPicPr>
          <p:cNvPr id="25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18120" y="2852928"/>
            <a:ext cx="237744" cy="237744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8183880" y="2816352"/>
            <a:ext cx="3093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sz="1300" dirty="0">
                <a:solidFill>
                  <a:srgbClr val="FFFFFF"/>
                </a:solidFill>
                <a:latin typeface="Calibri" pitchFamily="34" charset="0"/>
                <a:ea typeface="맑은 고딕" pitchFamily="34" charset="-122"/>
                <a:cs typeface="Calibri" pitchFamily="34" charset="-120"/>
              </a:rPr>
              <a:t>Real-time detection and containment of attacks</a:t>
            </a:r>
            <a:endParaRPr lang="en-US" sz="1300" dirty="0"/>
          </a:p>
        </p:txBody>
      </p:sp>
      <p:pic>
        <p:nvPicPr>
          <p:cNvPr id="27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18120" y="3383280"/>
            <a:ext cx="237744" cy="237744"/>
          </a:xfrm>
          <a:prstGeom prst="rect">
            <a:avLst/>
          </a:prstGeom>
        </p:spPr>
      </p:pic>
      <p:sp>
        <p:nvSpPr>
          <p:cNvPr id="28" name="Text 18"/>
          <p:cNvSpPr txBox="1"/>
          <p:nvPr/>
        </p:nvSpPr>
        <p:spPr>
          <a:xfrm>
            <a:off x="8183880" y="3346704"/>
            <a:ext cx="3093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sz="1300" dirty="0">
                <a:solidFill>
                  <a:srgbClr val="FFFFFF"/>
                </a:solidFill>
                <a:latin typeface="Calibri" pitchFamily="34" charset="0"/>
                <a:ea typeface="맑은 고딕" pitchFamily="34" charset="-122"/>
                <a:cs typeface="Calibri" pitchFamily="34" charset="-120"/>
              </a:rPr>
              <a:t>Low day-to-day workload for the IT team</a:t>
            </a:r>
            <a:endParaRPr lang="en-US" sz="1300" dirty="0"/>
          </a:p>
        </p:txBody>
      </p:sp>
      <p:pic>
        <p:nvPicPr>
          <p:cNvPr id="29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18120" y="3913632"/>
            <a:ext cx="237744" cy="237744"/>
          </a:xfrm>
          <a:prstGeom prst="rect">
            <a:avLst/>
          </a:prstGeom>
        </p:spPr>
      </p:pic>
      <p:sp>
        <p:nvSpPr>
          <p:cNvPr id="30" name="Text 19"/>
          <p:cNvSpPr txBox="1"/>
          <p:nvPr/>
        </p:nvSpPr>
        <p:spPr>
          <a:xfrm>
            <a:off x="8183880" y="3877056"/>
            <a:ext cx="3093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sz="1300" dirty="0">
                <a:solidFill>
                  <a:srgbClr val="FFFFFF"/>
                </a:solidFill>
                <a:latin typeface="Calibri" pitchFamily="34" charset="0"/>
                <a:ea typeface="맑은 고딕" pitchFamily="34" charset="-122"/>
                <a:cs typeface="Calibri" pitchFamily="34" charset="-120"/>
              </a:rPr>
              <a:t>Expert help available 24/7</a:t>
            </a:r>
            <a:endParaRPr lang="en-US" sz="1300" dirty="0"/>
          </a:p>
        </p:txBody>
      </p:sp>
      <p:pic>
        <p:nvPicPr>
          <p:cNvPr id="31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18120" y="4443984"/>
            <a:ext cx="237744" cy="237744"/>
          </a:xfrm>
          <a:prstGeom prst="rect">
            <a:avLst/>
          </a:prstGeom>
        </p:spPr>
      </p:pic>
      <p:sp>
        <p:nvSpPr>
          <p:cNvPr id="32" name="Text 20"/>
          <p:cNvSpPr txBox="1"/>
          <p:nvPr/>
        </p:nvSpPr>
        <p:spPr>
          <a:xfrm>
            <a:off x="8183880" y="4407408"/>
            <a:ext cx="3093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sz="1300" dirty="0">
                <a:solidFill>
                  <a:srgbClr val="FFFFFF"/>
                </a:solidFill>
                <a:latin typeface="Calibri" pitchFamily="34" charset="0"/>
                <a:ea typeface="맑은 고딕" pitchFamily="34" charset="-122"/>
                <a:cs typeface="Calibri" pitchFamily="34" charset="-120"/>
              </a:rPr>
              <a:t>Clear reporting for management and audits</a:t>
            </a:r>
            <a:endParaRPr lang="en-US" sz="1300" dirty="0"/>
          </a:p>
        </p:txBody>
      </p:sp>
      <p:sp>
        <p:nvSpPr>
          <p:cNvPr id="33" name="Text 21"/>
          <p:cNvSpPr txBox="1"/>
          <p:nvPr/>
        </p:nvSpPr>
        <p:spPr>
          <a:xfrm>
            <a:off x="7818120" y="5120640"/>
            <a:ext cx="3459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sz="1400" b="1" i="1" dirty="0">
                <a:solidFill>
                  <a:srgbClr val="FFFFFF"/>
                </a:solidFill>
                <a:latin typeface="Calibri" pitchFamily="34" charset="0"/>
                <a:ea typeface="맑은 고딕" pitchFamily="34" charset="-122"/>
                <a:cs typeface="Calibri" pitchFamily="34" charset="-120"/>
              </a:rPr>
              <a:t>The goal is not more reports — it is fewer incidents.</a:t>
            </a:r>
            <a:endParaRPr lang="en-US" sz="1400" dirty="0"/>
          </a:p>
        </p:txBody>
      </p:sp>
      <p:sp>
        <p:nvSpPr>
          <p:cNvPr id="34" name="Text 22"/>
          <p:cNvSpPr txBox="1"/>
          <p:nvPr/>
        </p:nvSpPr>
        <p:spPr>
          <a:xfrm>
            <a:off x="548640" y="644652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sz="900" dirty="0">
                <a:solidFill>
                  <a:srgbClr val="5E6978"/>
                </a:solidFill>
                <a:latin typeface="Calibri" pitchFamily="34" charset="0"/>
                <a:ea typeface="맑은 고딕" pitchFamily="34" charset="-122"/>
                <a:cs typeface="Calibri" pitchFamily="34" charset="-120"/>
              </a:rPr>
              <a:t>02   |   CrowdStrike Falcon Proposal  ·  The Westin Resort Guam</a:t>
            </a:r>
            <a:endParaRPr lang="en-US" sz="900" dirty="0"/>
          </a:p>
        </p:txBody>
      </p:sp>
      <p:pic>
        <p:nvPicPr>
          <p:cNvPr id="35" name="Image 10" descr="/private/tmp/claude-501/-Users-jihanvin-Desktop-NIVNAH-AI/16a96446-d9b3-40e2-af9e-a3011ae3db84/scratchpad/assets/secukorea_dar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61904" y="6400800"/>
            <a:ext cx="978408" cy="23317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3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 SECURITY TRENDS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Cyberattacks Now Move in Seconds</a:t>
            </a:r>
            <a:endParaRPr lang="en-US" sz="2800" dirty="0"/>
          </a:p>
        </p:txBody>
      </p:sp>
      <p:pic>
        <p:nvPicPr>
          <p:cNvPr id="4" name="Image 0" descr="/private/tmp/claude-501/-Users-jihanvin-Desktop-NIVNAH-AI/16a96446-d9b3-40e2-af9e-a3011ae3db84/scratchpad/assets/westin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4472" y="402336"/>
            <a:ext cx="1005840" cy="30175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600200"/>
            <a:ext cx="2567864" cy="2148840"/>
          </a:xfrm>
          <a:prstGeom prst="roundRect">
            <a:avLst>
              <a:gd name="adj" fmla="val 3404"/>
            </a:avLst>
          </a:prstGeom>
          <a:solidFill>
            <a:srgbClr val="171B22"/>
          </a:solidFill>
          <a:ln w="9525">
            <a:solidFill>
              <a:srgbClr val="2A303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874520"/>
            <a:ext cx="2019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E3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sec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715768"/>
            <a:ext cx="2019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 recorded time for hackers to spread from one PC to other systems (average: 29 min)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390824" y="1600200"/>
            <a:ext cx="2567864" cy="2148840"/>
          </a:xfrm>
          <a:prstGeom prst="roundRect">
            <a:avLst>
              <a:gd name="adj" fmla="val 3404"/>
            </a:avLst>
          </a:prstGeom>
          <a:solidFill>
            <a:srgbClr val="171B22"/>
          </a:solidFill>
          <a:ln w="9525">
            <a:solidFill>
              <a:srgbClr val="2A303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65144" y="1874520"/>
            <a:ext cx="2019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E3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89%</a:t>
            </a:r>
            <a:endParaRPr lang="en-US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3665144" y="2715768"/>
            <a:ext cx="2019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Year-over-year increase in attacks by hackers using AI (2025)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33008" y="1600200"/>
            <a:ext cx="2567864" cy="2148840"/>
          </a:xfrm>
          <a:prstGeom prst="roundRect">
            <a:avLst>
              <a:gd name="adj" fmla="val 3404"/>
            </a:avLst>
          </a:prstGeom>
          <a:solidFill>
            <a:srgbClr val="171B22"/>
          </a:solidFill>
          <a:ln w="9525">
            <a:solidFill>
              <a:srgbClr val="2A303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507328" y="1874520"/>
            <a:ext cx="2019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E3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42%</a:t>
            </a:r>
            <a:endParaRPr lang="en-US" sz="4000" dirty="0"/>
          </a:p>
        </p:txBody>
      </p:sp>
      <p:sp>
        <p:nvSpPr>
          <p:cNvPr id="13" name="Text 10"/>
          <p:cNvSpPr txBox="1"/>
          <p:nvPr/>
        </p:nvSpPr>
        <p:spPr>
          <a:xfrm>
            <a:off x="6507328" y="2715768"/>
            <a:ext cx="2019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Year-over-year increase in attacks on security holes before they were made public (zero-days)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9075191" y="1600200"/>
            <a:ext cx="2567864" cy="2148840"/>
          </a:xfrm>
          <a:prstGeom prst="roundRect">
            <a:avLst>
              <a:gd name="adj" fmla="val 3404"/>
            </a:avLst>
          </a:prstGeom>
          <a:solidFill>
            <a:srgbClr val="171B22"/>
          </a:solidFill>
          <a:ln w="9525">
            <a:solidFill>
              <a:srgbClr val="2A303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349511" y="1874520"/>
            <a:ext cx="2019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E3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78%</a:t>
            </a:r>
            <a:endParaRPr lang="en-US" sz="4000" dirty="0"/>
          </a:p>
        </p:txBody>
      </p:sp>
      <p:sp>
        <p:nvSpPr>
          <p:cNvPr id="16" name="Text 13"/>
          <p:cNvSpPr txBox="1"/>
          <p:nvPr/>
        </p:nvSpPr>
        <p:spPr>
          <a:xfrm>
            <a:off x="9349511" y="2715768"/>
            <a:ext cx="2019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1,100 organizations surveyed were hit by ransomware in the past year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41148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MEANS FOR THE RESORT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48640" y="45720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E3202A"/>
          </a:solidFill>
          <a:ln w="12700">
            <a:solidFill>
              <a:srgbClr val="E3202A"/>
            </a:solidFill>
            <a:prstDash val="solid"/>
          </a:ln>
        </p:spPr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282" y="4682642"/>
            <a:ext cx="281635" cy="281635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1234440" y="4553712"/>
            <a:ext cx="27837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New, unknown attacks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1234440" y="4882896"/>
            <a:ext cx="2783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attacks strike before any fix exists — only protection that watches behavior can stop them.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4338218" y="45720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E3202A"/>
          </a:solidFill>
          <a:ln w="12700">
            <a:solidFill>
              <a:srgbClr val="E3202A"/>
            </a:solidFill>
            <a:prstDash val="solid"/>
          </a:ln>
        </p:spPr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8861" y="4682642"/>
            <a:ext cx="281635" cy="281635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5024018" y="4553712"/>
            <a:ext cx="27837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Seconds, not weeks</a:t>
            </a:r>
            <a:endParaRPr lang="en-US" sz="1400" dirty="0"/>
          </a:p>
        </p:txBody>
      </p:sp>
      <p:sp>
        <p:nvSpPr>
          <p:cNvPr id="25" name="Text 20"/>
          <p:cNvSpPr txBox="1"/>
          <p:nvPr/>
        </p:nvSpPr>
        <p:spPr>
          <a:xfrm>
            <a:off x="5024018" y="4882896"/>
            <a:ext cx="2783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unprotected endpoint can be compromised and spread the attack to other systems within seconds.</a:t>
            </a:r>
            <a:endParaRPr lang="en-US" sz="1200" dirty="0"/>
          </a:p>
        </p:txBody>
      </p:sp>
      <p:sp>
        <p:nvSpPr>
          <p:cNvPr id="26" name="Shape 21"/>
          <p:cNvSpPr/>
          <p:nvPr/>
        </p:nvSpPr>
        <p:spPr>
          <a:xfrm>
            <a:off x="8127797" y="45720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E3202A"/>
          </a:solidFill>
          <a:ln w="12700">
            <a:solidFill>
              <a:srgbClr val="E3202A"/>
            </a:solidFill>
            <a:prstDash val="solid"/>
          </a:ln>
        </p:spPr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38439" y="4682642"/>
            <a:ext cx="281635" cy="281635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8813597" y="4553712"/>
            <a:ext cx="27837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Paying is no safety net</a:t>
            </a:r>
            <a:endParaRPr lang="en-US" sz="1400" dirty="0"/>
          </a:p>
        </p:txBody>
      </p:sp>
      <p:sp>
        <p:nvSpPr>
          <p:cNvPr id="29" name="Text 23"/>
          <p:cNvSpPr txBox="1"/>
          <p:nvPr/>
        </p:nvSpPr>
        <p:spPr>
          <a:xfrm>
            <a:off x="8813597" y="4882896"/>
            <a:ext cx="2783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83% of victims who paid a ransom were attacked again, and 93% had data stolen anyway.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548640" y="6108192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00" i="1" dirty="0">
                <a:solidFill>
                  <a:srgbClr val="7D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CrowdStrike 2026 Global Threat Report (2025 data); CrowdStrike 2025 State of Ransomware Survey (1,100 security leaders).</a:t>
            </a:r>
            <a:endParaRPr lang="en-US" sz="800" dirty="0"/>
          </a:p>
        </p:txBody>
      </p:sp>
      <p:sp>
        <p:nvSpPr>
          <p:cNvPr id="31" name="Text 25"/>
          <p:cNvSpPr txBox="1"/>
          <p:nvPr/>
        </p:nvSpPr>
        <p:spPr>
          <a:xfrm>
            <a:off x="548640" y="644652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 |   CrowdStrike Falcon Proposal  ·  The Westin Resort Guam</a:t>
            </a:r>
            <a:endParaRPr lang="en-US" sz="900" dirty="0"/>
          </a:p>
        </p:txBody>
      </p:sp>
      <p:pic>
        <p:nvPicPr>
          <p:cNvPr id="32" name="Image 4" descr="/private/tmp/claude-501/-Users-jihanvin-Desktop-NIVNAH-AI/16a96446-d9b3-40e2-af9e-a3011ae3db84/scratchpad/assets/secukorea_ligh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61904" y="6400800"/>
            <a:ext cx="978408" cy="2331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3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 A SIMPLE WAY TO SEE IT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51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Safety Inspection vs. a 24/7 Security Team</a:t>
            </a:r>
            <a:endParaRPr lang="en-US" sz="2800" dirty="0"/>
          </a:p>
        </p:txBody>
      </p:sp>
      <p:pic>
        <p:nvPicPr>
          <p:cNvPr id="4" name="Image 0" descr="/private/tmp/claude-501/-Users-jihanvin-Desktop-NIVNAH-AI/16a96446-d9b3-40e2-af9e-a3011ae3db84/scratchpad/assets/westin_gr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4472" y="402336"/>
            <a:ext cx="1005840" cy="30175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5074920" cy="3611880"/>
          </a:xfrm>
          <a:prstGeom prst="roundRect">
            <a:avLst>
              <a:gd name="adj" fmla="val 2532"/>
            </a:avLst>
          </a:prstGeom>
          <a:solidFill>
            <a:srgbClr val="F3F5F8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68680" y="1874520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EAEEF3"/>
          </a:solidFill>
          <a:ln w="12700">
            <a:solidFill>
              <a:srgbClr val="EAEEF3"/>
            </a:solidFill>
            <a:prstDash val="solid"/>
          </a:ln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9498" y="2015338"/>
            <a:ext cx="358445" cy="35844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91640" y="1901952"/>
            <a:ext cx="3703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D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NESSUS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1691640" y="2157984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51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Fire-Safety Inspection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868680" y="2880360"/>
            <a:ext cx="4434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inspector walks the building on a schedule, lists what needs fixing, and hands over a report. Valuable — but the inspector is gone when a fire actually starts.</a:t>
            </a:r>
            <a:endParaRPr lang="en-US" sz="125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023360"/>
            <a:ext cx="182880" cy="1828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188720" y="397764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5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known issues</a:t>
            </a:r>
            <a:endParaRPr lang="en-US" sz="125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389120"/>
            <a:ext cx="182880" cy="18288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188720" y="434340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5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on a schedule</a:t>
            </a:r>
            <a:endParaRPr lang="en-US" sz="125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4754880"/>
            <a:ext cx="182880" cy="18288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188720" y="470916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5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Leaves the fixing to you</a:t>
            </a:r>
            <a:endParaRPr lang="en-US" sz="1250" dirty="0"/>
          </a:p>
        </p:txBody>
      </p:sp>
      <p:sp>
        <p:nvSpPr>
          <p:cNvPr id="17" name="Shape 10"/>
          <p:cNvSpPr/>
          <p:nvPr/>
        </p:nvSpPr>
        <p:spPr>
          <a:xfrm>
            <a:off x="6568135" y="1554480"/>
            <a:ext cx="5074920" cy="3611880"/>
          </a:xfrm>
          <a:prstGeom prst="roundRect">
            <a:avLst>
              <a:gd name="adj" fmla="val 2532"/>
            </a:avLst>
          </a:prstGeom>
          <a:solidFill>
            <a:srgbClr val="FDECEC"/>
          </a:solidFill>
          <a:ln w="9525">
            <a:solidFill>
              <a:srgbClr val="F6C9CB"/>
            </a:solidFill>
            <a:prstDash val="solid"/>
          </a:ln>
        </p:spPr>
      </p:sp>
      <p:sp>
        <p:nvSpPr>
          <p:cNvPr id="18" name="Shape 11"/>
          <p:cNvSpPr/>
          <p:nvPr/>
        </p:nvSpPr>
        <p:spPr>
          <a:xfrm>
            <a:off x="6888175" y="1874520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E3202A"/>
          </a:solidFill>
          <a:ln w="12700">
            <a:solidFill>
              <a:srgbClr val="E3202A"/>
            </a:solidFill>
            <a:prstDash val="solid"/>
          </a:ln>
        </p:spPr>
      </p:sp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28993" y="2015338"/>
            <a:ext cx="358445" cy="358445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7711135" y="1901952"/>
            <a:ext cx="3703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CROWDSTRIKE FALCON</a:t>
            </a:r>
            <a:endParaRPr lang="en-US" sz="1100" dirty="0"/>
          </a:p>
        </p:txBody>
      </p:sp>
      <p:sp>
        <p:nvSpPr>
          <p:cNvPr id="21" name="Text 13"/>
          <p:cNvSpPr txBox="1"/>
          <p:nvPr/>
        </p:nvSpPr>
        <p:spPr>
          <a:xfrm>
            <a:off x="7711135" y="2157984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51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Smoke Detectors, Sprinklers &amp; a 24/7 Security Team</a:t>
            </a:r>
            <a:endParaRPr lang="en-US" sz="1700" dirty="0"/>
          </a:p>
        </p:txBody>
      </p:sp>
      <p:sp>
        <p:nvSpPr>
          <p:cNvPr id="22" name="Text 14"/>
          <p:cNvSpPr txBox="1"/>
          <p:nvPr/>
        </p:nvSpPr>
        <p:spPr>
          <a:xfrm>
            <a:off x="6888175" y="2880360"/>
            <a:ext cx="4434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Sensors on every endpoint spot danger the moment it appears, stop it automatically, and escalate to experts who are on duty around the clock.</a:t>
            </a:r>
            <a:r>
              <a:rPr lang="en-US" sz="1250" dirty="0" err="1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25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250" dirty="0" err="1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250" dirty="0">
              <a:solidFill>
                <a:srgbClr val="5E697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pic>
        <p:nvPicPr>
          <p:cNvPr id="23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88175" y="4023360"/>
            <a:ext cx="182880" cy="182880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7208215" y="397764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5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threats instantly</a:t>
            </a:r>
            <a:endParaRPr lang="en-US" sz="1250" dirty="0"/>
          </a:p>
        </p:txBody>
      </p:sp>
      <p:pic>
        <p:nvPicPr>
          <p:cNvPr id="25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88175" y="4389120"/>
            <a:ext cx="182880" cy="182880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7208215" y="434340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5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Stops attacks automatically</a:t>
            </a:r>
            <a:endParaRPr lang="en-US" sz="1250" dirty="0"/>
          </a:p>
        </p:txBody>
      </p:sp>
      <p:pic>
        <p:nvPicPr>
          <p:cNvPr id="27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88175" y="4754880"/>
            <a:ext cx="182880" cy="182880"/>
          </a:xfrm>
          <a:prstGeom prst="rect">
            <a:avLst/>
          </a:prstGeom>
        </p:spPr>
      </p:pic>
      <p:sp>
        <p:nvSpPr>
          <p:cNvPr id="28" name="Text 17"/>
          <p:cNvSpPr txBox="1"/>
          <p:nvPr/>
        </p:nvSpPr>
        <p:spPr>
          <a:xfrm>
            <a:off x="7208215" y="470916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5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Experts respond 24/7</a:t>
            </a:r>
            <a:endParaRPr lang="en-US" sz="1250" dirty="0"/>
          </a:p>
        </p:txBody>
      </p:sp>
      <p:sp>
        <p:nvSpPr>
          <p:cNvPr id="29" name="Shape 18"/>
          <p:cNvSpPr/>
          <p:nvPr/>
        </p:nvSpPr>
        <p:spPr>
          <a:xfrm>
            <a:off x="5775808" y="3040380"/>
            <a:ext cx="640080" cy="640080"/>
          </a:xfrm>
          <a:prstGeom prst="ellipse">
            <a:avLst/>
          </a:prstGeom>
          <a:solidFill>
            <a:srgbClr val="0B0D1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0" name="Text 19"/>
          <p:cNvSpPr txBox="1"/>
          <p:nvPr/>
        </p:nvSpPr>
        <p:spPr>
          <a:xfrm>
            <a:off x="5775808" y="30403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</a:t>
            </a:r>
            <a:endParaRPr lang="en-US" sz="1500" dirty="0"/>
          </a:p>
        </p:txBody>
      </p:sp>
      <p:sp>
        <p:nvSpPr>
          <p:cNvPr id="42" name="Text 31"/>
          <p:cNvSpPr txBox="1"/>
          <p:nvPr/>
        </p:nvSpPr>
        <p:spPr>
          <a:xfrm>
            <a:off x="548640" y="54406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D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Nessus</a:t>
            </a:r>
            <a:r>
              <a:rPr lang="en-US" sz="160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only tells you what is wrong.  </a:t>
            </a:r>
            <a:r>
              <a:rPr lang="en-US" sz="160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ko-KR" altLang="en-US" sz="160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60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60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600" b="1" dirty="0">
                <a:solidFill>
                  <a:srgbClr val="E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Falcon</a:t>
            </a:r>
            <a:r>
              <a:rPr lang="en-US" sz="160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stops the attack — around the clock.</a:t>
            </a:r>
            <a:endParaRPr lang="en-US" sz="1600" dirty="0"/>
          </a:p>
        </p:txBody>
      </p:sp>
      <p:sp>
        <p:nvSpPr>
          <p:cNvPr id="43" name="Text 32"/>
          <p:cNvSpPr txBox="1"/>
          <p:nvPr/>
        </p:nvSpPr>
        <p:spPr>
          <a:xfrm>
            <a:off x="548640" y="644652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 |   CrowdStrike Falcon Proposal  ·  The Westin Resort Guam</a:t>
            </a:r>
            <a:endParaRPr lang="en-US" sz="900" dirty="0"/>
          </a:p>
        </p:txBody>
      </p:sp>
      <p:pic>
        <p:nvPicPr>
          <p:cNvPr id="44" name="Image 9" descr="/private/tmp/claude-501/-Users-jihanvin-Desktop-NIVNAH-AI/16a96446-d9b3-40e2-af9e-a3011ae3db84/scratchpad/assets/secukorea_dar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61904" y="6400800"/>
            <a:ext cx="978408" cy="2331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3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 COMPARISON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51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Head-to-Head: Nessus vs. CrowdStrike Falcon</a:t>
            </a:r>
            <a:endParaRPr lang="en-US" sz="2800" dirty="0"/>
          </a:p>
        </p:txBody>
      </p:sp>
      <p:pic>
        <p:nvPicPr>
          <p:cNvPr id="4" name="Image 0" descr="/private/tmp/claude-501/-Users-jihanvin-Desktop-NIVNAH-AI/16a96446-d9b3-40e2-af9e-a3011ae3db84/scratchpad/assets/westin_gr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4472" y="402336"/>
            <a:ext cx="1005840" cy="301752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4415" cy="4526277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11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393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4661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D1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Nessus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6B7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CrowdStrike Falcon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20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661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5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D6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Finds and reports weaknesses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E32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Stops attacks</a:t>
                      </a:r>
                      <a:r>
                        <a:rPr lang="en-US" sz="1400" dirty="0">
                          <a:solidFill>
                            <a:srgbClr val="15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on every PC and server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661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5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it protects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D6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on scheduled scan days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E32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second</a:t>
                      </a:r>
                      <a:r>
                        <a:rPr lang="en-US" sz="1400" dirty="0">
                          <a:solidFill>
                            <a:srgbClr val="15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— 24 hours a day, 365 days a year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661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5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Viruses &amp; ransomware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D6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Cannot block them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E32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Blocked automatically</a:t>
                      </a:r>
                      <a:r>
                        <a:rPr lang="en-US" sz="1400" dirty="0">
                          <a:solidFill>
                            <a:srgbClr val="15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— 100% ransomware blocked in independent tests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661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5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 an attack happens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D6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noticed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E32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Detected and contained</a:t>
                      </a:r>
                      <a:r>
                        <a:rPr lang="en-US" sz="1400" dirty="0">
                          <a:solidFill>
                            <a:srgbClr val="15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— infected PC isolated in one click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661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5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Expert help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D6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included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E32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Included</a:t>
                      </a:r>
                      <a:r>
                        <a:rPr lang="en-US" sz="1400" dirty="0">
                          <a:solidFill>
                            <a:srgbClr val="15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— SECUKOREA 24/7, with SK shieldus escalation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4661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5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 for the IT team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D6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— every finding fixed by hand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E32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r>
                        <a:rPr lang="en-US" sz="1400" dirty="0">
                          <a:solidFill>
                            <a:srgbClr val="15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— protection works automatically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644652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 |   CrowdStrike Falcon Proposal  ·  The Westin Resort Guam</a:t>
            </a:r>
            <a:endParaRPr lang="en-US" sz="900" dirty="0"/>
          </a:p>
        </p:txBody>
      </p:sp>
      <p:pic>
        <p:nvPicPr>
          <p:cNvPr id="7" name="Image 1" descr="/private/tmp/claude-501/-Users-jihanvin-Desktop-NIVNAH-AI/16a96446-d9b3-40e2-af9e-a3011ae3db84/scratchpad/assets/secukorea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61904" y="6400800"/>
            <a:ext cx="978408" cy="23317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3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 EXPECTED BENEFITS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51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Unprotected to Always-On Protection</a:t>
            </a:r>
            <a:endParaRPr lang="en-US" sz="2800" dirty="0"/>
          </a:p>
        </p:txBody>
      </p:sp>
      <p:pic>
        <p:nvPicPr>
          <p:cNvPr id="4" name="Image 0" descr="/private/tmp/claude-501/-Users-jihanvin-Desktop-NIVNAH-AI/16a96446-d9b3-40e2-af9e-a3011ae3db84/scratchpad/assets/westin_gr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4472" y="402336"/>
            <a:ext cx="1005840" cy="30175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4892040" cy="2788920"/>
          </a:xfrm>
          <a:prstGeom prst="roundRect">
            <a:avLst>
              <a:gd name="adj" fmla="val 3279"/>
            </a:avLst>
          </a:prstGeom>
          <a:solidFill>
            <a:srgbClr val="EAEEF3"/>
          </a:solidFill>
          <a:ln w="12700">
            <a:solidFill>
              <a:srgbClr val="EAEEF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68680" y="1783080"/>
            <a:ext cx="4251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D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 ·  NO ENDPOINT PROTECTION</a:t>
            </a:r>
            <a:endParaRPr lang="en-US" sz="11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240280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07008" y="2194560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5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malware or ransomware protection</a:t>
            </a:r>
            <a:endParaRPr lang="en-US" sz="12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642616"/>
            <a:ext cx="201168" cy="201168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207008" y="2596896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5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visibility into endpoint activity</a:t>
            </a:r>
            <a:endParaRPr lang="en-US" sz="125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044952"/>
            <a:ext cx="201168" cy="201168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1207008" y="2999232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5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Manual, case-by-case incident handling</a:t>
            </a:r>
            <a:endParaRPr lang="en-US" sz="1250" dirty="0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447288"/>
            <a:ext cx="201168" cy="201168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1207008" y="3401568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5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way to stop an attack in progress</a:t>
            </a:r>
            <a:endParaRPr lang="en-US" sz="1250" dirty="0"/>
          </a:p>
        </p:txBody>
      </p:sp>
      <p:pic>
        <p:nvPicPr>
          <p:cNvPr id="15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49624"/>
            <a:ext cx="201168" cy="201168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1207008" y="3803904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5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insight for management</a:t>
            </a:r>
            <a:endParaRPr lang="en-US" sz="1250" dirty="0"/>
          </a:p>
        </p:txBody>
      </p:sp>
      <p:pic>
        <p:nvPicPr>
          <p:cNvPr id="17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1528" y="2674620"/>
            <a:ext cx="548640" cy="548640"/>
          </a:xfrm>
          <a:prstGeom prst="rect">
            <a:avLst/>
          </a:prstGeom>
        </p:spPr>
      </p:pic>
      <p:sp>
        <p:nvSpPr>
          <p:cNvPr id="18" name="Shape 9"/>
          <p:cNvSpPr/>
          <p:nvPr/>
        </p:nvSpPr>
        <p:spPr>
          <a:xfrm>
            <a:off x="6751015" y="1554480"/>
            <a:ext cx="4892040" cy="2788920"/>
          </a:xfrm>
          <a:prstGeom prst="roundRect">
            <a:avLst>
              <a:gd name="adj" fmla="val 3279"/>
            </a:avLst>
          </a:prstGeom>
          <a:solidFill>
            <a:srgbClr val="0B0D12"/>
          </a:solidFill>
          <a:ln w="12700">
            <a:solidFill>
              <a:srgbClr val="0B0D12"/>
            </a:solidFill>
            <a:prstDash val="solid"/>
          </a:ln>
        </p:spPr>
      </p:sp>
      <p:sp>
        <p:nvSpPr>
          <p:cNvPr id="19" name="Text 10"/>
          <p:cNvSpPr txBox="1"/>
          <p:nvPr/>
        </p:nvSpPr>
        <p:spPr>
          <a:xfrm>
            <a:off x="7071055" y="1783080"/>
            <a:ext cx="4251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TOMORROW  ·  CROWDSTRIKE FALCON</a:t>
            </a:r>
            <a:endParaRPr lang="en-US" sz="1100" dirty="0"/>
          </a:p>
        </p:txBody>
      </p:sp>
      <p:pic>
        <p:nvPicPr>
          <p:cNvPr id="20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1055" y="2240280"/>
            <a:ext cx="201168" cy="201168"/>
          </a:xfrm>
          <a:prstGeom prst="rect">
            <a:avLst/>
          </a:prstGeom>
        </p:spPr>
      </p:pic>
      <p:sp>
        <p:nvSpPr>
          <p:cNvPr id="21" name="Text 11"/>
          <p:cNvSpPr txBox="1"/>
          <p:nvPr/>
        </p:nvSpPr>
        <p:spPr>
          <a:xfrm>
            <a:off x="7409383" y="2194560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prevention on every endpoint</a:t>
            </a:r>
            <a:endParaRPr lang="en-US" sz="1250" dirty="0"/>
          </a:p>
        </p:txBody>
      </p:sp>
      <p:pic>
        <p:nvPicPr>
          <p:cNvPr id="22" name="Image 8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1055" y="2642616"/>
            <a:ext cx="201168" cy="201168"/>
          </a:xfrm>
          <a:prstGeom prst="rect">
            <a:avLst/>
          </a:prstGeom>
        </p:spPr>
      </p:pic>
      <p:sp>
        <p:nvSpPr>
          <p:cNvPr id="23" name="Text 12"/>
          <p:cNvSpPr txBox="1"/>
          <p:nvPr/>
        </p:nvSpPr>
        <p:spPr>
          <a:xfrm>
            <a:off x="7409383" y="2596896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monitoring, 24/7</a:t>
            </a:r>
            <a:endParaRPr lang="en-US" sz="1250" dirty="0"/>
          </a:p>
        </p:txBody>
      </p:sp>
      <p:pic>
        <p:nvPicPr>
          <p:cNvPr id="24" name="Image 9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1055" y="3044952"/>
            <a:ext cx="201168" cy="201168"/>
          </a:xfrm>
          <a:prstGeom prst="rect">
            <a:avLst/>
          </a:prstGeom>
        </p:spPr>
      </p:pic>
      <p:sp>
        <p:nvSpPr>
          <p:cNvPr id="25" name="Text 13"/>
          <p:cNvSpPr txBox="1"/>
          <p:nvPr/>
        </p:nvSpPr>
        <p:spPr>
          <a:xfrm>
            <a:off x="7409383" y="2999232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containment and response</a:t>
            </a:r>
            <a:endParaRPr lang="en-US" sz="1250" dirty="0"/>
          </a:p>
        </p:txBody>
      </p:sp>
      <p:pic>
        <p:nvPicPr>
          <p:cNvPr id="26" name="Image 10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1055" y="3447288"/>
            <a:ext cx="201168" cy="201168"/>
          </a:xfrm>
          <a:prstGeom prst="rect">
            <a:avLst/>
          </a:prstGeom>
        </p:spPr>
      </p:pic>
      <p:sp>
        <p:nvSpPr>
          <p:cNvPr id="27" name="Text 14"/>
          <p:cNvSpPr txBox="1"/>
          <p:nvPr/>
        </p:nvSpPr>
        <p:spPr>
          <a:xfrm>
            <a:off x="7409383" y="3401568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 ransomware protection</a:t>
            </a:r>
            <a:endParaRPr lang="en-US" sz="1250" dirty="0"/>
          </a:p>
        </p:txBody>
      </p:sp>
      <p:pic>
        <p:nvPicPr>
          <p:cNvPr id="28" name="Image 11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1055" y="3849624"/>
            <a:ext cx="201168" cy="201168"/>
          </a:xfrm>
          <a:prstGeom prst="rect">
            <a:avLst/>
          </a:prstGeom>
        </p:spPr>
      </p:pic>
      <p:sp>
        <p:nvSpPr>
          <p:cNvPr id="29" name="Text 15"/>
          <p:cNvSpPr txBox="1"/>
          <p:nvPr/>
        </p:nvSpPr>
        <p:spPr>
          <a:xfrm>
            <a:off x="7409383" y="3803904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dashboards and executive reports</a:t>
            </a:r>
            <a:endParaRPr lang="en-US" sz="1250" dirty="0"/>
          </a:p>
        </p:txBody>
      </p:sp>
      <p:sp>
        <p:nvSpPr>
          <p:cNvPr id="30" name="Shape 16"/>
          <p:cNvSpPr/>
          <p:nvPr/>
        </p:nvSpPr>
        <p:spPr>
          <a:xfrm>
            <a:off x="548640" y="4617720"/>
            <a:ext cx="256786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1" name="Shape 17"/>
          <p:cNvSpPr/>
          <p:nvPr/>
        </p:nvSpPr>
        <p:spPr>
          <a:xfrm>
            <a:off x="777240" y="484632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pic>
        <p:nvPicPr>
          <p:cNvPr id="32" name="Image 12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7824" y="4946904"/>
            <a:ext cx="256032" cy="256032"/>
          </a:xfrm>
          <a:prstGeom prst="rect">
            <a:avLst/>
          </a:prstGeom>
        </p:spPr>
      </p:pic>
      <p:sp>
        <p:nvSpPr>
          <p:cNvPr id="33" name="Text 18"/>
          <p:cNvSpPr txBox="1"/>
          <p:nvPr/>
        </p:nvSpPr>
        <p:spPr>
          <a:xfrm>
            <a:off x="1371600" y="4846320"/>
            <a:ext cx="1607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51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 guest trust</a:t>
            </a:r>
            <a:endParaRPr lang="en-US" sz="1300" dirty="0"/>
          </a:p>
        </p:txBody>
      </p:sp>
      <p:sp>
        <p:nvSpPr>
          <p:cNvPr id="34" name="Text 19"/>
          <p:cNvSpPr txBox="1"/>
          <p:nvPr/>
        </p:nvSpPr>
        <p:spPr>
          <a:xfrm>
            <a:off x="777240" y="5422392"/>
            <a:ext cx="2110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guest data and payments safe</a:t>
            </a:r>
            <a:endParaRPr lang="en-US" sz="1100" dirty="0"/>
          </a:p>
        </p:txBody>
      </p:sp>
      <p:sp>
        <p:nvSpPr>
          <p:cNvPr id="35" name="Shape 20"/>
          <p:cNvSpPr/>
          <p:nvPr/>
        </p:nvSpPr>
        <p:spPr>
          <a:xfrm>
            <a:off x="3390824" y="4617720"/>
            <a:ext cx="256786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6" name="Shape 21"/>
          <p:cNvSpPr/>
          <p:nvPr/>
        </p:nvSpPr>
        <p:spPr>
          <a:xfrm>
            <a:off x="3619424" y="484632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pic>
        <p:nvPicPr>
          <p:cNvPr id="37" name="Image 13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20008" y="4946904"/>
            <a:ext cx="256032" cy="256032"/>
          </a:xfrm>
          <a:prstGeom prst="rect">
            <a:avLst/>
          </a:prstGeom>
        </p:spPr>
      </p:pic>
      <p:sp>
        <p:nvSpPr>
          <p:cNvPr id="38" name="Text 22"/>
          <p:cNvSpPr txBox="1"/>
          <p:nvPr/>
        </p:nvSpPr>
        <p:spPr>
          <a:xfrm>
            <a:off x="4213784" y="4846320"/>
            <a:ext cx="1607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51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continuity</a:t>
            </a:r>
            <a:endParaRPr lang="en-US" sz="1300" dirty="0"/>
          </a:p>
        </p:txBody>
      </p:sp>
      <p:sp>
        <p:nvSpPr>
          <p:cNvPr id="39" name="Text 23"/>
          <p:cNvSpPr txBox="1"/>
          <p:nvPr/>
        </p:nvSpPr>
        <p:spPr>
          <a:xfrm>
            <a:off x="3619424" y="5422392"/>
            <a:ext cx="2110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downtime at the front desk and back office</a:t>
            </a:r>
            <a:endParaRPr lang="en-US" sz="1100" dirty="0"/>
          </a:p>
        </p:txBody>
      </p:sp>
      <p:sp>
        <p:nvSpPr>
          <p:cNvPr id="40" name="Shape 24"/>
          <p:cNvSpPr/>
          <p:nvPr/>
        </p:nvSpPr>
        <p:spPr>
          <a:xfrm>
            <a:off x="6233008" y="4617720"/>
            <a:ext cx="256786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1" name="Shape 25"/>
          <p:cNvSpPr/>
          <p:nvPr/>
        </p:nvSpPr>
        <p:spPr>
          <a:xfrm>
            <a:off x="6461608" y="484632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pic>
        <p:nvPicPr>
          <p:cNvPr id="42" name="Image 14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62192" y="4946904"/>
            <a:ext cx="256032" cy="256032"/>
          </a:xfrm>
          <a:prstGeom prst="rect">
            <a:avLst/>
          </a:prstGeom>
        </p:spPr>
      </p:pic>
      <p:sp>
        <p:nvSpPr>
          <p:cNvPr id="43" name="Text 26"/>
          <p:cNvSpPr txBox="1"/>
          <p:nvPr/>
        </p:nvSpPr>
        <p:spPr>
          <a:xfrm>
            <a:off x="7055968" y="4846320"/>
            <a:ext cx="1607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51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Lower IT workload</a:t>
            </a:r>
            <a:endParaRPr lang="en-US" sz="1300" dirty="0"/>
          </a:p>
        </p:txBody>
      </p:sp>
      <p:sp>
        <p:nvSpPr>
          <p:cNvPr id="44" name="Text 27"/>
          <p:cNvSpPr txBox="1"/>
          <p:nvPr/>
        </p:nvSpPr>
        <p:spPr>
          <a:xfrm>
            <a:off x="6461608" y="5422392"/>
            <a:ext cx="2110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plus SECUKOREA 24/7 support</a:t>
            </a:r>
            <a:endParaRPr lang="en-US" sz="1100" dirty="0"/>
          </a:p>
        </p:txBody>
      </p:sp>
      <p:sp>
        <p:nvSpPr>
          <p:cNvPr id="45" name="Shape 28"/>
          <p:cNvSpPr/>
          <p:nvPr/>
        </p:nvSpPr>
        <p:spPr>
          <a:xfrm>
            <a:off x="9075191" y="4617720"/>
            <a:ext cx="256786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6" name="Shape 29"/>
          <p:cNvSpPr/>
          <p:nvPr/>
        </p:nvSpPr>
        <p:spPr>
          <a:xfrm>
            <a:off x="9303791" y="484632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pic>
        <p:nvPicPr>
          <p:cNvPr id="47" name="Image 15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404375" y="4946904"/>
            <a:ext cx="256032" cy="256032"/>
          </a:xfrm>
          <a:prstGeom prst="rect">
            <a:avLst/>
          </a:prstGeom>
        </p:spPr>
      </p:pic>
      <p:sp>
        <p:nvSpPr>
          <p:cNvPr id="48" name="Text 30"/>
          <p:cNvSpPr txBox="1"/>
          <p:nvPr/>
        </p:nvSpPr>
        <p:spPr>
          <a:xfrm>
            <a:off x="9898151" y="4846320"/>
            <a:ext cx="1607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51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support</a:t>
            </a:r>
            <a:endParaRPr lang="en-US" sz="1300" dirty="0"/>
          </a:p>
        </p:txBody>
      </p:sp>
      <p:sp>
        <p:nvSpPr>
          <p:cNvPr id="49" name="Text 31"/>
          <p:cNvSpPr txBox="1"/>
          <p:nvPr/>
        </p:nvSpPr>
        <p:spPr>
          <a:xfrm>
            <a:off x="9303791" y="5422392"/>
            <a:ext cx="2110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PCI DSS and data-protection requirements</a:t>
            </a:r>
            <a:endParaRPr lang="en-US" sz="1100" dirty="0"/>
          </a:p>
        </p:txBody>
      </p:sp>
      <p:sp>
        <p:nvSpPr>
          <p:cNvPr id="50" name="Text 32"/>
          <p:cNvSpPr txBox="1"/>
          <p:nvPr/>
        </p:nvSpPr>
        <p:spPr>
          <a:xfrm>
            <a:off x="548640" y="644652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 |   CrowdStrike Falcon Proposal  ·  The Westin Resort Guam</a:t>
            </a:r>
            <a:endParaRPr lang="en-US" sz="900" dirty="0"/>
          </a:p>
        </p:txBody>
      </p:sp>
      <p:pic>
        <p:nvPicPr>
          <p:cNvPr id="51" name="Image 16" descr="/private/tmp/claude-501/-Users-jihanvin-Desktop-NIVNAH-AI/16a96446-d9b3-40e2-af9e-a3011ae3db84/scratchpad/assets/secukorea_dark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61904" y="6400800"/>
            <a:ext cx="978408" cy="233172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548640" y="6090000"/>
            <a:ext cx="11094415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E3202A"/>
                </a:solidFill>
                <a:latin typeface="Calibri"/>
                <a:ea typeface="Malgun Gothic"/>
              </a:rPr>
              <a:t>Proposal scope:  </a:t>
            </a:r>
            <a:r>
              <a:rPr sz="1050" b="0">
                <a:solidFill>
                  <a:srgbClr val="5E6978"/>
                </a:solidFill>
                <a:latin typeface="Calibri"/>
                <a:ea typeface="Malgun Gothic"/>
              </a:rPr>
              <a:t>Falcon Prevent (next-gen antivirus) + Falcon Insight (detection &amp; response), with SECUKOREA 24/7 technical support.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3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 TECHNICAL SUPPORT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51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SECUKOREA 24/7 Technical Support</a:t>
            </a:r>
            <a:endParaRPr lang="en-US" sz="2800" dirty="0"/>
          </a:p>
        </p:txBody>
      </p:sp>
      <p:pic>
        <p:nvPicPr>
          <p:cNvPr id="4" name="Image 0" descr="/private/tmp/claude-501/-Users-jihanvin-Desktop-NIVNAH-AI/16a96446-d9b3-40e2-af9e-a3011ae3db84/scratchpad/assets/westin_gr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4472" y="402336"/>
            <a:ext cx="1005840" cy="30175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73380" y="2249424"/>
            <a:ext cx="917448" cy="566928"/>
          </a:xfrm>
          <a:prstGeom prst="roundRect">
            <a:avLst>
              <a:gd name="adj" fmla="val 16129"/>
            </a:avLst>
          </a:prstGeom>
          <a:solidFill>
            <a:srgbClr val="EAEEF3"/>
          </a:solidFill>
          <a:ln w="12700">
            <a:solidFill>
              <a:srgbClr val="EAEEF3"/>
            </a:solidFill>
            <a:prstDash val="solid"/>
          </a:ln>
        </p:spPr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364" y="2374148"/>
            <a:ext cx="317480" cy="317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65843" y="2231136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51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24/7 Remote Support for Overseas Sites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1465843" y="2578608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Round-the-clock remote support built for overseas operations — help is available regardless of time zone or local business hours.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373380" y="3346704"/>
            <a:ext cx="917448" cy="566928"/>
          </a:xfrm>
          <a:prstGeom prst="roundRect">
            <a:avLst>
              <a:gd name="adj" fmla="val 16129"/>
            </a:avLst>
          </a:prstGeom>
          <a:solidFill>
            <a:srgbClr val="EAEEF3"/>
          </a:solidFill>
          <a:ln w="12700">
            <a:solidFill>
              <a:srgbClr val="EAEEF3"/>
            </a:solidFill>
            <a:prstDash val="solid"/>
          </a:ln>
        </p:spPr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364" y="3471428"/>
            <a:ext cx="317480" cy="31748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465843" y="3328416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51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Engineer Matching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1465843" y="3675888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named SECUKOREA engineer works as an extension of your IT team — learning the resort's systems in depth and handling day-to-day requests quickly and consistently.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373380" y="4440936"/>
            <a:ext cx="917448" cy="566928"/>
          </a:xfrm>
          <a:prstGeom prst="roundRect">
            <a:avLst>
              <a:gd name="adj" fmla="val 16129"/>
            </a:avLst>
          </a:prstGeom>
          <a:solidFill>
            <a:srgbClr val="EAEEF3"/>
          </a:solidFill>
          <a:ln w="12700">
            <a:solidFill>
              <a:srgbClr val="EAEEF3"/>
            </a:solidFill>
            <a:prstDash val="solid"/>
          </a:ln>
        </p:spPr>
      </p:sp>
      <p:sp>
        <p:nvSpPr>
          <p:cNvPr id="19" name="Text 12"/>
          <p:cNvSpPr txBox="1"/>
          <p:nvPr/>
        </p:nvSpPr>
        <p:spPr>
          <a:xfrm>
            <a:off x="1465843" y="4422648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51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Direct, Accountable Support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1465843" y="4770120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SECUKOREA handles support, licensing and renewals directly, and stays with the resort from the first call to full resolution.</a:t>
            </a:r>
            <a:endParaRPr lang="en-US" sz="1200" dirty="0"/>
          </a:p>
        </p:txBody>
      </p:sp>
      <p:sp>
        <p:nvSpPr>
          <p:cNvPr id="21" name="Shape 14"/>
          <p:cNvSpPr/>
          <p:nvPr/>
        </p:nvSpPr>
        <p:spPr>
          <a:xfrm>
            <a:off x="7452360" y="1554480"/>
            <a:ext cx="4190695" cy="4434840"/>
          </a:xfrm>
          <a:prstGeom prst="roundRect">
            <a:avLst>
              <a:gd name="adj" fmla="val 2182"/>
            </a:avLst>
          </a:prstGeom>
          <a:solidFill>
            <a:srgbClr val="0B0D12"/>
          </a:solidFill>
          <a:ln w="12700">
            <a:solidFill>
              <a:srgbClr val="0B0D12"/>
            </a:solidFill>
            <a:prstDash val="solid"/>
          </a:ln>
        </p:spPr>
      </p:sp>
      <p:sp>
        <p:nvSpPr>
          <p:cNvPr id="22" name="Text 15"/>
          <p:cNvSpPr txBox="1"/>
          <p:nvPr/>
        </p:nvSpPr>
        <p:spPr>
          <a:xfrm>
            <a:off x="7818120" y="1828800"/>
            <a:ext cx="34591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ESCALATION  ·  SK SHIELDUS</a:t>
            </a:r>
            <a:endParaRPr lang="en-US" sz="1100" dirty="0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8120" y="2322576"/>
            <a:ext cx="237744" cy="237744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8183880" y="2286000"/>
            <a:ext cx="3093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response specialists on duty 24/7</a:t>
            </a:r>
            <a:endParaRPr lang="en-US" sz="1300" dirty="0"/>
          </a:p>
        </p:txBody>
      </p:sp>
      <p:pic>
        <p:nvPicPr>
          <p:cNvPr id="25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8120" y="2852928"/>
            <a:ext cx="237744" cy="237744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8183880" y="2816352"/>
            <a:ext cx="3093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alerts: call within 30 min, first action within 2 hrs (SLA)</a:t>
            </a:r>
            <a:endParaRPr lang="en-US" sz="1300" dirty="0"/>
          </a:p>
        </p:txBody>
      </p:sp>
      <p:pic>
        <p:nvPicPr>
          <p:cNvPr id="27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8120" y="3383280"/>
            <a:ext cx="237744" cy="237744"/>
          </a:xfrm>
          <a:prstGeom prst="rect">
            <a:avLst/>
          </a:prstGeom>
        </p:spPr>
      </p:pic>
      <p:sp>
        <p:nvSpPr>
          <p:cNvPr id="28" name="Text 18"/>
          <p:cNvSpPr txBox="1"/>
          <p:nvPr/>
        </p:nvSpPr>
        <p:spPr>
          <a:xfrm>
            <a:off x="8183880" y="3346704"/>
            <a:ext cx="3093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In-depth investigation when an incident occurs</a:t>
            </a:r>
            <a:endParaRPr lang="en-US" sz="1300" dirty="0"/>
          </a:p>
        </p:txBody>
      </p:sp>
      <p:pic>
        <p:nvPicPr>
          <p:cNvPr id="29" name="Image 8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8120" y="3913632"/>
            <a:ext cx="237744" cy="237744"/>
          </a:xfrm>
          <a:prstGeom prst="rect">
            <a:avLst/>
          </a:prstGeom>
        </p:spPr>
      </p:pic>
      <p:sp>
        <p:nvSpPr>
          <p:cNvPr id="30" name="Text 19"/>
          <p:cNvSpPr txBox="1"/>
          <p:nvPr/>
        </p:nvSpPr>
        <p:spPr>
          <a:xfrm>
            <a:off x="8183880" y="3877056"/>
            <a:ext cx="3093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analysis of serious security alerts</a:t>
            </a:r>
            <a:endParaRPr lang="en-US" sz="1300" dirty="0"/>
          </a:p>
        </p:txBody>
      </p:sp>
      <p:pic>
        <p:nvPicPr>
          <p:cNvPr id="31" name="Image 9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8120" y="4443984"/>
            <a:ext cx="237744" cy="237744"/>
          </a:xfrm>
          <a:prstGeom prst="rect">
            <a:avLst/>
          </a:prstGeom>
        </p:spPr>
      </p:pic>
      <p:sp>
        <p:nvSpPr>
          <p:cNvPr id="32" name="Text 20"/>
          <p:cNvSpPr txBox="1"/>
          <p:nvPr/>
        </p:nvSpPr>
        <p:spPr>
          <a:xfrm>
            <a:off x="8183880" y="4407408"/>
            <a:ext cx="3093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Malware analysis by experienced specialists</a:t>
            </a:r>
            <a:endParaRPr lang="en-US" sz="1300" dirty="0"/>
          </a:p>
        </p:txBody>
      </p:sp>
      <p:sp>
        <p:nvSpPr>
          <p:cNvPr id="33" name="Text 21"/>
          <p:cNvSpPr txBox="1"/>
          <p:nvPr/>
        </p:nvSpPr>
        <p:spPr>
          <a:xfrm>
            <a:off x="7818120" y="5120640"/>
            <a:ext cx="3459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needed, CrowdStrike partner SK shieldus steps in.</a:t>
            </a:r>
            <a:endParaRPr lang="en-US" sz="1400" dirty="0"/>
          </a:p>
        </p:txBody>
      </p:sp>
      <p:sp>
        <p:nvSpPr>
          <p:cNvPr id="34" name="Text 22"/>
          <p:cNvSpPr txBox="1"/>
          <p:nvPr/>
        </p:nvSpPr>
        <p:spPr>
          <a:xfrm>
            <a:off x="548640" y="644652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 |   CrowdStrike Falcon Proposal  ·  The Westin Resort Guam</a:t>
            </a:r>
            <a:endParaRPr lang="en-US" sz="900" dirty="0"/>
          </a:p>
        </p:txBody>
      </p:sp>
      <p:pic>
        <p:nvPicPr>
          <p:cNvPr id="35" name="Image 10" descr="/private/tmp/claude-501/-Users-jihanvin-Desktop-NIVNAH-AI/16a96446-d9b3-40e2-af9e-a3011ae3db84/scratchpad/assets/secukorea_dar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61904" y="6400800"/>
            <a:ext cx="978408" cy="233172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150FC934-B7A6-0355-1CEF-264D1BC6840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3364" y="4565660"/>
            <a:ext cx="317480" cy="3174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jihanvin-Desktop-NIVNAH-AI/16a96446-d9b3-40e2-af9e-a3011ae3db84/scratchpad/assets/bg_lin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8439" y="0"/>
            <a:ext cx="7763256" cy="6858000"/>
          </a:xfrm>
          <a:prstGeom prst="rect">
            <a:avLst/>
          </a:prstGeom>
        </p:spPr>
      </p:pic>
      <p:pic>
        <p:nvPicPr>
          <p:cNvPr id="3" name="Image 1" descr="/private/tmp/claude-501/-Users-jihanvin-Desktop-NIVNAH-AI/16a96446-d9b3-40e2-af9e-a3011ae3db84/scratchpad/assets/westin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502920"/>
            <a:ext cx="1371600" cy="41148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2011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E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&amp; A</a:t>
            </a:r>
            <a:endParaRPr lang="en-US" sz="14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242316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361188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endpoint protection for The Westin Resort Guam — powered by CrowdStrike Falcon.</a:t>
            </a:r>
            <a:endParaRPr lang="en-US" sz="160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626864"/>
            <a:ext cx="219456" cy="219456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932688" y="457200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sales@secukorea.com</a:t>
            </a:r>
            <a:endParaRPr lang="en-US" sz="1400" dirty="0"/>
          </a:p>
        </p:txBody>
      </p:sp>
      <p:pic>
        <p:nvPicPr>
          <p:cNvPr id="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5038344"/>
            <a:ext cx="219456" cy="219456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932688" y="498348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+82-2-3400-0877</a:t>
            </a:r>
            <a:endParaRPr lang="en-US" sz="1400" dirty="0"/>
          </a:p>
        </p:txBody>
      </p:sp>
      <p:pic>
        <p:nvPicPr>
          <p:cNvPr id="1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5449824"/>
            <a:ext cx="219456" cy="219456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932688" y="539496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www.secukorea.com</a:t>
            </a:r>
            <a:endParaRPr lang="en-US" sz="1400" dirty="0"/>
          </a:p>
        </p:txBody>
      </p:sp>
      <p:sp>
        <p:nvSpPr>
          <p:cNvPr id="13" name="Text 6"/>
          <p:cNvSpPr txBox="1"/>
          <p:nvPr/>
        </p:nvSpPr>
        <p:spPr>
          <a:xfrm>
            <a:off x="7589520" y="6217920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900" dirty="0"/>
          </a:p>
        </p:txBody>
      </p:sp>
      <p:pic>
        <p:nvPicPr>
          <p:cNvPr id="14" name="Image 5" descr="/private/tmp/claude-501/-Users-jihanvin-Desktop-NIVNAH-AI/16a96446-d9b3-40e2-af9e-a3011ae3db84/scratchpad/assets/cs_logo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75320" y="6236208"/>
            <a:ext cx="1600200" cy="182880"/>
          </a:xfrm>
          <a:prstGeom prst="rect">
            <a:avLst/>
          </a:prstGeom>
        </p:spPr>
      </p:pic>
      <p:pic>
        <p:nvPicPr>
          <p:cNvPr id="15" name="Image 6" descr="/private/tmp/claude-501/-Users-jihanvin-Desktop-NIVNAH-AI/16a96446-d9b3-40e2-af9e-a3011ae3db84/scratchpad/assets/secukorea_ligh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14432" y="6163056"/>
            <a:ext cx="1325880" cy="31546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Malgun Gothic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Malgun Gothic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</TotalTime>
  <Words>1107</Words>
  <Application>Microsoft Office PowerPoint</Application>
  <PresentationFormat>와이드스크린</PresentationFormat>
  <Paragraphs>159</Paragraphs>
  <Slides>8</Slides>
  <Notes>8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SECUKOREA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Nessus vs. CrowdStrike Falcon Platform — Proposal for The Westin Resort Guam</dc:title>
  <dc:subject>PptxGenJS Presentation</dc:subject>
  <dc:creator>SECUKOREA Inc.</dc:creator>
  <cp:lastModifiedBy>MyPC_Lenovo 03</cp:lastModifiedBy>
  <cp:revision>11</cp:revision>
  <dcterms:created xsi:type="dcterms:W3CDTF">2026-09-23T07:33:43Z</dcterms:created>
  <dcterms:modified xsi:type="dcterms:W3CDTF">2026-10-01T01:25:35Z</dcterms:modified>
</cp:coreProperties>
</file>