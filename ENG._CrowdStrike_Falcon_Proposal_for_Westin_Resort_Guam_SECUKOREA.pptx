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68" r:id="rId6"/>
    <p:sldId id="273" r:id="rId7"/>
    <p:sldId id="276" r:id="rId8"/>
    <p:sldId id="27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35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resort has no endpoint protection today. This short proposal explains why real-time protection matters, how CrowdStrike Falcon compares with a vulnerability scanner such as Nessus, and how SECUKOREA will support the resort.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a 24/7 resort with a small IT team and no endpoint protection. A scan-centric approach only produces findings and leaves gaps between scans; the resort needs protection that acts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now: the fastest recorded breakout took 27 seconds, attacks by AI-enabled hackers rose 89% year over year, zero-days exploited before disclosure rose 42%, and 78% of surveyed organizations were hit by ransomware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for non-technical stakeholders: a scanner such as Nessus is the scheduled fire-safety inspection. Falcon is the smoke detectors, sprinklers and security team that act when a fire actually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side-by-side view. A scanner such as Nessus finds and reports weaknesses. CrowdStrike Falcon stops attacks automatically, every second, and comes with SECUKOREA 24/7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 and after in plain terms, and the four outcomes that matter to hotel management: guest trust, business continuity, less work for the IT team, and compliance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deployment, SECUKOREA supports the resort 24/7 remotely, with a dedicated engineer and direct, accountable support from first call to resolution. For serious incidents, CrowdStrike partner SK shieldus steps in with its incident response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ihanvin-Desktop-NIVNAH-AI/16a96446-d9b3-40e2-af9e-a3011ae3db84/scratchpad/assets/bg_li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39" y="0"/>
            <a:ext cx="7763256" cy="6858000"/>
          </a:xfrm>
          <a:prstGeom prst="rect">
            <a:avLst/>
          </a:prstGeom>
        </p:spPr>
      </p:pic>
      <p:pic>
        <p:nvPicPr>
          <p:cNvPr id="3" name="Image 1" descr="/private/tmp/claude-501/-Users-jihanvin-Desktop-NIVNAH-AI/16a96446-d9b3-40e2-af9e-a3011ae3db84/scratchpad/assets/west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783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PROPOSAL   |   ENDPOINT SECURITY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48840"/>
            <a:ext cx="8778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Endpoint Protection for The Westin Resort Guam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CrowdStrike Falcon® (EPP / EDR)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proposal from SECUKOREA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 Inc.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Westin Resort Guam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4983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5230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6217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14" name="Image 2" descr="/private/tmp/claude-501/-Users-jihanvin-Desktop-NIVNAH-AI/16a96446-d9b3-40e2-af9e-a3011ae3db84/scratchpad/assets/cs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6236208"/>
            <a:ext cx="1600200" cy="182880"/>
          </a:xfrm>
          <a:prstGeom prst="rect">
            <a:avLst/>
          </a:prstGeom>
        </p:spPr>
      </p:pic>
      <p:pic>
        <p:nvPicPr>
          <p:cNvPr id="15" name="Image 3" descr="/private/tmp/claude-501/-Users-jihanvin-Desktop-NIVNAH-AI/16a96446-d9b3-40e2-af9e-a3011ae3db84/scratchpad/assets/secukorea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100" b="1" kern="0" spc="200" dirty="0">
                <a:solidFill>
                  <a:srgbClr val="E3202A"/>
                </a:solidFill>
                <a:latin typeface="Arial" pitchFamily="34" charset="0"/>
                <a:ea typeface="맑은 고딕" pitchFamily="34" charset="-122"/>
                <a:cs typeface="Arial" pitchFamily="34" charset="-120"/>
              </a:rPr>
              <a:t>01   CURRENT STATE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2800" b="1" dirty="0">
                <a:solidFill>
                  <a:srgbClr val="151A21"/>
                </a:solidFill>
                <a:latin typeface="Arial" pitchFamily="34" charset="0"/>
                <a:ea typeface="맑은 고딕" pitchFamily="34" charset="-122"/>
                <a:cs typeface="Arial" pitchFamily="34" charset="-120"/>
              </a:rPr>
              <a:t>Current Environment &amp; Security Challenges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1724924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81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500" b="1" dirty="0">
                <a:solidFill>
                  <a:srgbClr val="151A21"/>
                </a:solidFill>
                <a:latin typeface="Arial" pitchFamily="34" charset="0"/>
                <a:ea typeface="맑은 고딕" pitchFamily="34" charset="-122"/>
                <a:cs typeface="Arial" pitchFamily="34" charset="-120"/>
              </a:rPr>
              <a:t>24/7 Non-Stop Hospitality Operations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293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200" dirty="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Guest personal data, payment processing, and front-desk and back-office systems must stay available and protected around the clock.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2822204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6791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500" b="1" dirty="0">
                <a:solidFill>
                  <a:srgbClr val="151A21"/>
                </a:solidFill>
                <a:latin typeface="Arial" pitchFamily="34" charset="0"/>
                <a:ea typeface="맑은 고딕" pitchFamily="34" charset="-122"/>
                <a:cs typeface="Arial" pitchFamily="34" charset="-120"/>
              </a:rPr>
              <a:t>Limited On-Site Security Staffing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0266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200" dirty="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Without a dedicated security operations team, manual patching and case-by-case incident investigation are hard to sustain.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64" y="3919484"/>
            <a:ext cx="317480" cy="317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764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500" b="1" dirty="0">
                <a:solidFill>
                  <a:srgbClr val="151A21"/>
                </a:solidFill>
                <a:latin typeface="Arial" pitchFamily="34" charset="0"/>
                <a:ea typeface="맑은 고딕" pitchFamily="34" charset="-122"/>
                <a:cs typeface="Arial" pitchFamily="34" charset="-120"/>
              </a:rPr>
              <a:t>Scan-Centric Protection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1239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20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A vulnerability scanner finds weaknesses, but it cannot block malware or stop an attack in progress. Every follow-up action is manual, and endpoints are left unprotected between scans.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48920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364" y="5016764"/>
            <a:ext cx="317480" cy="3174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737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500" b="1" dirty="0">
                <a:solidFill>
                  <a:srgbClr val="151A21"/>
                </a:solidFill>
                <a:latin typeface="Arial" pitchFamily="34" charset="0"/>
                <a:ea typeface="맑은 고딕" pitchFamily="34" charset="-122"/>
                <a:cs typeface="Arial" pitchFamily="34" charset="-120"/>
              </a:rPr>
              <a:t>A High-Value Target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25880" y="522122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200" dirty="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Hotels hold payment card data and </a:t>
            </a:r>
            <a:r>
              <a:rPr lang="ko-KR" sz="120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guest identities</a:t>
            </a:r>
            <a:r>
              <a:rPr lang="en-US" altLang="ko-KR" sz="120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. A</a:t>
            </a:r>
            <a:r>
              <a:rPr lang="ko-KR" sz="120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sz="1200" dirty="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frequent target for ransomware and data theft, with direct impact on brand trust.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18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sz="1100" b="1" kern="0" spc="200" dirty="0">
                <a:solidFill>
                  <a:srgbClr val="E3202A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WHAT THE RESORT NEEDS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Automatic prevention of malware and ransomware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Real-time detection and containment of attacks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Low day-to-day workload for the IT team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Expert help available 24/7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Clear reporting for management and audits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i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The goal is not more reports — it is fewer incidents.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dirty="0">
                <a:solidFill>
                  <a:srgbClr val="5E697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02   |   CrowdStrike Falcon Proposal  ·  The Westin Resort Guam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SECURITY TRENDS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Cyberattacks Now Move in Seconds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sec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recorded time for hackers to spread from one PC to other systems (average: 29 min)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0824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65144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665144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increase in attacks by hackers using AI (2025)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07328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507328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increase in attacks on security holes before they were made public (zero-days)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75191" y="160020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171B22"/>
          </a:solidFill>
          <a:ln w="9525">
            <a:solidFill>
              <a:srgbClr val="2A30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49511" y="18745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9349511" y="271576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1,100 organizations surveyed were hit by ransomware in the past year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14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RESORT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4682642"/>
            <a:ext cx="281635" cy="28163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New, unknown attacks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attacks strike before any fix exists — only protection that watches behavior can stop them.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338218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61" y="4682642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24018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Seconds, not weeks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024018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unprotected endpoint can be compromised and spread the attack to other systems within seconds.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127797" y="4572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439" y="4682642"/>
            <a:ext cx="281635" cy="28163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13597" y="4553712"/>
            <a:ext cx="2783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is no safety net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813597" y="4882896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victims who paid a ransom were attacked again, and 93% had data stolen anyway.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7D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CrowdStrike 2026 Global Threat Report (2025 data); CrowdStrike 2025 State of Ransomware Survey (1,100 security leaders).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|   CrowdStrike Falcon Proposal  ·  The Westin Resort Guam</a:t>
            </a:r>
            <a:endParaRPr lang="en-US" sz="900" dirty="0"/>
          </a:p>
        </p:txBody>
      </p:sp>
      <p:pic>
        <p:nvPicPr>
          <p:cNvPr id="32" name="Image 4" descr="/private/tmp/claude-501/-Users-jihanvin-Desktop-NIVNAH-AI/16a96446-d9b3-40e2-af9e-a3011ae3db84/scratchpad/assets/secukorea_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A SIMPLE WAY TO SEE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Safety Inspection vs. a 24/7 Security Team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3F5F8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Fire-Safety Inspection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inspector walks the building on a schedule, lists what needs fixing, and hands over a report. Valuable — but the inspector is gone when a fire actually starts.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233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known issues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8912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on a schedule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75488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fixing to you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68135" y="155448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DECEC"/>
          </a:solidFill>
          <a:ln w="9525">
            <a:solidFill>
              <a:srgbClr val="F6C9C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88175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3202A"/>
          </a:solidFill>
          <a:ln w="12700">
            <a:solidFill>
              <a:srgbClr val="E3202A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993" y="2015338"/>
            <a:ext cx="358445" cy="35844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11135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711135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Detectors, Sprinklers &amp; a 24/7 Security Team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6888175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on every endpoint spot danger the moment it appears, stop it automatically, and escalate to experts who are on duty around the clock.</a:t>
            </a: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02336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08215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threats instantly</a:t>
            </a:r>
            <a:endParaRPr lang="en-US" sz="12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38912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08215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attacks automatically</a:t>
            </a:r>
            <a:endParaRPr lang="en-US" sz="12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75488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208215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respond 24/7</a:t>
            </a:r>
            <a:endParaRPr lang="en-US" sz="1250" dirty="0"/>
          </a:p>
        </p:txBody>
      </p:sp>
      <p:sp>
        <p:nvSpPr>
          <p:cNvPr id="29" name="Shape 18"/>
          <p:cNvSpPr/>
          <p:nvPr/>
        </p:nvSpPr>
        <p:spPr>
          <a:xfrm>
            <a:off x="5775808" y="3040380"/>
            <a:ext cx="640080" cy="640080"/>
          </a:xfrm>
          <a:prstGeom prst="ellipse">
            <a:avLst/>
          </a:prstGeom>
          <a:solidFill>
            <a:srgbClr val="0B0D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775808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r>
              <a:rPr lang="en-US" sz="16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tells you what is wrong.  </a:t>
            </a:r>
            <a:r>
              <a:rPr lang="en-US" sz="1600" b="1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r>
              <a:rPr lang="en-US" sz="16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the attack — around the clock.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|   CrowdStrike Falcon Proposal  ·  The Westin Resort Guam</a:t>
            </a:r>
            <a:endParaRPr lang="en-US" sz="900" dirty="0"/>
          </a:p>
        </p:txBody>
      </p:sp>
      <p:pic>
        <p:nvPicPr>
          <p:cNvPr id="44" name="Image 9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Head-to-Head: Nessus vs. CrowdStrike Falcon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452627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CrowdStrike Falcon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and reports weaknesses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attacks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on every PC and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protects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 scheduled scan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second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24 hours a day, 365 days a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Viruses &amp; ransomware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block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automatically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100% ransomware blocked in independent 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an attack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noticed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and contained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infected PC isolated in one click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SECUKOREA 24/7, with SK shieldus escalation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for the IT team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every finding fixed by hand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3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r>
                        <a:rPr lang="en-US" sz="1400" dirty="0">
                          <a:solidFill>
                            <a:srgbClr val="15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protection works automatically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|   CrowdStrike Falcon Proposal  ·  The Westin Resort Guam</a:t>
            </a:r>
            <a:endParaRPr lang="en-US" sz="900" dirty="0"/>
          </a:p>
        </p:txBody>
      </p:sp>
      <p:pic>
        <p:nvPicPr>
          <p:cNvPr id="7" name="Image 1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EXPECTED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Unprotected to Always-On Protection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NO ENDPOINT PROTECTION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402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or ransomware protection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426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0700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endpoint activity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4495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07008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case-by-case incident handling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4728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07008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stop an attack in progress</a:t>
            </a:r>
            <a:endParaRPr lang="en-US" sz="12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4962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07008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 for management</a:t>
            </a:r>
            <a:endParaRPr lang="en-US" sz="12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2674620"/>
            <a:ext cx="548640" cy="54864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751015" y="1554480"/>
            <a:ext cx="4892040" cy="2788920"/>
          </a:xfrm>
          <a:prstGeom prst="roundRect">
            <a:avLst>
              <a:gd name="adj" fmla="val 3279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7071055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·  CROWDSTRIKE FALCON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224028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409383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prevention on every endpoint</a:t>
            </a:r>
            <a:endParaRPr lang="en-US" sz="12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2642616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409383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monitoring, 24/7</a:t>
            </a:r>
            <a:endParaRPr lang="en-US" sz="12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3044952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409383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containment and response</a:t>
            </a:r>
            <a:endParaRPr lang="en-US" sz="12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3447288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409383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ransomware protection</a:t>
            </a:r>
            <a:endParaRPr lang="en-US" sz="125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055" y="3849624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7409383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dashboards and executive reports</a:t>
            </a:r>
            <a:endParaRPr lang="en-US" sz="1250" dirty="0"/>
          </a:p>
        </p:txBody>
      </p:sp>
      <p:sp>
        <p:nvSpPr>
          <p:cNvPr id="30" name="Shape 16"/>
          <p:cNvSpPr/>
          <p:nvPr/>
        </p:nvSpPr>
        <p:spPr>
          <a:xfrm>
            <a:off x="548640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17"/>
          <p:cNvSpPr/>
          <p:nvPr/>
        </p:nvSpPr>
        <p:spPr>
          <a:xfrm>
            <a:off x="777240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946904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1371600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guest trust</a:t>
            </a:r>
            <a:endParaRPr lang="en-US" sz="1300" dirty="0"/>
          </a:p>
        </p:txBody>
      </p:sp>
      <p:sp>
        <p:nvSpPr>
          <p:cNvPr id="34" name="Text 19"/>
          <p:cNvSpPr txBox="1"/>
          <p:nvPr/>
        </p:nvSpPr>
        <p:spPr>
          <a:xfrm>
            <a:off x="777240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guest data and payments safe</a:t>
            </a:r>
            <a:endParaRPr lang="en-US" sz="1100" dirty="0"/>
          </a:p>
        </p:txBody>
      </p:sp>
      <p:sp>
        <p:nvSpPr>
          <p:cNvPr id="35" name="Shape 20"/>
          <p:cNvSpPr/>
          <p:nvPr/>
        </p:nvSpPr>
        <p:spPr>
          <a:xfrm>
            <a:off x="3390824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1"/>
          <p:cNvSpPr/>
          <p:nvPr/>
        </p:nvSpPr>
        <p:spPr>
          <a:xfrm>
            <a:off x="3619424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0008" y="4946904"/>
            <a:ext cx="256032" cy="25603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4213784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</a:t>
            </a:r>
            <a:endParaRPr lang="en-US" sz="1300" dirty="0"/>
          </a:p>
        </p:txBody>
      </p:sp>
      <p:sp>
        <p:nvSpPr>
          <p:cNvPr id="39" name="Text 23"/>
          <p:cNvSpPr txBox="1"/>
          <p:nvPr/>
        </p:nvSpPr>
        <p:spPr>
          <a:xfrm>
            <a:off x="3619424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downtime at the front desk and back office</a:t>
            </a:r>
            <a:endParaRPr lang="en-US" sz="1100" dirty="0"/>
          </a:p>
        </p:txBody>
      </p:sp>
      <p:sp>
        <p:nvSpPr>
          <p:cNvPr id="40" name="Shape 24"/>
          <p:cNvSpPr/>
          <p:nvPr/>
        </p:nvSpPr>
        <p:spPr>
          <a:xfrm>
            <a:off x="6233008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25"/>
          <p:cNvSpPr/>
          <p:nvPr/>
        </p:nvSpPr>
        <p:spPr>
          <a:xfrm>
            <a:off x="6461608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192" y="4946904"/>
            <a:ext cx="256032" cy="256032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7055968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IT workload</a:t>
            </a:r>
            <a:endParaRPr lang="en-US" sz="1300" dirty="0"/>
          </a:p>
        </p:txBody>
      </p:sp>
      <p:sp>
        <p:nvSpPr>
          <p:cNvPr id="44" name="Text 27"/>
          <p:cNvSpPr txBox="1"/>
          <p:nvPr/>
        </p:nvSpPr>
        <p:spPr>
          <a:xfrm>
            <a:off x="6461608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plus SECUKOREA 24/7 support</a:t>
            </a:r>
            <a:endParaRPr lang="en-US" sz="1100" dirty="0"/>
          </a:p>
        </p:txBody>
      </p:sp>
      <p:sp>
        <p:nvSpPr>
          <p:cNvPr id="45" name="Shape 28"/>
          <p:cNvSpPr/>
          <p:nvPr/>
        </p:nvSpPr>
        <p:spPr>
          <a:xfrm>
            <a:off x="9075191" y="4617720"/>
            <a:ext cx="2567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7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29"/>
          <p:cNvSpPr/>
          <p:nvPr/>
        </p:nvSpPr>
        <p:spPr>
          <a:xfrm>
            <a:off x="9303791" y="4846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4375" y="4946904"/>
            <a:ext cx="256032" cy="256032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9898151" y="4846320"/>
            <a:ext cx="160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support</a:t>
            </a:r>
            <a:endParaRPr lang="en-US" sz="1300" dirty="0"/>
          </a:p>
        </p:txBody>
      </p:sp>
      <p:sp>
        <p:nvSpPr>
          <p:cNvPr id="49" name="Text 31"/>
          <p:cNvSpPr txBox="1"/>
          <p:nvPr/>
        </p:nvSpPr>
        <p:spPr>
          <a:xfrm>
            <a:off x="9303791" y="5422392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PCI DSS and data-protection requirements</a:t>
            </a:r>
            <a:endParaRPr lang="en-US" sz="1100" dirty="0"/>
          </a:p>
        </p:txBody>
      </p:sp>
      <p:sp>
        <p:nvSpPr>
          <p:cNvPr id="50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|   CrowdStrike Falcon Proposal  ·  The Westin Resort Guam</a:t>
            </a:r>
            <a:endParaRPr lang="en-US" sz="900" dirty="0"/>
          </a:p>
        </p:txBody>
      </p:sp>
      <p:pic>
        <p:nvPicPr>
          <p:cNvPr id="51" name="Image 16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8640" y="6090000"/>
            <a:ext cx="11094415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3202A"/>
                </a:solidFill>
                <a:latin typeface="Calibri"/>
                <a:ea typeface="Malgun Gothic"/>
              </a:rPr>
              <a:t>Proposal scope:  </a:t>
            </a:r>
            <a:r>
              <a:rPr sz="1050" b="0">
                <a:solidFill>
                  <a:srgbClr val="5E6978"/>
                </a:solidFill>
                <a:latin typeface="Calibri"/>
                <a:ea typeface="Malgun Gothic"/>
              </a:rPr>
              <a:t>Falcon Prevent (next-gen antivirus) + Falcon Insight (detection &amp; response), with SECUKOREA 24/7 technical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TECHNICAL SUPPORT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SECUKOREA 24/7 Technical Support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3380" y="2249424"/>
            <a:ext cx="91744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2374148"/>
            <a:ext cx="317480" cy="31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5843" y="22311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Remote Support for Overseas Sites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465843" y="257860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Round-the-clock remote support built for overseas operations — help is available regardless of time zone or local business hours.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73380" y="3346704"/>
            <a:ext cx="91744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4" y="3471428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5843" y="33284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Engineer Matching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465843" y="367588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SECUKOREA engineer works as an extension of your IT team — learning the resort's systems in depth and handling day-to-day requests quickly and consistently.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73380" y="4440936"/>
            <a:ext cx="917448" cy="566928"/>
          </a:xfrm>
          <a:prstGeom prst="roundRect">
            <a:avLst>
              <a:gd name="adj" fmla="val 16129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465843" y="44226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Accountable Support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465843" y="47701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 handles support, licensing and renewals directly, and stays with the resort from the first call to full </a:t>
            </a:r>
            <a:r>
              <a:rPr lang="en-US" sz="120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resolution. Escalation to SK shieldus when needed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182"/>
            </a:avLst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 ·  SK SHIELDUS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specialists on duty 24/7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alerts: call within 30 min, first action within 2 hrs (SLA)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investigation when an incident occurs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of serious security alerts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by experienced specialists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needed, CrowdStrike partner SK shieldus steps in.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|   CrowdStrike Falcon Proposal  ·  The Westin Resort Guam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50FC934-B7A6-0355-1CEF-264D1BC684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364" y="4565660"/>
            <a:ext cx="317480" cy="31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ihanvin-Desktop-NIVNAH-AI/16a96446-d9b3-40e2-af9e-a3011ae3db84/scratchpad/assets/bg_li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39" y="0"/>
            <a:ext cx="7763256" cy="6858000"/>
          </a:xfrm>
          <a:prstGeom prst="rect">
            <a:avLst/>
          </a:prstGeom>
        </p:spPr>
      </p:pic>
      <p:pic>
        <p:nvPicPr>
          <p:cNvPr id="3" name="Image 1" descr="/private/tmp/claude-501/-Users-jihanvin-Desktop-NIVNAH-AI/16a96446-d9b3-40e2-af9e-a3011ae3db84/scratchpad/assets/west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423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 protection for The Westin Resort Guam — powered by CrowdStrike Falcon.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26864"/>
            <a:ext cx="219456" cy="21945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32688" y="4572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sales@secukorea.com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38344"/>
            <a:ext cx="219456" cy="21945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32688" y="4983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+82-2-3400-0877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449824"/>
            <a:ext cx="219456" cy="21945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32688" y="5394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www.secukorea.com</a:t>
            </a:r>
            <a:endParaRPr lang="en-US" sz="1400" dirty="0"/>
          </a:p>
        </p:txBody>
      </p:sp>
      <p:sp>
        <p:nvSpPr>
          <p:cNvPr id="13" name="Text 6"/>
          <p:cNvSpPr txBox="1"/>
          <p:nvPr/>
        </p:nvSpPr>
        <p:spPr>
          <a:xfrm>
            <a:off x="7589520" y="6217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pic>
        <p:nvPicPr>
          <p:cNvPr id="14" name="Image 5" descr="/private/tmp/claude-501/-Users-jihanvin-Desktop-NIVNAH-AI/16a96446-d9b3-40e2-af9e-a3011ae3db84/scratchpad/assets/cs_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6236208"/>
            <a:ext cx="1600200" cy="182880"/>
          </a:xfrm>
          <a:prstGeom prst="rect">
            <a:avLst/>
          </a:prstGeom>
        </p:spPr>
      </p:pic>
      <p:pic>
        <p:nvPicPr>
          <p:cNvPr id="15" name="Image 6" descr="/private/tmp/claude-501/-Users-jihanvin-Desktop-NIVNAH-AI/16a96446-d9b3-40e2-af9e-a3011ae3db84/scratchpad/assets/secukorea_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1255</Words>
  <Application>Microsoft Office PowerPoint</Application>
  <PresentationFormat>와이드스크린</PresentationFormat>
  <Paragraphs>152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SECUKOREA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Nessus vs. CrowdStrike Falcon Platform — Proposal for The Westin Resort Guam</dc:title>
  <dc:subject>PptxGenJS Presentation</dc:subject>
  <dc:creator>SECUKOREA Inc.</dc:creator>
  <cp:lastModifiedBy>MyPC_Lenovo 03</cp:lastModifiedBy>
  <cp:revision>13</cp:revision>
  <dcterms:created xsi:type="dcterms:W3CDTF">2026-09-23T07:33:43Z</dcterms:created>
  <dcterms:modified xsi:type="dcterms:W3CDTF">2026-10-01T01:43:34Z</dcterms:modified>
</cp:coreProperties>
</file>