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4"/>
    <p:sldId id="260" r:id="rId6"/>
    <p:sldId id="269" r:id="rId15"/>
    <p:sldId id="273" r:id="rId19"/>
    <p:sldId id="265" r:id="rId11"/>
    <p:sldId id="276" r:id="rId27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4" Type="http://schemas.openxmlformats.org/officeDocument/2006/relationships/slide" Target="slides/slide2.xml"/><Relationship Id="rId6" Type="http://schemas.openxmlformats.org/officeDocument/2006/relationships/slide" Target="slides/slide3.xml"/><Relationship Id="rId11" Type="http://schemas.openxmlformats.org/officeDocument/2006/relationships/slide" Target="slides/slide6.xml"/><Relationship Id="rId15" Type="http://schemas.openxmlformats.org/officeDocument/2006/relationships/slide" Target="slides/slide4.xml"/><Relationship Id="rId19" Type="http://schemas.openxmlformats.org/officeDocument/2006/relationships/slide" Target="slides/slide5.xml"/><Relationship Id="rId21" Type="http://schemas.openxmlformats.org/officeDocument/2006/relationships/slide" Target="slides/slide8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Relationship Id="rId27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slide. The resort has no endpoint protection today. This short proposal explains the resort’s situation, how Trend Micro Apex One compares with a vulnerability scanner such as Nessus, and how SECUKOREA will support the resort.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the scene: a 24/7 resort, a small IT team, no endpoint protection today, and older systems that are hard to patch. The panel on the right lists what the resort needs.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Analogy for non-technical stakeholders: a scanner such as Nessus is the inspector who lists broken locks. Apex One posts a guard at every door, fits a temporary lock right away, and can undo ransomware damage.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two protections that matter most for a hotel. Ransomware is stopped and any damaged files are restored automatically. Virtual patching puts a temporary lock on known weaknesses right away, so older systems stay safe until the permanent fix is installed.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simple side-by-side view. A scanner such as Nessus finds and reports weaknesses. Apex One finds them too, shields them right away, blocks viruses and ransomware automatically, and comes with SECUKOREA 24/7 support.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before and after in plain terms, and the four outcomes that matter to hotel management: guest trust, business continuity, less work for the IT team, and compliance support.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Thank the audience and open the floor for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SECUKOREA supports the resort in two ways: 24/7 remote technical support built for overseas sites, and a dedicated engineer assigned to The Westin Resort Guam as a single point of contact, with escalation to Trend Micro when needed. Our commitment is stable, worry-free security for the resort.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image" Target="../media/image-3-10.png"/><Relationship Id="rId11" Type="http://schemas.openxmlformats.org/officeDocument/2006/relationships/image" Target="../media/image-3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image" Target="../media/image-5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5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image" Target="../media/image-18-5.png"/><Relationship Id="rId6" Type="http://schemas.openxmlformats.org/officeDocument/2006/relationships/image" Target="../media/image-18-6.png"/><Relationship Id="rId7" Type="http://schemas.openxmlformats.org/officeDocument/2006/relationships/image" Target="../media/image-18-7.png"/><Relationship Id="rId8" Type="http://schemas.openxmlformats.org/officeDocument/2006/relationships/image" Target="../media/image-18-8.png"/><Relationship Id="rId9" Type="http://schemas.openxmlformats.org/officeDocument/2006/relationships/image" Target="../media/image-18-9.png"/><Relationship Id="rId10" Type="http://schemas.openxmlformats.org/officeDocument/2006/relationships/image" Target="../media/image-18-10.png"/><Relationship Id="rId11" Type="http://schemas.openxmlformats.org/officeDocument/2006/relationships/image" Target="../media/image-18-11.png"/><Relationship Id="rId12" Type="http://schemas.openxmlformats.org/officeDocument/2006/relationships/image" Target="../media/image-18-12.png"/><Relationship Id="rId13" Type="http://schemas.openxmlformats.org/officeDocument/2006/relationships/image" Target="../media/image-18-13.png"/><Relationship Id="rId14" Type="http://schemas.openxmlformats.org/officeDocument/2006/relationships/image" Target="../media/image-18-14.png"/><Relationship Id="rId15" Type="http://schemas.openxmlformats.org/officeDocument/2006/relationships/image" Target="../media/image-18-15.png"/><Relationship Id="rId16" Type="http://schemas.openxmlformats.org/officeDocument/2006/relationships/image" Target="../media/image-18-16.png"/><Relationship Id="rId17" Type="http://schemas.openxmlformats.org/officeDocument/2006/relationships/image" Target="../media/image-18-17.png"/><Relationship Id="rId18" Type="http://schemas.openxmlformats.org/officeDocument/2006/relationships/slideLayout" Target="../slideLayouts/slideLayout1.xml"/><Relationship Id="rId19" Type="http://schemas.openxmlformats.org/officeDocument/2006/relationships/notesSlide" Target="../notesSlides/notesSlide18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image" Target="../media/image-10-8.png"/><Relationship Id="rId9" Type="http://schemas.openxmlformats.org/officeDocument/2006/relationships/image" Target="../media/image-10-9.png"/><Relationship Id="rId10" Type="http://schemas.openxmlformats.org/officeDocument/2006/relationships/image" Target="../media/image-10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10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image" Target="../media/image-10-8.png"/><Relationship Id="rId9" Type="http://schemas.openxmlformats.org/officeDocument/2006/relationships/image" Target="../media/image-10-9.png"/><Relationship Id="rId10" Type="http://schemas.openxmlformats.org/officeDocument/2006/relationships/image" Target="../media/image-10-10.png"/><Relationship Id="rId11" Type="http://schemas.openxmlformats.org/officeDocument/2006/relationships/slideLayout" Target="../slideLayouts/slideLayout1.xml"/><Relationship Id="rId99" Type="http://schemas.openxmlformats.org/officeDocument/2006/relationships/notesSlide" Target="../notesSlides/notesSlide2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image" Target="../media/image-20-4.png"/><Relationship Id="rId5" Type="http://schemas.openxmlformats.org/officeDocument/2006/relationships/image" Target="../media/image-20-5.png"/><Relationship Id="rId6" Type="http://schemas.openxmlformats.org/officeDocument/2006/relationships/image" Target="../media/image-20-6.png"/><Relationship Id="rId7" Type="http://schemas.openxmlformats.org/officeDocument/2006/relationships/image" Target="../media/image-20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4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960120"/>
            <a:ext cx="4937760" cy="4937760"/>
          </a:xfrm>
          <a:prstGeom prst="ellipse">
            <a:avLst/>
          </a:prstGeom>
          <a:ln w="15875">
            <a:solidFill>
              <a:srgbClr val="0F8B99">
                <a:alpha val="1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589520" y="1417320"/>
            <a:ext cx="4023360" cy="4023360"/>
          </a:xfrm>
          <a:prstGeom prst="ellipse">
            <a:avLst/>
          </a:prstGeom>
          <a:ln w="15875">
            <a:solidFill>
              <a:srgbClr val="0F8B99">
                <a:alpha val="3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46720" y="1874520"/>
            <a:ext cx="3108960" cy="3108960"/>
          </a:xfrm>
          <a:prstGeom prst="ellipse">
            <a:avLst/>
          </a:prstGeom>
          <a:solidFill>
            <a:srgbClr val="0F8B99"/>
          </a:solidFill>
          <a:ln w="12700">
            <a:solidFill>
              <a:srgbClr val="0F8B99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79408" y="2807208"/>
            <a:ext cx="1243584" cy="1243584"/>
          </a:xfrm>
          <a:prstGeom prst="rect">
            <a:avLst/>
          </a:prstGeom>
        </p:spPr>
      </p:pic>
      <p:pic>
        <p:nvPicPr>
          <p:cNvPr id="6" name="Image 1" descr="/private/tmp/claude-501/-Users-jihanvin-Desktop-NIVNAH-AI/16a96446-d9b3-40e2-af9e-a3011ae3db84/scratchpad/assets/westin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502920"/>
            <a:ext cx="1371600" cy="41148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548640" y="1645920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F8B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PROPOSAL   |   ENDPOINT SECURITY</a:t>
            </a:r>
            <a:endParaRPr lang="en-US" sz="1200" dirty="0"/>
          </a:p>
        </p:txBody>
      </p:sp>
      <p:sp>
        <p:nvSpPr>
          <p:cNvPr id="8" name="Text 4"/>
          <p:cNvSpPr txBox="1"/>
          <p:nvPr/>
        </p:nvSpPr>
        <p:spPr>
          <a:xfrm>
            <a:off x="548640" y="1965960"/>
            <a:ext cx="6400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Automatic Endpoint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Protection for The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Westin Resort Guam</a:t>
            </a:r>
            <a:endParaRPr lang="en-US" sz="3600" dirty="0"/>
          </a:p>
        </p:txBody>
      </p:sp>
      <p:sp>
        <p:nvSpPr>
          <p:cNvPr id="9" name="Text 5"/>
          <p:cNvSpPr txBox="1"/>
          <p:nvPr/>
        </p:nvSpPr>
        <p:spPr>
          <a:xfrm>
            <a:off x="548640" y="393192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Powered by Trend Micro Apex One™ (EPP / EDR)</a:t>
            </a:r>
            <a:endParaRPr lang="en-US" sz="1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800" dirty="0">
                <a:solidFill>
                  <a:srgbClr val="C8CC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security proposal from SECUKOREA</a:t>
            </a:r>
            <a:endParaRPr lang="en-US" sz="1800" dirty="0"/>
          </a:p>
        </p:txBody>
      </p:sp>
      <p:sp>
        <p:nvSpPr>
          <p:cNvPr id="10" name="Text 6"/>
          <p:cNvSpPr txBox="1"/>
          <p:nvPr/>
        </p:nvSpPr>
        <p:spPr>
          <a:xfrm>
            <a:off x="548640" y="5029200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F8B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PROPOSER</a:t>
            </a:r>
            <a:endParaRPr lang="en-US" sz="1000" dirty="0"/>
          </a:p>
        </p:txBody>
      </p:sp>
      <p:sp>
        <p:nvSpPr>
          <p:cNvPr id="11" name="Text 7"/>
          <p:cNvSpPr txBox="1"/>
          <p:nvPr/>
        </p:nvSpPr>
        <p:spPr>
          <a:xfrm>
            <a:off x="548640" y="5276088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SECUKOREA Inc.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2880360" y="5029200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F8B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</a:t>
            </a:r>
            <a:endParaRPr lang="en-US" sz="1000" dirty="0"/>
          </a:p>
        </p:txBody>
      </p:sp>
      <p:sp>
        <p:nvSpPr>
          <p:cNvPr id="13" name="Text 9"/>
          <p:cNvSpPr txBox="1"/>
          <p:nvPr/>
        </p:nvSpPr>
        <p:spPr>
          <a:xfrm>
            <a:off x="2880360" y="5276088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Westin Resort Guam</a:t>
            </a:r>
            <a:endParaRPr lang="en-US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5212080" y="5029200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F8B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</a:t>
            </a:r>
            <a:endParaRPr lang="en-US" sz="1000" dirty="0"/>
          </a:p>
        </p:txBody>
      </p:sp>
      <p:sp>
        <p:nvSpPr>
          <p:cNvPr id="15" name="Text 11"/>
          <p:cNvSpPr txBox="1"/>
          <p:nvPr/>
        </p:nvSpPr>
        <p:spPr>
          <a:xfrm>
            <a:off x="5212080" y="5276088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</a:t>
            </a:r>
            <a:endParaRPr lang="en-US" sz="1500" dirty="0"/>
          </a:p>
        </p:txBody>
      </p:sp>
      <p:sp>
        <p:nvSpPr>
          <p:cNvPr id="16" name="Text 12"/>
          <p:cNvSpPr txBox="1"/>
          <p:nvPr/>
        </p:nvSpPr>
        <p:spPr>
          <a:xfrm>
            <a:off x="7818120" y="6217920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1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900" dirty="0"/>
          </a:p>
        </p:txBody>
      </p:sp>
      <p:pic>
        <p:nvPicPr>
          <p:cNvPr id="17" name="Image 2" descr="/private/tmp/claude-501/-Users-jihanvin-Desktop-NIVNAH-AI/16a96446-d9b3-40e2-af9e-a3011ae3db84/scratchpad/assets/tm_logo_ligh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0" y="6089904"/>
            <a:ext cx="1340012" cy="475488"/>
          </a:xfrm>
          <a:prstGeom prst="rect">
            <a:avLst/>
          </a:prstGeom>
        </p:spPr>
      </p:pic>
      <p:pic>
        <p:nvPicPr>
          <p:cNvPr id="18" name="Image 3" descr="/private/tmp/claude-501/-Users-jihanvin-Desktop-NIVNAH-AI/16a96446-d9b3-40e2-af9e-a3011ae3db84/scratchpad/assets/secukorea_ligh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14432" y="6163056"/>
            <a:ext cx="1325880" cy="31546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8B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  CURRENT STATE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9692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the Resort Stands Today</a:t>
            </a:r>
            <a:endParaRPr lang="en-US" sz="2800" dirty="0"/>
          </a:p>
        </p:txBody>
      </p:sp>
      <p:pic>
        <p:nvPicPr>
          <p:cNvPr id="4" name="Image 0" descr="/private/tmp/claude-501/-Users-jihanvin-Desktop-NIVNAH-AI/16a96446-d9b3-40e2-af9e-a3011ae3db84/scratchpad/assets/westin_gre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34472" y="402336"/>
            <a:ext cx="1005840" cy="30175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600200"/>
            <a:ext cx="566928" cy="566928"/>
          </a:xfrm>
          <a:prstGeom prst="ellipse">
            <a:avLst/>
          </a:prstGeom>
          <a:solidFill>
            <a:srgbClr val="EAEEF3"/>
          </a:solidFill>
          <a:ln w="12700">
            <a:solidFill>
              <a:srgbClr val="EAEEF3"/>
            </a:solidFill>
            <a:prstDash val="solid"/>
          </a:ln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1711" y="1753271"/>
            <a:ext cx="260787" cy="260787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325880" y="1581912"/>
            <a:ext cx="5760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E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24/7 Non-Stop Hospitality Operations</a:t>
            </a:r>
            <a:endParaRPr lang="en-US" sz="1500" dirty="0"/>
          </a:p>
        </p:txBody>
      </p:sp>
      <p:sp>
        <p:nvSpPr>
          <p:cNvPr id="8" name="Text 4"/>
          <p:cNvSpPr txBox="1"/>
          <p:nvPr/>
        </p:nvSpPr>
        <p:spPr>
          <a:xfrm>
            <a:off x="1325880" y="1929384"/>
            <a:ext cx="5760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F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Guest personal data, payment processing, and front-desk and back-office systems must stay available and protected around the clock.</a:t>
            </a:r>
            <a:endParaRPr lang="en-US" sz="1200" dirty="0"/>
          </a:p>
        </p:txBody>
      </p:sp>
      <p:sp>
        <p:nvSpPr>
          <p:cNvPr id="9" name="Shape 5"/>
          <p:cNvSpPr/>
          <p:nvPr/>
        </p:nvSpPr>
        <p:spPr>
          <a:xfrm>
            <a:off x="548640" y="2697480"/>
            <a:ext cx="566928" cy="566928"/>
          </a:xfrm>
          <a:prstGeom prst="ellipse">
            <a:avLst/>
          </a:prstGeom>
          <a:solidFill>
            <a:srgbClr val="EAEEF3"/>
          </a:solidFill>
          <a:ln w="12700">
            <a:solidFill>
              <a:srgbClr val="EAEEF3"/>
            </a:solidFill>
            <a:prstDash val="solid"/>
          </a:ln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1711" y="2850551"/>
            <a:ext cx="260787" cy="260787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325880" y="2679192"/>
            <a:ext cx="5760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E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Limited On-Site Security Staffing</a:t>
            </a:r>
            <a:endParaRPr lang="en-US" sz="1500" dirty="0"/>
          </a:p>
        </p:txBody>
      </p:sp>
      <p:sp>
        <p:nvSpPr>
          <p:cNvPr id="12" name="Text 7"/>
          <p:cNvSpPr txBox="1"/>
          <p:nvPr/>
        </p:nvSpPr>
        <p:spPr>
          <a:xfrm>
            <a:off x="1325880" y="3026664"/>
            <a:ext cx="5760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F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a dedicated security operations team, manual patching and case-by-case incident investigation are hard to sustain.</a:t>
            </a:r>
            <a:endParaRPr lang="en-US" sz="1200" dirty="0"/>
          </a:p>
        </p:txBody>
      </p:sp>
      <p:sp>
        <p:nvSpPr>
          <p:cNvPr id="13" name="Shape 8"/>
          <p:cNvSpPr/>
          <p:nvPr/>
        </p:nvSpPr>
        <p:spPr>
          <a:xfrm>
            <a:off x="548640" y="3794760"/>
            <a:ext cx="566928" cy="566928"/>
          </a:xfrm>
          <a:prstGeom prst="ellipse">
            <a:avLst/>
          </a:prstGeom>
          <a:solidFill>
            <a:srgbClr val="EAEEF3"/>
          </a:solidFill>
          <a:ln w="12700">
            <a:solidFill>
              <a:srgbClr val="EAEEF3"/>
            </a:solidFill>
            <a:prstDash val="solid"/>
          </a:ln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1711" y="3947831"/>
            <a:ext cx="260787" cy="260787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1325880" y="3776472"/>
            <a:ext cx="5760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E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Endpoint Protection Today</a:t>
            </a:r>
            <a:endParaRPr lang="en-US" sz="1500" dirty="0"/>
          </a:p>
        </p:txBody>
      </p:sp>
      <p:sp>
        <p:nvSpPr>
          <p:cNvPr id="16" name="Text 10"/>
          <p:cNvSpPr txBox="1"/>
          <p:nvPr/>
        </p:nvSpPr>
        <p:spPr>
          <a:xfrm>
            <a:off x="1325880" y="4123944"/>
            <a:ext cx="5760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F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no antivirus or EDR on the resort’s endpoints. Malware, ransomware and intrusions can go unnoticed and unstopped.</a:t>
            </a:r>
            <a:endParaRPr lang="en-US" sz="1200" dirty="0"/>
          </a:p>
        </p:txBody>
      </p:sp>
      <p:sp>
        <p:nvSpPr>
          <p:cNvPr id="17" name="Shape 11"/>
          <p:cNvSpPr/>
          <p:nvPr/>
        </p:nvSpPr>
        <p:spPr>
          <a:xfrm>
            <a:off x="548640" y="4892040"/>
            <a:ext cx="566928" cy="566928"/>
          </a:xfrm>
          <a:prstGeom prst="ellipse">
            <a:avLst/>
          </a:prstGeom>
          <a:solidFill>
            <a:srgbClr val="EAEEF3"/>
          </a:solidFill>
          <a:ln w="12700">
            <a:solidFill>
              <a:srgbClr val="EAEEF3"/>
            </a:solidFill>
            <a:prstDash val="solid"/>
          </a:ln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1711" y="5045111"/>
            <a:ext cx="260787" cy="260787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1325880" y="4873752"/>
            <a:ext cx="5760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E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Legacy Systems</a:t>
            </a:r>
            <a:endParaRPr lang="en-US" sz="1500" dirty="0"/>
          </a:p>
        </p:txBody>
      </p:sp>
      <p:sp>
        <p:nvSpPr>
          <p:cNvPr id="20" name="Text 13"/>
          <p:cNvSpPr txBox="1"/>
          <p:nvPr/>
        </p:nvSpPr>
        <p:spPr>
          <a:xfrm>
            <a:off x="1325880" y="5221224"/>
            <a:ext cx="5760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F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Older Windows systems and hotel applications are hard to patch quickly — leaving known weaknesses open to attack.</a:t>
            </a:r>
            <a:endParaRPr lang="en-US" sz="1200" dirty="0"/>
          </a:p>
        </p:txBody>
      </p:sp>
      <p:sp>
        <p:nvSpPr>
          <p:cNvPr id="21" name="Shape 14"/>
          <p:cNvSpPr/>
          <p:nvPr/>
        </p:nvSpPr>
        <p:spPr>
          <a:xfrm>
            <a:off x="7452360" y="1554480"/>
            <a:ext cx="4190695" cy="4434840"/>
          </a:xfrm>
          <a:prstGeom prst="roundRect">
            <a:avLst>
              <a:gd name="adj" fmla="val 2618"/>
            </a:avLst>
          </a:prstGeom>
          <a:solidFill>
            <a:srgbClr val="10243A"/>
          </a:solidFill>
          <a:ln w="12700">
            <a:solidFill>
              <a:srgbClr val="10243A"/>
            </a:solidFill>
            <a:prstDash val="solid"/>
          </a:ln>
        </p:spPr>
      </p:sp>
      <p:sp>
        <p:nvSpPr>
          <p:cNvPr id="22" name="Text 15"/>
          <p:cNvSpPr txBox="1"/>
          <p:nvPr/>
        </p:nvSpPr>
        <p:spPr>
          <a:xfrm>
            <a:off x="7818120" y="1828800"/>
            <a:ext cx="34591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8B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RESORT NEEDS</a:t>
            </a:r>
            <a:endParaRPr lang="en-US" sz="1100" dirty="0"/>
          </a:p>
        </p:txBody>
      </p:sp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18120" y="2322576"/>
            <a:ext cx="237744" cy="237744"/>
          </a:xfrm>
          <a:prstGeom prst="rect">
            <a:avLst/>
          </a:prstGeom>
        </p:spPr>
      </p:pic>
      <p:sp>
        <p:nvSpPr>
          <p:cNvPr id="24" name="Text 16"/>
          <p:cNvSpPr txBox="1"/>
          <p:nvPr/>
        </p:nvSpPr>
        <p:spPr>
          <a:xfrm>
            <a:off x="8183880" y="2286000"/>
            <a:ext cx="30934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protection against malware and ransomware</a:t>
            </a:r>
            <a:endParaRPr lang="en-US" sz="1300" dirty="0"/>
          </a:p>
        </p:txBody>
      </p:sp>
      <p:pic>
        <p:nvPicPr>
          <p:cNvPr id="2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18120" y="2852928"/>
            <a:ext cx="237744" cy="237744"/>
          </a:xfrm>
          <a:prstGeom prst="rect">
            <a:avLst/>
          </a:prstGeom>
        </p:spPr>
      </p:pic>
      <p:sp>
        <p:nvSpPr>
          <p:cNvPr id="26" name="Text 17"/>
          <p:cNvSpPr txBox="1"/>
          <p:nvPr/>
        </p:nvSpPr>
        <p:spPr>
          <a:xfrm>
            <a:off x="8183880" y="2816352"/>
            <a:ext cx="30934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Vulnerabilities shielded without waiting for patches</a:t>
            </a:r>
            <a:endParaRPr lang="en-US" sz="1300" dirty="0"/>
          </a:p>
        </p:txBody>
      </p:sp>
      <p:pic>
        <p:nvPicPr>
          <p:cNvPr id="27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18120" y="3383280"/>
            <a:ext cx="237744" cy="237744"/>
          </a:xfrm>
          <a:prstGeom prst="rect">
            <a:avLst/>
          </a:prstGeom>
        </p:spPr>
      </p:pic>
      <p:sp>
        <p:nvSpPr>
          <p:cNvPr id="28" name="Text 18"/>
          <p:cNvSpPr txBox="1"/>
          <p:nvPr/>
        </p:nvSpPr>
        <p:spPr>
          <a:xfrm>
            <a:off x="8183880" y="3346704"/>
            <a:ext cx="30934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Legacy and critical systems locked down</a:t>
            </a:r>
            <a:endParaRPr lang="en-US" sz="1300" dirty="0"/>
          </a:p>
        </p:txBody>
      </p:sp>
      <p:pic>
        <p:nvPicPr>
          <p:cNvPr id="29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818120" y="3913632"/>
            <a:ext cx="237744" cy="237744"/>
          </a:xfrm>
          <a:prstGeom prst="rect">
            <a:avLst/>
          </a:prstGeom>
        </p:spPr>
      </p:pic>
      <p:sp>
        <p:nvSpPr>
          <p:cNvPr id="30" name="Text 19"/>
          <p:cNvSpPr txBox="1"/>
          <p:nvPr/>
        </p:nvSpPr>
        <p:spPr>
          <a:xfrm>
            <a:off x="8183880" y="3877056"/>
            <a:ext cx="30934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Guest and payment data protected (PCI DSS)</a:t>
            </a:r>
            <a:endParaRPr lang="en-US" sz="1300" dirty="0"/>
          </a:p>
        </p:txBody>
      </p:sp>
      <p:pic>
        <p:nvPicPr>
          <p:cNvPr id="3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818120" y="4443984"/>
            <a:ext cx="237744" cy="237744"/>
          </a:xfrm>
          <a:prstGeom prst="rect">
            <a:avLst/>
          </a:prstGeom>
        </p:spPr>
      </p:pic>
      <p:sp>
        <p:nvSpPr>
          <p:cNvPr id="32" name="Text 20"/>
          <p:cNvSpPr txBox="1"/>
          <p:nvPr/>
        </p:nvSpPr>
        <p:spPr>
          <a:xfrm>
            <a:off x="8183880" y="4407408"/>
            <a:ext cx="30934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day-to-day workload for the IT team</a:t>
            </a:r>
            <a:endParaRPr lang="en-US" sz="1300" dirty="0"/>
          </a:p>
        </p:txBody>
      </p:sp>
      <p:sp>
        <p:nvSpPr>
          <p:cNvPr id="33" name="Text 21"/>
          <p:cNvSpPr txBox="1"/>
          <p:nvPr/>
        </p:nvSpPr>
        <p:spPr>
          <a:xfrm>
            <a:off x="7818120" y="5120640"/>
            <a:ext cx="34591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goal is not more reports — it is fewer incidents.</a:t>
            </a:r>
            <a:endParaRPr lang="en-US" sz="1400" dirty="0"/>
          </a:p>
        </p:txBody>
      </p:sp>
      <p:sp>
        <p:nvSpPr>
          <p:cNvPr id="34" name="Text 22"/>
          <p:cNvSpPr txBox="1"/>
          <p:nvPr/>
        </p:nvSpPr>
        <p:spPr>
          <a:xfrm>
            <a:off x="548640" y="6446520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 |   Trend Micro Apex One Proposal  ·  The Westin Resort Guam</a:t>
            </a:r>
            <a:endParaRPr lang="en-US" sz="900" dirty="0"/>
          </a:p>
        </p:txBody>
      </p:sp>
      <p:pic>
        <p:nvPicPr>
          <p:cNvPr id="35" name="Image 10" descr="/private/tmp/claude-501/-Users-jihanvin-Desktop-NIVNAH-AI/16a96446-d9b3-40e2-af9e-a3011ae3db84/scratchpad/assets/secukorea_dark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661904" y="6400800"/>
            <a:ext cx="978408" cy="23317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8B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  A SIMPLE WAY TO SEE IT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9692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Safety Inspection vs. Guards on Every Door</a:t>
            </a:r>
            <a:endParaRPr lang="en-US" sz="2800" dirty="0"/>
          </a:p>
        </p:txBody>
      </p:sp>
      <p:pic>
        <p:nvPicPr>
          <p:cNvPr id="4" name="Image 0" descr="/private/tmp/claude-501/-Users-jihanvin-Desktop-NIVNAH-AI/16a96446-d9b3-40e2-af9e-a3011ae3db84/scratchpad/assets/westin_gre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34472" y="402336"/>
            <a:ext cx="1005840" cy="30175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554480"/>
            <a:ext cx="5074920" cy="3611880"/>
          </a:xfrm>
          <a:prstGeom prst="roundRect">
            <a:avLst>
              <a:gd name="adj" fmla="val 3544"/>
            </a:avLst>
          </a:prstGeom>
          <a:solidFill>
            <a:srgbClr val="F4F5F7"/>
          </a:solidFill>
          <a:ln w="9525">
            <a:solidFill>
              <a:srgbClr val="DEE1E5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68680" y="1874520"/>
            <a:ext cx="658368" cy="658368"/>
          </a:xfrm>
          <a:prstGeom prst="ellipse">
            <a:avLst/>
          </a:prstGeom>
          <a:solidFill>
            <a:srgbClr val="EAEEF3"/>
          </a:solidFill>
          <a:ln w="12700">
            <a:solidFill>
              <a:srgbClr val="EAEEF3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439" y="2052279"/>
            <a:ext cx="302849" cy="302849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709928" y="1901952"/>
            <a:ext cx="3703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D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NESSUS</a:t>
            </a:r>
            <a:endParaRPr lang="en-US" sz="1100" dirty="0"/>
          </a:p>
        </p:txBody>
      </p:sp>
      <p:sp>
        <p:nvSpPr>
          <p:cNvPr id="9" name="Text 5"/>
          <p:cNvSpPr txBox="1"/>
          <p:nvPr/>
        </p:nvSpPr>
        <p:spPr>
          <a:xfrm>
            <a:off x="1709928" y="2157984"/>
            <a:ext cx="3703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E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Safety Inspector</a:t>
            </a:r>
            <a:endParaRPr lang="en-US" sz="1700" dirty="0"/>
          </a:p>
        </p:txBody>
      </p:sp>
      <p:sp>
        <p:nvSpPr>
          <p:cNvPr id="10" name="Text 6"/>
          <p:cNvSpPr txBox="1"/>
          <p:nvPr/>
        </p:nvSpPr>
        <p:spPr>
          <a:xfrm>
            <a:off x="868680" y="2880360"/>
            <a:ext cx="4434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inspector walks the building on a schedule and lists every broken lock. Valuable — but the doors stay open until someone comes to repair them.</a:t>
            </a:r>
            <a:endParaRPr lang="en-US" sz="125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4023360"/>
            <a:ext cx="182880" cy="18288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188720" y="3977640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known issues</a:t>
            </a:r>
            <a:endParaRPr lang="en-US" sz="125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4389120"/>
            <a:ext cx="182880" cy="182880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1188720" y="4343400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on a schedule</a:t>
            </a:r>
            <a:endParaRPr lang="en-US" sz="125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" y="4754880"/>
            <a:ext cx="182880" cy="182880"/>
          </a:xfrm>
          <a:prstGeom prst="rect">
            <a:avLst/>
          </a:prstGeom>
        </p:spPr>
      </p:pic>
      <p:sp>
        <p:nvSpPr>
          <p:cNvPr id="16" name="Text 9"/>
          <p:cNvSpPr txBox="1"/>
          <p:nvPr/>
        </p:nvSpPr>
        <p:spPr>
          <a:xfrm>
            <a:off x="1188720" y="4709160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Leaves the fixing to you</a:t>
            </a:r>
            <a:endParaRPr lang="en-US" sz="1250" dirty="0"/>
          </a:p>
        </p:txBody>
      </p:sp>
      <p:sp>
        <p:nvSpPr>
          <p:cNvPr id="17" name="Shape 10"/>
          <p:cNvSpPr/>
          <p:nvPr/>
        </p:nvSpPr>
        <p:spPr>
          <a:xfrm>
            <a:off x="6568135" y="1554480"/>
            <a:ext cx="5074920" cy="3611880"/>
          </a:xfrm>
          <a:prstGeom prst="roundRect">
            <a:avLst>
              <a:gd name="adj" fmla="val 3544"/>
            </a:avLst>
          </a:prstGeom>
          <a:solidFill>
            <a:srgbClr val="E7F5F7"/>
          </a:solidFill>
          <a:ln w="9525">
            <a:solidFill>
              <a:srgbClr val="BFE4E8"/>
            </a:solidFill>
            <a:prstDash val="solid"/>
          </a:ln>
        </p:spPr>
      </p:sp>
      <p:sp>
        <p:nvSpPr>
          <p:cNvPr id="18" name="Shape 11"/>
          <p:cNvSpPr/>
          <p:nvPr/>
        </p:nvSpPr>
        <p:spPr>
          <a:xfrm>
            <a:off x="6888175" y="1874520"/>
            <a:ext cx="658368" cy="658368"/>
          </a:xfrm>
          <a:prstGeom prst="ellipse">
            <a:avLst/>
          </a:prstGeom>
          <a:solidFill>
            <a:srgbClr val="0F8B99"/>
          </a:solidFill>
          <a:ln w="12700">
            <a:solidFill>
              <a:srgbClr val="0F8B99"/>
            </a:solidFill>
            <a:prstDash val="solid"/>
          </a:ln>
        </p:spPr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65935" y="2052279"/>
            <a:ext cx="302849" cy="302849"/>
          </a:xfrm>
          <a:prstGeom prst="rect">
            <a:avLst/>
          </a:prstGeom>
        </p:spPr>
      </p:pic>
      <p:sp>
        <p:nvSpPr>
          <p:cNvPr id="20" name="Text 12"/>
          <p:cNvSpPr txBox="1"/>
          <p:nvPr/>
        </p:nvSpPr>
        <p:spPr>
          <a:xfrm>
            <a:off x="7729423" y="1901952"/>
            <a:ext cx="3703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8B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 MICRO APEX ONE</a:t>
            </a:r>
            <a:endParaRPr lang="en-US" sz="1100" dirty="0"/>
          </a:p>
        </p:txBody>
      </p:sp>
      <p:sp>
        <p:nvSpPr>
          <p:cNvPr id="21" name="Text 13"/>
          <p:cNvSpPr txBox="1"/>
          <p:nvPr/>
        </p:nvSpPr>
        <p:spPr>
          <a:xfrm>
            <a:off x="7729423" y="2157984"/>
            <a:ext cx="3703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E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Guards, Temporary Locks &amp; an Undo Button</a:t>
            </a:r>
            <a:endParaRPr lang="en-US" sz="1700" dirty="0"/>
          </a:p>
        </p:txBody>
      </p:sp>
      <p:sp>
        <p:nvSpPr>
          <p:cNvPr id="22" name="Text 14"/>
          <p:cNvSpPr txBox="1"/>
          <p:nvPr/>
        </p:nvSpPr>
        <p:spPr>
          <a:xfrm>
            <a:off x="6888175" y="2880360"/>
            <a:ext cx="4434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guard stands at every door, a temporary lock goes on each broken door right away (virtual patching), and if ransomware strikes, damaged files are restored.</a:t>
            </a:r>
            <a:endParaRPr lang="en-US" sz="1250" dirty="0"/>
          </a:p>
        </p:txBody>
      </p:sp>
      <p:pic>
        <p:nvPicPr>
          <p:cNvPr id="2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88175" y="4023360"/>
            <a:ext cx="182880" cy="182880"/>
          </a:xfrm>
          <a:prstGeom prst="rect">
            <a:avLst/>
          </a:prstGeom>
        </p:spPr>
      </p:pic>
      <p:sp>
        <p:nvSpPr>
          <p:cNvPr id="24" name="Text 15"/>
          <p:cNvSpPr txBox="1"/>
          <p:nvPr/>
        </p:nvSpPr>
        <p:spPr>
          <a:xfrm>
            <a:off x="7208215" y="3977640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Blocks threats automatically</a:t>
            </a:r>
            <a:endParaRPr lang="en-US" sz="1250" dirty="0"/>
          </a:p>
        </p:txBody>
      </p:sp>
      <p:pic>
        <p:nvPicPr>
          <p:cNvPr id="25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88175" y="4389120"/>
            <a:ext cx="182880" cy="182880"/>
          </a:xfrm>
          <a:prstGeom prst="rect">
            <a:avLst/>
          </a:prstGeom>
        </p:spPr>
      </p:pic>
      <p:sp>
        <p:nvSpPr>
          <p:cNvPr id="26" name="Text 16"/>
          <p:cNvSpPr txBox="1"/>
          <p:nvPr/>
        </p:nvSpPr>
        <p:spPr>
          <a:xfrm>
            <a:off x="7208215" y="4343400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Shields weaknesses until repaired</a:t>
            </a:r>
            <a:endParaRPr lang="en-US" sz="1250" dirty="0"/>
          </a:p>
        </p:txBody>
      </p:sp>
      <p:pic>
        <p:nvPicPr>
          <p:cNvPr id="27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88175" y="4754880"/>
            <a:ext cx="182880" cy="182880"/>
          </a:xfrm>
          <a:prstGeom prst="rect">
            <a:avLst/>
          </a:prstGeom>
        </p:spPr>
      </p:pic>
      <p:sp>
        <p:nvSpPr>
          <p:cNvPr id="28" name="Text 17"/>
          <p:cNvSpPr txBox="1"/>
          <p:nvPr/>
        </p:nvSpPr>
        <p:spPr>
          <a:xfrm>
            <a:off x="7208215" y="4709160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Rolls back ransomware damage</a:t>
            </a:r>
            <a:endParaRPr lang="en-US" sz="1250" dirty="0"/>
          </a:p>
        </p:txBody>
      </p:sp>
      <p:sp>
        <p:nvSpPr>
          <p:cNvPr id="29" name="Shape 18"/>
          <p:cNvSpPr/>
          <p:nvPr/>
        </p:nvSpPr>
        <p:spPr>
          <a:xfrm>
            <a:off x="5775808" y="3040380"/>
            <a:ext cx="640080" cy="640080"/>
          </a:xfrm>
          <a:prstGeom prst="ellipse">
            <a:avLst/>
          </a:prstGeom>
          <a:solidFill>
            <a:srgbClr val="10243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0" name="Text 19"/>
          <p:cNvSpPr txBox="1"/>
          <p:nvPr/>
        </p:nvSpPr>
        <p:spPr>
          <a:xfrm>
            <a:off x="5775808" y="30403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</a:t>
            </a:r>
            <a:endParaRPr lang="en-US" sz="1500" dirty="0"/>
          </a:p>
        </p:txBody>
      </p:sp>
      <p:sp>
        <p:nvSpPr>
          <p:cNvPr id="42" name="Text 31"/>
          <p:cNvSpPr txBox="1"/>
          <p:nvPr/>
        </p:nvSpPr>
        <p:spPr>
          <a:xfrm>
            <a:off x="548640" y="544068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D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Nessus</a:t>
            </a:r>
            <a:pPr indent="0" marL="0">
              <a:buNone/>
            </a:pPr>
            <a:r>
              <a:rPr lang="en-US" sz="1600" dirty="0">
                <a:solidFill>
                  <a:srgbClr val="5F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lists the unlocked doors.  </a:t>
            </a:r>
            <a:pPr indent="0" marL="0">
              <a:buNone/>
            </a:pPr>
            <a:r>
              <a:rPr lang="en-US" sz="1600" b="1" dirty="0">
                <a:solidFill>
                  <a:srgbClr val="0F8B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Apex One</a:t>
            </a:r>
            <a:pPr indent="0" marL="0">
              <a:buNone/>
            </a:pPr>
            <a:r>
              <a:rPr lang="en-US" sz="1600" dirty="0">
                <a:solidFill>
                  <a:srgbClr val="5F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locks them right away and undoes ransomware damage.</a:t>
            </a:r>
            <a:endParaRPr lang="en-US" sz="1600" dirty="0"/>
          </a:p>
        </p:txBody>
      </p:sp>
      <p:sp>
        <p:nvSpPr>
          <p:cNvPr id="43" name="Text 32"/>
          <p:cNvSpPr txBox="1"/>
          <p:nvPr/>
        </p:nvSpPr>
        <p:spPr>
          <a:xfrm>
            <a:off x="548640" y="6446520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 |   Trend Micro Apex One Proposal  ·  The Westin Resort Guam</a:t>
            </a:r>
            <a:endParaRPr lang="en-US" sz="900" dirty="0"/>
          </a:p>
        </p:txBody>
      </p:sp>
      <p:pic>
        <p:nvPicPr>
          <p:cNvPr id="44" name="Image 9" descr="/private/tmp/claude-501/-Users-jihanvin-Desktop-NIVNAH-AI/16a96446-d9b3-40e2-af9e-a3011ae3db84/scratchpad/assets/secukorea_dark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661904" y="6400800"/>
            <a:ext cx="978408" cy="23317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spc="200" kern="0" dirty="0">
                <a:solidFill>
                  <a:srgbClr val="0F8B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  COMPARISON</a:t>
            </a:r>
            <a:endParaRPr lang="en-US" sz="13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9692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Head-to-Head: Nessus vs. Trend Micro Apex One</a:t>
            </a:r>
            <a:endParaRPr lang="en-US" sz="2800" dirty="0"/>
          </a:p>
        </p:txBody>
      </p:sp>
      <p:pic>
        <p:nvPicPr>
          <p:cNvPr id="4" name="Image 0" descr="/private/tmp/claude-501/-Users-jihanvin-Desktop-NIVNAH-AI/16a96446-d9b3-40e2-af9e-a3011ae3db84/scratchpad/assets/westin_gre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34472" y="402336"/>
            <a:ext cx="1005840" cy="301752"/>
          </a:xfrm>
          <a:prstGeom prst="rect">
            <a:avLst/>
          </a:prstGeom>
        </p:spPr>
      </p:pic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81328"/>
          <a:ext cx="11094415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3611880"/>
                <a:gridCol w="4739335"/>
              </a:tblGrid>
              <a:tr h="64661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</a:t>
                      </a:r>
                      <a:endParaRPr lang="en-US" sz="14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DE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Nessus</a:t>
                      </a:r>
                      <a:endParaRPr lang="en-US" sz="14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DE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D6B7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Trend Micro Apex One</a:t>
                      </a:r>
                      <a:endParaRPr lang="en-US" sz="14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DE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8B99"/>
                    </a:solidFill>
                  </a:tcPr>
                </a:tc>
              </a:tr>
              <a:tr h="64661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E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does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DE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5D6B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Finds and reports weaknesses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DE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F8B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Finds weaknesses and stops attacks</a:t>
                      </a:r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E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on every PC and server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DE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661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E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When it protects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DE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5D6B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Only on scheduled scan days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DE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F8B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Every second</a:t>
                      </a:r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E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— on or off the network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DE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661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E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Viruses &amp; ransomware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DE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5D6B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Cannot block them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DE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F8B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Blocked automatically</a:t>
                      </a:r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E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— damaged files restored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DE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661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E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Known weaknesses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DE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5D6B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Finds them; fixing is manual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DE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F8B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Found and shielded</a:t>
                      </a:r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E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— protected before the fix is installed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DE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661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E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Expert help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DE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5D6B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included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DE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F8B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SECUKOREA</a:t>
                      </a:r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E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— 24/7 technical support and a dedicated engineer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DE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661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E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 for the IT team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DE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5D6B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— every finding fixed by hand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DE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F8B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E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— protection works automatically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DE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548640" y="6446520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 |   Trend Micro Apex One Proposal  ·  The Westin Resort Guam</a:t>
            </a:r>
            <a:endParaRPr lang="en-US" sz="900" dirty="0"/>
          </a:p>
        </p:txBody>
      </p:sp>
      <p:pic>
        <p:nvPicPr>
          <p:cNvPr id="7" name="Image 1" descr="/private/tmp/claude-501/-Users-jihanvin-Desktop-NIVNAH-AI/16a96446-d9b3-40e2-af9e-a3011ae3db84/scratchpad/assets/secukorea_d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6400800"/>
            <a:ext cx="978408" cy="23317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8B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  EXPECTED BENEFITS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9692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Unprotected to Always-On Protection</a:t>
            </a:r>
            <a:endParaRPr lang="en-US" sz="2800" dirty="0"/>
          </a:p>
        </p:txBody>
      </p:sp>
      <p:pic>
        <p:nvPicPr>
          <p:cNvPr id="4" name="Image 0" descr="/private/tmp/claude-501/-Users-jihanvin-Desktop-NIVNAH-AI/16a96446-d9b3-40e2-af9e-a3011ae3db84/scratchpad/assets/westin_gre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34472" y="402336"/>
            <a:ext cx="1005840" cy="30175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554480"/>
            <a:ext cx="4892040" cy="2788920"/>
          </a:xfrm>
          <a:prstGeom prst="roundRect">
            <a:avLst>
              <a:gd name="adj" fmla="val 4590"/>
            </a:avLst>
          </a:prstGeom>
          <a:solidFill>
            <a:srgbClr val="EAEEF3"/>
          </a:solidFill>
          <a:ln w="12700">
            <a:solidFill>
              <a:srgbClr val="EAEEF3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68680" y="1783080"/>
            <a:ext cx="4251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D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 ·  NO ENDPOINT PROTECTION</a:t>
            </a:r>
            <a:endParaRPr lang="en-US" sz="11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2240280"/>
            <a:ext cx="201168" cy="20116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207008" y="2194560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malware or ransomware protection</a:t>
            </a:r>
            <a:endParaRPr lang="en-US" sz="12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2642616"/>
            <a:ext cx="201168" cy="201168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1207008" y="2596896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Weaknesses stay open until patched</a:t>
            </a:r>
            <a:endParaRPr lang="en-US" sz="125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3044952"/>
            <a:ext cx="201168" cy="201168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1207008" y="2999232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Legacy systems hard to protect</a:t>
            </a:r>
            <a:endParaRPr lang="en-US" sz="125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" y="3447288"/>
            <a:ext cx="201168" cy="201168"/>
          </a:xfrm>
          <a:prstGeom prst="rect">
            <a:avLst/>
          </a:prstGeom>
        </p:spPr>
      </p:pic>
      <p:sp>
        <p:nvSpPr>
          <p:cNvPr id="14" name="Text 7"/>
          <p:cNvSpPr txBox="1"/>
          <p:nvPr/>
        </p:nvSpPr>
        <p:spPr>
          <a:xfrm>
            <a:off x="1207008" y="3401568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way to stop an attack in progress</a:t>
            </a:r>
            <a:endParaRPr lang="en-US" sz="1250" dirty="0"/>
          </a:p>
        </p:txBody>
      </p:sp>
      <p:pic>
        <p:nvPicPr>
          <p:cNvPr id="1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8680" y="3849624"/>
            <a:ext cx="201168" cy="201168"/>
          </a:xfrm>
          <a:prstGeom prst="rect">
            <a:avLst/>
          </a:prstGeom>
        </p:spPr>
      </p:pic>
      <p:sp>
        <p:nvSpPr>
          <p:cNvPr id="16" name="Text 8"/>
          <p:cNvSpPr txBox="1"/>
          <p:nvPr/>
        </p:nvSpPr>
        <p:spPr>
          <a:xfrm>
            <a:off x="1207008" y="3803904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Manual, case-by-case incident handling</a:t>
            </a:r>
            <a:endParaRPr lang="en-US" sz="1250" dirty="0"/>
          </a:p>
        </p:txBody>
      </p:sp>
      <p:sp>
        <p:nvSpPr>
          <p:cNvPr id="17" name="Shape 9"/>
          <p:cNvSpPr/>
          <p:nvPr/>
        </p:nvSpPr>
        <p:spPr>
          <a:xfrm>
            <a:off x="5775808" y="2628900"/>
            <a:ext cx="640080" cy="640080"/>
          </a:xfrm>
          <a:prstGeom prst="ellipse">
            <a:avLst/>
          </a:prstGeom>
          <a:solidFill>
            <a:srgbClr val="0F8B99"/>
          </a:solidFill>
          <a:ln w="12700">
            <a:solidFill>
              <a:srgbClr val="0F8B99"/>
            </a:solidFill>
            <a:prstDash val="solid"/>
          </a:ln>
        </p:spPr>
      </p:sp>
      <p:pic>
        <p:nvPicPr>
          <p:cNvPr id="1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48629" y="2801722"/>
            <a:ext cx="294437" cy="294437"/>
          </a:xfrm>
          <a:prstGeom prst="rect">
            <a:avLst/>
          </a:prstGeom>
        </p:spPr>
      </p:pic>
      <p:sp>
        <p:nvSpPr>
          <p:cNvPr id="19" name="Shape 10"/>
          <p:cNvSpPr/>
          <p:nvPr/>
        </p:nvSpPr>
        <p:spPr>
          <a:xfrm>
            <a:off x="6751015" y="1554480"/>
            <a:ext cx="4892040" cy="2788920"/>
          </a:xfrm>
          <a:prstGeom prst="roundRect">
            <a:avLst>
              <a:gd name="adj" fmla="val 4590"/>
            </a:avLst>
          </a:prstGeom>
          <a:solidFill>
            <a:srgbClr val="10243A"/>
          </a:solidFill>
          <a:ln w="12700">
            <a:solidFill>
              <a:srgbClr val="10243A"/>
            </a:solidFill>
            <a:prstDash val="solid"/>
          </a:ln>
        </p:spPr>
      </p:sp>
      <p:sp>
        <p:nvSpPr>
          <p:cNvPr id="20" name="Text 11"/>
          <p:cNvSpPr txBox="1"/>
          <p:nvPr/>
        </p:nvSpPr>
        <p:spPr>
          <a:xfrm>
            <a:off x="7071055" y="1783080"/>
            <a:ext cx="4251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8B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TOMORROW  ·  TREND MICRO APEX ONE</a:t>
            </a:r>
            <a:endParaRPr lang="en-US" sz="1100" dirty="0"/>
          </a:p>
        </p:txBody>
      </p:sp>
      <p:pic>
        <p:nvPicPr>
          <p:cNvPr id="2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71055" y="2240280"/>
            <a:ext cx="201168" cy="201168"/>
          </a:xfrm>
          <a:prstGeom prst="rect">
            <a:avLst/>
          </a:prstGeom>
        </p:spPr>
      </p:pic>
      <p:sp>
        <p:nvSpPr>
          <p:cNvPr id="22" name="Text 12"/>
          <p:cNvSpPr txBox="1"/>
          <p:nvPr/>
        </p:nvSpPr>
        <p:spPr>
          <a:xfrm>
            <a:off x="7409383" y="2194560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protection on every endpoint</a:t>
            </a:r>
            <a:endParaRPr lang="en-US" sz="1250" dirty="0"/>
          </a:p>
        </p:txBody>
      </p:sp>
      <p:pic>
        <p:nvPicPr>
          <p:cNvPr id="23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071055" y="2642616"/>
            <a:ext cx="201168" cy="201168"/>
          </a:xfrm>
          <a:prstGeom prst="rect">
            <a:avLst/>
          </a:prstGeom>
        </p:spPr>
      </p:pic>
      <p:sp>
        <p:nvSpPr>
          <p:cNvPr id="24" name="Text 13"/>
          <p:cNvSpPr txBox="1"/>
          <p:nvPr/>
        </p:nvSpPr>
        <p:spPr>
          <a:xfrm>
            <a:off x="7409383" y="2596896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Vulnerabilities shielded right away</a:t>
            </a:r>
            <a:endParaRPr lang="en-US" sz="1250" dirty="0"/>
          </a:p>
        </p:txBody>
      </p:sp>
      <p:pic>
        <p:nvPicPr>
          <p:cNvPr id="25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071055" y="3044952"/>
            <a:ext cx="201168" cy="201168"/>
          </a:xfrm>
          <a:prstGeom prst="rect">
            <a:avLst/>
          </a:prstGeom>
        </p:spPr>
      </p:pic>
      <p:sp>
        <p:nvSpPr>
          <p:cNvPr id="26" name="Text 14"/>
          <p:cNvSpPr txBox="1"/>
          <p:nvPr/>
        </p:nvSpPr>
        <p:spPr>
          <a:xfrm>
            <a:off x="7409383" y="2999232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Legacy systems shielded and locked down</a:t>
            </a:r>
            <a:endParaRPr lang="en-US" sz="1250" dirty="0"/>
          </a:p>
        </p:txBody>
      </p:sp>
      <p:pic>
        <p:nvPicPr>
          <p:cNvPr id="27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071055" y="3447288"/>
            <a:ext cx="201168" cy="201168"/>
          </a:xfrm>
          <a:prstGeom prst="rect">
            <a:avLst/>
          </a:prstGeom>
        </p:spPr>
      </p:pic>
      <p:sp>
        <p:nvSpPr>
          <p:cNvPr id="28" name="Text 15"/>
          <p:cNvSpPr txBox="1"/>
          <p:nvPr/>
        </p:nvSpPr>
        <p:spPr>
          <a:xfrm>
            <a:off x="7409383" y="3401568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Ransomware blocked and files rolled back</a:t>
            </a:r>
            <a:endParaRPr lang="en-US" sz="1250" dirty="0"/>
          </a:p>
        </p:txBody>
      </p:sp>
      <p:pic>
        <p:nvPicPr>
          <p:cNvPr id="29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071055" y="3849624"/>
            <a:ext cx="201168" cy="201168"/>
          </a:xfrm>
          <a:prstGeom prst="rect">
            <a:avLst/>
          </a:prstGeom>
        </p:spPr>
      </p:pic>
      <p:sp>
        <p:nvSpPr>
          <p:cNvPr id="30" name="Text 16"/>
          <p:cNvSpPr txBox="1"/>
          <p:nvPr/>
        </p:nvSpPr>
        <p:spPr>
          <a:xfrm>
            <a:off x="7409383" y="3803904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Patching on your own timeline</a:t>
            </a:r>
            <a:endParaRPr lang="en-US" sz="1250" dirty="0"/>
          </a:p>
        </p:txBody>
      </p:sp>
      <p:sp>
        <p:nvSpPr>
          <p:cNvPr id="31" name="Shape 17"/>
          <p:cNvSpPr/>
          <p:nvPr/>
        </p:nvSpPr>
        <p:spPr>
          <a:xfrm>
            <a:off x="548640" y="4617720"/>
            <a:ext cx="2567864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9525">
            <a:solidFill>
              <a:srgbClr val="DEE1E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32" name="Shape 18"/>
          <p:cNvSpPr/>
          <p:nvPr/>
        </p:nvSpPr>
        <p:spPr>
          <a:xfrm>
            <a:off x="777240" y="4846320"/>
            <a:ext cx="475488" cy="475488"/>
          </a:xfrm>
          <a:prstGeom prst="ellipse">
            <a:avLst/>
          </a:prstGeom>
          <a:solidFill>
            <a:srgbClr val="E7F5F7"/>
          </a:solidFill>
          <a:ln w="12700">
            <a:solidFill>
              <a:srgbClr val="E7F5F7"/>
            </a:solidFill>
            <a:prstDash val="solid"/>
          </a:ln>
        </p:spPr>
      </p:sp>
      <p:pic>
        <p:nvPicPr>
          <p:cNvPr id="33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05622" y="4974702"/>
            <a:ext cx="218724" cy="218724"/>
          </a:xfrm>
          <a:prstGeom prst="rect">
            <a:avLst/>
          </a:prstGeom>
        </p:spPr>
      </p:pic>
      <p:sp>
        <p:nvSpPr>
          <p:cNvPr id="34" name="Text 19"/>
          <p:cNvSpPr txBox="1"/>
          <p:nvPr/>
        </p:nvSpPr>
        <p:spPr>
          <a:xfrm>
            <a:off x="1371600" y="4846320"/>
            <a:ext cx="16077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Protect guest trust</a:t>
            </a:r>
            <a:endParaRPr lang="en-US" sz="1300" dirty="0"/>
          </a:p>
        </p:txBody>
      </p:sp>
      <p:sp>
        <p:nvSpPr>
          <p:cNvPr id="35" name="Text 20"/>
          <p:cNvSpPr txBox="1"/>
          <p:nvPr/>
        </p:nvSpPr>
        <p:spPr>
          <a:xfrm>
            <a:off x="777240" y="5440680"/>
            <a:ext cx="2110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F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guest data and payments safe</a:t>
            </a:r>
            <a:endParaRPr lang="en-US" sz="1100" dirty="0"/>
          </a:p>
        </p:txBody>
      </p:sp>
      <p:sp>
        <p:nvSpPr>
          <p:cNvPr id="36" name="Shape 21"/>
          <p:cNvSpPr/>
          <p:nvPr/>
        </p:nvSpPr>
        <p:spPr>
          <a:xfrm>
            <a:off x="3390824" y="4617720"/>
            <a:ext cx="2567864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9525">
            <a:solidFill>
              <a:srgbClr val="DEE1E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37" name="Shape 22"/>
          <p:cNvSpPr/>
          <p:nvPr/>
        </p:nvSpPr>
        <p:spPr>
          <a:xfrm>
            <a:off x="3619424" y="4846320"/>
            <a:ext cx="475488" cy="475488"/>
          </a:xfrm>
          <a:prstGeom prst="ellipse">
            <a:avLst/>
          </a:prstGeom>
          <a:solidFill>
            <a:srgbClr val="E7F5F7"/>
          </a:solidFill>
          <a:ln w="12700">
            <a:solidFill>
              <a:srgbClr val="E7F5F7"/>
            </a:solidFill>
            <a:prstDash val="solid"/>
          </a:ln>
        </p:spPr>
      </p:sp>
      <p:pic>
        <p:nvPicPr>
          <p:cNvPr id="38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747806" y="4974702"/>
            <a:ext cx="218724" cy="218724"/>
          </a:xfrm>
          <a:prstGeom prst="rect">
            <a:avLst/>
          </a:prstGeom>
        </p:spPr>
      </p:pic>
      <p:sp>
        <p:nvSpPr>
          <p:cNvPr id="39" name="Text 23"/>
          <p:cNvSpPr txBox="1"/>
          <p:nvPr/>
        </p:nvSpPr>
        <p:spPr>
          <a:xfrm>
            <a:off x="4213784" y="4846320"/>
            <a:ext cx="16077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continuity</a:t>
            </a:r>
            <a:endParaRPr lang="en-US" sz="1300" dirty="0"/>
          </a:p>
        </p:txBody>
      </p:sp>
      <p:sp>
        <p:nvSpPr>
          <p:cNvPr id="40" name="Text 24"/>
          <p:cNvSpPr txBox="1"/>
          <p:nvPr/>
        </p:nvSpPr>
        <p:spPr>
          <a:xfrm>
            <a:off x="3619424" y="5440680"/>
            <a:ext cx="2110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F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emergency patching or ransomware downtime</a:t>
            </a:r>
            <a:endParaRPr lang="en-US" sz="1100" dirty="0"/>
          </a:p>
        </p:txBody>
      </p:sp>
      <p:sp>
        <p:nvSpPr>
          <p:cNvPr id="41" name="Shape 25"/>
          <p:cNvSpPr/>
          <p:nvPr/>
        </p:nvSpPr>
        <p:spPr>
          <a:xfrm>
            <a:off x="6233008" y="4617720"/>
            <a:ext cx="2567864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9525">
            <a:solidFill>
              <a:srgbClr val="DEE1E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42" name="Shape 26"/>
          <p:cNvSpPr/>
          <p:nvPr/>
        </p:nvSpPr>
        <p:spPr>
          <a:xfrm>
            <a:off x="6461608" y="4846320"/>
            <a:ext cx="475488" cy="475488"/>
          </a:xfrm>
          <a:prstGeom prst="ellipse">
            <a:avLst/>
          </a:prstGeom>
          <a:solidFill>
            <a:srgbClr val="E7F5F7"/>
          </a:solidFill>
          <a:ln w="12700">
            <a:solidFill>
              <a:srgbClr val="E7F5F7"/>
            </a:solidFill>
            <a:prstDash val="solid"/>
          </a:ln>
        </p:spPr>
      </p:sp>
      <p:pic>
        <p:nvPicPr>
          <p:cNvPr id="43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589989" y="4974702"/>
            <a:ext cx="218724" cy="218724"/>
          </a:xfrm>
          <a:prstGeom prst="rect">
            <a:avLst/>
          </a:prstGeom>
        </p:spPr>
      </p:pic>
      <p:sp>
        <p:nvSpPr>
          <p:cNvPr id="44" name="Text 27"/>
          <p:cNvSpPr txBox="1"/>
          <p:nvPr/>
        </p:nvSpPr>
        <p:spPr>
          <a:xfrm>
            <a:off x="7055968" y="4846320"/>
            <a:ext cx="16077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Lower IT workload</a:t>
            </a:r>
            <a:endParaRPr lang="en-US" sz="1300" dirty="0"/>
          </a:p>
        </p:txBody>
      </p:sp>
      <p:sp>
        <p:nvSpPr>
          <p:cNvPr id="45" name="Text 28"/>
          <p:cNvSpPr txBox="1"/>
          <p:nvPr/>
        </p:nvSpPr>
        <p:spPr>
          <a:xfrm>
            <a:off x="6461608" y="5440680"/>
            <a:ext cx="2110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F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 plus SECUKOREA 24/7 support</a:t>
            </a:r>
            <a:endParaRPr lang="en-US" sz="1100" dirty="0"/>
          </a:p>
        </p:txBody>
      </p:sp>
      <p:sp>
        <p:nvSpPr>
          <p:cNvPr id="46" name="Shape 29"/>
          <p:cNvSpPr/>
          <p:nvPr/>
        </p:nvSpPr>
        <p:spPr>
          <a:xfrm>
            <a:off x="9075191" y="4617720"/>
            <a:ext cx="2567864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9525">
            <a:solidFill>
              <a:srgbClr val="DEE1E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47" name="Shape 30"/>
          <p:cNvSpPr/>
          <p:nvPr/>
        </p:nvSpPr>
        <p:spPr>
          <a:xfrm>
            <a:off x="9303791" y="4846320"/>
            <a:ext cx="475488" cy="475488"/>
          </a:xfrm>
          <a:prstGeom prst="ellipse">
            <a:avLst/>
          </a:prstGeom>
          <a:solidFill>
            <a:srgbClr val="E7F5F7"/>
          </a:solidFill>
          <a:ln w="12700">
            <a:solidFill>
              <a:srgbClr val="E7F5F7"/>
            </a:solidFill>
            <a:prstDash val="solid"/>
          </a:ln>
        </p:spPr>
      </p:sp>
      <p:pic>
        <p:nvPicPr>
          <p:cNvPr id="48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432173" y="4974702"/>
            <a:ext cx="218724" cy="218724"/>
          </a:xfrm>
          <a:prstGeom prst="rect">
            <a:avLst/>
          </a:prstGeom>
        </p:spPr>
      </p:pic>
      <p:sp>
        <p:nvSpPr>
          <p:cNvPr id="49" name="Text 31"/>
          <p:cNvSpPr txBox="1"/>
          <p:nvPr/>
        </p:nvSpPr>
        <p:spPr>
          <a:xfrm>
            <a:off x="9898151" y="4846320"/>
            <a:ext cx="16077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Compliance support</a:t>
            </a:r>
            <a:endParaRPr lang="en-US" sz="1300" dirty="0"/>
          </a:p>
        </p:txBody>
      </p:sp>
      <p:sp>
        <p:nvSpPr>
          <p:cNvPr id="50" name="Text 32"/>
          <p:cNvSpPr txBox="1"/>
          <p:nvPr/>
        </p:nvSpPr>
        <p:spPr>
          <a:xfrm>
            <a:off x="9303791" y="5440680"/>
            <a:ext cx="2110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F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PCI DSS templates and audit-ready reporting</a:t>
            </a:r>
            <a:endParaRPr lang="en-US" sz="1100" dirty="0"/>
          </a:p>
        </p:txBody>
      </p:sp>
      <p:sp>
        <p:nvSpPr>
          <p:cNvPr id="51" name="Text 33"/>
          <p:cNvSpPr txBox="1"/>
          <p:nvPr/>
        </p:nvSpPr>
        <p:spPr>
          <a:xfrm>
            <a:off x="548640" y="6446520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 |   Trend Micro Apex One Proposal  ·  The Westin Resort Guam</a:t>
            </a:r>
            <a:endParaRPr lang="en-US" sz="900" dirty="0"/>
          </a:p>
        </p:txBody>
      </p:sp>
      <p:pic>
        <p:nvPicPr>
          <p:cNvPr id="52" name="Image 16" descr="/private/tmp/claude-501/-Users-jihanvin-Desktop-NIVNAH-AI/16a96446-d9b3-40e2-af9e-a3011ae3db84/scratchpad/assets/secukorea_dark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0661904" y="6400800"/>
            <a:ext cx="978408" cy="233172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548640" y="6090000"/>
            <a:ext cx="11094415" cy="2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1">
                <a:solidFill>
                  <a:srgbClr val="0F8B99"/>
                </a:solidFill>
                <a:latin typeface="Calibri"/>
              </a:rPr>
              <a:t>Proposal scope:  </a:t>
            </a:r>
            <a:r>
              <a:rPr sz="1050" b="0">
                <a:solidFill>
                  <a:srgbClr val="5F6670"/>
                </a:solidFill>
                <a:latin typeface="Calibri"/>
              </a:rPr>
              <a:t>Apex One On-premises — Standard × 115 + Advanced × 10 endpoints (1-year subscription), with SECUKOREA 24/7 support.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8B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  CORE PROTECTION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9692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Protections That Matter Most to a Hotel</a:t>
            </a:r>
            <a:endParaRPr lang="en-US" sz="2800" dirty="0"/>
          </a:p>
        </p:txBody>
      </p:sp>
      <p:pic>
        <p:nvPicPr>
          <p:cNvPr id="4" name="Image 0" descr="/private/tmp/claude-501/-Users-jihanvin-Desktop-NIVNAH-AI/16a96446-d9b3-40e2-af9e-a3011ae3db84/scratchpad/assets/westin_gre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34472" y="402336"/>
            <a:ext cx="1005840" cy="30175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554480"/>
            <a:ext cx="5394960" cy="4434840"/>
          </a:xfrm>
          <a:prstGeom prst="roundRect">
            <a:avLst>
              <a:gd name="adj" fmla="val 2887"/>
            </a:avLst>
          </a:prstGeom>
          <a:solidFill>
            <a:srgbClr val="10243A"/>
          </a:solidFill>
          <a:ln w="12700">
            <a:solidFill>
              <a:srgbClr val="10243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68680" y="1828800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0F8B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RANSOMWARE PROTECTION &amp; ROLLBACK</a:t>
            </a:r>
            <a:endParaRPr lang="en-US" sz="1050" dirty="0"/>
          </a:p>
        </p:txBody>
      </p:sp>
      <p:sp>
        <p:nvSpPr>
          <p:cNvPr id="7" name="Text 4"/>
          <p:cNvSpPr txBox="1"/>
          <p:nvPr/>
        </p:nvSpPr>
        <p:spPr>
          <a:xfrm>
            <a:off x="868680" y="210312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Encryption blocked in milliseconds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868680" y="2788920"/>
            <a:ext cx="640080" cy="640080"/>
          </a:xfrm>
          <a:prstGeom prst="ellipse">
            <a:avLst/>
          </a:prstGeom>
          <a:solidFill>
            <a:srgbClr val="0F8B99"/>
          </a:solidFill>
          <a:ln w="12700">
            <a:solidFill>
              <a:srgbClr val="0F8B99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502" y="2961742"/>
            <a:ext cx="294437" cy="294437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691640" y="2807208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Detect</a:t>
            </a:r>
            <a:endParaRPr lang="en-US" sz="1400" dirty="0"/>
          </a:p>
        </p:txBody>
      </p:sp>
      <p:sp>
        <p:nvSpPr>
          <p:cNvPr id="11" name="Text 7"/>
          <p:cNvSpPr txBox="1"/>
          <p:nvPr/>
        </p:nvSpPr>
        <p:spPr>
          <a:xfrm>
            <a:off x="1691640" y="310896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8CC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machine learning and expert rules spot suspicious file encryption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1188720" y="3447288"/>
            <a:ext cx="0" cy="329184"/>
          </a:xfrm>
          <a:prstGeom prst="line">
            <a:avLst/>
          </a:prstGeom>
          <a:noFill/>
          <a:ln w="19050">
            <a:solidFill>
              <a:srgbClr val="5A6069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868680" y="3794760"/>
            <a:ext cx="640080" cy="640080"/>
          </a:xfrm>
          <a:prstGeom prst="ellipse">
            <a:avLst/>
          </a:prstGeom>
          <a:solidFill>
            <a:srgbClr val="0F8B99"/>
          </a:solidFill>
          <a:ln w="12700">
            <a:solidFill>
              <a:srgbClr val="0F8B99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1502" y="3967582"/>
            <a:ext cx="294437" cy="294437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691640" y="3813048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Block</a:t>
            </a:r>
            <a:endParaRPr lang="en-US" sz="1400" dirty="0"/>
          </a:p>
        </p:txBody>
      </p:sp>
      <p:sp>
        <p:nvSpPr>
          <p:cNvPr id="16" name="Text 11"/>
          <p:cNvSpPr txBox="1"/>
          <p:nvPr/>
        </p:nvSpPr>
        <p:spPr>
          <a:xfrm>
            <a:off x="1691640" y="411480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8CC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Malicious encryption processes are terminated immediately</a:t>
            </a:r>
            <a:endParaRPr lang="en-US" sz="1150" dirty="0"/>
          </a:p>
        </p:txBody>
      </p:sp>
      <p:sp>
        <p:nvSpPr>
          <p:cNvPr id="17" name="Shape 12"/>
          <p:cNvSpPr/>
          <p:nvPr/>
        </p:nvSpPr>
        <p:spPr>
          <a:xfrm>
            <a:off x="1188720" y="4453128"/>
            <a:ext cx="0" cy="329184"/>
          </a:xfrm>
          <a:prstGeom prst="line">
            <a:avLst/>
          </a:prstGeom>
          <a:noFill/>
          <a:ln w="19050">
            <a:solidFill>
              <a:srgbClr val="5A6069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868680" y="4800600"/>
            <a:ext cx="640080" cy="640080"/>
          </a:xfrm>
          <a:prstGeom prst="ellipse">
            <a:avLst/>
          </a:prstGeom>
          <a:solidFill>
            <a:srgbClr val="0F8B99"/>
          </a:solidFill>
          <a:ln w="12700">
            <a:solidFill>
              <a:srgbClr val="0F8B99"/>
            </a:solidFill>
            <a:prstDash val="solid"/>
          </a:ln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1502" y="4973422"/>
            <a:ext cx="294437" cy="294437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1691640" y="4818888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Roll back</a:t>
            </a:r>
            <a:endParaRPr lang="en-US" sz="1400" dirty="0"/>
          </a:p>
        </p:txBody>
      </p:sp>
      <p:sp>
        <p:nvSpPr>
          <p:cNvPr id="21" name="Text 15"/>
          <p:cNvSpPr txBox="1"/>
          <p:nvPr/>
        </p:nvSpPr>
        <p:spPr>
          <a:xfrm>
            <a:off x="1691640" y="512064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8CC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 encrypted before detection are restored automatically</a:t>
            </a:r>
            <a:endParaRPr lang="en-US" sz="1150" dirty="0"/>
          </a:p>
        </p:txBody>
      </p:sp>
      <p:sp>
        <p:nvSpPr>
          <p:cNvPr id="22" name="Shape 16"/>
          <p:cNvSpPr/>
          <p:nvPr/>
        </p:nvSpPr>
        <p:spPr>
          <a:xfrm>
            <a:off x="6217920" y="1554480"/>
            <a:ext cx="5425135" cy="4434840"/>
          </a:xfrm>
          <a:prstGeom prst="roundRect">
            <a:avLst>
              <a:gd name="adj" fmla="val 2887"/>
            </a:avLst>
          </a:prstGeom>
          <a:solidFill>
            <a:srgbClr val="F4F5F7"/>
          </a:solidFill>
          <a:ln w="9525">
            <a:solidFill>
              <a:srgbClr val="DEE1E5"/>
            </a:solidFill>
            <a:prstDash val="solid"/>
          </a:ln>
        </p:spPr>
      </p:sp>
      <p:sp>
        <p:nvSpPr>
          <p:cNvPr id="23" name="Text 17"/>
          <p:cNvSpPr txBox="1"/>
          <p:nvPr/>
        </p:nvSpPr>
        <p:spPr>
          <a:xfrm>
            <a:off x="6537960" y="1828800"/>
            <a:ext cx="47850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0F8B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PATCHING</a:t>
            </a:r>
            <a:endParaRPr lang="en-US" sz="1050" dirty="0"/>
          </a:p>
        </p:txBody>
      </p:sp>
      <p:sp>
        <p:nvSpPr>
          <p:cNvPr id="24" name="Text 18"/>
          <p:cNvSpPr txBox="1"/>
          <p:nvPr/>
        </p:nvSpPr>
        <p:spPr>
          <a:xfrm>
            <a:off x="6537960" y="2103120"/>
            <a:ext cx="47850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E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temporary lock, right away</a:t>
            </a:r>
            <a:endParaRPr lang="en-US" sz="2000" dirty="0"/>
          </a:p>
        </p:txBody>
      </p:sp>
      <p:sp>
        <p:nvSpPr>
          <p:cNvPr id="25" name="Text 19"/>
          <p:cNvSpPr txBox="1"/>
          <p:nvPr/>
        </p:nvSpPr>
        <p:spPr>
          <a:xfrm>
            <a:off x="6537960" y="2542032"/>
            <a:ext cx="47850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F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Shields weaknesses right away — even on older systems that cannot be patched.</a:t>
            </a:r>
            <a:endParaRPr lang="en-US" sz="1200" dirty="0"/>
          </a:p>
        </p:txBody>
      </p:sp>
      <p:sp>
        <p:nvSpPr>
          <p:cNvPr id="26" name="Shape 20"/>
          <p:cNvSpPr/>
          <p:nvPr/>
        </p:nvSpPr>
        <p:spPr>
          <a:xfrm>
            <a:off x="6537960" y="3017520"/>
            <a:ext cx="329184" cy="329184"/>
          </a:xfrm>
          <a:prstGeom prst="ellipse">
            <a:avLst/>
          </a:prstGeom>
          <a:solidFill>
            <a:srgbClr val="0F8B99"/>
          </a:solidFill>
          <a:ln w="12700">
            <a:solidFill>
              <a:srgbClr val="0F8B99"/>
            </a:solidFill>
            <a:prstDash val="solid"/>
          </a:ln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6840" y="3106400"/>
            <a:ext cx="151425" cy="151425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7040880" y="2980944"/>
            <a:ext cx="432785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Blocks attacks on known weaknesses before patches are installed</a:t>
            </a:r>
            <a:endParaRPr lang="en-US" sz="1250" dirty="0"/>
          </a:p>
        </p:txBody>
      </p:sp>
      <p:sp>
        <p:nvSpPr>
          <p:cNvPr id="29" name="Shape 22"/>
          <p:cNvSpPr/>
          <p:nvPr/>
        </p:nvSpPr>
        <p:spPr>
          <a:xfrm>
            <a:off x="6537960" y="3566160"/>
            <a:ext cx="329184" cy="329184"/>
          </a:xfrm>
          <a:prstGeom prst="ellipse">
            <a:avLst/>
          </a:prstGeom>
          <a:solidFill>
            <a:srgbClr val="0F8B99"/>
          </a:solidFill>
          <a:ln w="12700">
            <a:solidFill>
              <a:srgbClr val="0F8B99"/>
            </a:solidFill>
            <a:prstDash val="solid"/>
          </a:ln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26840" y="3655040"/>
            <a:ext cx="151425" cy="151425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7040880" y="3529584"/>
            <a:ext cx="432785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Protects older and unsupported Windows systems</a:t>
            </a:r>
            <a:endParaRPr lang="en-US" sz="1250" dirty="0"/>
          </a:p>
        </p:txBody>
      </p:sp>
      <p:sp>
        <p:nvSpPr>
          <p:cNvPr id="32" name="Shape 24"/>
          <p:cNvSpPr/>
          <p:nvPr/>
        </p:nvSpPr>
        <p:spPr>
          <a:xfrm>
            <a:off x="6537960" y="4114800"/>
            <a:ext cx="329184" cy="329184"/>
          </a:xfrm>
          <a:prstGeom prst="ellipse">
            <a:avLst/>
          </a:prstGeom>
          <a:solidFill>
            <a:srgbClr val="0F8B99"/>
          </a:solidFill>
          <a:ln w="12700">
            <a:solidFill>
              <a:srgbClr val="0F8B99"/>
            </a:solidFill>
            <a:prstDash val="solid"/>
          </a:ln>
        </p:spPr>
      </p:sp>
      <p:pic>
        <p:nvPicPr>
          <p:cNvPr id="3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26840" y="4203680"/>
            <a:ext cx="151425" cy="151425"/>
          </a:xfrm>
          <a:prstGeom prst="rect">
            <a:avLst/>
          </a:prstGeom>
        </p:spPr>
      </p:pic>
      <p:sp>
        <p:nvSpPr>
          <p:cNvPr id="34" name="Text 25"/>
          <p:cNvSpPr txBox="1"/>
          <p:nvPr/>
        </p:nvSpPr>
        <p:spPr>
          <a:xfrm>
            <a:off x="7040880" y="4078224"/>
            <a:ext cx="432785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emergency patching during peak season</a:t>
            </a:r>
            <a:endParaRPr lang="en-US" sz="1250" dirty="0"/>
          </a:p>
        </p:txBody>
      </p:sp>
      <p:sp>
        <p:nvSpPr>
          <p:cNvPr id="35" name="Shape 26"/>
          <p:cNvSpPr/>
          <p:nvPr/>
        </p:nvSpPr>
        <p:spPr>
          <a:xfrm>
            <a:off x="6537960" y="4663440"/>
            <a:ext cx="329184" cy="329184"/>
          </a:xfrm>
          <a:prstGeom prst="ellipse">
            <a:avLst/>
          </a:prstGeom>
          <a:solidFill>
            <a:srgbClr val="0F8B99"/>
          </a:solidFill>
          <a:ln w="12700">
            <a:solidFill>
              <a:srgbClr val="0F8B99"/>
            </a:solidFill>
            <a:prstDash val="solid"/>
          </a:ln>
        </p:spPr>
      </p:sp>
      <p:pic>
        <p:nvPicPr>
          <p:cNvPr id="36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26840" y="4752320"/>
            <a:ext cx="151425" cy="151425"/>
          </a:xfrm>
          <a:prstGeom prst="rect">
            <a:avLst/>
          </a:prstGeom>
        </p:spPr>
      </p:pic>
      <p:sp>
        <p:nvSpPr>
          <p:cNvPr id="37" name="Text 27"/>
          <p:cNvSpPr txBox="1"/>
          <p:nvPr/>
        </p:nvSpPr>
        <p:spPr>
          <a:xfrm>
            <a:off x="7040880" y="4626864"/>
            <a:ext cx="432785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Permanent fixes installed on your own schedule</a:t>
            </a:r>
            <a:endParaRPr lang="en-US" sz="1250" dirty="0"/>
          </a:p>
        </p:txBody>
      </p:sp>
      <p:sp>
        <p:nvSpPr>
          <p:cNvPr id="38" name="Shape 28"/>
          <p:cNvSpPr/>
          <p:nvPr/>
        </p:nvSpPr>
        <p:spPr>
          <a:xfrm>
            <a:off x="6537960" y="5212080"/>
            <a:ext cx="329184" cy="329184"/>
          </a:xfrm>
          <a:prstGeom prst="ellipse">
            <a:avLst/>
          </a:prstGeom>
          <a:solidFill>
            <a:srgbClr val="0F8B99"/>
          </a:solidFill>
          <a:ln w="12700">
            <a:solidFill>
              <a:srgbClr val="0F8B99"/>
            </a:solidFill>
            <a:prstDash val="solid"/>
          </a:ln>
        </p:spPr>
      </p:sp>
      <p:pic>
        <p:nvPicPr>
          <p:cNvPr id="39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26840" y="5300960"/>
            <a:ext cx="151425" cy="151425"/>
          </a:xfrm>
          <a:prstGeom prst="rect">
            <a:avLst/>
          </a:prstGeom>
        </p:spPr>
      </p:pic>
      <p:sp>
        <p:nvSpPr>
          <p:cNvPr id="40" name="Text 29"/>
          <p:cNvSpPr txBox="1"/>
          <p:nvPr/>
        </p:nvSpPr>
        <p:spPr>
          <a:xfrm>
            <a:off x="7040880" y="5175504"/>
            <a:ext cx="432785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Backed by Trend Micro’s Zero Day Initiative research</a:t>
            </a:r>
            <a:endParaRPr lang="en-US" sz="1250" dirty="0"/>
          </a:p>
        </p:txBody>
      </p:sp>
      <p:sp>
        <p:nvSpPr>
          <p:cNvPr id="41" name="Text 30"/>
          <p:cNvSpPr txBox="1"/>
          <p:nvPr/>
        </p:nvSpPr>
        <p:spPr>
          <a:xfrm>
            <a:off x="548640" y="6446520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 |   Trend Micro Apex One Proposal  ·  The Westin Resort Guam</a:t>
            </a:r>
            <a:endParaRPr lang="en-US" sz="900" dirty="0"/>
          </a:p>
        </p:txBody>
      </p:sp>
      <p:pic>
        <p:nvPicPr>
          <p:cNvPr id="42" name="Image 9" descr="/private/tmp/claude-501/-Users-jihanvin-Desktop-NIVNAH-AI/16a96446-d9b3-40e2-af9e-a3011ae3db84/scratchpad/assets/secukorea_dark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661904" y="6400800"/>
            <a:ext cx="978408" cy="23317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8B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  TECHNICAL SUPPORT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9692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SECUKOREA Technical Support</a:t>
            </a:r>
            <a:endParaRPr lang="en-US" sz="2800" dirty="0"/>
          </a:p>
        </p:txBody>
      </p:sp>
      <p:pic>
        <p:nvPicPr>
          <p:cNvPr id="4" name="Image 0" descr="/private/tmp/claude-501/-Users-jihanvin-Desktop-NIVNAH-AI/16a96446-d9b3-40e2-af9e-a3011ae3db84/scratchpad/assets/westin_gre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34472" y="402336"/>
            <a:ext cx="1005840" cy="30175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554480"/>
            <a:ext cx="5394960" cy="4434840"/>
          </a:xfrm>
          <a:prstGeom prst="roundRect">
            <a:avLst>
              <a:gd name="adj" fmla="val 2887"/>
            </a:avLst>
          </a:prstGeom>
          <a:solidFill>
            <a:srgbClr val="10243A"/>
          </a:solidFill>
          <a:ln w="12700">
            <a:solidFill>
              <a:srgbClr val="10243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68680" y="1828800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0F8B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24/7 TECHNICAL SUPPORT</a:t>
            </a:r>
            <a:endParaRPr lang="en-US" sz="1050" dirty="0"/>
          </a:p>
        </p:txBody>
      </p:sp>
      <p:sp>
        <p:nvSpPr>
          <p:cNvPr id="7" name="Text 4"/>
          <p:cNvSpPr txBox="1"/>
          <p:nvPr/>
        </p:nvSpPr>
        <p:spPr>
          <a:xfrm>
            <a:off x="868680" y="210312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Help whenever the resort needs it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868680" y="2788920"/>
            <a:ext cx="640080" cy="640080"/>
          </a:xfrm>
          <a:prstGeom prst="ellipse">
            <a:avLst/>
          </a:prstGeom>
          <a:solidFill>
            <a:srgbClr val="0F8B99"/>
          </a:solidFill>
          <a:ln w="12700">
            <a:solidFill>
              <a:srgbClr val="0F8B99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502" y="2961742"/>
            <a:ext cx="294437" cy="294437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691640" y="2807208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Contact</a:t>
            </a:r>
            <a:endParaRPr lang="en-US" sz="1400" dirty="0"/>
          </a:p>
        </p:txBody>
      </p:sp>
      <p:sp>
        <p:nvSpPr>
          <p:cNvPr id="11" name="Text 7"/>
          <p:cNvSpPr txBox="1"/>
          <p:nvPr/>
        </p:nvSpPr>
        <p:spPr>
          <a:xfrm>
            <a:off x="1691640" y="310896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8CC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 SECUKOREA by phone or email at any hour — no time-zone gaps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1188720" y="3447288"/>
            <a:ext cx="0" cy="329184"/>
          </a:xfrm>
          <a:prstGeom prst="line">
            <a:avLst/>
          </a:prstGeom>
          <a:noFill/>
          <a:ln w="19050">
            <a:solidFill>
              <a:srgbClr val="5A6069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868680" y="3794760"/>
            <a:ext cx="640080" cy="640080"/>
          </a:xfrm>
          <a:prstGeom prst="ellipse">
            <a:avLst/>
          </a:prstGeom>
          <a:solidFill>
            <a:srgbClr val="0F8B99"/>
          </a:solidFill>
          <a:ln w="12700">
            <a:solidFill>
              <a:srgbClr val="0F8B99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1502" y="3967582"/>
            <a:ext cx="294437" cy="294437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691640" y="3813048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Diagnose</a:t>
            </a:r>
            <a:endParaRPr lang="en-US" sz="1400" dirty="0"/>
          </a:p>
        </p:txBody>
      </p:sp>
      <p:sp>
        <p:nvSpPr>
          <p:cNvPr id="16" name="Text 11"/>
          <p:cNvSpPr txBox="1"/>
          <p:nvPr/>
        </p:nvSpPr>
        <p:spPr>
          <a:xfrm>
            <a:off x="1691640" y="411480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8CC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Engineers connect remotely to check what is happening</a:t>
            </a:r>
            <a:endParaRPr lang="en-US" sz="1150" dirty="0"/>
          </a:p>
        </p:txBody>
      </p:sp>
      <p:sp>
        <p:nvSpPr>
          <p:cNvPr id="17" name="Shape 12"/>
          <p:cNvSpPr/>
          <p:nvPr/>
        </p:nvSpPr>
        <p:spPr>
          <a:xfrm>
            <a:off x="1188720" y="4453128"/>
            <a:ext cx="0" cy="329184"/>
          </a:xfrm>
          <a:prstGeom prst="line">
            <a:avLst/>
          </a:prstGeom>
          <a:noFill/>
          <a:ln w="19050">
            <a:solidFill>
              <a:srgbClr val="5A6069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868680" y="4800600"/>
            <a:ext cx="640080" cy="640080"/>
          </a:xfrm>
          <a:prstGeom prst="ellipse">
            <a:avLst/>
          </a:prstGeom>
          <a:solidFill>
            <a:srgbClr val="0F8B99"/>
          </a:solidFill>
          <a:ln w="12700">
            <a:solidFill>
              <a:srgbClr val="0F8B99"/>
            </a:solidFill>
            <a:prstDash val="solid"/>
          </a:ln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1502" y="4973422"/>
            <a:ext cx="294437" cy="294437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1691640" y="4818888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Resolve</a:t>
            </a:r>
            <a:endParaRPr lang="en-US" sz="1400" dirty="0"/>
          </a:p>
        </p:txBody>
      </p:sp>
      <p:sp>
        <p:nvSpPr>
          <p:cNvPr id="21" name="Text 15"/>
          <p:cNvSpPr txBox="1"/>
          <p:nvPr/>
        </p:nvSpPr>
        <p:spPr>
          <a:xfrm>
            <a:off x="1691640" y="512064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8CC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Issues are fixed remotely, with follow-up until systems are stable</a:t>
            </a:r>
            <a:endParaRPr lang="en-US" sz="1150" dirty="0"/>
          </a:p>
        </p:txBody>
      </p:sp>
      <p:sp>
        <p:nvSpPr>
          <p:cNvPr id="22" name="Shape 16"/>
          <p:cNvSpPr/>
          <p:nvPr/>
        </p:nvSpPr>
        <p:spPr>
          <a:xfrm>
            <a:off x="6217920" y="1554480"/>
            <a:ext cx="5425135" cy="4434840"/>
          </a:xfrm>
          <a:prstGeom prst="roundRect">
            <a:avLst>
              <a:gd name="adj" fmla="val 2887"/>
            </a:avLst>
          </a:prstGeom>
          <a:solidFill>
            <a:srgbClr val="F4F5F7"/>
          </a:solidFill>
          <a:ln w="9525">
            <a:solidFill>
              <a:srgbClr val="DEE1E5"/>
            </a:solidFill>
            <a:prstDash val="solid"/>
          </a:ln>
        </p:spPr>
      </p:sp>
      <p:sp>
        <p:nvSpPr>
          <p:cNvPr id="23" name="Text 17"/>
          <p:cNvSpPr txBox="1"/>
          <p:nvPr/>
        </p:nvSpPr>
        <p:spPr>
          <a:xfrm>
            <a:off x="6537960" y="1828800"/>
            <a:ext cx="47850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0F8B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ENGINEER ASSIGNMENT</a:t>
            </a:r>
            <a:endParaRPr lang="en-US" sz="1050" dirty="0"/>
          </a:p>
        </p:txBody>
      </p:sp>
      <p:sp>
        <p:nvSpPr>
          <p:cNvPr id="24" name="Text 18"/>
          <p:cNvSpPr txBox="1"/>
          <p:nvPr/>
        </p:nvSpPr>
        <p:spPr>
          <a:xfrm>
            <a:off x="6537960" y="2103120"/>
            <a:ext cx="47850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E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Own Dedicated Engineer</a:t>
            </a:r>
            <a:endParaRPr lang="en-US" sz="2000" dirty="0"/>
          </a:p>
        </p:txBody>
      </p:sp>
      <p:sp>
        <p:nvSpPr>
          <p:cNvPr id="25" name="Text 19"/>
          <p:cNvSpPr txBox="1"/>
          <p:nvPr/>
        </p:nvSpPr>
        <p:spPr>
          <a:xfrm>
            <a:off x="6537960" y="2542032"/>
            <a:ext cx="47850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F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SECUKOREA will assign a dedicated engineer to The Westin Resort Guam.</a:t>
            </a:r>
            <a:endParaRPr lang="en-US" sz="1200" dirty="0"/>
          </a:p>
        </p:txBody>
      </p:sp>
      <p:sp>
        <p:nvSpPr>
          <p:cNvPr id="26" name="Shape 20"/>
          <p:cNvSpPr/>
          <p:nvPr/>
        </p:nvSpPr>
        <p:spPr>
          <a:xfrm>
            <a:off x="6537960" y="3017520"/>
            <a:ext cx="329184" cy="329184"/>
          </a:xfrm>
          <a:prstGeom prst="ellipse">
            <a:avLst/>
          </a:prstGeom>
          <a:solidFill>
            <a:srgbClr val="0F8B99"/>
          </a:solidFill>
          <a:ln w="12700">
            <a:solidFill>
              <a:srgbClr val="0F8B99"/>
            </a:solidFill>
            <a:prstDash val="solid"/>
          </a:ln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6840" y="3106400"/>
            <a:ext cx="151425" cy="151425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7040880" y="2980944"/>
            <a:ext cx="432785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point of contact for day-to-day requests</a:t>
            </a:r>
            <a:endParaRPr lang="en-US" sz="1250" dirty="0"/>
          </a:p>
        </p:txBody>
      </p:sp>
      <p:sp>
        <p:nvSpPr>
          <p:cNvPr id="29" name="Shape 22"/>
          <p:cNvSpPr/>
          <p:nvPr/>
        </p:nvSpPr>
        <p:spPr>
          <a:xfrm>
            <a:off x="6537960" y="3566160"/>
            <a:ext cx="329184" cy="329184"/>
          </a:xfrm>
          <a:prstGeom prst="ellipse">
            <a:avLst/>
          </a:prstGeom>
          <a:solidFill>
            <a:srgbClr val="0F8B99"/>
          </a:solidFill>
          <a:ln w="12700">
            <a:solidFill>
              <a:srgbClr val="0F8B99"/>
            </a:solidFill>
            <a:prstDash val="solid"/>
          </a:ln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26840" y="3655040"/>
            <a:ext cx="151425" cy="151425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7040880" y="3529584"/>
            <a:ext cx="432785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escalation to Trend Micro when needed</a:t>
            </a:r>
            <a:endParaRPr lang="en-US" sz="1250" dirty="0"/>
          </a:p>
        </p:txBody>
      </p:sp>
      <p:sp>
        <p:nvSpPr>
          <p:cNvPr id="32" name="Shape 24"/>
          <p:cNvSpPr/>
          <p:nvPr/>
        </p:nvSpPr>
        <p:spPr>
          <a:xfrm>
            <a:off x="6537960" y="4114800"/>
            <a:ext cx="329184" cy="329184"/>
          </a:xfrm>
          <a:prstGeom prst="ellipse">
            <a:avLst/>
          </a:prstGeom>
          <a:solidFill>
            <a:srgbClr val="0F8B99"/>
          </a:solidFill>
          <a:ln w="12700">
            <a:solidFill>
              <a:srgbClr val="0F8B99"/>
            </a:solidFill>
            <a:prstDash val="solid"/>
          </a:ln>
        </p:spPr>
      </p:sp>
      <p:pic>
        <p:nvPicPr>
          <p:cNvPr id="3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26840" y="4203680"/>
            <a:ext cx="151425" cy="151425"/>
          </a:xfrm>
          <a:prstGeom prst="rect">
            <a:avLst/>
          </a:prstGeom>
        </p:spPr>
      </p:pic>
      <p:sp>
        <p:nvSpPr>
          <p:cNvPr id="34" name="Text 25"/>
          <p:cNvSpPr txBox="1"/>
          <p:nvPr/>
        </p:nvSpPr>
        <p:spPr>
          <a:xfrm>
            <a:off x="7040880" y="4078224"/>
            <a:ext cx="432785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Committed to stable, uninterrupted security</a:t>
            </a:r>
            <a:endParaRPr lang="en-US" sz="1250" dirty="0"/>
          </a:p>
        </p:txBody>
      </p:sp>
      <p:sp>
        <p:nvSpPr>
          <p:cNvPr id="35" name="Shape 26"/>
          <p:cNvSpPr/>
          <p:nvPr/>
        </p:nvSpPr>
        <p:spPr>
          <a:xfrm>
            <a:off x="6537960" y="4663440"/>
            <a:ext cx="329184" cy="329184"/>
          </a:xfrm>
          <a:prstGeom prst="ellipse">
            <a:avLst/>
          </a:prstGeom>
          <a:solidFill>
            <a:srgbClr val="0F8B99"/>
          </a:solidFill>
          <a:ln w="12700">
            <a:solidFill>
              <a:srgbClr val="0F8B99"/>
            </a:solidFill>
            <a:prstDash val="solid"/>
          </a:ln>
        </p:spPr>
      </p:sp>
      <p:pic>
        <p:nvPicPr>
          <p:cNvPr id="36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26840" y="4752320"/>
            <a:ext cx="151425" cy="151425"/>
          </a:xfrm>
          <a:prstGeom prst="rect">
            <a:avLst/>
          </a:prstGeom>
        </p:spPr>
      </p:pic>
      <p:sp>
        <p:nvSpPr>
          <p:cNvPr id="37" name="Text 27"/>
          <p:cNvSpPr txBox="1"/>
          <p:nvPr/>
        </p:nvSpPr>
        <p:spPr>
          <a:xfrm>
            <a:off x="7040880" y="4626864"/>
            <a:ext cx="432785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peace of mind for the resort</a:t>
            </a:r>
            <a:endParaRPr lang="en-US" sz="1250" dirty="0"/>
          </a:p>
        </p:txBody>
      </p:sp>
      <p:sp>
        <p:nvSpPr>
          <p:cNvPr id="38" name="Shape 28"/>
          <p:cNvSpPr/>
          <p:nvPr/>
        </p:nvSpPr>
        <p:spPr>
          <a:xfrm>
            <a:off x="6537960" y="5212080"/>
            <a:ext cx="329184" cy="329184"/>
          </a:xfrm>
          <a:prstGeom prst="ellipse">
            <a:avLst/>
          </a:prstGeom>
          <a:solidFill>
            <a:srgbClr val="0F8B99"/>
          </a:solidFill>
          <a:ln w="12700">
            <a:solidFill>
              <a:srgbClr val="0F8B99"/>
            </a:solidFill>
            <a:prstDash val="solid"/>
          </a:ln>
        </p:spPr>
      </p:sp>
      <p:pic>
        <p:nvPicPr>
          <p:cNvPr id="39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26840" y="5300960"/>
            <a:ext cx="151425" cy="151425"/>
          </a:xfrm>
          <a:prstGeom prst="rect">
            <a:avLst/>
          </a:prstGeom>
        </p:spPr>
      </p:pic>
      <p:sp>
        <p:nvSpPr>
          <p:cNvPr id="40" name="Text 29"/>
          <p:cNvSpPr txBox="1"/>
          <p:nvPr/>
        </p:nvSpPr>
        <p:spPr>
          <a:xfrm>
            <a:off x="7040880" y="5175504"/>
            <a:ext cx="432785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long-term partner in keeping guests safe</a:t>
            </a:r>
            <a:endParaRPr lang="en-US" sz="1250" dirty="0"/>
          </a:p>
        </p:txBody>
      </p:sp>
      <p:sp>
        <p:nvSpPr>
          <p:cNvPr id="41" name="Text 30"/>
          <p:cNvSpPr txBox="1"/>
          <p:nvPr/>
        </p:nvSpPr>
        <p:spPr>
          <a:xfrm>
            <a:off x="548640" y="6446520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 |   Trend Micro Apex One Proposal  ·  The Westin Resort Guam</a:t>
            </a:r>
            <a:endParaRPr lang="en-US" sz="900" dirty="0"/>
          </a:p>
        </p:txBody>
      </p:sp>
      <p:pic>
        <p:nvPicPr>
          <p:cNvPr id="42" name="Image 9" descr="/private/tmp/claude-501/-Users-jihanvin-Desktop-NIVNAH-AI/16a96446-d9b3-40e2-af9e-a3011ae3db84/scratchpad/assets/secukorea_dark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661904" y="6400800"/>
            <a:ext cx="978408" cy="23317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024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223760" y="914400"/>
            <a:ext cx="4754880" cy="4754880"/>
          </a:xfrm>
          <a:prstGeom prst="ellipse">
            <a:avLst/>
          </a:prstGeom>
          <a:ln w="15875">
            <a:solidFill>
              <a:srgbClr val="0F8B99">
                <a:alpha val="1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680960" y="1371600"/>
            <a:ext cx="3840480" cy="3840480"/>
          </a:xfrm>
          <a:prstGeom prst="ellipse">
            <a:avLst/>
          </a:prstGeom>
          <a:ln w="15875">
            <a:solidFill>
              <a:srgbClr val="0F8B99">
                <a:alpha val="3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138160" y="1828800"/>
            <a:ext cx="2926080" cy="2926080"/>
          </a:xfrm>
          <a:prstGeom prst="ellipse">
            <a:avLst/>
          </a:prstGeom>
          <a:solidFill>
            <a:srgbClr val="0F8B99"/>
          </a:solidFill>
          <a:ln w="12700">
            <a:solidFill>
              <a:srgbClr val="0F8B99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15984" y="2706624"/>
            <a:ext cx="1170432" cy="1170432"/>
          </a:xfrm>
          <a:prstGeom prst="rect">
            <a:avLst/>
          </a:prstGeom>
        </p:spPr>
      </p:pic>
      <p:pic>
        <p:nvPicPr>
          <p:cNvPr id="6" name="Image 1" descr="/private/tmp/claude-501/-Users-jihanvin-Desktop-NIVNAH-AI/16a96446-d9b3-40e2-af9e-a3011ae3db84/scratchpad/assets/westin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502920"/>
            <a:ext cx="1371600" cy="41148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548640" y="20116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0F8B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&amp; A</a:t>
            </a:r>
            <a:endParaRPr lang="en-US" sz="1400" dirty="0"/>
          </a:p>
        </p:txBody>
      </p:sp>
      <p:sp>
        <p:nvSpPr>
          <p:cNvPr id="8" name="Text 4"/>
          <p:cNvSpPr txBox="1"/>
          <p:nvPr/>
        </p:nvSpPr>
        <p:spPr>
          <a:xfrm>
            <a:off x="548640" y="2423160"/>
            <a:ext cx="6400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5400" dirty="0"/>
          </a:p>
        </p:txBody>
      </p:sp>
      <p:sp>
        <p:nvSpPr>
          <p:cNvPr id="9" name="Text 5"/>
          <p:cNvSpPr txBox="1"/>
          <p:nvPr/>
        </p:nvSpPr>
        <p:spPr>
          <a:xfrm>
            <a:off x="548640" y="3611880"/>
            <a:ext cx="6400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8CC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Automatic, always-on endpoint protection for The Westin Resort Guam — powered by Trend Micro Apex One.</a:t>
            </a:r>
            <a:endParaRPr lang="en-US" sz="16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626864"/>
            <a:ext cx="219456" cy="219456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932688" y="4572000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secukorea@secukorea.com</a:t>
            </a:r>
            <a:endParaRPr lang="en-US" sz="14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5038344"/>
            <a:ext cx="219456" cy="219456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932688" y="4983480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+82-2-3400-0877</a:t>
            </a:r>
            <a:endParaRPr lang="en-US" sz="140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5449824"/>
            <a:ext cx="219456" cy="219456"/>
          </a:xfrm>
          <a:prstGeom prst="rect">
            <a:avLst/>
          </a:prstGeom>
        </p:spPr>
      </p:pic>
      <p:sp>
        <p:nvSpPr>
          <p:cNvPr id="15" name="Text 8"/>
          <p:cNvSpPr txBox="1"/>
          <p:nvPr/>
        </p:nvSpPr>
        <p:spPr>
          <a:xfrm>
            <a:off x="932688" y="5394960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www.secukorea.com</a:t>
            </a:r>
            <a:endParaRPr lang="en-US" sz="1400" dirty="0"/>
          </a:p>
        </p:txBody>
      </p:sp>
      <p:sp>
        <p:nvSpPr>
          <p:cNvPr id="16" name="Text 9"/>
          <p:cNvSpPr txBox="1"/>
          <p:nvPr/>
        </p:nvSpPr>
        <p:spPr>
          <a:xfrm>
            <a:off x="7818120" y="6217920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1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900" dirty="0"/>
          </a:p>
        </p:txBody>
      </p:sp>
      <p:pic>
        <p:nvPicPr>
          <p:cNvPr id="17" name="Image 5" descr="/private/tmp/claude-501/-Users-jihanvin-Desktop-NIVNAH-AI/16a96446-d9b3-40e2-af9e-a3011ae3db84/scratchpad/assets/tm_logo_light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03920" y="6089904"/>
            <a:ext cx="1340012" cy="475488"/>
          </a:xfrm>
          <a:prstGeom prst="rect">
            <a:avLst/>
          </a:prstGeom>
        </p:spPr>
      </p:pic>
      <p:pic>
        <p:nvPicPr>
          <p:cNvPr id="18" name="Image 6" descr="/private/tmp/claude-501/-Users-jihanvin-Desktop-NIVNAH-AI/16a96446-d9b3-40e2-af9e-a3011ae3db84/scratchpad/assets/secukorea_light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14432" y="6163056"/>
            <a:ext cx="1325880" cy="31546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SECUKOREA Inc.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Nessus vs. Trend Micro Apex One — Proposal for The Westin Resort Guam</dc:title>
  <dc:subject>PptxGenJS Presentation</dc:subject>
  <dc:creator>SECUKOREA Inc.</dc:creator>
  <cp:lastModifiedBy>SECUKOREA Inc.</cp:lastModifiedBy>
  <cp:revision>1</cp:revision>
  <dcterms:created xsi:type="dcterms:W3CDTF">2026-09-23T08:02:01Z</dcterms:created>
  <dcterms:modified xsi:type="dcterms:W3CDTF">2026-09-23T08:02:01Z</dcterms:modified>
</cp:coreProperties>
</file>